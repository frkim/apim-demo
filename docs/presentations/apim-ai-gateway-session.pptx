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Tokens</c:v>
                </c:pt>
              </c:strCache>
            </c:strRef>
          </c:tx>
          <c:spPr>
            <a:solidFill>
              <a:srgbClr val="00B7C3"/>
            </a:solidFill>
            <a:effectLst/>
          </c:spPr>
          <c:invertIfNegative val="0"/>
          <c:dLbls>
            <c:numFmt formatCode="#,##0" sourceLinked="0"/>
            <c:spPr>
              <a:noFill/>
              <a:ln>
                <a:noFill/>
              </a:ln>
              <a:effectLst/>
            </c:spPr>
            <c:txPr>
              <a:bodyPr/>
              <a:lstStyle/>
              <a:p>
                <a:pPr>
                  <a:defRPr sz="12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Gold</c:v>
                </c:pt>
                <c:pt idx="1">
                  <c:v>Bronze</c:v>
                </c:pt>
                <c:pt idx="2">
                  <c:v>Internal</c:v>
                </c:pt>
              </c:strCache>
            </c:strRef>
          </c:cat>
          <c:val>
            <c:numRef>
              <c:f>Sheet1!$B$2:$B$4</c:f>
              <c:numCache>
                <c:formatCode>General</c:formatCode>
                <c:ptCount val="3"/>
                <c:pt idx="0">
                  <c:v>5</c:v>
                </c:pt>
                <c:pt idx="1">
                  <c:v>0.1</c:v>
                </c:pt>
                <c:pt idx="2">
                  <c:v>1.4</c:v>
                </c:pt>
              </c:numCache>
            </c:numRef>
          </c:val>
          <c:extLst>
            <c:ext xmlns:c16="http://schemas.microsoft.com/office/drawing/2014/chart" uri="{C3380CC4-5D6E-409C-BE32-E72D297353CC}">
              <c16:uniqueId val="{00000000-AD11-45D1-A05D-07DF4DFD78A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Segoe U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Segoe U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72636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with the promise of the session: one control point for every AI call. Set expectations that this is a technical, demo-led walkthrough using Basic v2, Microsoft Foundry in Sweden Central and France Central, and gpt-5.4-nano. Emphasize that the deck doubles as a fallback narrative if the live demo environment misbehaves.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through the agenda exactly as timed. Point out that the middle of the session is demo heavy, while the last third makes the operating model concrete with pricing, limits, and adoption patterns. Tell the audience that every section maps to an enterprise concern they can take back to their platform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divider marks the short opening section. Use it to transition from introductions into the Zava Retail story. The goal is to create urgency without over-selling: most organizations are already beyond one chatbot.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Tell the Zava Retail story as the hook. They started with one chatbot, then every team added their own app, provider account, and tool integration. The surprise invoice is not just a cost issue: it exposes missing governance, resiliency, safety and observability.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divider introduces the problem framing. Explain that APIM is valuable because it sits in the path of every request and can enforce policy before the model, MCP tool, or agent is called.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Frame these as operational symptoms rather than product features. The gateway pattern centralizes controls that each app otherwise has to solve independently. Highlight that the same gateway handles model APIs, MCP tools, and A2A agents, which matters as architectures evolve from chatbots to agentic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section refreshes the APIM mental model and then anchors the audience on what changed in 2026. Keep it factual and dated, because the product surface is moving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Refresh APIM for people who know it only as an API gateway. The gateway is the runtime enforcement point, the management plane is where the platform team configures APIs and policies, and the developer portal is how consumers discover and subscribe. This same model now applies to LLM endpoints, MCP servers and agent APIs.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is intentionally dated. The point is that APIM is not only an API product anymore; it has first-class patterns for model APIs, MCP servers and A2A agents. Cite the updated Learn pages and research brief when challenged on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section turns the problem statement into five concrete capability pillars. Use the next five slides as the technical backbone of the session before switching into the live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Security starts with removing model keys from application code. In the demo, APIM uses its managed identity to call Foundry, while applications only know the APIM subscription key. The llm-content-safety policy provides a single safety baseline across chat, MCP tool calls and A2A agent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Token limits are a gateway-native guardrail. For the demo, Gold receives 20,000 tokens per minute and 5 million tokens per month, while Bronze receives 300 tokens per minute and 100,000 tokens per month. Explain that semantic caching and PTU-first spillover are complementary patterns for reducing cost and protecting capacity.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Resiliency is where the gateway prevents every app team from writing its own failover code. In this environment, the foundry-pool is weighted 50/50 across Sweden Central and France Central. The circuit breaker honors Retry-After on 429s, which is critical for model quota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Observability closes the loop. The llm-emit-token-metric policy emits custom token metrics with up to five dimensions, while LLM logging writes prompt and completion records to Log Analytics. Explain how this enables cost allocation, troubleshooting, and compliance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MCP and agents are important because enterprises are moving from direct model calls to tool-using systems. APIM can expose existing REST APIs as MCP servers, pass through existing MCP servers, and import A2A agent APIs. Stress the limits: MCP is tools-only today, not available in Consumption, and not supported inside workspaces.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divider to switch from concepts to the deployed repository. Remind the audience that the live demo uses Basic v2, two Foundry accounts, gpt-5.4-nano, product-scoped token budgets, content safety, MCP and observability.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main architecture diagram and is drawn with editable native shapes. Read it left to right: apps and agents call APIM, policies execute as a chain, model traffic goes to the Foundry backend pool, and tool traffic goes through the MCP server to the mocked Zava Retail API. Observability is emitted to Application Insights and Log Analytics.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map as the run-of-show for the live demo. It also sets audience expectations for what they should see in each scenario, including the verified live outputs from today. If the live environment is unavailable, use the narrated demo video at docs/video/apim-ai-gateway-demo.mp4 and the backup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If the live environment is unavailable, use this as the screenshot-style talk track. D1 proves keyless backend access and stable client code with the verified France Central response. D2 proves that load balancing is active by alternating requests across Sweden Central and France Central.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that this is product-scoped governance. Bronze is deliberately small to show rate limiting quickly, while Gold continues to work. The headers make the policy visible to client teams and help developers back off gracefully.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slide to show the audience the expected contrast between a normal prompt and a prompt attack. The important point is that the model never sees the jailbreak prompt. This is a centralized safety baseline, not a library every team must remember to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D5 proves that an existing REST API can become an MCP server through APIM. D6 then shows the agentic behavior: the model chooses to call tools via the gateway. If showing this as a fallback, read the expected answer and point back to the architecture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D7 gives operators evidence that the gateway is doing its job. D8 proves the environment is not a hand-built portal demo; it is Bicep deployed by GitHub Actions. Keep this concise in the live session because it is the bonus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section turns capabilities into implementation decisions. The price figures are list prices for US East in October 2026 and must be verified in the Azure pricing calculator before budgeting.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business value slide. Map each technical capability back to an operating outcome: fewer exceptions, accountable spend, higher availability, reduced risk, better decisions and faster delivery. This helps architects and decision makers justify the gateway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State the pricing disclaimer clearly. The table uses list prices from the research brief for US East in October 2026, and customers must verify in the pricing calculator for their subscription, region and agreement. Also make clear that model tokens are billed separately by Foundry.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constraint checklist. Do not read every number slowly; call out the limits that affect the demo and production designs: circuit breaker not in Consumption, MCP not in Consumption or workspaces, and self-hosted gateway not in v2. Remind the audience that token limits are per gateway.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through this as a decision slide rather than a product comparison matrix. Consumption is attractive but lacks MCP and circuit breaker for this scenario. Basic v2 is the demo choice because it supports the required AI gateway features at the lowest list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divider transitions from the pricing decision into adoption. The goal is to give attendees a practical path and point them to the AI-Gateway lab catalog.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Give the audience a sequence. Crawl is about centralizing one model path; walk adds enforceable guardrails; run adds tools, agents, caching and FinOps. The Azure-Samples AI-Gateway repository has more than 50 labs, and the highlighted labs map directly to what they saw in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final divider sets up the close. Use the remaining minutes to reinforce the three big ideas, give links, and leave time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Close the narrative with four takeaways. The strongest message is that the gateway should become the default path for AI calls, not an optional layer. Reinforce that governance, cost control, safety, resiliency and observability are all easier when the traffic goes through one platform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Point attendees to the labs and documentation. Ask what they would centralize first in their organization: model access, content safety, token budgets, MCP servers or observability. Then leave the remaining time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slide as the source appendix. Mention that the deck intentionally uses the shared brief and research document as its fact base. Remind presenters to re-verify pricing and model regional availability before using the material externally.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E3F"/>
        </a:solidFill>
        <a:effectLst/>
      </p:bgPr>
    </p:bg>
    <p:spTree>
      <p:nvGrpSpPr>
        <p:cNvPr id="1" name=""/>
        <p:cNvGrpSpPr/>
        <p:nvPr/>
      </p:nvGrpSpPr>
      <p:grpSpPr>
        <a:xfrm>
          <a:off x="0" y="0"/>
          <a:ext cx="0" cy="0"/>
          <a:chOff x="0" y="0"/>
          <a:chExt cx="0" cy="0"/>
        </a:xfrm>
      </p:grpSpPr>
      <p:sp>
        <p:nvSpPr>
          <p:cNvPr id="2" name="Shape 0"/>
          <p:cNvSpPr/>
          <p:nvPr/>
        </p:nvSpPr>
        <p:spPr>
          <a:xfrm>
            <a:off x="8183880" y="1371600"/>
            <a:ext cx="164592" cy="4709160"/>
          </a:xfrm>
          <a:prstGeom prst="rect">
            <a:avLst/>
          </a:prstGeom>
          <a:solidFill>
            <a:srgbClr val="00B7C3">
              <a:alpha val="95000"/>
            </a:srgbClr>
          </a:solidFill>
          <a:ln w="12700">
            <a:solidFill>
              <a:srgbClr val="00B7C3">
                <a:alpha val="95000"/>
              </a:srgbClr>
            </a:solidFill>
            <a:prstDash val="solid"/>
          </a:ln>
        </p:spPr>
      </p:sp>
      <p:sp>
        <p:nvSpPr>
          <p:cNvPr id="3" name="Shape 1"/>
          <p:cNvSpPr/>
          <p:nvPr/>
        </p:nvSpPr>
        <p:spPr>
          <a:xfrm>
            <a:off x="10991088" y="1371600"/>
            <a:ext cx="164592" cy="4709160"/>
          </a:xfrm>
          <a:prstGeom prst="rect">
            <a:avLst/>
          </a:prstGeom>
          <a:solidFill>
            <a:srgbClr val="00B7C3">
              <a:alpha val="95000"/>
            </a:srgbClr>
          </a:solidFill>
          <a:ln w="12700">
            <a:solidFill>
              <a:srgbClr val="00B7C3">
                <a:alpha val="95000"/>
              </a:srgbClr>
            </a:solidFill>
            <a:prstDash val="solid"/>
          </a:ln>
        </p:spPr>
      </p:sp>
      <p:sp>
        <p:nvSpPr>
          <p:cNvPr id="4" name="Shape 2"/>
          <p:cNvSpPr/>
          <p:nvPr/>
        </p:nvSpPr>
        <p:spPr>
          <a:xfrm>
            <a:off x="8193024" y="777240"/>
            <a:ext cx="2953512" cy="1234440"/>
          </a:xfrm>
          <a:prstGeom prst="arc">
            <a:avLst/>
          </a:prstGeom>
          <a:solidFill>
            <a:srgbClr val="00B7C3">
              <a:alpha val="0"/>
            </a:srgbClr>
          </a:solidFill>
          <a:ln w="88900">
            <a:solidFill>
              <a:srgbClr val="00B7C3">
                <a:alpha val="95000"/>
              </a:srgbClr>
            </a:solidFill>
            <a:prstDash val="solid"/>
          </a:ln>
        </p:spPr>
      </p:sp>
      <p:sp>
        <p:nvSpPr>
          <p:cNvPr id="5" name="Text 3"/>
          <p:cNvSpPr/>
          <p:nvPr/>
        </p:nvSpPr>
        <p:spPr>
          <a:xfrm>
            <a:off x="713232" y="1005840"/>
            <a:ext cx="7132320" cy="1325880"/>
          </a:xfrm>
          <a:prstGeom prst="rect">
            <a:avLst/>
          </a:prstGeom>
          <a:noFill/>
          <a:ln/>
        </p:spPr>
        <p:txBody>
          <a:bodyPr wrap="square" lIns="0" tIns="0" rIns="0" bIns="0" rtlCol="0" anchor="ctr">
            <a:normAutofit/>
          </a:bodyPr>
          <a:lstStyle/>
          <a:p>
            <a:pPr marL="0" indent="0">
              <a:buNone/>
            </a:pPr>
            <a:r>
              <a:rPr lang="en-US" sz="3800" dirty="0">
                <a:solidFill>
                  <a:srgbClr val="FFFFFF"/>
                </a:solidFill>
                <a:latin typeface="Segoe UI Semibold" pitchFamily="34" charset="0"/>
                <a:ea typeface="Segoe UI Semibold" pitchFamily="34" charset="-122"/>
                <a:cs typeface="Segoe UI Semibold" pitchFamily="34" charset="-120"/>
              </a:rPr>
              <a:t>Azure API Management as your AI Gateway</a:t>
            </a:r>
            <a:endParaRPr lang="en-US" sz="3800" dirty="0"/>
          </a:p>
        </p:txBody>
      </p:sp>
      <p:sp>
        <p:nvSpPr>
          <p:cNvPr id="6" name="Text 4"/>
          <p:cNvSpPr/>
          <p:nvPr/>
        </p:nvSpPr>
        <p:spPr>
          <a:xfrm>
            <a:off x="749808" y="2606040"/>
            <a:ext cx="6172200" cy="320040"/>
          </a:xfrm>
          <a:prstGeom prst="rect">
            <a:avLst/>
          </a:prstGeom>
          <a:noFill/>
          <a:ln/>
        </p:spPr>
        <p:txBody>
          <a:bodyPr wrap="square" lIns="0" tIns="0" rIns="0" bIns="0" rtlCol="0" anchor="ctr"/>
          <a:lstStyle/>
          <a:p>
            <a:pPr marL="0" indent="0">
              <a:buNone/>
            </a:pPr>
            <a:r>
              <a:rPr lang="en-US" sz="1800" dirty="0">
                <a:solidFill>
                  <a:srgbClr val="D7E7F6"/>
                </a:solidFill>
                <a:latin typeface="Segoe UI" pitchFamily="34" charset="0"/>
                <a:ea typeface="Segoe UI" pitchFamily="34" charset="-122"/>
                <a:cs typeface="Segoe UI" pitchFamily="34" charset="-120"/>
              </a:rPr>
              <a:t>Govern models, MCP tools and agents at scale</a:t>
            </a:r>
            <a:endParaRPr lang="en-US" sz="1800" dirty="0"/>
          </a:p>
        </p:txBody>
      </p:sp>
      <p:sp>
        <p:nvSpPr>
          <p:cNvPr id="7" name="Text 5"/>
          <p:cNvSpPr/>
          <p:nvPr/>
        </p:nvSpPr>
        <p:spPr>
          <a:xfrm>
            <a:off x="749808" y="3072384"/>
            <a:ext cx="6675120" cy="310896"/>
          </a:xfrm>
          <a:prstGeom prst="rect">
            <a:avLst/>
          </a:prstGeom>
          <a:noFill/>
          <a:ln/>
        </p:spPr>
        <p:txBody>
          <a:bodyPr wrap="square" lIns="0" tIns="0" rIns="0" bIns="0" rtlCol="0" anchor="ctr">
            <a:normAutofit/>
          </a:bodyPr>
          <a:lstStyle/>
          <a:p>
            <a:pPr marL="0" indent="0">
              <a:buNone/>
            </a:pPr>
            <a:r>
              <a:rPr lang="en-US" sz="1350" dirty="0">
                <a:solidFill>
                  <a:srgbClr val="AFC3DA"/>
                </a:solidFill>
                <a:latin typeface="Segoe UI" pitchFamily="34" charset="0"/>
                <a:ea typeface="Segoe UI" pitchFamily="34" charset="-122"/>
                <a:cs typeface="Segoe UI" pitchFamily="34" charset="-120"/>
              </a:rPr>
              <a:t>Security, cost control, resiliency and observability for every AI call — Oct 2026 edition</a:t>
            </a:r>
            <a:endParaRPr lang="en-US" sz="1350" dirty="0"/>
          </a:p>
        </p:txBody>
      </p:sp>
      <p:sp>
        <p:nvSpPr>
          <p:cNvPr id="8" name="Shape 6"/>
          <p:cNvSpPr/>
          <p:nvPr/>
        </p:nvSpPr>
        <p:spPr>
          <a:xfrm>
            <a:off x="749808" y="3794760"/>
            <a:ext cx="822960" cy="246888"/>
          </a:xfrm>
          <a:prstGeom prst="roundRect">
            <a:avLst>
              <a:gd name="adj" fmla="val 18519"/>
            </a:avLst>
          </a:prstGeom>
          <a:solidFill>
            <a:srgbClr val="FFB900"/>
          </a:solidFill>
          <a:ln w="12700">
            <a:solidFill>
              <a:srgbClr val="FFB900"/>
            </a:solidFill>
            <a:prstDash val="solid"/>
          </a:ln>
        </p:spPr>
      </p:sp>
      <p:sp>
        <p:nvSpPr>
          <p:cNvPr id="9" name="Text 7"/>
          <p:cNvSpPr/>
          <p:nvPr/>
        </p:nvSpPr>
        <p:spPr>
          <a:xfrm>
            <a:off x="804672" y="3845052"/>
            <a:ext cx="713232" cy="100584"/>
          </a:xfrm>
          <a:prstGeom prst="rect">
            <a:avLst/>
          </a:prstGeom>
          <a:noFill/>
          <a:ln/>
        </p:spPr>
        <p:txBody>
          <a:bodyPr wrap="square" lIns="0" tIns="0" rIns="0" bIns="0" rtlCol="0" anchor="ctr">
            <a:normAutofit/>
          </a:bodyPr>
          <a:lstStyle/>
          <a:p>
            <a:pPr marL="0" indent="0" algn="ctr">
              <a:buNone/>
            </a:pPr>
            <a:r>
              <a:rPr lang="en-US" sz="750" dirty="0">
                <a:solidFill>
                  <a:srgbClr val="0B1E3F"/>
                </a:solidFill>
                <a:latin typeface="Segoe UI Semibold" pitchFamily="34" charset="0"/>
                <a:ea typeface="Segoe UI Semibold" pitchFamily="34" charset="-122"/>
                <a:cs typeface="Segoe UI Semibold" pitchFamily="34" charset="-120"/>
              </a:rPr>
              <a:t>90 min</a:t>
            </a:r>
            <a:endParaRPr lang="en-US" sz="750" dirty="0"/>
          </a:p>
        </p:txBody>
      </p:sp>
      <p:sp>
        <p:nvSpPr>
          <p:cNvPr id="10" name="Shape 8"/>
          <p:cNvSpPr/>
          <p:nvPr/>
        </p:nvSpPr>
        <p:spPr>
          <a:xfrm>
            <a:off x="1700784" y="3794760"/>
            <a:ext cx="1234440" cy="246888"/>
          </a:xfrm>
          <a:prstGeom prst="roundRect">
            <a:avLst>
              <a:gd name="adj" fmla="val 18519"/>
            </a:avLst>
          </a:prstGeom>
          <a:solidFill>
            <a:srgbClr val="D9F7FA"/>
          </a:solidFill>
          <a:ln w="12700">
            <a:solidFill>
              <a:srgbClr val="D9F7FA"/>
            </a:solidFill>
            <a:prstDash val="solid"/>
          </a:ln>
        </p:spPr>
      </p:sp>
      <p:sp>
        <p:nvSpPr>
          <p:cNvPr id="11" name="Text 9"/>
          <p:cNvSpPr/>
          <p:nvPr/>
        </p:nvSpPr>
        <p:spPr>
          <a:xfrm>
            <a:off x="1755648" y="3845052"/>
            <a:ext cx="1124712" cy="100584"/>
          </a:xfrm>
          <a:prstGeom prst="rect">
            <a:avLst/>
          </a:prstGeom>
          <a:noFill/>
          <a:ln/>
        </p:spPr>
        <p:txBody>
          <a:bodyPr wrap="square" lIns="0" tIns="0" rIns="0" bIns="0" rtlCol="0" anchor="ctr">
            <a:normAutofit/>
          </a:bodyPr>
          <a:lstStyle/>
          <a:p>
            <a:pPr marL="0" indent="0" algn="ctr">
              <a:buNone/>
            </a:pPr>
            <a:r>
              <a:rPr lang="en-US" sz="750" dirty="0">
                <a:solidFill>
                  <a:srgbClr val="0B1E3F"/>
                </a:solidFill>
                <a:latin typeface="Segoe UI Semibold" pitchFamily="34" charset="0"/>
                <a:ea typeface="Segoe UI Semibold" pitchFamily="34" charset="-122"/>
                <a:cs typeface="Segoe UI Semibold" pitchFamily="34" charset="-120"/>
              </a:rPr>
              <a:t>Basic v2 demo</a:t>
            </a:r>
            <a:endParaRPr lang="en-US" sz="750" dirty="0"/>
          </a:p>
        </p:txBody>
      </p:sp>
      <p:sp>
        <p:nvSpPr>
          <p:cNvPr id="12" name="Shape 10"/>
          <p:cNvSpPr/>
          <p:nvPr/>
        </p:nvSpPr>
        <p:spPr>
          <a:xfrm>
            <a:off x="3063240" y="3794760"/>
            <a:ext cx="1234440" cy="246888"/>
          </a:xfrm>
          <a:prstGeom prst="roundRect">
            <a:avLst>
              <a:gd name="adj" fmla="val 18519"/>
            </a:avLst>
          </a:prstGeom>
          <a:solidFill>
            <a:srgbClr val="E5F1FB"/>
          </a:solidFill>
          <a:ln w="12700">
            <a:solidFill>
              <a:srgbClr val="E5F1FB"/>
            </a:solidFill>
            <a:prstDash val="solid"/>
          </a:ln>
        </p:spPr>
      </p:sp>
      <p:sp>
        <p:nvSpPr>
          <p:cNvPr id="13" name="Text 11"/>
          <p:cNvSpPr/>
          <p:nvPr/>
        </p:nvSpPr>
        <p:spPr>
          <a:xfrm>
            <a:off x="3118104" y="3845052"/>
            <a:ext cx="1124712" cy="100584"/>
          </a:xfrm>
          <a:prstGeom prst="rect">
            <a:avLst/>
          </a:prstGeom>
          <a:noFill/>
          <a:ln/>
        </p:spPr>
        <p:txBody>
          <a:bodyPr wrap="square" lIns="0" tIns="0" rIns="0" bIns="0" rtlCol="0" anchor="ctr">
            <a:normAutofit/>
          </a:bodyPr>
          <a:lstStyle/>
          <a:p>
            <a:pPr marL="0" indent="0" algn="ctr">
              <a:buNone/>
            </a:pPr>
            <a:r>
              <a:rPr lang="en-US" sz="750" dirty="0">
                <a:solidFill>
                  <a:srgbClr val="0B1E3F"/>
                </a:solidFill>
                <a:latin typeface="Segoe UI Semibold" pitchFamily="34" charset="0"/>
                <a:ea typeface="Segoe UI Semibold" pitchFamily="34" charset="-122"/>
                <a:cs typeface="Segoe UI Semibold" pitchFamily="34" charset="-120"/>
              </a:rPr>
              <a:t>gpt-5.4-nano</a:t>
            </a:r>
            <a:endParaRPr lang="en-US" sz="750" dirty="0"/>
          </a:p>
        </p:txBody>
      </p:sp>
      <p:sp>
        <p:nvSpPr>
          <p:cNvPr id="14" name="Shape 12"/>
          <p:cNvSpPr/>
          <p:nvPr/>
        </p:nvSpPr>
        <p:spPr>
          <a:xfrm>
            <a:off x="0" y="6144768"/>
            <a:ext cx="12191695" cy="713232"/>
          </a:xfrm>
          <a:prstGeom prst="rect">
            <a:avLst/>
          </a:prstGeom>
          <a:solidFill>
            <a:srgbClr val="06152D"/>
          </a:solidFill>
          <a:ln w="12700">
            <a:solidFill>
              <a:srgbClr val="06152D"/>
            </a:solidFill>
            <a:prstDash val="solid"/>
          </a:ln>
        </p:spPr>
      </p:sp>
      <p:sp>
        <p:nvSpPr>
          <p:cNvPr id="15" name="Text 13"/>
          <p:cNvSpPr/>
          <p:nvPr/>
        </p:nvSpPr>
        <p:spPr>
          <a:xfrm>
            <a:off x="749808" y="6382512"/>
            <a:ext cx="4572000" cy="164592"/>
          </a:xfrm>
          <a:prstGeom prst="rect">
            <a:avLst/>
          </a:prstGeom>
          <a:noFill/>
          <a:ln/>
        </p:spPr>
        <p:txBody>
          <a:bodyPr wrap="square" lIns="0" tIns="0" rIns="0" bIns="0" rtlCol="0" anchor="ctr"/>
          <a:lstStyle/>
          <a:p>
            <a:pPr marL="0" indent="0">
              <a:buNone/>
            </a:pPr>
            <a:r>
              <a:rPr lang="en-US" sz="950" dirty="0">
                <a:solidFill>
                  <a:srgbClr val="00B7C3"/>
                </a:solidFill>
                <a:latin typeface="Segoe UI Semibold" pitchFamily="34" charset="0"/>
                <a:ea typeface="Segoe UI Semibold" pitchFamily="34" charset="-122"/>
                <a:cs typeface="Segoe UI Semibold" pitchFamily="34" charset="-120"/>
              </a:rPr>
              <a:t>Zava Retail: from AI sprawl to a governed gateway</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301752"/>
            <a:ext cx="3200400" cy="201168"/>
          </a:xfrm>
          <a:prstGeom prst="rect">
            <a:avLst/>
          </a:prstGeom>
          <a:noFill/>
          <a:ln/>
        </p:spPr>
        <p:txBody>
          <a:bodyPr wrap="square" lIns="0" tIns="0" rIns="0" bIns="0" rtlCol="0" anchor="ctr"/>
          <a:lstStyle/>
          <a:p>
            <a:pPr marL="0" indent="0">
              <a:buNone/>
            </a:pPr>
            <a:r>
              <a:rPr lang="en-US" sz="800" kern="0" spc="120" dirty="0">
                <a:solidFill>
                  <a:srgbClr val="00B7C3"/>
                </a:solidFill>
                <a:latin typeface="Segoe UI Semibold" pitchFamily="34" charset="0"/>
                <a:ea typeface="Segoe UI Semibold" pitchFamily="34" charset="-122"/>
                <a:cs typeface="Segoe UI Semibold" pitchFamily="34" charset="-120"/>
              </a:rPr>
              <a:t>SESSION PLAN</a:t>
            </a:r>
            <a:endParaRPr lang="en-US" sz="800" dirty="0"/>
          </a:p>
        </p:txBody>
      </p:sp>
      <p:sp>
        <p:nvSpPr>
          <p:cNvPr id="3" name="Text 1"/>
          <p:cNvSpPr/>
          <p:nvPr/>
        </p:nvSpPr>
        <p:spPr>
          <a:xfrm>
            <a:off x="457200" y="521208"/>
            <a:ext cx="7955280" cy="438912"/>
          </a:xfrm>
          <a:prstGeom prst="rect">
            <a:avLst/>
          </a:prstGeom>
          <a:noFill/>
          <a:ln/>
        </p:spPr>
        <p:txBody>
          <a:bodyPr wrap="square" lIns="0" tIns="0" rIns="0" bIns="0" rtlCol="0" anchor="ctr"/>
          <a:lstStyle/>
          <a:p>
            <a:pPr marL="0" indent="0">
              <a:buNone/>
            </a:pPr>
            <a:r>
              <a:rPr lang="en-US" sz="2500" dirty="0">
                <a:solidFill>
                  <a:srgbClr val="0B1E3F"/>
                </a:solidFill>
                <a:latin typeface="Segoe UI Semibold" pitchFamily="34" charset="0"/>
                <a:ea typeface="Segoe UI Semibold" pitchFamily="34" charset="-122"/>
                <a:cs typeface="Segoe UI Semibold" pitchFamily="34" charset="-120"/>
              </a:rPr>
              <a:t>Agenda: 90 minutes from problem to production path</a:t>
            </a:r>
            <a:endParaRPr lang="en-US" sz="2500" dirty="0"/>
          </a:p>
        </p:txBody>
      </p:sp>
      <p:sp>
        <p:nvSpPr>
          <p:cNvPr id="4" name="Shape 2"/>
          <p:cNvSpPr/>
          <p:nvPr/>
        </p:nvSpPr>
        <p:spPr>
          <a:xfrm>
            <a:off x="10698480" y="118872"/>
            <a:ext cx="1051560" cy="1051560"/>
          </a:xfrm>
          <a:prstGeom prst="arc">
            <a:avLst/>
          </a:prstGeom>
          <a:solidFill>
            <a:srgbClr val="F5F7FA">
              <a:alpha val="0"/>
            </a:srgbClr>
          </a:solidFill>
          <a:ln w="38100">
            <a:solidFill>
              <a:srgbClr val="00B7C3">
                <a:alpha val="90000"/>
              </a:srgbClr>
            </a:solidFill>
            <a:prstDash val="solid"/>
          </a:ln>
        </p:spPr>
      </p:sp>
      <p:sp>
        <p:nvSpPr>
          <p:cNvPr id="5" name="Text 3"/>
          <p:cNvSpPr/>
          <p:nvPr/>
        </p:nvSpPr>
        <p:spPr>
          <a:xfrm>
            <a:off x="457200" y="6473952"/>
            <a:ext cx="7955280" cy="164592"/>
          </a:xfrm>
          <a:prstGeom prst="rect">
            <a:avLst/>
          </a:prstGeom>
          <a:noFill/>
          <a:ln/>
        </p:spPr>
        <p:txBody>
          <a:bodyPr wrap="square" lIns="0" tIns="0" rIns="0" bIns="0" rtlCol="0" anchor="ctr"/>
          <a:lstStyle/>
          <a:p>
            <a:pPr marL="0" indent="0">
              <a:buNone/>
            </a:pPr>
            <a:r>
              <a:rPr lang="en-US" sz="750" dirty="0">
                <a:solidFill>
                  <a:srgbClr val="8A97A8"/>
                </a:solidFill>
                <a:latin typeface="Segoe UI" pitchFamily="34" charset="0"/>
                <a:ea typeface="Segoe UI" pitchFamily="34" charset="-122"/>
                <a:cs typeface="Segoe UI" pitchFamily="34" charset="-120"/>
              </a:rPr>
              <a:t>Azure API Management AI Gateway — Oct 2026</a:t>
            </a:r>
            <a:endParaRPr lang="en-US" sz="750" dirty="0"/>
          </a:p>
        </p:txBody>
      </p:sp>
      <p:sp>
        <p:nvSpPr>
          <p:cNvPr id="6" name="Text 4"/>
          <p:cNvSpPr/>
          <p:nvPr/>
        </p:nvSpPr>
        <p:spPr>
          <a:xfrm>
            <a:off x="11430000" y="6446520"/>
            <a:ext cx="320040" cy="164592"/>
          </a:xfrm>
          <a:prstGeom prst="rect">
            <a:avLst/>
          </a:prstGeom>
          <a:noFill/>
          <a:ln/>
        </p:spPr>
        <p:txBody>
          <a:bodyPr wrap="square" lIns="0" tIns="0" rIns="0" bIns="0" rtlCol="0" anchor="ctr"/>
          <a:lstStyle/>
          <a:p>
            <a:pPr marL="0" indent="0" algn="r">
              <a:buNone/>
            </a:pPr>
            <a:r>
              <a:rPr lang="en-US" sz="800" dirty="0">
                <a:solidFill>
                  <a:srgbClr val="8A97A8"/>
                </a:solidFill>
                <a:latin typeface="Segoe UI Semibold" pitchFamily="34" charset="0"/>
                <a:ea typeface="Segoe UI Semibold" pitchFamily="34" charset="-122"/>
                <a:cs typeface="Segoe UI Semibold" pitchFamily="34" charset="-120"/>
              </a:rPr>
              <a:t>02</a:t>
            </a:r>
            <a:endParaRPr lang="en-US" sz="800" dirty="0"/>
          </a:p>
        </p:txBody>
      </p:sp>
      <p:sp>
        <p:nvSpPr>
          <p:cNvPr id="7" name="Shape 5"/>
          <p:cNvSpPr/>
          <p:nvPr/>
        </p:nvSpPr>
        <p:spPr>
          <a:xfrm>
            <a:off x="685800" y="1143000"/>
            <a:ext cx="5166360" cy="786384"/>
          </a:xfrm>
          <a:prstGeom prst="rect">
            <a:avLst/>
          </a:prstGeom>
          <a:solidFill>
            <a:srgbClr val="FFFFFF"/>
          </a:solidFill>
          <a:ln w="10160">
            <a:solidFill>
              <a:srgbClr val="D8E2EC"/>
            </a:solidFill>
            <a:prstDash val="solid"/>
          </a:ln>
        </p:spPr>
      </p:sp>
      <p:sp>
        <p:nvSpPr>
          <p:cNvPr id="8" name="Shape 6"/>
          <p:cNvSpPr/>
          <p:nvPr/>
        </p:nvSpPr>
        <p:spPr>
          <a:xfrm>
            <a:off x="685800" y="1143000"/>
            <a:ext cx="73152" cy="786384"/>
          </a:xfrm>
          <a:prstGeom prst="rect">
            <a:avLst/>
          </a:prstGeom>
          <a:solidFill>
            <a:srgbClr val="00B7C3"/>
          </a:solidFill>
          <a:ln w="12700">
            <a:solidFill>
              <a:srgbClr val="00B7C3"/>
            </a:solidFill>
            <a:prstDash val="solid"/>
          </a:ln>
        </p:spPr>
      </p:sp>
      <p:sp>
        <p:nvSpPr>
          <p:cNvPr id="9" name="Shape 7"/>
          <p:cNvSpPr/>
          <p:nvPr/>
        </p:nvSpPr>
        <p:spPr>
          <a:xfrm>
            <a:off x="850392" y="1298448"/>
            <a:ext cx="393192" cy="393192"/>
          </a:xfrm>
          <a:prstGeom prst="ellipse">
            <a:avLst/>
          </a:prstGeom>
          <a:solidFill>
            <a:srgbClr val="00B7C3"/>
          </a:solidFill>
          <a:ln w="12700">
            <a:solidFill>
              <a:srgbClr val="00B7C3"/>
            </a:solidFill>
            <a:prstDash val="solid"/>
          </a:ln>
        </p:spPr>
      </p:sp>
      <p:sp>
        <p:nvSpPr>
          <p:cNvPr id="10" name="Text 8"/>
          <p:cNvSpPr/>
          <p:nvPr/>
        </p:nvSpPr>
        <p:spPr>
          <a:xfrm>
            <a:off x="850392" y="1357884"/>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1</a:t>
            </a:r>
            <a:endParaRPr lang="en-US" sz="800" dirty="0"/>
          </a:p>
        </p:txBody>
      </p:sp>
      <p:sp>
        <p:nvSpPr>
          <p:cNvPr id="11" name="Text 9"/>
          <p:cNvSpPr/>
          <p:nvPr/>
        </p:nvSpPr>
        <p:spPr>
          <a:xfrm>
            <a:off x="1344168" y="1271016"/>
            <a:ext cx="434340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Welcome &amp; hook</a:t>
            </a:r>
            <a:endParaRPr lang="en-US" sz="1250" dirty="0"/>
          </a:p>
        </p:txBody>
      </p:sp>
      <p:sp>
        <p:nvSpPr>
          <p:cNvPr id="12" name="Text 10"/>
          <p:cNvSpPr/>
          <p:nvPr/>
        </p:nvSpPr>
        <p:spPr>
          <a:xfrm>
            <a:off x="1344168" y="1600200"/>
            <a:ext cx="4343400" cy="237744"/>
          </a:xfrm>
          <a:prstGeom prst="rect">
            <a:avLst/>
          </a:prstGeom>
          <a:noFill/>
          <a:ln/>
        </p:spPr>
        <p:txBody>
          <a:bodyPr wrap="square" lIns="635" tIns="635" rIns="635" bIns="635" rtlCol="0" anchor="ctr">
            <a:normAutofit/>
          </a:bodyPr>
          <a:lstStyle/>
          <a:p>
            <a:pPr marL="0" indent="0">
              <a:buNone/>
            </a:pPr>
            <a:r>
              <a:rPr lang="en-US" sz="940" dirty="0">
                <a:solidFill>
                  <a:srgbClr val="3B4A5E"/>
                </a:solidFill>
                <a:latin typeface="Segoe UI" pitchFamily="34" charset="0"/>
                <a:ea typeface="Segoe UI" pitchFamily="34" charset="-122"/>
                <a:cs typeface="Segoe UI" pitchFamily="34" charset="-120"/>
              </a:rPr>
              <a:t>00–05 · AI sprawl story</a:t>
            </a:r>
            <a:endParaRPr lang="en-US" sz="940" dirty="0"/>
          </a:p>
        </p:txBody>
      </p:sp>
      <p:sp>
        <p:nvSpPr>
          <p:cNvPr id="13" name="Shape 11"/>
          <p:cNvSpPr/>
          <p:nvPr/>
        </p:nvSpPr>
        <p:spPr>
          <a:xfrm>
            <a:off x="6263640" y="1143000"/>
            <a:ext cx="5166360" cy="786384"/>
          </a:xfrm>
          <a:prstGeom prst="rect">
            <a:avLst/>
          </a:prstGeom>
          <a:solidFill>
            <a:srgbClr val="FFFFFF"/>
          </a:solidFill>
          <a:ln w="10160">
            <a:solidFill>
              <a:srgbClr val="D8E2EC"/>
            </a:solidFill>
            <a:prstDash val="solid"/>
          </a:ln>
        </p:spPr>
      </p:sp>
      <p:sp>
        <p:nvSpPr>
          <p:cNvPr id="14" name="Shape 12"/>
          <p:cNvSpPr/>
          <p:nvPr/>
        </p:nvSpPr>
        <p:spPr>
          <a:xfrm>
            <a:off x="6263640" y="1143000"/>
            <a:ext cx="73152" cy="786384"/>
          </a:xfrm>
          <a:prstGeom prst="rect">
            <a:avLst/>
          </a:prstGeom>
          <a:solidFill>
            <a:srgbClr val="00B7C3"/>
          </a:solidFill>
          <a:ln w="12700">
            <a:solidFill>
              <a:srgbClr val="00B7C3"/>
            </a:solidFill>
            <a:prstDash val="solid"/>
          </a:ln>
        </p:spPr>
      </p:sp>
      <p:sp>
        <p:nvSpPr>
          <p:cNvPr id="15" name="Shape 13"/>
          <p:cNvSpPr/>
          <p:nvPr/>
        </p:nvSpPr>
        <p:spPr>
          <a:xfrm>
            <a:off x="6428232" y="1298448"/>
            <a:ext cx="393192" cy="393192"/>
          </a:xfrm>
          <a:prstGeom prst="ellipse">
            <a:avLst/>
          </a:prstGeom>
          <a:solidFill>
            <a:srgbClr val="00B7C3"/>
          </a:solidFill>
          <a:ln w="12700">
            <a:solidFill>
              <a:srgbClr val="00B7C3"/>
            </a:solidFill>
            <a:prstDash val="solid"/>
          </a:ln>
        </p:spPr>
      </p:sp>
      <p:sp>
        <p:nvSpPr>
          <p:cNvPr id="16" name="Text 14"/>
          <p:cNvSpPr/>
          <p:nvPr/>
        </p:nvSpPr>
        <p:spPr>
          <a:xfrm>
            <a:off x="6428232" y="1357884"/>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2</a:t>
            </a:r>
            <a:endParaRPr lang="en-US" sz="800" dirty="0"/>
          </a:p>
        </p:txBody>
      </p:sp>
      <p:sp>
        <p:nvSpPr>
          <p:cNvPr id="17" name="Text 15"/>
          <p:cNvSpPr/>
          <p:nvPr/>
        </p:nvSpPr>
        <p:spPr>
          <a:xfrm>
            <a:off x="6922008" y="1271016"/>
            <a:ext cx="434340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Why an AI gateway</a:t>
            </a:r>
            <a:endParaRPr lang="en-US" sz="1250" dirty="0"/>
          </a:p>
        </p:txBody>
      </p:sp>
      <p:sp>
        <p:nvSpPr>
          <p:cNvPr id="18" name="Text 16"/>
          <p:cNvSpPr/>
          <p:nvPr/>
        </p:nvSpPr>
        <p:spPr>
          <a:xfrm>
            <a:off x="6922008" y="1600200"/>
            <a:ext cx="4343400" cy="237744"/>
          </a:xfrm>
          <a:prstGeom prst="rect">
            <a:avLst/>
          </a:prstGeom>
          <a:noFill/>
          <a:ln/>
        </p:spPr>
        <p:txBody>
          <a:bodyPr wrap="square" lIns="635" tIns="635" rIns="635" bIns="635" rtlCol="0" anchor="ctr">
            <a:normAutofit/>
          </a:bodyPr>
          <a:lstStyle/>
          <a:p>
            <a:pPr marL="0" indent="0">
              <a:buNone/>
            </a:pPr>
            <a:r>
              <a:rPr lang="en-US" sz="940" dirty="0">
                <a:solidFill>
                  <a:srgbClr val="3B4A5E"/>
                </a:solidFill>
                <a:latin typeface="Segoe UI" pitchFamily="34" charset="0"/>
                <a:ea typeface="Segoe UI" pitchFamily="34" charset="-122"/>
                <a:cs typeface="Segoe UI" pitchFamily="34" charset="-120"/>
              </a:rPr>
              <a:t>05–15 · six challenges</a:t>
            </a:r>
            <a:endParaRPr lang="en-US" sz="940" dirty="0"/>
          </a:p>
        </p:txBody>
      </p:sp>
      <p:sp>
        <p:nvSpPr>
          <p:cNvPr id="19" name="Shape 17"/>
          <p:cNvSpPr/>
          <p:nvPr/>
        </p:nvSpPr>
        <p:spPr>
          <a:xfrm>
            <a:off x="685800" y="2313432"/>
            <a:ext cx="5166360" cy="786384"/>
          </a:xfrm>
          <a:prstGeom prst="rect">
            <a:avLst/>
          </a:prstGeom>
          <a:solidFill>
            <a:srgbClr val="FFFFFF"/>
          </a:solidFill>
          <a:ln w="10160">
            <a:solidFill>
              <a:srgbClr val="D8E2EC"/>
            </a:solidFill>
            <a:prstDash val="solid"/>
          </a:ln>
        </p:spPr>
      </p:sp>
      <p:sp>
        <p:nvSpPr>
          <p:cNvPr id="20" name="Shape 18"/>
          <p:cNvSpPr/>
          <p:nvPr/>
        </p:nvSpPr>
        <p:spPr>
          <a:xfrm>
            <a:off x="685800" y="2313432"/>
            <a:ext cx="73152" cy="786384"/>
          </a:xfrm>
          <a:prstGeom prst="rect">
            <a:avLst/>
          </a:prstGeom>
          <a:solidFill>
            <a:srgbClr val="00B7C3"/>
          </a:solidFill>
          <a:ln w="12700">
            <a:solidFill>
              <a:srgbClr val="00B7C3"/>
            </a:solidFill>
            <a:prstDash val="solid"/>
          </a:ln>
        </p:spPr>
      </p:sp>
      <p:sp>
        <p:nvSpPr>
          <p:cNvPr id="21" name="Shape 19"/>
          <p:cNvSpPr/>
          <p:nvPr/>
        </p:nvSpPr>
        <p:spPr>
          <a:xfrm>
            <a:off x="850392" y="2468880"/>
            <a:ext cx="393192" cy="393192"/>
          </a:xfrm>
          <a:prstGeom prst="ellipse">
            <a:avLst/>
          </a:prstGeom>
          <a:solidFill>
            <a:srgbClr val="00B7C3"/>
          </a:solidFill>
          <a:ln w="12700">
            <a:solidFill>
              <a:srgbClr val="00B7C3"/>
            </a:solidFill>
            <a:prstDash val="solid"/>
          </a:ln>
        </p:spPr>
      </p:sp>
      <p:sp>
        <p:nvSpPr>
          <p:cNvPr id="22" name="Text 20"/>
          <p:cNvSpPr/>
          <p:nvPr/>
        </p:nvSpPr>
        <p:spPr>
          <a:xfrm>
            <a:off x="850392" y="2528316"/>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3</a:t>
            </a:r>
            <a:endParaRPr lang="en-US" sz="800" dirty="0"/>
          </a:p>
        </p:txBody>
      </p:sp>
      <p:sp>
        <p:nvSpPr>
          <p:cNvPr id="23" name="Text 21"/>
          <p:cNvSpPr/>
          <p:nvPr/>
        </p:nvSpPr>
        <p:spPr>
          <a:xfrm>
            <a:off x="1344168" y="2441448"/>
            <a:ext cx="434340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APIM in 2026</a:t>
            </a:r>
            <a:endParaRPr lang="en-US" sz="1250" dirty="0"/>
          </a:p>
        </p:txBody>
      </p:sp>
      <p:sp>
        <p:nvSpPr>
          <p:cNvPr id="24" name="Text 22"/>
          <p:cNvSpPr/>
          <p:nvPr/>
        </p:nvSpPr>
        <p:spPr>
          <a:xfrm>
            <a:off x="1344168" y="2770632"/>
            <a:ext cx="4343400" cy="237744"/>
          </a:xfrm>
          <a:prstGeom prst="rect">
            <a:avLst/>
          </a:prstGeom>
          <a:noFill/>
          <a:ln/>
        </p:spPr>
        <p:txBody>
          <a:bodyPr wrap="square" lIns="635" tIns="635" rIns="635" bIns="635" rtlCol="0" anchor="ctr">
            <a:normAutofit/>
          </a:bodyPr>
          <a:lstStyle/>
          <a:p>
            <a:pPr marL="0" indent="0">
              <a:buNone/>
            </a:pPr>
            <a:r>
              <a:rPr lang="en-US" sz="940" dirty="0">
                <a:solidFill>
                  <a:srgbClr val="3B4A5E"/>
                </a:solidFill>
                <a:latin typeface="Segoe UI" pitchFamily="34" charset="0"/>
                <a:ea typeface="Segoe UI" pitchFamily="34" charset="-122"/>
                <a:cs typeface="Segoe UI" pitchFamily="34" charset="-120"/>
              </a:rPr>
              <a:t>15–25 · refresher + new capabilities</a:t>
            </a:r>
            <a:endParaRPr lang="en-US" sz="940" dirty="0"/>
          </a:p>
        </p:txBody>
      </p:sp>
      <p:sp>
        <p:nvSpPr>
          <p:cNvPr id="25" name="Shape 23"/>
          <p:cNvSpPr/>
          <p:nvPr/>
        </p:nvSpPr>
        <p:spPr>
          <a:xfrm>
            <a:off x="6263640" y="2313432"/>
            <a:ext cx="5166360" cy="786384"/>
          </a:xfrm>
          <a:prstGeom prst="rect">
            <a:avLst/>
          </a:prstGeom>
          <a:solidFill>
            <a:srgbClr val="FFFFFF"/>
          </a:solidFill>
          <a:ln w="10160">
            <a:solidFill>
              <a:srgbClr val="D8E2EC"/>
            </a:solidFill>
            <a:prstDash val="solid"/>
          </a:ln>
        </p:spPr>
      </p:sp>
      <p:sp>
        <p:nvSpPr>
          <p:cNvPr id="26" name="Shape 24"/>
          <p:cNvSpPr/>
          <p:nvPr/>
        </p:nvSpPr>
        <p:spPr>
          <a:xfrm>
            <a:off x="6263640" y="2313432"/>
            <a:ext cx="73152" cy="786384"/>
          </a:xfrm>
          <a:prstGeom prst="rect">
            <a:avLst/>
          </a:prstGeom>
          <a:solidFill>
            <a:srgbClr val="00B7C3"/>
          </a:solidFill>
          <a:ln w="12700">
            <a:solidFill>
              <a:srgbClr val="00B7C3"/>
            </a:solidFill>
            <a:prstDash val="solid"/>
          </a:ln>
        </p:spPr>
      </p:sp>
      <p:sp>
        <p:nvSpPr>
          <p:cNvPr id="27" name="Shape 25"/>
          <p:cNvSpPr/>
          <p:nvPr/>
        </p:nvSpPr>
        <p:spPr>
          <a:xfrm>
            <a:off x="6428232" y="2468880"/>
            <a:ext cx="393192" cy="393192"/>
          </a:xfrm>
          <a:prstGeom prst="ellipse">
            <a:avLst/>
          </a:prstGeom>
          <a:solidFill>
            <a:srgbClr val="00B7C3"/>
          </a:solidFill>
          <a:ln w="12700">
            <a:solidFill>
              <a:srgbClr val="00B7C3"/>
            </a:solidFill>
            <a:prstDash val="solid"/>
          </a:ln>
        </p:spPr>
      </p:sp>
      <p:sp>
        <p:nvSpPr>
          <p:cNvPr id="28" name="Text 26"/>
          <p:cNvSpPr/>
          <p:nvPr/>
        </p:nvSpPr>
        <p:spPr>
          <a:xfrm>
            <a:off x="6428232" y="2528316"/>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4</a:t>
            </a:r>
            <a:endParaRPr lang="en-US" sz="800" dirty="0"/>
          </a:p>
        </p:txBody>
      </p:sp>
      <p:sp>
        <p:nvSpPr>
          <p:cNvPr id="29" name="Text 27"/>
          <p:cNvSpPr/>
          <p:nvPr/>
        </p:nvSpPr>
        <p:spPr>
          <a:xfrm>
            <a:off x="6922008" y="2441448"/>
            <a:ext cx="434340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Capabilities deep dive</a:t>
            </a:r>
            <a:endParaRPr lang="en-US" sz="1250" dirty="0"/>
          </a:p>
        </p:txBody>
      </p:sp>
      <p:sp>
        <p:nvSpPr>
          <p:cNvPr id="30" name="Text 28"/>
          <p:cNvSpPr/>
          <p:nvPr/>
        </p:nvSpPr>
        <p:spPr>
          <a:xfrm>
            <a:off x="6922008" y="2770632"/>
            <a:ext cx="4343400" cy="237744"/>
          </a:xfrm>
          <a:prstGeom prst="rect">
            <a:avLst/>
          </a:prstGeom>
          <a:noFill/>
          <a:ln/>
        </p:spPr>
        <p:txBody>
          <a:bodyPr wrap="square" lIns="635" tIns="635" rIns="635" bIns="635" rtlCol="0" anchor="ctr">
            <a:normAutofit/>
          </a:bodyPr>
          <a:lstStyle/>
          <a:p>
            <a:pPr marL="0" indent="0">
              <a:buNone/>
            </a:pPr>
            <a:r>
              <a:rPr lang="en-US" sz="940" dirty="0">
                <a:solidFill>
                  <a:srgbClr val="3B4A5E"/>
                </a:solidFill>
                <a:latin typeface="Segoe UI" pitchFamily="34" charset="0"/>
                <a:ea typeface="Segoe UI" pitchFamily="34" charset="-122"/>
                <a:cs typeface="Segoe UI" pitchFamily="34" charset="-120"/>
              </a:rPr>
              <a:t>25–40 · five pillars</a:t>
            </a:r>
            <a:endParaRPr lang="en-US" sz="940" dirty="0"/>
          </a:p>
        </p:txBody>
      </p:sp>
      <p:sp>
        <p:nvSpPr>
          <p:cNvPr id="31" name="Shape 29"/>
          <p:cNvSpPr/>
          <p:nvPr/>
        </p:nvSpPr>
        <p:spPr>
          <a:xfrm>
            <a:off x="685800" y="3483864"/>
            <a:ext cx="5166360" cy="786384"/>
          </a:xfrm>
          <a:prstGeom prst="rect">
            <a:avLst/>
          </a:prstGeom>
          <a:solidFill>
            <a:srgbClr val="FFFFFF"/>
          </a:solidFill>
          <a:ln w="10160">
            <a:solidFill>
              <a:srgbClr val="D8E2EC"/>
            </a:solidFill>
            <a:prstDash val="solid"/>
          </a:ln>
        </p:spPr>
      </p:sp>
      <p:sp>
        <p:nvSpPr>
          <p:cNvPr id="32" name="Shape 30"/>
          <p:cNvSpPr/>
          <p:nvPr/>
        </p:nvSpPr>
        <p:spPr>
          <a:xfrm>
            <a:off x="685800" y="3483864"/>
            <a:ext cx="73152" cy="786384"/>
          </a:xfrm>
          <a:prstGeom prst="rect">
            <a:avLst/>
          </a:prstGeom>
          <a:solidFill>
            <a:srgbClr val="FFB900"/>
          </a:solidFill>
          <a:ln w="12700">
            <a:solidFill>
              <a:srgbClr val="FFB900"/>
            </a:solidFill>
            <a:prstDash val="solid"/>
          </a:ln>
        </p:spPr>
      </p:sp>
      <p:sp>
        <p:nvSpPr>
          <p:cNvPr id="33" name="Shape 31"/>
          <p:cNvSpPr/>
          <p:nvPr/>
        </p:nvSpPr>
        <p:spPr>
          <a:xfrm>
            <a:off x="850392" y="3639312"/>
            <a:ext cx="393192" cy="393192"/>
          </a:xfrm>
          <a:prstGeom prst="ellipse">
            <a:avLst/>
          </a:prstGeom>
          <a:solidFill>
            <a:srgbClr val="FFB900"/>
          </a:solidFill>
          <a:ln w="12700">
            <a:solidFill>
              <a:srgbClr val="FFB900"/>
            </a:solidFill>
            <a:prstDash val="solid"/>
          </a:ln>
        </p:spPr>
      </p:sp>
      <p:sp>
        <p:nvSpPr>
          <p:cNvPr id="34" name="Text 32"/>
          <p:cNvSpPr/>
          <p:nvPr/>
        </p:nvSpPr>
        <p:spPr>
          <a:xfrm>
            <a:off x="850392" y="3698748"/>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5</a:t>
            </a:r>
            <a:endParaRPr lang="en-US" sz="800" dirty="0"/>
          </a:p>
        </p:txBody>
      </p:sp>
      <p:sp>
        <p:nvSpPr>
          <p:cNvPr id="35" name="Text 33"/>
          <p:cNvSpPr/>
          <p:nvPr/>
        </p:nvSpPr>
        <p:spPr>
          <a:xfrm>
            <a:off x="1344168" y="3611880"/>
            <a:ext cx="434340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Live demo</a:t>
            </a:r>
            <a:endParaRPr lang="en-US" sz="1250" dirty="0"/>
          </a:p>
        </p:txBody>
      </p:sp>
      <p:sp>
        <p:nvSpPr>
          <p:cNvPr id="36" name="Text 34"/>
          <p:cNvSpPr/>
          <p:nvPr/>
        </p:nvSpPr>
        <p:spPr>
          <a:xfrm>
            <a:off x="1344168" y="3941064"/>
            <a:ext cx="4343400" cy="237744"/>
          </a:xfrm>
          <a:prstGeom prst="rect">
            <a:avLst/>
          </a:prstGeom>
          <a:noFill/>
          <a:ln/>
        </p:spPr>
        <p:txBody>
          <a:bodyPr wrap="square" lIns="635" tIns="635" rIns="635" bIns="635" rtlCol="0" anchor="ctr">
            <a:normAutofit/>
          </a:bodyPr>
          <a:lstStyle/>
          <a:p>
            <a:pPr marL="0" indent="0">
              <a:buNone/>
            </a:pPr>
            <a:r>
              <a:rPr lang="en-US" sz="940" dirty="0">
                <a:solidFill>
                  <a:srgbClr val="3B4A5E"/>
                </a:solidFill>
                <a:latin typeface="Segoe UI" pitchFamily="34" charset="0"/>
                <a:ea typeface="Segoe UI" pitchFamily="34" charset="-122"/>
                <a:cs typeface="Segoe UI" pitchFamily="34" charset="-120"/>
              </a:rPr>
              <a:t>40–65 · D1–D8</a:t>
            </a:r>
            <a:endParaRPr lang="en-US" sz="940" dirty="0"/>
          </a:p>
        </p:txBody>
      </p:sp>
      <p:sp>
        <p:nvSpPr>
          <p:cNvPr id="37" name="Shape 35"/>
          <p:cNvSpPr/>
          <p:nvPr/>
        </p:nvSpPr>
        <p:spPr>
          <a:xfrm>
            <a:off x="6263640" y="3483864"/>
            <a:ext cx="5166360" cy="786384"/>
          </a:xfrm>
          <a:prstGeom prst="rect">
            <a:avLst/>
          </a:prstGeom>
          <a:solidFill>
            <a:srgbClr val="FFFFFF"/>
          </a:solidFill>
          <a:ln w="10160">
            <a:solidFill>
              <a:srgbClr val="D8E2EC"/>
            </a:solidFill>
            <a:prstDash val="solid"/>
          </a:ln>
        </p:spPr>
      </p:sp>
      <p:sp>
        <p:nvSpPr>
          <p:cNvPr id="38" name="Shape 36"/>
          <p:cNvSpPr/>
          <p:nvPr/>
        </p:nvSpPr>
        <p:spPr>
          <a:xfrm>
            <a:off x="6263640" y="3483864"/>
            <a:ext cx="73152" cy="786384"/>
          </a:xfrm>
          <a:prstGeom prst="rect">
            <a:avLst/>
          </a:prstGeom>
          <a:solidFill>
            <a:srgbClr val="00B7C3"/>
          </a:solidFill>
          <a:ln w="12700">
            <a:solidFill>
              <a:srgbClr val="00B7C3"/>
            </a:solidFill>
            <a:prstDash val="solid"/>
          </a:ln>
        </p:spPr>
      </p:sp>
      <p:sp>
        <p:nvSpPr>
          <p:cNvPr id="39" name="Shape 37"/>
          <p:cNvSpPr/>
          <p:nvPr/>
        </p:nvSpPr>
        <p:spPr>
          <a:xfrm>
            <a:off x="6428232" y="3639312"/>
            <a:ext cx="393192" cy="393192"/>
          </a:xfrm>
          <a:prstGeom prst="ellipse">
            <a:avLst/>
          </a:prstGeom>
          <a:solidFill>
            <a:srgbClr val="00B7C3"/>
          </a:solidFill>
          <a:ln w="12700">
            <a:solidFill>
              <a:srgbClr val="00B7C3"/>
            </a:solidFill>
            <a:prstDash val="solid"/>
          </a:ln>
        </p:spPr>
      </p:sp>
      <p:sp>
        <p:nvSpPr>
          <p:cNvPr id="40" name="Text 38"/>
          <p:cNvSpPr/>
          <p:nvPr/>
        </p:nvSpPr>
        <p:spPr>
          <a:xfrm>
            <a:off x="6428232" y="3698748"/>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6</a:t>
            </a:r>
            <a:endParaRPr lang="en-US" sz="800" dirty="0"/>
          </a:p>
        </p:txBody>
      </p:sp>
      <p:sp>
        <p:nvSpPr>
          <p:cNvPr id="41" name="Text 39"/>
          <p:cNvSpPr/>
          <p:nvPr/>
        </p:nvSpPr>
        <p:spPr>
          <a:xfrm>
            <a:off x="6922008" y="3611880"/>
            <a:ext cx="434340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Pricing, limits, tiering</a:t>
            </a:r>
            <a:endParaRPr lang="en-US" sz="1250" dirty="0"/>
          </a:p>
        </p:txBody>
      </p:sp>
      <p:sp>
        <p:nvSpPr>
          <p:cNvPr id="42" name="Text 40"/>
          <p:cNvSpPr/>
          <p:nvPr/>
        </p:nvSpPr>
        <p:spPr>
          <a:xfrm>
            <a:off x="6922008" y="3941064"/>
            <a:ext cx="4343400" cy="237744"/>
          </a:xfrm>
          <a:prstGeom prst="rect">
            <a:avLst/>
          </a:prstGeom>
          <a:noFill/>
          <a:ln/>
        </p:spPr>
        <p:txBody>
          <a:bodyPr wrap="square" lIns="635" tIns="635" rIns="635" bIns="635" rtlCol="0" anchor="ctr">
            <a:normAutofit/>
          </a:bodyPr>
          <a:lstStyle/>
          <a:p>
            <a:pPr marL="0" indent="0">
              <a:buNone/>
            </a:pPr>
            <a:r>
              <a:rPr lang="en-US" sz="940" dirty="0">
                <a:solidFill>
                  <a:srgbClr val="3B4A5E"/>
                </a:solidFill>
                <a:latin typeface="Segoe UI" pitchFamily="34" charset="0"/>
                <a:ea typeface="Segoe UI" pitchFamily="34" charset="-122"/>
                <a:cs typeface="Segoe UI" pitchFamily="34" charset="-120"/>
              </a:rPr>
              <a:t>65–75 · make the trade-offs explicit</a:t>
            </a:r>
            <a:endParaRPr lang="en-US" sz="940" dirty="0"/>
          </a:p>
        </p:txBody>
      </p:sp>
      <p:sp>
        <p:nvSpPr>
          <p:cNvPr id="43" name="Shape 41"/>
          <p:cNvSpPr/>
          <p:nvPr/>
        </p:nvSpPr>
        <p:spPr>
          <a:xfrm>
            <a:off x="685800" y="4654296"/>
            <a:ext cx="5166360" cy="786384"/>
          </a:xfrm>
          <a:prstGeom prst="rect">
            <a:avLst/>
          </a:prstGeom>
          <a:solidFill>
            <a:srgbClr val="FFFFFF"/>
          </a:solidFill>
          <a:ln w="10160">
            <a:solidFill>
              <a:srgbClr val="D8E2EC"/>
            </a:solidFill>
            <a:prstDash val="solid"/>
          </a:ln>
        </p:spPr>
      </p:sp>
      <p:sp>
        <p:nvSpPr>
          <p:cNvPr id="44" name="Shape 42"/>
          <p:cNvSpPr/>
          <p:nvPr/>
        </p:nvSpPr>
        <p:spPr>
          <a:xfrm>
            <a:off x="685800" y="4654296"/>
            <a:ext cx="73152" cy="786384"/>
          </a:xfrm>
          <a:prstGeom prst="rect">
            <a:avLst/>
          </a:prstGeom>
          <a:solidFill>
            <a:srgbClr val="00B7C3"/>
          </a:solidFill>
          <a:ln w="12700">
            <a:solidFill>
              <a:srgbClr val="00B7C3"/>
            </a:solidFill>
            <a:prstDash val="solid"/>
          </a:ln>
        </p:spPr>
      </p:sp>
      <p:sp>
        <p:nvSpPr>
          <p:cNvPr id="45" name="Shape 43"/>
          <p:cNvSpPr/>
          <p:nvPr/>
        </p:nvSpPr>
        <p:spPr>
          <a:xfrm>
            <a:off x="850392" y="4809744"/>
            <a:ext cx="393192" cy="393192"/>
          </a:xfrm>
          <a:prstGeom prst="ellipse">
            <a:avLst/>
          </a:prstGeom>
          <a:solidFill>
            <a:srgbClr val="00B7C3"/>
          </a:solidFill>
          <a:ln w="12700">
            <a:solidFill>
              <a:srgbClr val="00B7C3"/>
            </a:solidFill>
            <a:prstDash val="solid"/>
          </a:ln>
        </p:spPr>
      </p:sp>
      <p:sp>
        <p:nvSpPr>
          <p:cNvPr id="46" name="Text 44"/>
          <p:cNvSpPr/>
          <p:nvPr/>
        </p:nvSpPr>
        <p:spPr>
          <a:xfrm>
            <a:off x="850392" y="4869180"/>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7</a:t>
            </a:r>
            <a:endParaRPr lang="en-US" sz="800" dirty="0"/>
          </a:p>
        </p:txBody>
      </p:sp>
      <p:sp>
        <p:nvSpPr>
          <p:cNvPr id="47" name="Text 45"/>
          <p:cNvSpPr/>
          <p:nvPr/>
        </p:nvSpPr>
        <p:spPr>
          <a:xfrm>
            <a:off x="1344168" y="4782312"/>
            <a:ext cx="434340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Patterns &amp; labs</a:t>
            </a:r>
            <a:endParaRPr lang="en-US" sz="1250" dirty="0"/>
          </a:p>
        </p:txBody>
      </p:sp>
      <p:sp>
        <p:nvSpPr>
          <p:cNvPr id="48" name="Text 46"/>
          <p:cNvSpPr/>
          <p:nvPr/>
        </p:nvSpPr>
        <p:spPr>
          <a:xfrm>
            <a:off x="1344168" y="5111496"/>
            <a:ext cx="4343400" cy="237744"/>
          </a:xfrm>
          <a:prstGeom prst="rect">
            <a:avLst/>
          </a:prstGeom>
          <a:noFill/>
          <a:ln/>
        </p:spPr>
        <p:txBody>
          <a:bodyPr wrap="square" lIns="635" tIns="635" rIns="635" bIns="635" rtlCol="0" anchor="ctr">
            <a:normAutofit/>
          </a:bodyPr>
          <a:lstStyle/>
          <a:p>
            <a:pPr marL="0" indent="0">
              <a:buNone/>
            </a:pPr>
            <a:r>
              <a:rPr lang="en-US" sz="940" dirty="0">
                <a:solidFill>
                  <a:srgbClr val="3B4A5E"/>
                </a:solidFill>
                <a:latin typeface="Segoe UI" pitchFamily="34" charset="0"/>
                <a:ea typeface="Segoe UI" pitchFamily="34" charset="-122"/>
                <a:cs typeface="Segoe UI" pitchFamily="34" charset="-120"/>
              </a:rPr>
              <a:t>75–82 · crawl / walk / run</a:t>
            </a:r>
            <a:endParaRPr lang="en-US" sz="940" dirty="0"/>
          </a:p>
        </p:txBody>
      </p:sp>
      <p:sp>
        <p:nvSpPr>
          <p:cNvPr id="49" name="Shape 47"/>
          <p:cNvSpPr/>
          <p:nvPr/>
        </p:nvSpPr>
        <p:spPr>
          <a:xfrm>
            <a:off x="6263640" y="4654296"/>
            <a:ext cx="5166360" cy="786384"/>
          </a:xfrm>
          <a:prstGeom prst="rect">
            <a:avLst/>
          </a:prstGeom>
          <a:solidFill>
            <a:srgbClr val="FFFFFF"/>
          </a:solidFill>
          <a:ln w="10160">
            <a:solidFill>
              <a:srgbClr val="D8E2EC"/>
            </a:solidFill>
            <a:prstDash val="solid"/>
          </a:ln>
        </p:spPr>
      </p:sp>
      <p:sp>
        <p:nvSpPr>
          <p:cNvPr id="50" name="Shape 48"/>
          <p:cNvSpPr/>
          <p:nvPr/>
        </p:nvSpPr>
        <p:spPr>
          <a:xfrm>
            <a:off x="6263640" y="4654296"/>
            <a:ext cx="73152" cy="786384"/>
          </a:xfrm>
          <a:prstGeom prst="rect">
            <a:avLst/>
          </a:prstGeom>
          <a:solidFill>
            <a:srgbClr val="00B7C3"/>
          </a:solidFill>
          <a:ln w="12700">
            <a:solidFill>
              <a:srgbClr val="00B7C3"/>
            </a:solidFill>
            <a:prstDash val="solid"/>
          </a:ln>
        </p:spPr>
      </p:sp>
      <p:sp>
        <p:nvSpPr>
          <p:cNvPr id="51" name="Shape 49"/>
          <p:cNvSpPr/>
          <p:nvPr/>
        </p:nvSpPr>
        <p:spPr>
          <a:xfrm>
            <a:off x="6428232" y="4809744"/>
            <a:ext cx="393192" cy="393192"/>
          </a:xfrm>
          <a:prstGeom prst="ellipse">
            <a:avLst/>
          </a:prstGeom>
          <a:solidFill>
            <a:srgbClr val="00B7C3"/>
          </a:solidFill>
          <a:ln w="12700">
            <a:solidFill>
              <a:srgbClr val="00B7C3"/>
            </a:solidFill>
            <a:prstDash val="solid"/>
          </a:ln>
        </p:spPr>
      </p:sp>
      <p:sp>
        <p:nvSpPr>
          <p:cNvPr id="52" name="Text 50"/>
          <p:cNvSpPr/>
          <p:nvPr/>
        </p:nvSpPr>
        <p:spPr>
          <a:xfrm>
            <a:off x="6428232" y="4869180"/>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8</a:t>
            </a:r>
            <a:endParaRPr lang="en-US" sz="800" dirty="0"/>
          </a:p>
        </p:txBody>
      </p:sp>
      <p:sp>
        <p:nvSpPr>
          <p:cNvPr id="53" name="Text 51"/>
          <p:cNvSpPr/>
          <p:nvPr/>
        </p:nvSpPr>
        <p:spPr>
          <a:xfrm>
            <a:off x="6922008" y="4782312"/>
            <a:ext cx="434340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Takeaways + Q&amp;A</a:t>
            </a:r>
            <a:endParaRPr lang="en-US" sz="1250" dirty="0"/>
          </a:p>
        </p:txBody>
      </p:sp>
      <p:sp>
        <p:nvSpPr>
          <p:cNvPr id="54" name="Text 52"/>
          <p:cNvSpPr/>
          <p:nvPr/>
        </p:nvSpPr>
        <p:spPr>
          <a:xfrm>
            <a:off x="6922008" y="5111496"/>
            <a:ext cx="4343400" cy="237744"/>
          </a:xfrm>
          <a:prstGeom prst="rect">
            <a:avLst/>
          </a:prstGeom>
          <a:noFill/>
          <a:ln/>
        </p:spPr>
        <p:txBody>
          <a:bodyPr wrap="square" lIns="635" tIns="635" rIns="635" bIns="635" rtlCol="0" anchor="ctr">
            <a:normAutofit/>
          </a:bodyPr>
          <a:lstStyle/>
          <a:p>
            <a:pPr marL="0" indent="0">
              <a:buNone/>
            </a:pPr>
            <a:r>
              <a:rPr lang="en-US" sz="940" dirty="0">
                <a:solidFill>
                  <a:srgbClr val="3B4A5E"/>
                </a:solidFill>
                <a:latin typeface="Segoe UI" pitchFamily="34" charset="0"/>
                <a:ea typeface="Segoe UI" pitchFamily="34" charset="-122"/>
                <a:cs typeface="Segoe UI" pitchFamily="34" charset="-120"/>
              </a:rPr>
              <a:t>82–90 · next steps</a:t>
            </a:r>
            <a:endParaRPr lang="en-US" sz="940" dirty="0"/>
          </a:p>
        </p:txBody>
      </p:sp>
      <p:sp>
        <p:nvSpPr>
          <p:cNvPr id="55" name="Shape 53"/>
          <p:cNvSpPr/>
          <p:nvPr/>
        </p:nvSpPr>
        <p:spPr>
          <a:xfrm>
            <a:off x="10378440" y="5074920"/>
            <a:ext cx="914400" cy="914400"/>
          </a:xfrm>
          <a:prstGeom prst="arc">
            <a:avLst/>
          </a:prstGeom>
          <a:solidFill>
            <a:srgbClr val="F5F7FA">
              <a:alpha val="0"/>
            </a:srgbClr>
          </a:solidFill>
          <a:ln w="38100">
            <a:solidFill>
              <a:srgbClr val="00B7C3">
                <a:alpha val="85000"/>
              </a:srgbClr>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E3F"/>
        </a:solidFill>
        <a:effectLst/>
      </p:bgPr>
    </p:bg>
    <p:spTree>
      <p:nvGrpSpPr>
        <p:cNvPr id="1" name=""/>
        <p:cNvGrpSpPr/>
        <p:nvPr/>
      </p:nvGrpSpPr>
      <p:grpSpPr>
        <a:xfrm>
          <a:off x="0" y="0"/>
          <a:ext cx="0" cy="0"/>
          <a:chOff x="0" y="0"/>
          <a:chExt cx="0" cy="0"/>
        </a:xfrm>
      </p:grpSpPr>
      <p:sp>
        <p:nvSpPr>
          <p:cNvPr id="2" name="Shape 0"/>
          <p:cNvSpPr/>
          <p:nvPr/>
        </p:nvSpPr>
        <p:spPr>
          <a:xfrm>
            <a:off x="7955280" y="1508760"/>
            <a:ext cx="164592" cy="4480560"/>
          </a:xfrm>
          <a:prstGeom prst="rect">
            <a:avLst/>
          </a:prstGeom>
          <a:solidFill>
            <a:srgbClr val="00B7C3">
              <a:alpha val="85000"/>
            </a:srgbClr>
          </a:solidFill>
          <a:ln w="12700">
            <a:solidFill>
              <a:srgbClr val="00B7C3">
                <a:alpha val="85000"/>
              </a:srgbClr>
            </a:solidFill>
            <a:prstDash val="solid"/>
          </a:ln>
        </p:spPr>
      </p:sp>
      <p:sp>
        <p:nvSpPr>
          <p:cNvPr id="3" name="Shape 1"/>
          <p:cNvSpPr/>
          <p:nvPr/>
        </p:nvSpPr>
        <p:spPr>
          <a:xfrm>
            <a:off x="10808208" y="1508760"/>
            <a:ext cx="164592" cy="4480560"/>
          </a:xfrm>
          <a:prstGeom prst="rect">
            <a:avLst/>
          </a:prstGeom>
          <a:solidFill>
            <a:srgbClr val="00B7C3">
              <a:alpha val="85000"/>
            </a:srgbClr>
          </a:solidFill>
          <a:ln w="12700">
            <a:solidFill>
              <a:srgbClr val="00B7C3">
                <a:alpha val="85000"/>
              </a:srgbClr>
            </a:solidFill>
            <a:prstDash val="solid"/>
          </a:ln>
        </p:spPr>
      </p:sp>
      <p:sp>
        <p:nvSpPr>
          <p:cNvPr id="4" name="Shape 2"/>
          <p:cNvSpPr/>
          <p:nvPr/>
        </p:nvSpPr>
        <p:spPr>
          <a:xfrm>
            <a:off x="7964424" y="914400"/>
            <a:ext cx="2999232" cy="1234440"/>
          </a:xfrm>
          <a:prstGeom prst="arc">
            <a:avLst/>
          </a:prstGeom>
          <a:solidFill>
            <a:srgbClr val="00B7C3">
              <a:alpha val="0"/>
            </a:srgbClr>
          </a:solidFill>
          <a:ln w="88900">
            <a:solidFill>
              <a:srgbClr val="00B7C3">
                <a:alpha val="85000"/>
              </a:srgbClr>
            </a:solidFill>
            <a:prstDash val="solid"/>
          </a:ln>
        </p:spPr>
      </p:sp>
      <p:sp>
        <p:nvSpPr>
          <p:cNvPr id="5" name="Shape 3"/>
          <p:cNvSpPr/>
          <p:nvPr/>
        </p:nvSpPr>
        <p:spPr>
          <a:xfrm>
            <a:off x="685800" y="749808"/>
            <a:ext cx="658368" cy="658368"/>
          </a:xfrm>
          <a:prstGeom prst="ellipse">
            <a:avLst/>
          </a:prstGeom>
          <a:solidFill>
            <a:srgbClr val="00B7C3"/>
          </a:solidFill>
          <a:ln w="12700">
            <a:solidFill>
              <a:srgbClr val="00B7C3"/>
            </a:solidFill>
            <a:prstDash val="solid"/>
          </a:ln>
        </p:spPr>
      </p:sp>
      <p:sp>
        <p:nvSpPr>
          <p:cNvPr id="6" name="Text 4"/>
          <p:cNvSpPr/>
          <p:nvPr/>
        </p:nvSpPr>
        <p:spPr>
          <a:xfrm>
            <a:off x="685800" y="905256"/>
            <a:ext cx="658368" cy="201168"/>
          </a:xfrm>
          <a:prstGeom prst="rect">
            <a:avLst/>
          </a:prstGeom>
          <a:noFill/>
          <a:ln/>
        </p:spPr>
        <p:txBody>
          <a:bodyPr wrap="square" lIns="0" tIns="0" rIns="0" bIns="0" rtlCol="0" anchor="ctr"/>
          <a:lstStyle/>
          <a:p>
            <a:pPr marL="0" indent="0" algn="ctr">
              <a:buNone/>
            </a:pPr>
            <a:r>
              <a:rPr lang="en-US" sz="1700" dirty="0">
                <a:solidFill>
                  <a:srgbClr val="0B1E3F"/>
                </a:solidFill>
                <a:latin typeface="Segoe UI Semibold" pitchFamily="34" charset="0"/>
                <a:ea typeface="Segoe UI Semibold" pitchFamily="34" charset="-122"/>
                <a:cs typeface="Segoe UI Semibold" pitchFamily="34" charset="-120"/>
              </a:rPr>
              <a:t>01</a:t>
            </a:r>
            <a:endParaRPr lang="en-US" sz="1700" dirty="0"/>
          </a:p>
        </p:txBody>
      </p:sp>
      <p:sp>
        <p:nvSpPr>
          <p:cNvPr id="7" name="Text 5"/>
          <p:cNvSpPr/>
          <p:nvPr/>
        </p:nvSpPr>
        <p:spPr>
          <a:xfrm>
            <a:off x="685800" y="1691640"/>
            <a:ext cx="3840480" cy="237744"/>
          </a:xfrm>
          <a:prstGeom prst="rect">
            <a:avLst/>
          </a:prstGeom>
          <a:noFill/>
          <a:ln/>
        </p:spPr>
        <p:txBody>
          <a:bodyPr wrap="square" lIns="0" tIns="0" rIns="0" bIns="0" rtlCol="0" anchor="ctr"/>
          <a:lstStyle/>
          <a:p>
            <a:pPr marL="0" indent="0">
              <a:buNone/>
            </a:pPr>
            <a:r>
              <a:rPr lang="en-US" sz="1000" kern="0" spc="160" dirty="0">
                <a:solidFill>
                  <a:srgbClr val="00B7C3"/>
                </a:solidFill>
                <a:latin typeface="Segoe UI Semibold" pitchFamily="34" charset="0"/>
                <a:ea typeface="Segoe UI Semibold" pitchFamily="34" charset="-122"/>
                <a:cs typeface="Segoe UI Semibold" pitchFamily="34" charset="-120"/>
              </a:rPr>
              <a:t>SECTION 1</a:t>
            </a:r>
            <a:endParaRPr lang="en-US" sz="1000" dirty="0"/>
          </a:p>
        </p:txBody>
      </p:sp>
      <p:sp>
        <p:nvSpPr>
          <p:cNvPr id="8" name="Text 6"/>
          <p:cNvSpPr/>
          <p:nvPr/>
        </p:nvSpPr>
        <p:spPr>
          <a:xfrm>
            <a:off x="658368" y="2057400"/>
            <a:ext cx="6858000" cy="1097280"/>
          </a:xfrm>
          <a:prstGeom prst="rect">
            <a:avLst/>
          </a:prstGeom>
          <a:noFill/>
          <a:ln/>
        </p:spPr>
        <p:txBody>
          <a:bodyPr wrap="square" lIns="0" tIns="0" rIns="0" bIns="0" rtlCol="0" anchor="ctr">
            <a:normAutofit/>
          </a:bodyPr>
          <a:lstStyle/>
          <a:p>
            <a:pPr marL="0" indent="0">
              <a:buNone/>
            </a:pPr>
            <a:r>
              <a:rPr lang="en-US" sz="3800" dirty="0">
                <a:solidFill>
                  <a:srgbClr val="FFFFFF"/>
                </a:solidFill>
                <a:latin typeface="Segoe UI Semibold" pitchFamily="34" charset="0"/>
                <a:ea typeface="Segoe UI Semibold" pitchFamily="34" charset="-122"/>
                <a:cs typeface="Segoe UI Semibold" pitchFamily="34" charset="-120"/>
              </a:rPr>
              <a:t>Welcome &amp; hook</a:t>
            </a:r>
            <a:endParaRPr lang="en-US" sz="3800" dirty="0"/>
          </a:p>
        </p:txBody>
      </p:sp>
      <p:sp>
        <p:nvSpPr>
          <p:cNvPr id="9" name="Shape 7"/>
          <p:cNvSpPr/>
          <p:nvPr/>
        </p:nvSpPr>
        <p:spPr>
          <a:xfrm>
            <a:off x="685800" y="3767328"/>
            <a:ext cx="1417320" cy="411480"/>
          </a:xfrm>
          <a:prstGeom prst="roundRect">
            <a:avLst>
              <a:gd name="adj" fmla="val 15556"/>
            </a:avLst>
          </a:prstGeom>
          <a:solidFill>
            <a:srgbClr val="FFB900"/>
          </a:solidFill>
          <a:ln w="12700">
            <a:solidFill>
              <a:srgbClr val="FFB900"/>
            </a:solidFill>
            <a:prstDash val="solid"/>
          </a:ln>
        </p:spPr>
      </p:sp>
      <p:sp>
        <p:nvSpPr>
          <p:cNvPr id="10" name="Text 8"/>
          <p:cNvSpPr/>
          <p:nvPr/>
        </p:nvSpPr>
        <p:spPr>
          <a:xfrm>
            <a:off x="685800" y="3886200"/>
            <a:ext cx="1417320" cy="128016"/>
          </a:xfrm>
          <a:prstGeom prst="rect">
            <a:avLst/>
          </a:prstGeom>
          <a:noFill/>
          <a:ln/>
        </p:spPr>
        <p:txBody>
          <a:bodyPr wrap="square" lIns="0" tIns="0" rIns="0" bIns="0" rtlCol="0" anchor="ctr"/>
          <a:lstStyle/>
          <a:p>
            <a:pPr marL="0" indent="0" algn="ctr">
              <a:buNone/>
            </a:pPr>
            <a:r>
              <a:rPr lang="en-US" sz="1000" dirty="0">
                <a:solidFill>
                  <a:srgbClr val="0B1E3F"/>
                </a:solidFill>
                <a:latin typeface="Segoe UI Semibold" pitchFamily="34" charset="0"/>
                <a:ea typeface="Segoe UI Semibold" pitchFamily="34" charset="-122"/>
                <a:cs typeface="Segoe UI Semibold" pitchFamily="34" charset="-120"/>
              </a:rPr>
              <a:t>00–05 · 5 min</a:t>
            </a:r>
            <a:endParaRPr lang="en-US" sz="1000" dirty="0"/>
          </a:p>
        </p:txBody>
      </p:sp>
      <p:sp>
        <p:nvSpPr>
          <p:cNvPr id="11" name="Text 9"/>
          <p:cNvSpPr/>
          <p:nvPr/>
        </p:nvSpPr>
        <p:spPr>
          <a:xfrm>
            <a:off x="685800" y="6355080"/>
            <a:ext cx="2834640" cy="164592"/>
          </a:xfrm>
          <a:prstGeom prst="rect">
            <a:avLst/>
          </a:prstGeom>
          <a:noFill/>
          <a:ln/>
        </p:spPr>
        <p:txBody>
          <a:bodyPr wrap="square" lIns="0" tIns="0" rIns="0" bIns="0" rtlCol="0" anchor="ctr"/>
          <a:lstStyle/>
          <a:p>
            <a:pPr marL="0" indent="0">
              <a:buNone/>
            </a:pPr>
            <a:r>
              <a:rPr lang="en-US" sz="800" dirty="0">
                <a:solidFill>
                  <a:srgbClr val="AFC3DA"/>
                </a:solidFill>
                <a:latin typeface="Segoe UI" pitchFamily="34" charset="0"/>
                <a:ea typeface="Segoe UI" pitchFamily="34" charset="-122"/>
                <a:cs typeface="Segoe UI" pitchFamily="34" charset="-120"/>
              </a:rPr>
              <a:t>90-minute technical session</a:t>
            </a:r>
            <a:endParaRPr lang="en-US" sz="800" dirty="0"/>
          </a:p>
        </p:txBody>
      </p:sp>
      <p:sp>
        <p:nvSpPr>
          <p:cNvPr id="12" name="Text 10"/>
          <p:cNvSpPr/>
          <p:nvPr/>
        </p:nvSpPr>
        <p:spPr>
          <a:xfrm>
            <a:off x="11292840" y="6355080"/>
            <a:ext cx="365760" cy="164592"/>
          </a:xfrm>
          <a:prstGeom prst="rect">
            <a:avLst/>
          </a:prstGeom>
          <a:noFill/>
          <a:ln/>
        </p:spPr>
        <p:txBody>
          <a:bodyPr wrap="square" lIns="0" tIns="0" rIns="0" bIns="0" rtlCol="0" anchor="ctr"/>
          <a:lstStyle/>
          <a:p>
            <a:pPr marL="0" indent="0" algn="r">
              <a:buNone/>
            </a:pPr>
            <a:r>
              <a:rPr lang="en-US" sz="800" dirty="0">
                <a:solidFill>
                  <a:srgbClr val="AFC3DA"/>
                </a:solidFill>
                <a:latin typeface="Segoe UI Semibold" pitchFamily="34" charset="0"/>
                <a:ea typeface="Segoe UI Semibold" pitchFamily="34" charset="-122"/>
                <a:cs typeface="Segoe UI Semibold" pitchFamily="34" charset="-120"/>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301752"/>
            <a:ext cx="3200400" cy="201168"/>
          </a:xfrm>
          <a:prstGeom prst="rect">
            <a:avLst/>
          </a:prstGeom>
          <a:noFill/>
          <a:ln/>
        </p:spPr>
        <p:txBody>
          <a:bodyPr wrap="square" lIns="0" tIns="0" rIns="0" bIns="0" rtlCol="0" anchor="ctr"/>
          <a:lstStyle/>
          <a:p>
            <a:pPr marL="0" indent="0">
              <a:buNone/>
            </a:pPr>
            <a:r>
              <a:rPr lang="en-US" sz="800" kern="0" spc="120" dirty="0">
                <a:solidFill>
                  <a:srgbClr val="00B7C3"/>
                </a:solidFill>
                <a:latin typeface="Segoe UI Semibold" pitchFamily="34" charset="0"/>
                <a:ea typeface="Segoe UI Semibold" pitchFamily="34" charset="-122"/>
                <a:cs typeface="Segoe UI Semibold" pitchFamily="34" charset="-120"/>
              </a:rPr>
              <a:t>WELCOME &amp; HOOK</a:t>
            </a:r>
            <a:endParaRPr lang="en-US" sz="800" dirty="0"/>
          </a:p>
        </p:txBody>
      </p:sp>
      <p:sp>
        <p:nvSpPr>
          <p:cNvPr id="3" name="Text 1"/>
          <p:cNvSpPr/>
          <p:nvPr/>
        </p:nvSpPr>
        <p:spPr>
          <a:xfrm>
            <a:off x="457200" y="521208"/>
            <a:ext cx="7955280" cy="438912"/>
          </a:xfrm>
          <a:prstGeom prst="rect">
            <a:avLst/>
          </a:prstGeom>
          <a:noFill/>
          <a:ln/>
        </p:spPr>
        <p:txBody>
          <a:bodyPr wrap="square" lIns="0" tIns="0" rIns="0" bIns="0" rtlCol="0" anchor="ctr"/>
          <a:lstStyle/>
          <a:p>
            <a:pPr marL="0" indent="0">
              <a:buNone/>
            </a:pPr>
            <a:r>
              <a:rPr lang="en-US" sz="2500" dirty="0">
                <a:solidFill>
                  <a:srgbClr val="0B1E3F"/>
                </a:solidFill>
                <a:latin typeface="Segoe UI Semibold" pitchFamily="34" charset="0"/>
                <a:ea typeface="Segoe UI Semibold" pitchFamily="34" charset="-122"/>
                <a:cs typeface="Segoe UI Semibold" pitchFamily="34" charset="-120"/>
              </a:rPr>
              <a:t>The AI sprawl story: one chatbot became forty apps</a:t>
            </a:r>
            <a:endParaRPr lang="en-US" sz="2500" dirty="0"/>
          </a:p>
        </p:txBody>
      </p:sp>
      <p:sp>
        <p:nvSpPr>
          <p:cNvPr id="4" name="Shape 2"/>
          <p:cNvSpPr/>
          <p:nvPr/>
        </p:nvSpPr>
        <p:spPr>
          <a:xfrm>
            <a:off x="10698480" y="118872"/>
            <a:ext cx="1051560" cy="1051560"/>
          </a:xfrm>
          <a:prstGeom prst="arc">
            <a:avLst/>
          </a:prstGeom>
          <a:solidFill>
            <a:srgbClr val="F5F7FA">
              <a:alpha val="0"/>
            </a:srgbClr>
          </a:solidFill>
          <a:ln w="38100">
            <a:solidFill>
              <a:srgbClr val="00B7C3">
                <a:alpha val="90000"/>
              </a:srgbClr>
            </a:solidFill>
            <a:prstDash val="solid"/>
          </a:ln>
        </p:spPr>
      </p:sp>
      <p:sp>
        <p:nvSpPr>
          <p:cNvPr id="5" name="Text 3"/>
          <p:cNvSpPr/>
          <p:nvPr/>
        </p:nvSpPr>
        <p:spPr>
          <a:xfrm>
            <a:off x="457200" y="6473952"/>
            <a:ext cx="7955280" cy="164592"/>
          </a:xfrm>
          <a:prstGeom prst="rect">
            <a:avLst/>
          </a:prstGeom>
          <a:noFill/>
          <a:ln/>
        </p:spPr>
        <p:txBody>
          <a:bodyPr wrap="square" lIns="0" tIns="0" rIns="0" bIns="0" rtlCol="0" anchor="ctr"/>
          <a:lstStyle/>
          <a:p>
            <a:pPr marL="0" indent="0">
              <a:buNone/>
            </a:pPr>
            <a:r>
              <a:rPr lang="en-US" sz="750" dirty="0">
                <a:solidFill>
                  <a:srgbClr val="8A97A8"/>
                </a:solidFill>
                <a:latin typeface="Segoe UI" pitchFamily="34" charset="0"/>
                <a:ea typeface="Segoe UI" pitchFamily="34" charset="-122"/>
                <a:cs typeface="Segoe UI" pitchFamily="34" charset="-120"/>
              </a:rPr>
              <a:t>Azure API Management AI Gateway — Oct 2026</a:t>
            </a:r>
            <a:endParaRPr lang="en-US" sz="750" dirty="0"/>
          </a:p>
        </p:txBody>
      </p:sp>
      <p:sp>
        <p:nvSpPr>
          <p:cNvPr id="6" name="Text 4"/>
          <p:cNvSpPr/>
          <p:nvPr/>
        </p:nvSpPr>
        <p:spPr>
          <a:xfrm>
            <a:off x="11430000" y="6446520"/>
            <a:ext cx="320040" cy="164592"/>
          </a:xfrm>
          <a:prstGeom prst="rect">
            <a:avLst/>
          </a:prstGeom>
          <a:noFill/>
          <a:ln/>
        </p:spPr>
        <p:txBody>
          <a:bodyPr wrap="square" lIns="0" tIns="0" rIns="0" bIns="0" rtlCol="0" anchor="ctr"/>
          <a:lstStyle/>
          <a:p>
            <a:pPr marL="0" indent="0" algn="r">
              <a:buNone/>
            </a:pPr>
            <a:r>
              <a:rPr lang="en-US" sz="800" dirty="0">
                <a:solidFill>
                  <a:srgbClr val="8A97A8"/>
                </a:solidFill>
                <a:latin typeface="Segoe UI Semibold" pitchFamily="34" charset="0"/>
                <a:ea typeface="Segoe UI Semibold" pitchFamily="34" charset="-122"/>
                <a:cs typeface="Segoe UI Semibold" pitchFamily="34" charset="-120"/>
              </a:rPr>
              <a:t>04</a:t>
            </a:r>
            <a:endParaRPr lang="en-US" sz="800" dirty="0"/>
          </a:p>
        </p:txBody>
      </p:sp>
      <p:sp>
        <p:nvSpPr>
          <p:cNvPr id="7" name="Shape 5"/>
          <p:cNvSpPr/>
          <p:nvPr/>
        </p:nvSpPr>
        <p:spPr>
          <a:xfrm>
            <a:off x="658368" y="1078992"/>
            <a:ext cx="3886200" cy="4434840"/>
          </a:xfrm>
          <a:prstGeom prst="roundRect">
            <a:avLst>
              <a:gd name="adj" fmla="val 1882"/>
            </a:avLst>
          </a:prstGeom>
          <a:solidFill>
            <a:srgbClr val="0B1E3F"/>
          </a:solidFill>
          <a:ln w="12700">
            <a:solidFill>
              <a:srgbClr val="0B1E3F"/>
            </a:solidFill>
            <a:prstDash val="solid"/>
          </a:ln>
        </p:spPr>
      </p:sp>
      <p:sp>
        <p:nvSpPr>
          <p:cNvPr id="8" name="Text 6"/>
          <p:cNvSpPr/>
          <p:nvPr/>
        </p:nvSpPr>
        <p:spPr>
          <a:xfrm>
            <a:off x="941832" y="1417320"/>
            <a:ext cx="2194560" cy="329184"/>
          </a:xfrm>
          <a:prstGeom prst="rect">
            <a:avLst/>
          </a:prstGeom>
          <a:noFill/>
          <a:ln/>
        </p:spPr>
        <p:txBody>
          <a:bodyPr wrap="square" lIns="0" tIns="0" rIns="0" bIns="0" rtlCol="0" anchor="ctr"/>
          <a:lstStyle/>
          <a:p>
            <a:pPr marL="0" indent="0">
              <a:buNone/>
            </a:pPr>
            <a:r>
              <a:rPr lang="en-US" sz="2100" dirty="0">
                <a:solidFill>
                  <a:srgbClr val="FFFFFF"/>
                </a:solidFill>
                <a:latin typeface="Segoe UI Semibold" pitchFamily="34" charset="0"/>
                <a:ea typeface="Segoe UI Semibold" pitchFamily="34" charset="-122"/>
                <a:cs typeface="Segoe UI Semibold" pitchFamily="34" charset="-120"/>
              </a:rPr>
              <a:t>Zava Retail</a:t>
            </a:r>
            <a:endParaRPr lang="en-US" sz="2100" dirty="0"/>
          </a:p>
        </p:txBody>
      </p:sp>
      <p:sp>
        <p:nvSpPr>
          <p:cNvPr id="9" name="Text 7"/>
          <p:cNvSpPr/>
          <p:nvPr/>
        </p:nvSpPr>
        <p:spPr>
          <a:xfrm>
            <a:off x="950976" y="2057400"/>
            <a:ext cx="2651760" cy="914400"/>
          </a:xfrm>
          <a:prstGeom prst="rect">
            <a:avLst/>
          </a:prstGeom>
          <a:noFill/>
          <a:ln/>
        </p:spPr>
        <p:txBody>
          <a:bodyPr wrap="square" lIns="0" tIns="0" rIns="0" bIns="0" rtlCol="0" anchor="ctr">
            <a:normAutofit/>
          </a:bodyPr>
          <a:lstStyle/>
          <a:p>
            <a:pPr marL="0" indent="0">
              <a:buNone/>
            </a:pPr>
            <a:r>
              <a:rPr lang="en-US" sz="2100" dirty="0">
                <a:solidFill>
                  <a:srgbClr val="00B7C3"/>
                </a:solidFill>
                <a:latin typeface="Segoe UI Semibold" pitchFamily="34" charset="0"/>
                <a:ea typeface="Segoe UI Semibold" pitchFamily="34" charset="-122"/>
                <a:cs typeface="Segoe UI Semibold" pitchFamily="34" charset="-120"/>
              </a:rPr>
              <a:t>40 AI apps</a:t>
            </a:r>
            <a:endParaRPr lang="en-US" sz="2100" dirty="0"/>
          </a:p>
          <a:p>
            <a:pPr marL="0" indent="0">
              <a:buNone/>
            </a:pPr>
            <a:r>
              <a:rPr lang="en-US" sz="2100" dirty="0">
                <a:solidFill>
                  <a:srgbClr val="00B7C3"/>
                </a:solidFill>
                <a:latin typeface="Segoe UI Semibold" pitchFamily="34" charset="0"/>
                <a:ea typeface="Segoe UI Semibold" pitchFamily="34" charset="-122"/>
                <a:cs typeface="Segoe UI Semibold" pitchFamily="34" charset="-120"/>
              </a:rPr>
              <a:t>3 model providers</a:t>
            </a:r>
            <a:endParaRPr lang="en-US" sz="2100" dirty="0"/>
          </a:p>
          <a:p>
            <a:pPr marL="0" indent="0">
              <a:buNone/>
            </a:pPr>
            <a:r>
              <a:rPr lang="en-US" sz="2100" dirty="0">
                <a:solidFill>
                  <a:srgbClr val="00B7C3"/>
                </a:solidFill>
                <a:latin typeface="Segoe UI Semibold" pitchFamily="34" charset="0"/>
                <a:ea typeface="Segoe UI Semibold" pitchFamily="34" charset="-122"/>
                <a:cs typeface="Segoe UI Semibold" pitchFamily="34" charset="-120"/>
              </a:rPr>
              <a:t>1 surprise invoice</a:t>
            </a:r>
            <a:endParaRPr lang="en-US" sz="2100" dirty="0"/>
          </a:p>
        </p:txBody>
      </p:sp>
      <p:sp>
        <p:nvSpPr>
          <p:cNvPr id="10" name="Text 8"/>
          <p:cNvSpPr/>
          <p:nvPr/>
        </p:nvSpPr>
        <p:spPr>
          <a:xfrm>
            <a:off x="950976" y="3749040"/>
            <a:ext cx="3063240" cy="493776"/>
          </a:xfrm>
          <a:prstGeom prst="rect">
            <a:avLst/>
          </a:prstGeom>
          <a:noFill/>
          <a:ln/>
        </p:spPr>
        <p:txBody>
          <a:bodyPr wrap="square" lIns="0" tIns="0" rIns="0" bIns="0" rtlCol="0" anchor="ctr">
            <a:normAutofit/>
          </a:bodyPr>
          <a:lstStyle/>
          <a:p>
            <a:pPr marL="0" indent="0">
              <a:buNone/>
            </a:pPr>
            <a:r>
              <a:rPr lang="en-US" sz="1350" dirty="0">
                <a:solidFill>
                  <a:srgbClr val="D7E7F6"/>
                </a:solidFill>
                <a:latin typeface="Segoe UI" pitchFamily="34" charset="0"/>
                <a:ea typeface="Segoe UI" pitchFamily="34" charset="-122"/>
                <a:cs typeface="Segoe UI" pitchFamily="34" charset="-120"/>
              </a:rPr>
              <a:t>No single owner of keys, quotas, safety policy or token telemetry.</a:t>
            </a:r>
            <a:endParaRPr lang="en-US" sz="1350" dirty="0"/>
          </a:p>
        </p:txBody>
      </p:sp>
      <p:sp>
        <p:nvSpPr>
          <p:cNvPr id="11" name="Shape 9"/>
          <p:cNvSpPr/>
          <p:nvPr/>
        </p:nvSpPr>
        <p:spPr>
          <a:xfrm>
            <a:off x="4892040" y="1234440"/>
            <a:ext cx="2743200" cy="1161288"/>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12" name="Shape 10"/>
          <p:cNvSpPr/>
          <p:nvPr/>
        </p:nvSpPr>
        <p:spPr>
          <a:xfrm>
            <a:off x="4892040" y="1234440"/>
            <a:ext cx="73152" cy="1161288"/>
          </a:xfrm>
          <a:prstGeom prst="rect">
            <a:avLst/>
          </a:prstGeom>
          <a:solidFill>
            <a:srgbClr val="00B7C3"/>
          </a:solidFill>
          <a:ln w="12700">
            <a:solidFill>
              <a:srgbClr val="00B7C3"/>
            </a:solidFill>
            <a:prstDash val="solid"/>
          </a:ln>
        </p:spPr>
      </p:sp>
      <p:sp>
        <p:nvSpPr>
          <p:cNvPr id="13" name="Shape 11"/>
          <p:cNvSpPr/>
          <p:nvPr/>
        </p:nvSpPr>
        <p:spPr>
          <a:xfrm>
            <a:off x="5056632" y="1389888"/>
            <a:ext cx="393192" cy="393192"/>
          </a:xfrm>
          <a:prstGeom prst="ellipse">
            <a:avLst/>
          </a:prstGeom>
          <a:solidFill>
            <a:srgbClr val="00B7C3"/>
          </a:solidFill>
          <a:ln w="12700">
            <a:solidFill>
              <a:srgbClr val="00B7C3"/>
            </a:solidFill>
            <a:prstDash val="solid"/>
          </a:ln>
        </p:spPr>
      </p:sp>
      <p:sp>
        <p:nvSpPr>
          <p:cNvPr id="14" name="Text 12"/>
          <p:cNvSpPr/>
          <p:nvPr/>
        </p:nvSpPr>
        <p:spPr>
          <a:xfrm>
            <a:off x="5056632" y="1449324"/>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K</a:t>
            </a:r>
            <a:endParaRPr lang="en-US" sz="800" dirty="0"/>
          </a:p>
        </p:txBody>
      </p:sp>
      <p:sp>
        <p:nvSpPr>
          <p:cNvPr id="15" name="Text 13"/>
          <p:cNvSpPr/>
          <p:nvPr/>
        </p:nvSpPr>
        <p:spPr>
          <a:xfrm>
            <a:off x="5550408" y="1362456"/>
            <a:ext cx="192024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Keys in every app</a:t>
            </a:r>
            <a:endParaRPr lang="en-US" sz="1250" dirty="0"/>
          </a:p>
        </p:txBody>
      </p:sp>
      <p:sp>
        <p:nvSpPr>
          <p:cNvPr id="16" name="Text 14"/>
          <p:cNvSpPr/>
          <p:nvPr/>
        </p:nvSpPr>
        <p:spPr>
          <a:xfrm>
            <a:off x="5550408" y="1691640"/>
            <a:ext cx="1920240" cy="612648"/>
          </a:xfrm>
          <a:prstGeom prst="rect">
            <a:avLst/>
          </a:prstGeom>
          <a:noFill/>
          <a:ln/>
        </p:spPr>
        <p:txBody>
          <a:bodyPr wrap="square" lIns="635" tIns="635" rIns="635" bIns="635" rtlCol="0" anchor="ctr">
            <a:normAutofit/>
          </a:bodyPr>
          <a:lstStyle/>
          <a:p>
            <a:pPr marL="0" indent="0">
              <a:buNone/>
            </a:pPr>
            <a:r>
              <a:rPr lang="en-US" sz="930" dirty="0">
                <a:solidFill>
                  <a:srgbClr val="3B4A5E"/>
                </a:solidFill>
                <a:latin typeface="Segoe UI" pitchFamily="34" charset="0"/>
                <a:ea typeface="Segoe UI" pitchFamily="34" charset="-122"/>
                <a:cs typeface="Segoe UI" pitchFamily="34" charset="-120"/>
              </a:rPr>
              <a:t>rotation and breach response become manual</a:t>
            </a:r>
            <a:endParaRPr lang="en-US" sz="930" dirty="0"/>
          </a:p>
        </p:txBody>
      </p:sp>
      <p:sp>
        <p:nvSpPr>
          <p:cNvPr id="17" name="Shape 15"/>
          <p:cNvSpPr/>
          <p:nvPr/>
        </p:nvSpPr>
        <p:spPr>
          <a:xfrm>
            <a:off x="8046720" y="1234440"/>
            <a:ext cx="2743200" cy="1161288"/>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18" name="Shape 16"/>
          <p:cNvSpPr/>
          <p:nvPr/>
        </p:nvSpPr>
        <p:spPr>
          <a:xfrm>
            <a:off x="8046720" y="1234440"/>
            <a:ext cx="73152" cy="1161288"/>
          </a:xfrm>
          <a:prstGeom prst="rect">
            <a:avLst/>
          </a:prstGeom>
          <a:solidFill>
            <a:srgbClr val="FFB900"/>
          </a:solidFill>
          <a:ln w="12700">
            <a:solidFill>
              <a:srgbClr val="FFB900"/>
            </a:solidFill>
            <a:prstDash val="solid"/>
          </a:ln>
        </p:spPr>
      </p:sp>
      <p:sp>
        <p:nvSpPr>
          <p:cNvPr id="19" name="Shape 17"/>
          <p:cNvSpPr/>
          <p:nvPr/>
        </p:nvSpPr>
        <p:spPr>
          <a:xfrm>
            <a:off x="8211312" y="1389888"/>
            <a:ext cx="393192" cy="393192"/>
          </a:xfrm>
          <a:prstGeom prst="ellipse">
            <a:avLst/>
          </a:prstGeom>
          <a:solidFill>
            <a:srgbClr val="FFB900"/>
          </a:solidFill>
          <a:ln w="12700">
            <a:solidFill>
              <a:srgbClr val="FFB900"/>
            </a:solidFill>
            <a:prstDash val="solid"/>
          </a:ln>
        </p:spPr>
      </p:sp>
      <p:sp>
        <p:nvSpPr>
          <p:cNvPr id="20" name="Text 18"/>
          <p:cNvSpPr/>
          <p:nvPr/>
        </p:nvSpPr>
        <p:spPr>
          <a:xfrm>
            <a:off x="8211312" y="1449324"/>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429</a:t>
            </a:r>
            <a:endParaRPr lang="en-US" sz="800" dirty="0"/>
          </a:p>
        </p:txBody>
      </p:sp>
      <p:sp>
        <p:nvSpPr>
          <p:cNvPr id="21" name="Text 19"/>
          <p:cNvSpPr/>
          <p:nvPr/>
        </p:nvSpPr>
        <p:spPr>
          <a:xfrm>
            <a:off x="8705088" y="1362456"/>
            <a:ext cx="192024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429 outages</a:t>
            </a:r>
            <a:endParaRPr lang="en-US" sz="1250" dirty="0"/>
          </a:p>
        </p:txBody>
      </p:sp>
      <p:sp>
        <p:nvSpPr>
          <p:cNvPr id="22" name="Text 20"/>
          <p:cNvSpPr/>
          <p:nvPr/>
        </p:nvSpPr>
        <p:spPr>
          <a:xfrm>
            <a:off x="8705088" y="1691640"/>
            <a:ext cx="1920240" cy="612648"/>
          </a:xfrm>
          <a:prstGeom prst="rect">
            <a:avLst/>
          </a:prstGeom>
          <a:noFill/>
          <a:ln/>
        </p:spPr>
        <p:txBody>
          <a:bodyPr wrap="square" lIns="635" tIns="635" rIns="635" bIns="635" rtlCol="0" anchor="ctr">
            <a:normAutofit/>
          </a:bodyPr>
          <a:lstStyle/>
          <a:p>
            <a:pPr marL="0" indent="0">
              <a:buNone/>
            </a:pPr>
            <a:r>
              <a:rPr lang="en-US" sz="930" dirty="0">
                <a:solidFill>
                  <a:srgbClr val="3B4A5E"/>
                </a:solidFill>
                <a:latin typeface="Segoe UI" pitchFamily="34" charset="0"/>
                <a:ea typeface="Segoe UI" pitchFamily="34" charset="-122"/>
                <a:cs typeface="Segoe UI" pitchFamily="34" charset="-120"/>
              </a:rPr>
              <a:t>quota exhaustion hits customers before ops sees it</a:t>
            </a:r>
            <a:endParaRPr lang="en-US" sz="930" dirty="0"/>
          </a:p>
        </p:txBody>
      </p:sp>
      <p:sp>
        <p:nvSpPr>
          <p:cNvPr id="23" name="Shape 21"/>
          <p:cNvSpPr/>
          <p:nvPr/>
        </p:nvSpPr>
        <p:spPr>
          <a:xfrm>
            <a:off x="4892040" y="2880360"/>
            <a:ext cx="2743200" cy="1161288"/>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24" name="Shape 22"/>
          <p:cNvSpPr/>
          <p:nvPr/>
        </p:nvSpPr>
        <p:spPr>
          <a:xfrm>
            <a:off x="4892040" y="2880360"/>
            <a:ext cx="73152" cy="1161288"/>
          </a:xfrm>
          <a:prstGeom prst="rect">
            <a:avLst/>
          </a:prstGeom>
          <a:solidFill>
            <a:srgbClr val="00B7C3"/>
          </a:solidFill>
          <a:ln w="12700">
            <a:solidFill>
              <a:srgbClr val="00B7C3"/>
            </a:solidFill>
            <a:prstDash val="solid"/>
          </a:ln>
        </p:spPr>
      </p:sp>
      <p:sp>
        <p:nvSpPr>
          <p:cNvPr id="25" name="Shape 23"/>
          <p:cNvSpPr/>
          <p:nvPr/>
        </p:nvSpPr>
        <p:spPr>
          <a:xfrm>
            <a:off x="5056632" y="3035808"/>
            <a:ext cx="393192" cy="393192"/>
          </a:xfrm>
          <a:prstGeom prst="ellipse">
            <a:avLst/>
          </a:prstGeom>
          <a:solidFill>
            <a:srgbClr val="00B7C3"/>
          </a:solidFill>
          <a:ln w="12700">
            <a:solidFill>
              <a:srgbClr val="00B7C3"/>
            </a:solidFill>
            <a:prstDash val="solid"/>
          </a:ln>
        </p:spPr>
      </p:sp>
      <p:sp>
        <p:nvSpPr>
          <p:cNvPr id="26" name="Text 24"/>
          <p:cNvSpPr/>
          <p:nvPr/>
        </p:nvSpPr>
        <p:spPr>
          <a:xfrm>
            <a:off x="5056632" y="3095244"/>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S</a:t>
            </a:r>
            <a:endParaRPr lang="en-US" sz="800" dirty="0"/>
          </a:p>
        </p:txBody>
      </p:sp>
      <p:sp>
        <p:nvSpPr>
          <p:cNvPr id="27" name="Text 25"/>
          <p:cNvSpPr/>
          <p:nvPr/>
        </p:nvSpPr>
        <p:spPr>
          <a:xfrm>
            <a:off x="5550408" y="3008376"/>
            <a:ext cx="192024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No safety baseline</a:t>
            </a:r>
            <a:endParaRPr lang="en-US" sz="1250" dirty="0"/>
          </a:p>
        </p:txBody>
      </p:sp>
      <p:sp>
        <p:nvSpPr>
          <p:cNvPr id="28" name="Text 26"/>
          <p:cNvSpPr/>
          <p:nvPr/>
        </p:nvSpPr>
        <p:spPr>
          <a:xfrm>
            <a:off x="5550408" y="3337560"/>
            <a:ext cx="1920240" cy="612648"/>
          </a:xfrm>
          <a:prstGeom prst="rect">
            <a:avLst/>
          </a:prstGeom>
          <a:noFill/>
          <a:ln/>
        </p:spPr>
        <p:txBody>
          <a:bodyPr wrap="square" lIns="635" tIns="635" rIns="635" bIns="635" rtlCol="0" anchor="ctr">
            <a:normAutofit/>
          </a:bodyPr>
          <a:lstStyle/>
          <a:p>
            <a:pPr marL="0" indent="0">
              <a:buNone/>
            </a:pPr>
            <a:r>
              <a:rPr lang="en-US" sz="930" dirty="0">
                <a:solidFill>
                  <a:srgbClr val="3B4A5E"/>
                </a:solidFill>
                <a:latin typeface="Segoe UI" pitchFamily="34" charset="0"/>
                <a:ea typeface="Segoe UI" pitchFamily="34" charset="-122"/>
                <a:cs typeface="Segoe UI" pitchFamily="34" charset="-120"/>
              </a:rPr>
              <a:t>prompt attacks and unsafe outputs vary by team</a:t>
            </a:r>
            <a:endParaRPr lang="en-US" sz="930" dirty="0"/>
          </a:p>
        </p:txBody>
      </p:sp>
      <p:sp>
        <p:nvSpPr>
          <p:cNvPr id="29" name="Shape 27"/>
          <p:cNvSpPr/>
          <p:nvPr/>
        </p:nvSpPr>
        <p:spPr>
          <a:xfrm>
            <a:off x="8046720" y="2880360"/>
            <a:ext cx="2743200" cy="1161288"/>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30" name="Shape 28"/>
          <p:cNvSpPr/>
          <p:nvPr/>
        </p:nvSpPr>
        <p:spPr>
          <a:xfrm>
            <a:off x="8046720" y="2880360"/>
            <a:ext cx="73152" cy="1161288"/>
          </a:xfrm>
          <a:prstGeom prst="rect">
            <a:avLst/>
          </a:prstGeom>
          <a:solidFill>
            <a:srgbClr val="00B7C3"/>
          </a:solidFill>
          <a:ln w="12700">
            <a:solidFill>
              <a:srgbClr val="00B7C3"/>
            </a:solidFill>
            <a:prstDash val="solid"/>
          </a:ln>
        </p:spPr>
      </p:sp>
      <p:sp>
        <p:nvSpPr>
          <p:cNvPr id="31" name="Shape 29"/>
          <p:cNvSpPr/>
          <p:nvPr/>
        </p:nvSpPr>
        <p:spPr>
          <a:xfrm>
            <a:off x="8211312" y="3035808"/>
            <a:ext cx="393192" cy="393192"/>
          </a:xfrm>
          <a:prstGeom prst="ellipse">
            <a:avLst/>
          </a:prstGeom>
          <a:solidFill>
            <a:srgbClr val="00B7C3"/>
          </a:solidFill>
          <a:ln w="12700">
            <a:solidFill>
              <a:srgbClr val="00B7C3"/>
            </a:solidFill>
            <a:prstDash val="solid"/>
          </a:ln>
        </p:spPr>
      </p:sp>
      <p:sp>
        <p:nvSpPr>
          <p:cNvPr id="32" name="Text 30"/>
          <p:cNvSpPr/>
          <p:nvPr/>
        </p:nvSpPr>
        <p:spPr>
          <a:xfrm>
            <a:off x="8211312" y="3095244"/>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a:t>
            </a:r>
            <a:endParaRPr lang="en-US" sz="800" dirty="0"/>
          </a:p>
        </p:txBody>
      </p:sp>
      <p:sp>
        <p:nvSpPr>
          <p:cNvPr id="33" name="Text 31"/>
          <p:cNvSpPr/>
          <p:nvPr/>
        </p:nvSpPr>
        <p:spPr>
          <a:xfrm>
            <a:off x="8705088" y="3008376"/>
            <a:ext cx="192024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No chargeback</a:t>
            </a:r>
            <a:endParaRPr lang="en-US" sz="1250" dirty="0"/>
          </a:p>
        </p:txBody>
      </p:sp>
      <p:sp>
        <p:nvSpPr>
          <p:cNvPr id="34" name="Text 32"/>
          <p:cNvSpPr/>
          <p:nvPr/>
        </p:nvSpPr>
        <p:spPr>
          <a:xfrm>
            <a:off x="8705088" y="3337560"/>
            <a:ext cx="1920240" cy="612648"/>
          </a:xfrm>
          <a:prstGeom prst="rect">
            <a:avLst/>
          </a:prstGeom>
          <a:noFill/>
          <a:ln/>
        </p:spPr>
        <p:txBody>
          <a:bodyPr wrap="square" lIns="635" tIns="635" rIns="635" bIns="635" rtlCol="0" anchor="ctr">
            <a:normAutofit/>
          </a:bodyPr>
          <a:lstStyle/>
          <a:p>
            <a:pPr marL="0" indent="0">
              <a:buNone/>
            </a:pPr>
            <a:r>
              <a:rPr lang="en-US" sz="930" dirty="0">
                <a:solidFill>
                  <a:srgbClr val="3B4A5E"/>
                </a:solidFill>
                <a:latin typeface="Segoe UI" pitchFamily="34" charset="0"/>
                <a:ea typeface="Segoe UI" pitchFamily="34" charset="-122"/>
                <a:cs typeface="Segoe UI" pitchFamily="34" charset="-120"/>
              </a:rPr>
              <a:t>finance sees a bill, not accountable products</a:t>
            </a:r>
            <a:endParaRPr lang="en-US" sz="93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E3F"/>
        </a:solidFill>
        <a:effectLst/>
      </p:bgPr>
    </p:bg>
    <p:spTree>
      <p:nvGrpSpPr>
        <p:cNvPr id="1" name=""/>
        <p:cNvGrpSpPr/>
        <p:nvPr/>
      </p:nvGrpSpPr>
      <p:grpSpPr>
        <a:xfrm>
          <a:off x="0" y="0"/>
          <a:ext cx="0" cy="0"/>
          <a:chOff x="0" y="0"/>
          <a:chExt cx="0" cy="0"/>
        </a:xfrm>
      </p:grpSpPr>
      <p:sp>
        <p:nvSpPr>
          <p:cNvPr id="2" name="Shape 0"/>
          <p:cNvSpPr/>
          <p:nvPr/>
        </p:nvSpPr>
        <p:spPr>
          <a:xfrm>
            <a:off x="7955280" y="1508760"/>
            <a:ext cx="164592" cy="4480560"/>
          </a:xfrm>
          <a:prstGeom prst="rect">
            <a:avLst/>
          </a:prstGeom>
          <a:solidFill>
            <a:srgbClr val="00B7C3">
              <a:alpha val="85000"/>
            </a:srgbClr>
          </a:solidFill>
          <a:ln w="12700">
            <a:solidFill>
              <a:srgbClr val="00B7C3">
                <a:alpha val="85000"/>
              </a:srgbClr>
            </a:solidFill>
            <a:prstDash val="solid"/>
          </a:ln>
        </p:spPr>
      </p:sp>
      <p:sp>
        <p:nvSpPr>
          <p:cNvPr id="3" name="Shape 1"/>
          <p:cNvSpPr/>
          <p:nvPr/>
        </p:nvSpPr>
        <p:spPr>
          <a:xfrm>
            <a:off x="10808208" y="1508760"/>
            <a:ext cx="164592" cy="4480560"/>
          </a:xfrm>
          <a:prstGeom prst="rect">
            <a:avLst/>
          </a:prstGeom>
          <a:solidFill>
            <a:srgbClr val="00B7C3">
              <a:alpha val="85000"/>
            </a:srgbClr>
          </a:solidFill>
          <a:ln w="12700">
            <a:solidFill>
              <a:srgbClr val="00B7C3">
                <a:alpha val="85000"/>
              </a:srgbClr>
            </a:solidFill>
            <a:prstDash val="solid"/>
          </a:ln>
        </p:spPr>
      </p:sp>
      <p:sp>
        <p:nvSpPr>
          <p:cNvPr id="4" name="Shape 2"/>
          <p:cNvSpPr/>
          <p:nvPr/>
        </p:nvSpPr>
        <p:spPr>
          <a:xfrm>
            <a:off x="7964424" y="914400"/>
            <a:ext cx="2999232" cy="1234440"/>
          </a:xfrm>
          <a:prstGeom prst="arc">
            <a:avLst/>
          </a:prstGeom>
          <a:solidFill>
            <a:srgbClr val="00B7C3">
              <a:alpha val="0"/>
            </a:srgbClr>
          </a:solidFill>
          <a:ln w="88900">
            <a:solidFill>
              <a:srgbClr val="00B7C3">
                <a:alpha val="85000"/>
              </a:srgbClr>
            </a:solidFill>
            <a:prstDash val="solid"/>
          </a:ln>
        </p:spPr>
      </p:sp>
      <p:sp>
        <p:nvSpPr>
          <p:cNvPr id="5" name="Shape 3"/>
          <p:cNvSpPr/>
          <p:nvPr/>
        </p:nvSpPr>
        <p:spPr>
          <a:xfrm>
            <a:off x="685800" y="749808"/>
            <a:ext cx="658368" cy="658368"/>
          </a:xfrm>
          <a:prstGeom prst="ellipse">
            <a:avLst/>
          </a:prstGeom>
          <a:solidFill>
            <a:srgbClr val="00B7C3"/>
          </a:solidFill>
          <a:ln w="12700">
            <a:solidFill>
              <a:srgbClr val="00B7C3"/>
            </a:solidFill>
            <a:prstDash val="solid"/>
          </a:ln>
        </p:spPr>
      </p:sp>
      <p:sp>
        <p:nvSpPr>
          <p:cNvPr id="6" name="Text 4"/>
          <p:cNvSpPr/>
          <p:nvPr/>
        </p:nvSpPr>
        <p:spPr>
          <a:xfrm>
            <a:off x="685800" y="905256"/>
            <a:ext cx="658368" cy="201168"/>
          </a:xfrm>
          <a:prstGeom prst="rect">
            <a:avLst/>
          </a:prstGeom>
          <a:noFill/>
          <a:ln/>
        </p:spPr>
        <p:txBody>
          <a:bodyPr wrap="square" lIns="0" tIns="0" rIns="0" bIns="0" rtlCol="0" anchor="ctr"/>
          <a:lstStyle/>
          <a:p>
            <a:pPr marL="0" indent="0" algn="ctr">
              <a:buNone/>
            </a:pPr>
            <a:r>
              <a:rPr lang="en-US" sz="1700" dirty="0">
                <a:solidFill>
                  <a:srgbClr val="0B1E3F"/>
                </a:solidFill>
                <a:latin typeface="Segoe UI Semibold" pitchFamily="34" charset="0"/>
                <a:ea typeface="Segoe UI Semibold" pitchFamily="34" charset="-122"/>
                <a:cs typeface="Segoe UI Semibold" pitchFamily="34" charset="-120"/>
              </a:rPr>
              <a:t>02</a:t>
            </a:r>
            <a:endParaRPr lang="en-US" sz="1700" dirty="0"/>
          </a:p>
        </p:txBody>
      </p:sp>
      <p:sp>
        <p:nvSpPr>
          <p:cNvPr id="7" name="Text 5"/>
          <p:cNvSpPr/>
          <p:nvPr/>
        </p:nvSpPr>
        <p:spPr>
          <a:xfrm>
            <a:off x="685800" y="1691640"/>
            <a:ext cx="3840480" cy="237744"/>
          </a:xfrm>
          <a:prstGeom prst="rect">
            <a:avLst/>
          </a:prstGeom>
          <a:noFill/>
          <a:ln/>
        </p:spPr>
        <p:txBody>
          <a:bodyPr wrap="square" lIns="0" tIns="0" rIns="0" bIns="0" rtlCol="0" anchor="ctr"/>
          <a:lstStyle/>
          <a:p>
            <a:pPr marL="0" indent="0">
              <a:buNone/>
            </a:pPr>
            <a:r>
              <a:rPr lang="en-US" sz="1000" kern="0" spc="160" dirty="0">
                <a:solidFill>
                  <a:srgbClr val="00B7C3"/>
                </a:solidFill>
                <a:latin typeface="Segoe UI Semibold" pitchFamily="34" charset="0"/>
                <a:ea typeface="Segoe UI Semibold" pitchFamily="34" charset="-122"/>
                <a:cs typeface="Segoe UI Semibold" pitchFamily="34" charset="-120"/>
              </a:rPr>
              <a:t>SECTION 2</a:t>
            </a:r>
            <a:endParaRPr lang="en-US" sz="1000" dirty="0"/>
          </a:p>
        </p:txBody>
      </p:sp>
      <p:sp>
        <p:nvSpPr>
          <p:cNvPr id="8" name="Text 6"/>
          <p:cNvSpPr/>
          <p:nvPr/>
        </p:nvSpPr>
        <p:spPr>
          <a:xfrm>
            <a:off x="658368" y="2057400"/>
            <a:ext cx="6858000" cy="1097280"/>
          </a:xfrm>
          <a:prstGeom prst="rect">
            <a:avLst/>
          </a:prstGeom>
          <a:noFill/>
          <a:ln/>
        </p:spPr>
        <p:txBody>
          <a:bodyPr wrap="square" lIns="0" tIns="0" rIns="0" bIns="0" rtlCol="0" anchor="ctr">
            <a:normAutofit/>
          </a:bodyPr>
          <a:lstStyle/>
          <a:p>
            <a:pPr marL="0" indent="0">
              <a:buNone/>
            </a:pPr>
            <a:r>
              <a:rPr lang="en-US" sz="3800" dirty="0">
                <a:solidFill>
                  <a:srgbClr val="FFFFFF"/>
                </a:solidFill>
                <a:latin typeface="Segoe UI Semibold" pitchFamily="34" charset="0"/>
                <a:ea typeface="Segoe UI Semibold" pitchFamily="34" charset="-122"/>
                <a:cs typeface="Segoe UI Semibold" pitchFamily="34" charset="-120"/>
              </a:rPr>
              <a:t>Why an AI gateway</a:t>
            </a:r>
            <a:endParaRPr lang="en-US" sz="3800" dirty="0"/>
          </a:p>
        </p:txBody>
      </p:sp>
      <p:sp>
        <p:nvSpPr>
          <p:cNvPr id="9" name="Shape 7"/>
          <p:cNvSpPr/>
          <p:nvPr/>
        </p:nvSpPr>
        <p:spPr>
          <a:xfrm>
            <a:off x="685800" y="3767328"/>
            <a:ext cx="1417320" cy="411480"/>
          </a:xfrm>
          <a:prstGeom prst="roundRect">
            <a:avLst>
              <a:gd name="adj" fmla="val 15556"/>
            </a:avLst>
          </a:prstGeom>
          <a:solidFill>
            <a:srgbClr val="FFB900"/>
          </a:solidFill>
          <a:ln w="12700">
            <a:solidFill>
              <a:srgbClr val="FFB900"/>
            </a:solidFill>
            <a:prstDash val="solid"/>
          </a:ln>
        </p:spPr>
      </p:sp>
      <p:sp>
        <p:nvSpPr>
          <p:cNvPr id="10" name="Text 8"/>
          <p:cNvSpPr/>
          <p:nvPr/>
        </p:nvSpPr>
        <p:spPr>
          <a:xfrm>
            <a:off x="685800" y="3886200"/>
            <a:ext cx="1417320" cy="128016"/>
          </a:xfrm>
          <a:prstGeom prst="rect">
            <a:avLst/>
          </a:prstGeom>
          <a:noFill/>
          <a:ln/>
        </p:spPr>
        <p:txBody>
          <a:bodyPr wrap="square" lIns="0" tIns="0" rIns="0" bIns="0" rtlCol="0" anchor="ctr"/>
          <a:lstStyle/>
          <a:p>
            <a:pPr marL="0" indent="0" algn="ctr">
              <a:buNone/>
            </a:pPr>
            <a:r>
              <a:rPr lang="en-US" sz="1000" dirty="0">
                <a:solidFill>
                  <a:srgbClr val="0B1E3F"/>
                </a:solidFill>
                <a:latin typeface="Segoe UI Semibold" pitchFamily="34" charset="0"/>
                <a:ea typeface="Segoe UI Semibold" pitchFamily="34" charset="-122"/>
                <a:cs typeface="Segoe UI Semibold" pitchFamily="34" charset="-120"/>
              </a:rPr>
              <a:t>05–15 · 10 min</a:t>
            </a:r>
            <a:endParaRPr lang="en-US" sz="1000" dirty="0"/>
          </a:p>
        </p:txBody>
      </p:sp>
      <p:sp>
        <p:nvSpPr>
          <p:cNvPr id="11" name="Text 9"/>
          <p:cNvSpPr/>
          <p:nvPr/>
        </p:nvSpPr>
        <p:spPr>
          <a:xfrm>
            <a:off x="685800" y="6355080"/>
            <a:ext cx="2834640" cy="164592"/>
          </a:xfrm>
          <a:prstGeom prst="rect">
            <a:avLst/>
          </a:prstGeom>
          <a:noFill/>
          <a:ln/>
        </p:spPr>
        <p:txBody>
          <a:bodyPr wrap="square" lIns="0" tIns="0" rIns="0" bIns="0" rtlCol="0" anchor="ctr"/>
          <a:lstStyle/>
          <a:p>
            <a:pPr marL="0" indent="0">
              <a:buNone/>
            </a:pPr>
            <a:r>
              <a:rPr lang="en-US" sz="800" dirty="0">
                <a:solidFill>
                  <a:srgbClr val="AFC3DA"/>
                </a:solidFill>
                <a:latin typeface="Segoe UI" pitchFamily="34" charset="0"/>
                <a:ea typeface="Segoe UI" pitchFamily="34" charset="-122"/>
                <a:cs typeface="Segoe UI" pitchFamily="34" charset="-120"/>
              </a:rPr>
              <a:t>90-minute technical session</a:t>
            </a:r>
            <a:endParaRPr lang="en-US" sz="800" dirty="0"/>
          </a:p>
        </p:txBody>
      </p:sp>
      <p:sp>
        <p:nvSpPr>
          <p:cNvPr id="12" name="Text 10"/>
          <p:cNvSpPr/>
          <p:nvPr/>
        </p:nvSpPr>
        <p:spPr>
          <a:xfrm>
            <a:off x="11292840" y="6355080"/>
            <a:ext cx="365760" cy="164592"/>
          </a:xfrm>
          <a:prstGeom prst="rect">
            <a:avLst/>
          </a:prstGeom>
          <a:noFill/>
          <a:ln/>
        </p:spPr>
        <p:txBody>
          <a:bodyPr wrap="square" lIns="0" tIns="0" rIns="0" bIns="0" rtlCol="0" anchor="ctr"/>
          <a:lstStyle/>
          <a:p>
            <a:pPr marL="0" indent="0" algn="r">
              <a:buNone/>
            </a:pPr>
            <a:r>
              <a:rPr lang="en-US" sz="800" dirty="0">
                <a:solidFill>
                  <a:srgbClr val="AFC3DA"/>
                </a:solidFill>
                <a:latin typeface="Segoe UI Semibold" pitchFamily="34" charset="0"/>
                <a:ea typeface="Segoe UI Semibold" pitchFamily="34" charset="-122"/>
                <a:cs typeface="Segoe UI Semibold" pitchFamily="34" charset="-120"/>
              </a:rPr>
              <a:t>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301752"/>
            <a:ext cx="3200400" cy="201168"/>
          </a:xfrm>
          <a:prstGeom prst="rect">
            <a:avLst/>
          </a:prstGeom>
          <a:noFill/>
          <a:ln/>
        </p:spPr>
        <p:txBody>
          <a:bodyPr wrap="square" lIns="0" tIns="0" rIns="0" bIns="0" rtlCol="0" anchor="ctr"/>
          <a:lstStyle/>
          <a:p>
            <a:pPr marL="0" indent="0">
              <a:buNone/>
            </a:pPr>
            <a:r>
              <a:rPr lang="en-US" sz="800" kern="0" spc="120" dirty="0">
                <a:solidFill>
                  <a:srgbClr val="00B7C3"/>
                </a:solidFill>
                <a:latin typeface="Segoe UI Semibold" pitchFamily="34" charset="0"/>
                <a:ea typeface="Segoe UI Semibold" pitchFamily="34" charset="-122"/>
                <a:cs typeface="Segoe UI Semibold" pitchFamily="34" charset="-120"/>
              </a:rPr>
              <a:t>WHY AN AI GATEWAY</a:t>
            </a:r>
            <a:endParaRPr lang="en-US" sz="800" dirty="0"/>
          </a:p>
        </p:txBody>
      </p:sp>
      <p:sp>
        <p:nvSpPr>
          <p:cNvPr id="3" name="Text 1"/>
          <p:cNvSpPr/>
          <p:nvPr/>
        </p:nvSpPr>
        <p:spPr>
          <a:xfrm>
            <a:off x="457200" y="521208"/>
            <a:ext cx="7955280" cy="438912"/>
          </a:xfrm>
          <a:prstGeom prst="rect">
            <a:avLst/>
          </a:prstGeom>
          <a:noFill/>
          <a:ln/>
        </p:spPr>
        <p:txBody>
          <a:bodyPr wrap="square" lIns="0" tIns="0" rIns="0" bIns="0" rtlCol="0" anchor="ctr"/>
          <a:lstStyle/>
          <a:p>
            <a:pPr marL="0" indent="0">
              <a:buNone/>
            </a:pPr>
            <a:r>
              <a:rPr lang="en-US" sz="2500" dirty="0">
                <a:solidFill>
                  <a:srgbClr val="0B1E3F"/>
                </a:solidFill>
                <a:latin typeface="Segoe UI Semibold" pitchFamily="34" charset="0"/>
                <a:ea typeface="Segoe UI Semibold" pitchFamily="34" charset="-122"/>
                <a:cs typeface="Segoe UI Semibold" pitchFamily="34" charset="-120"/>
              </a:rPr>
              <a:t>Six challenges appear when AI moves past the pilot</a:t>
            </a:r>
            <a:endParaRPr lang="en-US" sz="2500" dirty="0"/>
          </a:p>
        </p:txBody>
      </p:sp>
      <p:sp>
        <p:nvSpPr>
          <p:cNvPr id="4" name="Shape 2"/>
          <p:cNvSpPr/>
          <p:nvPr/>
        </p:nvSpPr>
        <p:spPr>
          <a:xfrm>
            <a:off x="10698480" y="118872"/>
            <a:ext cx="1051560" cy="1051560"/>
          </a:xfrm>
          <a:prstGeom prst="arc">
            <a:avLst/>
          </a:prstGeom>
          <a:solidFill>
            <a:srgbClr val="F5F7FA">
              <a:alpha val="0"/>
            </a:srgbClr>
          </a:solidFill>
          <a:ln w="38100">
            <a:solidFill>
              <a:srgbClr val="00B7C3">
                <a:alpha val="90000"/>
              </a:srgbClr>
            </a:solidFill>
            <a:prstDash val="solid"/>
          </a:ln>
        </p:spPr>
      </p:sp>
      <p:sp>
        <p:nvSpPr>
          <p:cNvPr id="5" name="Text 3"/>
          <p:cNvSpPr/>
          <p:nvPr/>
        </p:nvSpPr>
        <p:spPr>
          <a:xfrm>
            <a:off x="457200" y="6473952"/>
            <a:ext cx="7955280" cy="164592"/>
          </a:xfrm>
          <a:prstGeom prst="rect">
            <a:avLst/>
          </a:prstGeom>
          <a:noFill/>
          <a:ln/>
        </p:spPr>
        <p:txBody>
          <a:bodyPr wrap="square" lIns="0" tIns="0" rIns="0" bIns="0" rtlCol="0" anchor="ctr"/>
          <a:lstStyle/>
          <a:p>
            <a:pPr marL="0" indent="0">
              <a:buNone/>
            </a:pPr>
            <a:r>
              <a:rPr lang="en-US" sz="750" dirty="0">
                <a:solidFill>
                  <a:srgbClr val="8A97A8"/>
                </a:solidFill>
                <a:latin typeface="Segoe UI" pitchFamily="34" charset="0"/>
                <a:ea typeface="Segoe UI" pitchFamily="34" charset="-122"/>
                <a:cs typeface="Segoe UI" pitchFamily="34" charset="-120"/>
              </a:rPr>
              <a:t>Azure API Management AI Gateway — Oct 2026</a:t>
            </a:r>
            <a:endParaRPr lang="en-US" sz="750" dirty="0"/>
          </a:p>
        </p:txBody>
      </p:sp>
      <p:sp>
        <p:nvSpPr>
          <p:cNvPr id="6" name="Text 4"/>
          <p:cNvSpPr/>
          <p:nvPr/>
        </p:nvSpPr>
        <p:spPr>
          <a:xfrm>
            <a:off x="11430000" y="6446520"/>
            <a:ext cx="320040" cy="164592"/>
          </a:xfrm>
          <a:prstGeom prst="rect">
            <a:avLst/>
          </a:prstGeom>
          <a:noFill/>
          <a:ln/>
        </p:spPr>
        <p:txBody>
          <a:bodyPr wrap="square" lIns="0" tIns="0" rIns="0" bIns="0" rtlCol="0" anchor="ctr"/>
          <a:lstStyle/>
          <a:p>
            <a:pPr marL="0" indent="0" algn="r">
              <a:buNone/>
            </a:pPr>
            <a:r>
              <a:rPr lang="en-US" sz="800" dirty="0">
                <a:solidFill>
                  <a:srgbClr val="8A97A8"/>
                </a:solidFill>
                <a:latin typeface="Segoe UI Semibold" pitchFamily="34" charset="0"/>
                <a:ea typeface="Segoe UI Semibold" pitchFamily="34" charset="-122"/>
                <a:cs typeface="Segoe UI Semibold" pitchFamily="34" charset="-120"/>
              </a:rPr>
              <a:t>06</a:t>
            </a:r>
            <a:endParaRPr lang="en-US" sz="800" dirty="0"/>
          </a:p>
        </p:txBody>
      </p:sp>
      <p:sp>
        <p:nvSpPr>
          <p:cNvPr id="7" name="Shape 5"/>
          <p:cNvSpPr/>
          <p:nvPr/>
        </p:nvSpPr>
        <p:spPr>
          <a:xfrm>
            <a:off x="658368" y="1143000"/>
            <a:ext cx="3346704" cy="1234440"/>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8" name="Shape 6"/>
          <p:cNvSpPr/>
          <p:nvPr/>
        </p:nvSpPr>
        <p:spPr>
          <a:xfrm>
            <a:off x="658368" y="1143000"/>
            <a:ext cx="73152" cy="1234440"/>
          </a:xfrm>
          <a:prstGeom prst="rect">
            <a:avLst/>
          </a:prstGeom>
          <a:solidFill>
            <a:srgbClr val="00B7C3"/>
          </a:solidFill>
          <a:ln w="12700">
            <a:solidFill>
              <a:srgbClr val="00B7C3"/>
            </a:solidFill>
            <a:prstDash val="solid"/>
          </a:ln>
        </p:spPr>
      </p:sp>
      <p:sp>
        <p:nvSpPr>
          <p:cNvPr id="9" name="Shape 7"/>
          <p:cNvSpPr/>
          <p:nvPr/>
        </p:nvSpPr>
        <p:spPr>
          <a:xfrm>
            <a:off x="822960" y="1298448"/>
            <a:ext cx="393192" cy="393192"/>
          </a:xfrm>
          <a:prstGeom prst="ellipse">
            <a:avLst/>
          </a:prstGeom>
          <a:solidFill>
            <a:srgbClr val="00B7C3"/>
          </a:solidFill>
          <a:ln w="12700">
            <a:solidFill>
              <a:srgbClr val="00B7C3"/>
            </a:solidFill>
            <a:prstDash val="solid"/>
          </a:ln>
        </p:spPr>
      </p:sp>
      <p:sp>
        <p:nvSpPr>
          <p:cNvPr id="10" name="Text 8"/>
          <p:cNvSpPr/>
          <p:nvPr/>
        </p:nvSpPr>
        <p:spPr>
          <a:xfrm>
            <a:off x="822960" y="1357884"/>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1</a:t>
            </a:r>
            <a:endParaRPr lang="en-US" sz="800" dirty="0"/>
          </a:p>
        </p:txBody>
      </p:sp>
      <p:sp>
        <p:nvSpPr>
          <p:cNvPr id="11" name="Text 9"/>
          <p:cNvSpPr/>
          <p:nvPr/>
        </p:nvSpPr>
        <p:spPr>
          <a:xfrm>
            <a:off x="1316736" y="1271016"/>
            <a:ext cx="2523744"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Credential sprawl</a:t>
            </a:r>
            <a:endParaRPr lang="en-US" sz="1250" dirty="0"/>
          </a:p>
        </p:txBody>
      </p:sp>
      <p:sp>
        <p:nvSpPr>
          <p:cNvPr id="12" name="Text 10"/>
          <p:cNvSpPr/>
          <p:nvPr/>
        </p:nvSpPr>
        <p:spPr>
          <a:xfrm>
            <a:off x="1316736" y="1600200"/>
            <a:ext cx="2523744" cy="685800"/>
          </a:xfrm>
          <a:prstGeom prst="rect">
            <a:avLst/>
          </a:prstGeom>
          <a:noFill/>
          <a:ln/>
        </p:spPr>
        <p:txBody>
          <a:bodyPr wrap="square" lIns="635" tIns="635" rIns="635" bIns="635" rtlCol="0" anchor="ctr">
            <a:normAutofit/>
          </a:bodyPr>
          <a:lstStyle/>
          <a:p>
            <a:pPr marL="0" indent="0">
              <a:buNone/>
            </a:pPr>
            <a:r>
              <a:rPr lang="en-US" sz="980" dirty="0">
                <a:solidFill>
                  <a:srgbClr val="3B4A5E"/>
                </a:solidFill>
                <a:latin typeface="Segoe UI" pitchFamily="34" charset="0"/>
                <a:ea typeface="Segoe UI" pitchFamily="34" charset="-122"/>
                <a:cs typeface="Segoe UI" pitchFamily="34" charset="-120"/>
              </a:rPr>
              <a:t>Keys, tokens and provider accounts copied into apps.</a:t>
            </a:r>
            <a:endParaRPr lang="en-US" sz="980" dirty="0"/>
          </a:p>
        </p:txBody>
      </p:sp>
      <p:sp>
        <p:nvSpPr>
          <p:cNvPr id="13" name="Shape 11"/>
          <p:cNvSpPr/>
          <p:nvPr/>
        </p:nvSpPr>
        <p:spPr>
          <a:xfrm>
            <a:off x="4407408" y="1143000"/>
            <a:ext cx="3346704" cy="1234440"/>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14" name="Shape 12"/>
          <p:cNvSpPr/>
          <p:nvPr/>
        </p:nvSpPr>
        <p:spPr>
          <a:xfrm>
            <a:off x="4407408" y="1143000"/>
            <a:ext cx="73152" cy="1234440"/>
          </a:xfrm>
          <a:prstGeom prst="rect">
            <a:avLst/>
          </a:prstGeom>
          <a:solidFill>
            <a:srgbClr val="0078D4"/>
          </a:solidFill>
          <a:ln w="12700">
            <a:solidFill>
              <a:srgbClr val="0078D4"/>
            </a:solidFill>
            <a:prstDash val="solid"/>
          </a:ln>
        </p:spPr>
      </p:sp>
      <p:sp>
        <p:nvSpPr>
          <p:cNvPr id="15" name="Shape 13"/>
          <p:cNvSpPr/>
          <p:nvPr/>
        </p:nvSpPr>
        <p:spPr>
          <a:xfrm>
            <a:off x="4572000" y="1298448"/>
            <a:ext cx="393192" cy="393192"/>
          </a:xfrm>
          <a:prstGeom prst="ellipse">
            <a:avLst/>
          </a:prstGeom>
          <a:solidFill>
            <a:srgbClr val="0078D4"/>
          </a:solidFill>
          <a:ln w="12700">
            <a:solidFill>
              <a:srgbClr val="0078D4"/>
            </a:solidFill>
            <a:prstDash val="solid"/>
          </a:ln>
        </p:spPr>
      </p:sp>
      <p:sp>
        <p:nvSpPr>
          <p:cNvPr id="16" name="Text 14"/>
          <p:cNvSpPr/>
          <p:nvPr/>
        </p:nvSpPr>
        <p:spPr>
          <a:xfrm>
            <a:off x="4572000" y="1357884"/>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2</a:t>
            </a:r>
            <a:endParaRPr lang="en-US" sz="800" dirty="0"/>
          </a:p>
        </p:txBody>
      </p:sp>
      <p:sp>
        <p:nvSpPr>
          <p:cNvPr id="17" name="Text 15"/>
          <p:cNvSpPr/>
          <p:nvPr/>
        </p:nvSpPr>
        <p:spPr>
          <a:xfrm>
            <a:off x="5065776" y="1271016"/>
            <a:ext cx="2523744"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Cost &amp; quota exhaustion</a:t>
            </a:r>
            <a:endParaRPr lang="en-US" sz="1250" dirty="0"/>
          </a:p>
        </p:txBody>
      </p:sp>
      <p:sp>
        <p:nvSpPr>
          <p:cNvPr id="18" name="Text 16"/>
          <p:cNvSpPr/>
          <p:nvPr/>
        </p:nvSpPr>
        <p:spPr>
          <a:xfrm>
            <a:off x="5065776" y="1600200"/>
            <a:ext cx="2523744" cy="685800"/>
          </a:xfrm>
          <a:prstGeom prst="rect">
            <a:avLst/>
          </a:prstGeom>
          <a:noFill/>
          <a:ln/>
        </p:spPr>
        <p:txBody>
          <a:bodyPr wrap="square" lIns="635" tIns="635" rIns="635" bIns="635" rtlCol="0" anchor="ctr">
            <a:normAutofit/>
          </a:bodyPr>
          <a:lstStyle/>
          <a:p>
            <a:pPr marL="0" indent="0">
              <a:buNone/>
            </a:pPr>
            <a:r>
              <a:rPr lang="en-US" sz="980" dirty="0">
                <a:solidFill>
                  <a:srgbClr val="3B4A5E"/>
                </a:solidFill>
                <a:latin typeface="Segoe UI" pitchFamily="34" charset="0"/>
                <a:ea typeface="Segoe UI" pitchFamily="34" charset="-122"/>
                <a:cs typeface="Segoe UI" pitchFamily="34" charset="-120"/>
              </a:rPr>
              <a:t>One product can burn shared TPM/PTU or trigger 429s.</a:t>
            </a:r>
            <a:endParaRPr lang="en-US" sz="980" dirty="0"/>
          </a:p>
        </p:txBody>
      </p:sp>
      <p:sp>
        <p:nvSpPr>
          <p:cNvPr id="19" name="Shape 17"/>
          <p:cNvSpPr/>
          <p:nvPr/>
        </p:nvSpPr>
        <p:spPr>
          <a:xfrm>
            <a:off x="8156448" y="1143000"/>
            <a:ext cx="3346704" cy="1234440"/>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20" name="Shape 18"/>
          <p:cNvSpPr/>
          <p:nvPr/>
        </p:nvSpPr>
        <p:spPr>
          <a:xfrm>
            <a:off x="8156448" y="1143000"/>
            <a:ext cx="73152" cy="1234440"/>
          </a:xfrm>
          <a:prstGeom prst="rect">
            <a:avLst/>
          </a:prstGeom>
          <a:solidFill>
            <a:srgbClr val="FFB900"/>
          </a:solidFill>
          <a:ln w="12700">
            <a:solidFill>
              <a:srgbClr val="FFB900"/>
            </a:solidFill>
            <a:prstDash val="solid"/>
          </a:ln>
        </p:spPr>
      </p:sp>
      <p:sp>
        <p:nvSpPr>
          <p:cNvPr id="21" name="Shape 19"/>
          <p:cNvSpPr/>
          <p:nvPr/>
        </p:nvSpPr>
        <p:spPr>
          <a:xfrm>
            <a:off x="8321040" y="1298448"/>
            <a:ext cx="393192" cy="393192"/>
          </a:xfrm>
          <a:prstGeom prst="ellipse">
            <a:avLst/>
          </a:prstGeom>
          <a:solidFill>
            <a:srgbClr val="FFB900"/>
          </a:solidFill>
          <a:ln w="12700">
            <a:solidFill>
              <a:srgbClr val="FFB900"/>
            </a:solidFill>
            <a:prstDash val="solid"/>
          </a:ln>
        </p:spPr>
      </p:sp>
      <p:sp>
        <p:nvSpPr>
          <p:cNvPr id="22" name="Text 20"/>
          <p:cNvSpPr/>
          <p:nvPr/>
        </p:nvSpPr>
        <p:spPr>
          <a:xfrm>
            <a:off x="8321040" y="1357884"/>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3</a:t>
            </a:r>
            <a:endParaRPr lang="en-US" sz="800" dirty="0"/>
          </a:p>
        </p:txBody>
      </p:sp>
      <p:sp>
        <p:nvSpPr>
          <p:cNvPr id="23" name="Text 21"/>
          <p:cNvSpPr/>
          <p:nvPr/>
        </p:nvSpPr>
        <p:spPr>
          <a:xfrm>
            <a:off x="8814816" y="1271016"/>
            <a:ext cx="2523744"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Resiliency gaps</a:t>
            </a:r>
            <a:endParaRPr lang="en-US" sz="1250" dirty="0"/>
          </a:p>
        </p:txBody>
      </p:sp>
      <p:sp>
        <p:nvSpPr>
          <p:cNvPr id="24" name="Text 22"/>
          <p:cNvSpPr/>
          <p:nvPr/>
        </p:nvSpPr>
        <p:spPr>
          <a:xfrm>
            <a:off x="8814816" y="1600200"/>
            <a:ext cx="2523744" cy="685800"/>
          </a:xfrm>
          <a:prstGeom prst="rect">
            <a:avLst/>
          </a:prstGeom>
          <a:noFill/>
          <a:ln/>
        </p:spPr>
        <p:txBody>
          <a:bodyPr wrap="square" lIns="635" tIns="635" rIns="635" bIns="635" rtlCol="0" anchor="ctr">
            <a:normAutofit/>
          </a:bodyPr>
          <a:lstStyle/>
          <a:p>
            <a:pPr marL="0" indent="0">
              <a:buNone/>
            </a:pPr>
            <a:r>
              <a:rPr lang="en-US" sz="980" dirty="0">
                <a:solidFill>
                  <a:srgbClr val="3B4A5E"/>
                </a:solidFill>
                <a:latin typeface="Segoe UI" pitchFamily="34" charset="0"/>
                <a:ea typeface="Segoe UI" pitchFamily="34" charset="-122"/>
                <a:cs typeface="Segoe UI" pitchFamily="34" charset="-120"/>
              </a:rPr>
              <a:t>Every app reimplements retries, failover and backoff.</a:t>
            </a:r>
            <a:endParaRPr lang="en-US" sz="980" dirty="0"/>
          </a:p>
        </p:txBody>
      </p:sp>
      <p:sp>
        <p:nvSpPr>
          <p:cNvPr id="25" name="Shape 23"/>
          <p:cNvSpPr/>
          <p:nvPr/>
        </p:nvSpPr>
        <p:spPr>
          <a:xfrm>
            <a:off x="658368" y="3017520"/>
            <a:ext cx="3346704" cy="1234440"/>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26" name="Shape 24"/>
          <p:cNvSpPr/>
          <p:nvPr/>
        </p:nvSpPr>
        <p:spPr>
          <a:xfrm>
            <a:off x="658368" y="3017520"/>
            <a:ext cx="73152" cy="1234440"/>
          </a:xfrm>
          <a:prstGeom prst="rect">
            <a:avLst/>
          </a:prstGeom>
          <a:solidFill>
            <a:srgbClr val="00B7C3"/>
          </a:solidFill>
          <a:ln w="12700">
            <a:solidFill>
              <a:srgbClr val="00B7C3"/>
            </a:solidFill>
            <a:prstDash val="solid"/>
          </a:ln>
        </p:spPr>
      </p:sp>
      <p:sp>
        <p:nvSpPr>
          <p:cNvPr id="27" name="Shape 25"/>
          <p:cNvSpPr/>
          <p:nvPr/>
        </p:nvSpPr>
        <p:spPr>
          <a:xfrm>
            <a:off x="822960" y="3172968"/>
            <a:ext cx="393192" cy="393192"/>
          </a:xfrm>
          <a:prstGeom prst="ellipse">
            <a:avLst/>
          </a:prstGeom>
          <a:solidFill>
            <a:srgbClr val="00B7C3"/>
          </a:solidFill>
          <a:ln w="12700">
            <a:solidFill>
              <a:srgbClr val="00B7C3"/>
            </a:solidFill>
            <a:prstDash val="solid"/>
          </a:ln>
        </p:spPr>
      </p:sp>
      <p:sp>
        <p:nvSpPr>
          <p:cNvPr id="28" name="Text 26"/>
          <p:cNvSpPr/>
          <p:nvPr/>
        </p:nvSpPr>
        <p:spPr>
          <a:xfrm>
            <a:off x="822960" y="3232404"/>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4</a:t>
            </a:r>
            <a:endParaRPr lang="en-US" sz="800" dirty="0"/>
          </a:p>
        </p:txBody>
      </p:sp>
      <p:sp>
        <p:nvSpPr>
          <p:cNvPr id="29" name="Text 27"/>
          <p:cNvSpPr/>
          <p:nvPr/>
        </p:nvSpPr>
        <p:spPr>
          <a:xfrm>
            <a:off x="1316736" y="3145536"/>
            <a:ext cx="2523744"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Safety &amp; compliance</a:t>
            </a:r>
            <a:endParaRPr lang="en-US" sz="1250" dirty="0"/>
          </a:p>
        </p:txBody>
      </p:sp>
      <p:sp>
        <p:nvSpPr>
          <p:cNvPr id="30" name="Text 28"/>
          <p:cNvSpPr/>
          <p:nvPr/>
        </p:nvSpPr>
        <p:spPr>
          <a:xfrm>
            <a:off x="1316736" y="3474720"/>
            <a:ext cx="2523744" cy="685800"/>
          </a:xfrm>
          <a:prstGeom prst="rect">
            <a:avLst/>
          </a:prstGeom>
          <a:noFill/>
          <a:ln/>
        </p:spPr>
        <p:txBody>
          <a:bodyPr wrap="square" lIns="635" tIns="635" rIns="635" bIns="635" rtlCol="0" anchor="ctr">
            <a:normAutofit/>
          </a:bodyPr>
          <a:lstStyle/>
          <a:p>
            <a:pPr marL="0" indent="0">
              <a:buNone/>
            </a:pPr>
            <a:r>
              <a:rPr lang="en-US" sz="980" dirty="0">
                <a:solidFill>
                  <a:srgbClr val="3B4A5E"/>
                </a:solidFill>
                <a:latin typeface="Segoe UI" pitchFamily="34" charset="0"/>
                <a:ea typeface="Segoe UI" pitchFamily="34" charset="-122"/>
                <a:cs typeface="Segoe UI" pitchFamily="34" charset="-120"/>
              </a:rPr>
              <a:t>No consistent Prompt Shields, harm categories or blocklists.</a:t>
            </a:r>
            <a:endParaRPr lang="en-US" sz="980" dirty="0"/>
          </a:p>
        </p:txBody>
      </p:sp>
      <p:sp>
        <p:nvSpPr>
          <p:cNvPr id="31" name="Shape 29"/>
          <p:cNvSpPr/>
          <p:nvPr/>
        </p:nvSpPr>
        <p:spPr>
          <a:xfrm>
            <a:off x="4407408" y="3017520"/>
            <a:ext cx="3346704" cy="1234440"/>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32" name="Shape 30"/>
          <p:cNvSpPr/>
          <p:nvPr/>
        </p:nvSpPr>
        <p:spPr>
          <a:xfrm>
            <a:off x="4407408" y="3017520"/>
            <a:ext cx="73152" cy="1234440"/>
          </a:xfrm>
          <a:prstGeom prst="rect">
            <a:avLst/>
          </a:prstGeom>
          <a:solidFill>
            <a:srgbClr val="0078D4"/>
          </a:solidFill>
          <a:ln w="12700">
            <a:solidFill>
              <a:srgbClr val="0078D4"/>
            </a:solidFill>
            <a:prstDash val="solid"/>
          </a:ln>
        </p:spPr>
      </p:sp>
      <p:sp>
        <p:nvSpPr>
          <p:cNvPr id="33" name="Shape 31"/>
          <p:cNvSpPr/>
          <p:nvPr/>
        </p:nvSpPr>
        <p:spPr>
          <a:xfrm>
            <a:off x="4572000" y="3172968"/>
            <a:ext cx="393192" cy="393192"/>
          </a:xfrm>
          <a:prstGeom prst="ellipse">
            <a:avLst/>
          </a:prstGeom>
          <a:solidFill>
            <a:srgbClr val="0078D4"/>
          </a:solidFill>
          <a:ln w="12700">
            <a:solidFill>
              <a:srgbClr val="0078D4"/>
            </a:solidFill>
            <a:prstDash val="solid"/>
          </a:ln>
        </p:spPr>
      </p:sp>
      <p:sp>
        <p:nvSpPr>
          <p:cNvPr id="34" name="Text 32"/>
          <p:cNvSpPr/>
          <p:nvPr/>
        </p:nvSpPr>
        <p:spPr>
          <a:xfrm>
            <a:off x="4572000" y="3232404"/>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5</a:t>
            </a:r>
            <a:endParaRPr lang="en-US" sz="800" dirty="0"/>
          </a:p>
        </p:txBody>
      </p:sp>
      <p:sp>
        <p:nvSpPr>
          <p:cNvPr id="35" name="Text 33"/>
          <p:cNvSpPr/>
          <p:nvPr/>
        </p:nvSpPr>
        <p:spPr>
          <a:xfrm>
            <a:off x="5065776" y="3145536"/>
            <a:ext cx="2523744"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Observability &amp; chargeback</a:t>
            </a:r>
            <a:endParaRPr lang="en-US" sz="1250" dirty="0"/>
          </a:p>
        </p:txBody>
      </p:sp>
      <p:sp>
        <p:nvSpPr>
          <p:cNvPr id="36" name="Text 34"/>
          <p:cNvSpPr/>
          <p:nvPr/>
        </p:nvSpPr>
        <p:spPr>
          <a:xfrm>
            <a:off x="5065776" y="3474720"/>
            <a:ext cx="2523744" cy="685800"/>
          </a:xfrm>
          <a:prstGeom prst="rect">
            <a:avLst/>
          </a:prstGeom>
          <a:noFill/>
          <a:ln/>
        </p:spPr>
        <p:txBody>
          <a:bodyPr wrap="square" lIns="635" tIns="635" rIns="635" bIns="635" rtlCol="0" anchor="ctr">
            <a:normAutofit/>
          </a:bodyPr>
          <a:lstStyle/>
          <a:p>
            <a:pPr marL="0" indent="0">
              <a:buNone/>
            </a:pPr>
            <a:r>
              <a:rPr lang="en-US" sz="980" dirty="0">
                <a:solidFill>
                  <a:srgbClr val="3B4A5E"/>
                </a:solidFill>
                <a:latin typeface="Segoe UI" pitchFamily="34" charset="0"/>
                <a:ea typeface="Segoe UI" pitchFamily="34" charset="-122"/>
                <a:cs typeface="Segoe UI" pitchFamily="34" charset="-120"/>
              </a:rPr>
              <a:t>Token spend and prompt logs are fragmented.</a:t>
            </a:r>
            <a:endParaRPr lang="en-US" sz="980" dirty="0"/>
          </a:p>
        </p:txBody>
      </p:sp>
      <p:sp>
        <p:nvSpPr>
          <p:cNvPr id="37" name="Shape 35"/>
          <p:cNvSpPr/>
          <p:nvPr/>
        </p:nvSpPr>
        <p:spPr>
          <a:xfrm>
            <a:off x="8156448" y="3017520"/>
            <a:ext cx="3346704" cy="1234440"/>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38" name="Shape 36"/>
          <p:cNvSpPr/>
          <p:nvPr/>
        </p:nvSpPr>
        <p:spPr>
          <a:xfrm>
            <a:off x="8156448" y="3017520"/>
            <a:ext cx="73152" cy="1234440"/>
          </a:xfrm>
          <a:prstGeom prst="rect">
            <a:avLst/>
          </a:prstGeom>
          <a:solidFill>
            <a:srgbClr val="FFB900"/>
          </a:solidFill>
          <a:ln w="12700">
            <a:solidFill>
              <a:srgbClr val="FFB900"/>
            </a:solidFill>
            <a:prstDash val="solid"/>
          </a:ln>
        </p:spPr>
      </p:sp>
      <p:sp>
        <p:nvSpPr>
          <p:cNvPr id="39" name="Shape 37"/>
          <p:cNvSpPr/>
          <p:nvPr/>
        </p:nvSpPr>
        <p:spPr>
          <a:xfrm>
            <a:off x="8321040" y="3172968"/>
            <a:ext cx="393192" cy="393192"/>
          </a:xfrm>
          <a:prstGeom prst="ellipse">
            <a:avLst/>
          </a:prstGeom>
          <a:solidFill>
            <a:srgbClr val="FFB900"/>
          </a:solidFill>
          <a:ln w="12700">
            <a:solidFill>
              <a:srgbClr val="FFB900"/>
            </a:solidFill>
            <a:prstDash val="solid"/>
          </a:ln>
        </p:spPr>
      </p:sp>
      <p:sp>
        <p:nvSpPr>
          <p:cNvPr id="40" name="Text 38"/>
          <p:cNvSpPr/>
          <p:nvPr/>
        </p:nvSpPr>
        <p:spPr>
          <a:xfrm>
            <a:off x="8321040" y="3232404"/>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6</a:t>
            </a:r>
            <a:endParaRPr lang="en-US" sz="800" dirty="0"/>
          </a:p>
        </p:txBody>
      </p:sp>
      <p:sp>
        <p:nvSpPr>
          <p:cNvPr id="41" name="Text 39"/>
          <p:cNvSpPr/>
          <p:nvPr/>
        </p:nvSpPr>
        <p:spPr>
          <a:xfrm>
            <a:off x="8814816" y="3145536"/>
            <a:ext cx="2523744"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MCP tool &amp; agent sprawl</a:t>
            </a:r>
            <a:endParaRPr lang="en-US" sz="1250" dirty="0"/>
          </a:p>
        </p:txBody>
      </p:sp>
      <p:sp>
        <p:nvSpPr>
          <p:cNvPr id="42" name="Text 40"/>
          <p:cNvSpPr/>
          <p:nvPr/>
        </p:nvSpPr>
        <p:spPr>
          <a:xfrm>
            <a:off x="8814816" y="3474720"/>
            <a:ext cx="2523744" cy="685800"/>
          </a:xfrm>
          <a:prstGeom prst="rect">
            <a:avLst/>
          </a:prstGeom>
          <a:noFill/>
          <a:ln/>
        </p:spPr>
        <p:txBody>
          <a:bodyPr wrap="square" lIns="635" tIns="635" rIns="635" bIns="635" rtlCol="0" anchor="ctr">
            <a:normAutofit/>
          </a:bodyPr>
          <a:lstStyle/>
          <a:p>
            <a:pPr marL="0" indent="0">
              <a:buNone/>
            </a:pPr>
            <a:r>
              <a:rPr lang="en-US" sz="980" dirty="0">
                <a:solidFill>
                  <a:srgbClr val="3B4A5E"/>
                </a:solidFill>
                <a:latin typeface="Segoe UI" pitchFamily="34" charset="0"/>
                <a:ea typeface="Segoe UI" pitchFamily="34" charset="-122"/>
                <a:cs typeface="Segoe UI" pitchFamily="34" charset="-120"/>
              </a:rPr>
              <a:t>Tools and A2A agents multiply without central registry.</a:t>
            </a:r>
            <a:endParaRPr lang="en-US" sz="980" dirty="0"/>
          </a:p>
        </p:txBody>
      </p:sp>
      <p:sp>
        <p:nvSpPr>
          <p:cNvPr id="43" name="Shape 41"/>
          <p:cNvSpPr/>
          <p:nvPr/>
        </p:nvSpPr>
        <p:spPr>
          <a:xfrm>
            <a:off x="4663440" y="5257800"/>
            <a:ext cx="2834640" cy="475488"/>
          </a:xfrm>
          <a:prstGeom prst="chevron">
            <a:avLst/>
          </a:prstGeom>
          <a:solidFill>
            <a:srgbClr val="0B1E3F"/>
          </a:solidFill>
          <a:ln w="12700">
            <a:solidFill>
              <a:srgbClr val="0B1E3F"/>
            </a:solidFill>
            <a:prstDash val="solid"/>
          </a:ln>
        </p:spPr>
      </p:sp>
      <p:sp>
        <p:nvSpPr>
          <p:cNvPr id="44" name="Text 42"/>
          <p:cNvSpPr/>
          <p:nvPr/>
        </p:nvSpPr>
        <p:spPr>
          <a:xfrm>
            <a:off x="4983480" y="5413248"/>
            <a:ext cx="2194560" cy="146304"/>
          </a:xfrm>
          <a:prstGeom prst="rect">
            <a:avLst/>
          </a:prstGeom>
          <a:noFill/>
          <a:ln/>
        </p:spPr>
        <p:txBody>
          <a:bodyPr wrap="square" lIns="0" tIns="0" rIns="0" bIns="0" rtlCol="0" anchor="ctr">
            <a:normAutofit/>
          </a:bodyPr>
          <a:lstStyle/>
          <a:p>
            <a:pPr marL="0" indent="0" algn="ctr">
              <a:buNone/>
            </a:pPr>
            <a:r>
              <a:rPr lang="en-US" sz="850" dirty="0">
                <a:solidFill>
                  <a:srgbClr val="FFFFFF"/>
                </a:solidFill>
                <a:latin typeface="Segoe UI Semibold" pitchFamily="34" charset="0"/>
                <a:ea typeface="Segoe UI Semibold" pitchFamily="34" charset="-122"/>
                <a:cs typeface="Segoe UI Semibold" pitchFamily="34" charset="-120"/>
              </a:rPr>
              <a:t>The gateway makes these policies shared infrastructure.</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E3F"/>
        </a:solidFill>
        <a:effectLst/>
      </p:bgPr>
    </p:bg>
    <p:spTree>
      <p:nvGrpSpPr>
        <p:cNvPr id="1" name=""/>
        <p:cNvGrpSpPr/>
        <p:nvPr/>
      </p:nvGrpSpPr>
      <p:grpSpPr>
        <a:xfrm>
          <a:off x="0" y="0"/>
          <a:ext cx="0" cy="0"/>
          <a:chOff x="0" y="0"/>
          <a:chExt cx="0" cy="0"/>
        </a:xfrm>
      </p:grpSpPr>
      <p:sp>
        <p:nvSpPr>
          <p:cNvPr id="2" name="Shape 0"/>
          <p:cNvSpPr/>
          <p:nvPr/>
        </p:nvSpPr>
        <p:spPr>
          <a:xfrm>
            <a:off x="7955280" y="1508760"/>
            <a:ext cx="164592" cy="4480560"/>
          </a:xfrm>
          <a:prstGeom prst="rect">
            <a:avLst/>
          </a:prstGeom>
          <a:solidFill>
            <a:srgbClr val="00B7C3">
              <a:alpha val="85000"/>
            </a:srgbClr>
          </a:solidFill>
          <a:ln w="12700">
            <a:solidFill>
              <a:srgbClr val="00B7C3">
                <a:alpha val="85000"/>
              </a:srgbClr>
            </a:solidFill>
            <a:prstDash val="solid"/>
          </a:ln>
        </p:spPr>
      </p:sp>
      <p:sp>
        <p:nvSpPr>
          <p:cNvPr id="3" name="Shape 1"/>
          <p:cNvSpPr/>
          <p:nvPr/>
        </p:nvSpPr>
        <p:spPr>
          <a:xfrm>
            <a:off x="10808208" y="1508760"/>
            <a:ext cx="164592" cy="4480560"/>
          </a:xfrm>
          <a:prstGeom prst="rect">
            <a:avLst/>
          </a:prstGeom>
          <a:solidFill>
            <a:srgbClr val="00B7C3">
              <a:alpha val="85000"/>
            </a:srgbClr>
          </a:solidFill>
          <a:ln w="12700">
            <a:solidFill>
              <a:srgbClr val="00B7C3">
                <a:alpha val="85000"/>
              </a:srgbClr>
            </a:solidFill>
            <a:prstDash val="solid"/>
          </a:ln>
        </p:spPr>
      </p:sp>
      <p:sp>
        <p:nvSpPr>
          <p:cNvPr id="4" name="Shape 2"/>
          <p:cNvSpPr/>
          <p:nvPr/>
        </p:nvSpPr>
        <p:spPr>
          <a:xfrm>
            <a:off x="7964424" y="914400"/>
            <a:ext cx="2999232" cy="1234440"/>
          </a:xfrm>
          <a:prstGeom prst="arc">
            <a:avLst/>
          </a:prstGeom>
          <a:solidFill>
            <a:srgbClr val="00B7C3">
              <a:alpha val="0"/>
            </a:srgbClr>
          </a:solidFill>
          <a:ln w="88900">
            <a:solidFill>
              <a:srgbClr val="00B7C3">
                <a:alpha val="85000"/>
              </a:srgbClr>
            </a:solidFill>
            <a:prstDash val="solid"/>
          </a:ln>
        </p:spPr>
      </p:sp>
      <p:sp>
        <p:nvSpPr>
          <p:cNvPr id="5" name="Shape 3"/>
          <p:cNvSpPr/>
          <p:nvPr/>
        </p:nvSpPr>
        <p:spPr>
          <a:xfrm>
            <a:off x="685800" y="749808"/>
            <a:ext cx="658368" cy="658368"/>
          </a:xfrm>
          <a:prstGeom prst="ellipse">
            <a:avLst/>
          </a:prstGeom>
          <a:solidFill>
            <a:srgbClr val="00B7C3"/>
          </a:solidFill>
          <a:ln w="12700">
            <a:solidFill>
              <a:srgbClr val="00B7C3"/>
            </a:solidFill>
            <a:prstDash val="solid"/>
          </a:ln>
        </p:spPr>
      </p:sp>
      <p:sp>
        <p:nvSpPr>
          <p:cNvPr id="6" name="Text 4"/>
          <p:cNvSpPr/>
          <p:nvPr/>
        </p:nvSpPr>
        <p:spPr>
          <a:xfrm>
            <a:off x="685800" y="905256"/>
            <a:ext cx="658368" cy="201168"/>
          </a:xfrm>
          <a:prstGeom prst="rect">
            <a:avLst/>
          </a:prstGeom>
          <a:noFill/>
          <a:ln/>
        </p:spPr>
        <p:txBody>
          <a:bodyPr wrap="square" lIns="0" tIns="0" rIns="0" bIns="0" rtlCol="0" anchor="ctr"/>
          <a:lstStyle/>
          <a:p>
            <a:pPr marL="0" indent="0" algn="ctr">
              <a:buNone/>
            </a:pPr>
            <a:r>
              <a:rPr lang="en-US" sz="1700" dirty="0">
                <a:solidFill>
                  <a:srgbClr val="0B1E3F"/>
                </a:solidFill>
                <a:latin typeface="Segoe UI Semibold" pitchFamily="34" charset="0"/>
                <a:ea typeface="Segoe UI Semibold" pitchFamily="34" charset="-122"/>
                <a:cs typeface="Segoe UI Semibold" pitchFamily="34" charset="-120"/>
              </a:rPr>
              <a:t>03</a:t>
            </a:r>
            <a:endParaRPr lang="en-US" sz="1700" dirty="0"/>
          </a:p>
        </p:txBody>
      </p:sp>
      <p:sp>
        <p:nvSpPr>
          <p:cNvPr id="7" name="Text 5"/>
          <p:cNvSpPr/>
          <p:nvPr/>
        </p:nvSpPr>
        <p:spPr>
          <a:xfrm>
            <a:off x="685800" y="1691640"/>
            <a:ext cx="3840480" cy="237744"/>
          </a:xfrm>
          <a:prstGeom prst="rect">
            <a:avLst/>
          </a:prstGeom>
          <a:noFill/>
          <a:ln/>
        </p:spPr>
        <p:txBody>
          <a:bodyPr wrap="square" lIns="0" tIns="0" rIns="0" bIns="0" rtlCol="0" anchor="ctr"/>
          <a:lstStyle/>
          <a:p>
            <a:pPr marL="0" indent="0">
              <a:buNone/>
            </a:pPr>
            <a:r>
              <a:rPr lang="en-US" sz="1000" kern="0" spc="160" dirty="0">
                <a:solidFill>
                  <a:srgbClr val="00B7C3"/>
                </a:solidFill>
                <a:latin typeface="Segoe UI Semibold" pitchFamily="34" charset="0"/>
                <a:ea typeface="Segoe UI Semibold" pitchFamily="34" charset="-122"/>
                <a:cs typeface="Segoe UI Semibold" pitchFamily="34" charset="-120"/>
              </a:rPr>
              <a:t>SECTION 3</a:t>
            </a:r>
            <a:endParaRPr lang="en-US" sz="1000" dirty="0"/>
          </a:p>
        </p:txBody>
      </p:sp>
      <p:sp>
        <p:nvSpPr>
          <p:cNvPr id="8" name="Text 6"/>
          <p:cNvSpPr/>
          <p:nvPr/>
        </p:nvSpPr>
        <p:spPr>
          <a:xfrm>
            <a:off x="658368" y="2057400"/>
            <a:ext cx="6858000" cy="1097280"/>
          </a:xfrm>
          <a:prstGeom prst="rect">
            <a:avLst/>
          </a:prstGeom>
          <a:noFill/>
          <a:ln/>
        </p:spPr>
        <p:txBody>
          <a:bodyPr wrap="square" lIns="0" tIns="0" rIns="0" bIns="0" rtlCol="0" anchor="ctr">
            <a:normAutofit/>
          </a:bodyPr>
          <a:lstStyle/>
          <a:p>
            <a:pPr marL="0" indent="0">
              <a:buNone/>
            </a:pPr>
            <a:r>
              <a:rPr lang="en-US" sz="3800" dirty="0">
                <a:solidFill>
                  <a:srgbClr val="FFFFFF"/>
                </a:solidFill>
                <a:latin typeface="Segoe UI Semibold" pitchFamily="34" charset="0"/>
                <a:ea typeface="Segoe UI Semibold" pitchFamily="34" charset="-122"/>
                <a:cs typeface="Segoe UI Semibold" pitchFamily="34" charset="-120"/>
              </a:rPr>
              <a:t>APIM in 2026</a:t>
            </a:r>
            <a:endParaRPr lang="en-US" sz="3800" dirty="0"/>
          </a:p>
        </p:txBody>
      </p:sp>
      <p:sp>
        <p:nvSpPr>
          <p:cNvPr id="9" name="Shape 7"/>
          <p:cNvSpPr/>
          <p:nvPr/>
        </p:nvSpPr>
        <p:spPr>
          <a:xfrm>
            <a:off x="685800" y="3767328"/>
            <a:ext cx="1417320" cy="411480"/>
          </a:xfrm>
          <a:prstGeom prst="roundRect">
            <a:avLst>
              <a:gd name="adj" fmla="val 15556"/>
            </a:avLst>
          </a:prstGeom>
          <a:solidFill>
            <a:srgbClr val="FFB900"/>
          </a:solidFill>
          <a:ln w="12700">
            <a:solidFill>
              <a:srgbClr val="FFB900"/>
            </a:solidFill>
            <a:prstDash val="solid"/>
          </a:ln>
        </p:spPr>
      </p:sp>
      <p:sp>
        <p:nvSpPr>
          <p:cNvPr id="10" name="Text 8"/>
          <p:cNvSpPr/>
          <p:nvPr/>
        </p:nvSpPr>
        <p:spPr>
          <a:xfrm>
            <a:off x="685800" y="3886200"/>
            <a:ext cx="1417320" cy="128016"/>
          </a:xfrm>
          <a:prstGeom prst="rect">
            <a:avLst/>
          </a:prstGeom>
          <a:noFill/>
          <a:ln/>
        </p:spPr>
        <p:txBody>
          <a:bodyPr wrap="square" lIns="0" tIns="0" rIns="0" bIns="0" rtlCol="0" anchor="ctr"/>
          <a:lstStyle/>
          <a:p>
            <a:pPr marL="0" indent="0" algn="ctr">
              <a:buNone/>
            </a:pPr>
            <a:r>
              <a:rPr lang="en-US" sz="1000" dirty="0">
                <a:solidFill>
                  <a:srgbClr val="0B1E3F"/>
                </a:solidFill>
                <a:latin typeface="Segoe UI Semibold" pitchFamily="34" charset="0"/>
                <a:ea typeface="Segoe UI Semibold" pitchFamily="34" charset="-122"/>
                <a:cs typeface="Segoe UI Semibold" pitchFamily="34" charset="-120"/>
              </a:rPr>
              <a:t>15–25 · 10 min</a:t>
            </a:r>
            <a:endParaRPr lang="en-US" sz="1000" dirty="0"/>
          </a:p>
        </p:txBody>
      </p:sp>
      <p:sp>
        <p:nvSpPr>
          <p:cNvPr id="11" name="Text 9"/>
          <p:cNvSpPr/>
          <p:nvPr/>
        </p:nvSpPr>
        <p:spPr>
          <a:xfrm>
            <a:off x="685800" y="6355080"/>
            <a:ext cx="2834640" cy="164592"/>
          </a:xfrm>
          <a:prstGeom prst="rect">
            <a:avLst/>
          </a:prstGeom>
          <a:noFill/>
          <a:ln/>
        </p:spPr>
        <p:txBody>
          <a:bodyPr wrap="square" lIns="0" tIns="0" rIns="0" bIns="0" rtlCol="0" anchor="ctr"/>
          <a:lstStyle/>
          <a:p>
            <a:pPr marL="0" indent="0">
              <a:buNone/>
            </a:pPr>
            <a:r>
              <a:rPr lang="en-US" sz="800" dirty="0">
                <a:solidFill>
                  <a:srgbClr val="AFC3DA"/>
                </a:solidFill>
                <a:latin typeface="Segoe UI" pitchFamily="34" charset="0"/>
                <a:ea typeface="Segoe UI" pitchFamily="34" charset="-122"/>
                <a:cs typeface="Segoe UI" pitchFamily="34" charset="-120"/>
              </a:rPr>
              <a:t>90-minute technical session</a:t>
            </a:r>
            <a:endParaRPr lang="en-US" sz="800" dirty="0"/>
          </a:p>
        </p:txBody>
      </p:sp>
      <p:sp>
        <p:nvSpPr>
          <p:cNvPr id="12" name="Text 10"/>
          <p:cNvSpPr/>
          <p:nvPr/>
        </p:nvSpPr>
        <p:spPr>
          <a:xfrm>
            <a:off x="11292840" y="6355080"/>
            <a:ext cx="365760" cy="164592"/>
          </a:xfrm>
          <a:prstGeom prst="rect">
            <a:avLst/>
          </a:prstGeom>
          <a:noFill/>
          <a:ln/>
        </p:spPr>
        <p:txBody>
          <a:bodyPr wrap="square" lIns="0" tIns="0" rIns="0" bIns="0" rtlCol="0" anchor="ctr"/>
          <a:lstStyle/>
          <a:p>
            <a:pPr marL="0" indent="0" algn="r">
              <a:buNone/>
            </a:pPr>
            <a:r>
              <a:rPr lang="en-US" sz="800" dirty="0">
                <a:solidFill>
                  <a:srgbClr val="AFC3DA"/>
                </a:solidFill>
                <a:latin typeface="Segoe UI Semibold" pitchFamily="34" charset="0"/>
                <a:ea typeface="Segoe UI Semibold" pitchFamily="34" charset="-122"/>
                <a:cs typeface="Segoe UI Semibold" pitchFamily="34" charset="-120"/>
              </a:rPr>
              <a:t>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301752"/>
            <a:ext cx="3200400" cy="201168"/>
          </a:xfrm>
          <a:prstGeom prst="rect">
            <a:avLst/>
          </a:prstGeom>
          <a:noFill/>
          <a:ln/>
        </p:spPr>
        <p:txBody>
          <a:bodyPr wrap="square" lIns="0" tIns="0" rIns="0" bIns="0" rtlCol="0" anchor="ctr"/>
          <a:lstStyle/>
          <a:p>
            <a:pPr marL="0" indent="0">
              <a:buNone/>
            </a:pPr>
            <a:r>
              <a:rPr lang="en-US" sz="800" kern="0" spc="120" dirty="0">
                <a:solidFill>
                  <a:srgbClr val="00B7C3"/>
                </a:solidFill>
                <a:latin typeface="Segoe UI Semibold" pitchFamily="34" charset="0"/>
                <a:ea typeface="Segoe UI Semibold" pitchFamily="34" charset="-122"/>
                <a:cs typeface="Segoe UI Semibold" pitchFamily="34" charset="-120"/>
              </a:rPr>
              <a:t>APIM IN 2026</a:t>
            </a:r>
            <a:endParaRPr lang="en-US" sz="800" dirty="0"/>
          </a:p>
        </p:txBody>
      </p:sp>
      <p:sp>
        <p:nvSpPr>
          <p:cNvPr id="3" name="Text 1"/>
          <p:cNvSpPr/>
          <p:nvPr/>
        </p:nvSpPr>
        <p:spPr>
          <a:xfrm>
            <a:off x="457200" y="521208"/>
            <a:ext cx="7955280" cy="438912"/>
          </a:xfrm>
          <a:prstGeom prst="rect">
            <a:avLst/>
          </a:prstGeom>
          <a:noFill/>
          <a:ln/>
        </p:spPr>
        <p:txBody>
          <a:bodyPr wrap="square" lIns="0" tIns="0" rIns="0" bIns="0" rtlCol="0" anchor="ctr"/>
          <a:lstStyle/>
          <a:p>
            <a:pPr marL="0" indent="0">
              <a:buNone/>
            </a:pPr>
            <a:r>
              <a:rPr lang="en-US" sz="2500" dirty="0">
                <a:solidFill>
                  <a:srgbClr val="0B1E3F"/>
                </a:solidFill>
                <a:latin typeface="Segoe UI Semibold" pitchFamily="34" charset="0"/>
                <a:ea typeface="Segoe UI Semibold" pitchFamily="34" charset="-122"/>
                <a:cs typeface="Segoe UI Semibold" pitchFamily="34" charset="-120"/>
              </a:rPr>
              <a:t>APIM refresher: three planes, one governed path</a:t>
            </a:r>
            <a:endParaRPr lang="en-US" sz="2500" dirty="0"/>
          </a:p>
        </p:txBody>
      </p:sp>
      <p:sp>
        <p:nvSpPr>
          <p:cNvPr id="4" name="Shape 2"/>
          <p:cNvSpPr/>
          <p:nvPr/>
        </p:nvSpPr>
        <p:spPr>
          <a:xfrm>
            <a:off x="10698480" y="118872"/>
            <a:ext cx="1051560" cy="1051560"/>
          </a:xfrm>
          <a:prstGeom prst="arc">
            <a:avLst/>
          </a:prstGeom>
          <a:solidFill>
            <a:srgbClr val="F5F7FA">
              <a:alpha val="0"/>
            </a:srgbClr>
          </a:solidFill>
          <a:ln w="38100">
            <a:solidFill>
              <a:srgbClr val="00B7C3">
                <a:alpha val="90000"/>
              </a:srgbClr>
            </a:solidFill>
            <a:prstDash val="solid"/>
          </a:ln>
        </p:spPr>
      </p:sp>
      <p:sp>
        <p:nvSpPr>
          <p:cNvPr id="5" name="Text 3"/>
          <p:cNvSpPr/>
          <p:nvPr/>
        </p:nvSpPr>
        <p:spPr>
          <a:xfrm>
            <a:off x="457200" y="6473952"/>
            <a:ext cx="7955280" cy="164592"/>
          </a:xfrm>
          <a:prstGeom prst="rect">
            <a:avLst/>
          </a:prstGeom>
          <a:noFill/>
          <a:ln/>
        </p:spPr>
        <p:txBody>
          <a:bodyPr wrap="square" lIns="0" tIns="0" rIns="0" bIns="0" rtlCol="0" anchor="ctr"/>
          <a:lstStyle/>
          <a:p>
            <a:pPr marL="0" indent="0">
              <a:buNone/>
            </a:pPr>
            <a:r>
              <a:rPr lang="en-US" sz="750" dirty="0">
                <a:solidFill>
                  <a:srgbClr val="8A97A8"/>
                </a:solidFill>
                <a:latin typeface="Segoe UI" pitchFamily="34" charset="0"/>
                <a:ea typeface="Segoe UI" pitchFamily="34" charset="-122"/>
                <a:cs typeface="Segoe UI" pitchFamily="34" charset="-120"/>
              </a:rPr>
              <a:t>Azure API Management AI Gateway — Oct 2026</a:t>
            </a:r>
            <a:endParaRPr lang="en-US" sz="750" dirty="0"/>
          </a:p>
        </p:txBody>
      </p:sp>
      <p:sp>
        <p:nvSpPr>
          <p:cNvPr id="6" name="Text 4"/>
          <p:cNvSpPr/>
          <p:nvPr/>
        </p:nvSpPr>
        <p:spPr>
          <a:xfrm>
            <a:off x="11430000" y="6446520"/>
            <a:ext cx="320040" cy="164592"/>
          </a:xfrm>
          <a:prstGeom prst="rect">
            <a:avLst/>
          </a:prstGeom>
          <a:noFill/>
          <a:ln/>
        </p:spPr>
        <p:txBody>
          <a:bodyPr wrap="square" lIns="0" tIns="0" rIns="0" bIns="0" rtlCol="0" anchor="ctr"/>
          <a:lstStyle/>
          <a:p>
            <a:pPr marL="0" indent="0" algn="r">
              <a:buNone/>
            </a:pPr>
            <a:r>
              <a:rPr lang="en-US" sz="800" dirty="0">
                <a:solidFill>
                  <a:srgbClr val="8A97A8"/>
                </a:solidFill>
                <a:latin typeface="Segoe UI Semibold" pitchFamily="34" charset="0"/>
                <a:ea typeface="Segoe UI Semibold" pitchFamily="34" charset="-122"/>
                <a:cs typeface="Segoe UI Semibold" pitchFamily="34" charset="-120"/>
              </a:rPr>
              <a:t>08</a:t>
            </a:r>
            <a:endParaRPr lang="en-US" sz="800" dirty="0"/>
          </a:p>
        </p:txBody>
      </p:sp>
      <p:sp>
        <p:nvSpPr>
          <p:cNvPr id="7" name="Shape 5"/>
          <p:cNvSpPr/>
          <p:nvPr/>
        </p:nvSpPr>
        <p:spPr>
          <a:xfrm>
            <a:off x="4498848" y="1764792"/>
            <a:ext cx="164592" cy="3520440"/>
          </a:xfrm>
          <a:prstGeom prst="rect">
            <a:avLst/>
          </a:prstGeom>
          <a:solidFill>
            <a:srgbClr val="00B7C3"/>
          </a:solidFill>
          <a:ln w="12700">
            <a:solidFill>
              <a:srgbClr val="00B7C3"/>
            </a:solidFill>
            <a:prstDash val="solid"/>
          </a:ln>
        </p:spPr>
      </p:sp>
      <p:sp>
        <p:nvSpPr>
          <p:cNvPr id="8" name="Shape 6"/>
          <p:cNvSpPr/>
          <p:nvPr/>
        </p:nvSpPr>
        <p:spPr>
          <a:xfrm>
            <a:off x="7534656" y="1764792"/>
            <a:ext cx="164592" cy="3520440"/>
          </a:xfrm>
          <a:prstGeom prst="rect">
            <a:avLst/>
          </a:prstGeom>
          <a:solidFill>
            <a:srgbClr val="00B7C3"/>
          </a:solidFill>
          <a:ln w="12700">
            <a:solidFill>
              <a:srgbClr val="00B7C3"/>
            </a:solidFill>
            <a:prstDash val="solid"/>
          </a:ln>
        </p:spPr>
      </p:sp>
      <p:sp>
        <p:nvSpPr>
          <p:cNvPr id="9" name="Shape 7"/>
          <p:cNvSpPr/>
          <p:nvPr/>
        </p:nvSpPr>
        <p:spPr>
          <a:xfrm>
            <a:off x="4507992" y="1170432"/>
            <a:ext cx="3182112" cy="1234440"/>
          </a:xfrm>
          <a:prstGeom prst="arc">
            <a:avLst/>
          </a:prstGeom>
          <a:solidFill>
            <a:srgbClr val="00B7C3">
              <a:alpha val="0"/>
            </a:srgbClr>
          </a:solidFill>
          <a:ln w="88900">
            <a:solidFill>
              <a:srgbClr val="00B7C3"/>
            </a:solidFill>
            <a:prstDash val="solid"/>
          </a:ln>
        </p:spPr>
      </p:sp>
      <p:sp>
        <p:nvSpPr>
          <p:cNvPr id="10" name="Shape 8"/>
          <p:cNvSpPr/>
          <p:nvPr/>
        </p:nvSpPr>
        <p:spPr>
          <a:xfrm>
            <a:off x="685800" y="1417320"/>
            <a:ext cx="3063240" cy="1051560"/>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11" name="Shape 9"/>
          <p:cNvSpPr/>
          <p:nvPr/>
        </p:nvSpPr>
        <p:spPr>
          <a:xfrm>
            <a:off x="685800" y="1417320"/>
            <a:ext cx="73152" cy="1051560"/>
          </a:xfrm>
          <a:prstGeom prst="rect">
            <a:avLst/>
          </a:prstGeom>
          <a:solidFill>
            <a:srgbClr val="00B7C3"/>
          </a:solidFill>
          <a:ln w="12700">
            <a:solidFill>
              <a:srgbClr val="00B7C3"/>
            </a:solidFill>
            <a:prstDash val="solid"/>
          </a:ln>
        </p:spPr>
      </p:sp>
      <p:sp>
        <p:nvSpPr>
          <p:cNvPr id="12" name="Shape 10"/>
          <p:cNvSpPr/>
          <p:nvPr/>
        </p:nvSpPr>
        <p:spPr>
          <a:xfrm>
            <a:off x="850392" y="1572768"/>
            <a:ext cx="393192" cy="393192"/>
          </a:xfrm>
          <a:prstGeom prst="ellipse">
            <a:avLst/>
          </a:prstGeom>
          <a:solidFill>
            <a:srgbClr val="00B7C3"/>
          </a:solidFill>
          <a:ln w="12700">
            <a:solidFill>
              <a:srgbClr val="00B7C3"/>
            </a:solidFill>
            <a:prstDash val="solid"/>
          </a:ln>
        </p:spPr>
      </p:sp>
      <p:sp>
        <p:nvSpPr>
          <p:cNvPr id="13" name="Text 11"/>
          <p:cNvSpPr/>
          <p:nvPr/>
        </p:nvSpPr>
        <p:spPr>
          <a:xfrm>
            <a:off x="850392" y="1632204"/>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G</a:t>
            </a:r>
            <a:endParaRPr lang="en-US" sz="800" dirty="0"/>
          </a:p>
        </p:txBody>
      </p:sp>
      <p:sp>
        <p:nvSpPr>
          <p:cNvPr id="14" name="Text 12"/>
          <p:cNvSpPr/>
          <p:nvPr/>
        </p:nvSpPr>
        <p:spPr>
          <a:xfrm>
            <a:off x="1344168" y="1545336"/>
            <a:ext cx="224028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Gateway</a:t>
            </a:r>
            <a:endParaRPr lang="en-US" sz="1250" dirty="0"/>
          </a:p>
        </p:txBody>
      </p:sp>
      <p:sp>
        <p:nvSpPr>
          <p:cNvPr id="15" name="Text 13"/>
          <p:cNvSpPr/>
          <p:nvPr/>
        </p:nvSpPr>
        <p:spPr>
          <a:xfrm>
            <a:off x="1344168" y="1874520"/>
            <a:ext cx="2240280" cy="502920"/>
          </a:xfrm>
          <a:prstGeom prst="rect">
            <a:avLst/>
          </a:prstGeom>
          <a:noFill/>
          <a:ln/>
        </p:spPr>
        <p:txBody>
          <a:bodyPr wrap="square" lIns="635" tIns="635" rIns="635" bIns="635" rtlCol="0" anchor="ctr">
            <a:normAutofit/>
          </a:bodyPr>
          <a:lstStyle/>
          <a:p>
            <a:pPr marL="0" indent="0">
              <a:buNone/>
            </a:pPr>
            <a:r>
              <a:rPr lang="en-US" sz="920" dirty="0">
                <a:solidFill>
                  <a:srgbClr val="3B4A5E"/>
                </a:solidFill>
                <a:latin typeface="Segoe UI" pitchFamily="34" charset="0"/>
                <a:ea typeface="Segoe UI" pitchFamily="34" charset="-122"/>
                <a:cs typeface="Segoe UI" pitchFamily="34" charset="-120"/>
              </a:rPr>
              <a:t>Runtime path for API, model, MCP and agent traffic; policies execute here.</a:t>
            </a:r>
            <a:endParaRPr lang="en-US" sz="920" dirty="0"/>
          </a:p>
        </p:txBody>
      </p:sp>
      <p:sp>
        <p:nvSpPr>
          <p:cNvPr id="16" name="Shape 14"/>
          <p:cNvSpPr/>
          <p:nvPr/>
        </p:nvSpPr>
        <p:spPr>
          <a:xfrm>
            <a:off x="4553712" y="2057400"/>
            <a:ext cx="3090672" cy="1051560"/>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17" name="Shape 15"/>
          <p:cNvSpPr/>
          <p:nvPr/>
        </p:nvSpPr>
        <p:spPr>
          <a:xfrm>
            <a:off x="4553712" y="2057400"/>
            <a:ext cx="73152" cy="1051560"/>
          </a:xfrm>
          <a:prstGeom prst="rect">
            <a:avLst/>
          </a:prstGeom>
          <a:solidFill>
            <a:srgbClr val="0078D4"/>
          </a:solidFill>
          <a:ln w="12700">
            <a:solidFill>
              <a:srgbClr val="0078D4"/>
            </a:solidFill>
            <a:prstDash val="solid"/>
          </a:ln>
        </p:spPr>
      </p:sp>
      <p:sp>
        <p:nvSpPr>
          <p:cNvPr id="18" name="Shape 16"/>
          <p:cNvSpPr/>
          <p:nvPr/>
        </p:nvSpPr>
        <p:spPr>
          <a:xfrm>
            <a:off x="4718304" y="2212848"/>
            <a:ext cx="393192" cy="393192"/>
          </a:xfrm>
          <a:prstGeom prst="ellipse">
            <a:avLst/>
          </a:prstGeom>
          <a:solidFill>
            <a:srgbClr val="0078D4"/>
          </a:solidFill>
          <a:ln w="12700">
            <a:solidFill>
              <a:srgbClr val="0078D4"/>
            </a:solidFill>
            <a:prstDash val="solid"/>
          </a:ln>
        </p:spPr>
      </p:sp>
      <p:sp>
        <p:nvSpPr>
          <p:cNvPr id="19" name="Text 17"/>
          <p:cNvSpPr/>
          <p:nvPr/>
        </p:nvSpPr>
        <p:spPr>
          <a:xfrm>
            <a:off x="4718304" y="2272284"/>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M</a:t>
            </a:r>
            <a:endParaRPr lang="en-US" sz="800" dirty="0"/>
          </a:p>
        </p:txBody>
      </p:sp>
      <p:sp>
        <p:nvSpPr>
          <p:cNvPr id="20" name="Text 18"/>
          <p:cNvSpPr/>
          <p:nvPr/>
        </p:nvSpPr>
        <p:spPr>
          <a:xfrm>
            <a:off x="5212080" y="2185416"/>
            <a:ext cx="2267712"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Management plane</a:t>
            </a:r>
            <a:endParaRPr lang="en-US" sz="1250" dirty="0"/>
          </a:p>
        </p:txBody>
      </p:sp>
      <p:sp>
        <p:nvSpPr>
          <p:cNvPr id="21" name="Text 19"/>
          <p:cNvSpPr/>
          <p:nvPr/>
        </p:nvSpPr>
        <p:spPr>
          <a:xfrm>
            <a:off x="5212080" y="2514600"/>
            <a:ext cx="2267712" cy="502920"/>
          </a:xfrm>
          <a:prstGeom prst="rect">
            <a:avLst/>
          </a:prstGeom>
          <a:noFill/>
          <a:ln/>
        </p:spPr>
        <p:txBody>
          <a:bodyPr wrap="square" lIns="635" tIns="635" rIns="635" bIns="635" rtlCol="0" anchor="ctr">
            <a:normAutofit/>
          </a:bodyPr>
          <a:lstStyle/>
          <a:p>
            <a:pPr marL="0" indent="0">
              <a:buNone/>
            </a:pPr>
            <a:r>
              <a:rPr lang="en-US" sz="920" dirty="0">
                <a:solidFill>
                  <a:srgbClr val="3B4A5E"/>
                </a:solidFill>
                <a:latin typeface="Segoe UI" pitchFamily="34" charset="0"/>
                <a:ea typeface="Segoe UI" pitchFamily="34" charset="-122"/>
                <a:cs typeface="Segoe UI" pitchFamily="34" charset="-120"/>
              </a:rPr>
              <a:t>APIs, products, subscriptions, policies, backends, diagnostics and workspaces.</a:t>
            </a:r>
            <a:endParaRPr lang="en-US" sz="920" dirty="0"/>
          </a:p>
        </p:txBody>
      </p:sp>
      <p:sp>
        <p:nvSpPr>
          <p:cNvPr id="22" name="Shape 20"/>
          <p:cNvSpPr/>
          <p:nvPr/>
        </p:nvSpPr>
        <p:spPr>
          <a:xfrm>
            <a:off x="8458200" y="1417320"/>
            <a:ext cx="3063240" cy="1051560"/>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23" name="Shape 21"/>
          <p:cNvSpPr/>
          <p:nvPr/>
        </p:nvSpPr>
        <p:spPr>
          <a:xfrm>
            <a:off x="8458200" y="1417320"/>
            <a:ext cx="73152" cy="1051560"/>
          </a:xfrm>
          <a:prstGeom prst="rect">
            <a:avLst/>
          </a:prstGeom>
          <a:solidFill>
            <a:srgbClr val="FFB900"/>
          </a:solidFill>
          <a:ln w="12700">
            <a:solidFill>
              <a:srgbClr val="FFB900"/>
            </a:solidFill>
            <a:prstDash val="solid"/>
          </a:ln>
        </p:spPr>
      </p:sp>
      <p:sp>
        <p:nvSpPr>
          <p:cNvPr id="24" name="Shape 22"/>
          <p:cNvSpPr/>
          <p:nvPr/>
        </p:nvSpPr>
        <p:spPr>
          <a:xfrm>
            <a:off x="8622792" y="1572768"/>
            <a:ext cx="393192" cy="393192"/>
          </a:xfrm>
          <a:prstGeom prst="ellipse">
            <a:avLst/>
          </a:prstGeom>
          <a:solidFill>
            <a:srgbClr val="FFB900"/>
          </a:solidFill>
          <a:ln w="12700">
            <a:solidFill>
              <a:srgbClr val="FFB900"/>
            </a:solidFill>
            <a:prstDash val="solid"/>
          </a:ln>
        </p:spPr>
      </p:sp>
      <p:sp>
        <p:nvSpPr>
          <p:cNvPr id="25" name="Text 23"/>
          <p:cNvSpPr/>
          <p:nvPr/>
        </p:nvSpPr>
        <p:spPr>
          <a:xfrm>
            <a:off x="8622792" y="1632204"/>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D</a:t>
            </a:r>
            <a:endParaRPr lang="en-US" sz="800" dirty="0"/>
          </a:p>
        </p:txBody>
      </p:sp>
      <p:sp>
        <p:nvSpPr>
          <p:cNvPr id="26" name="Text 24"/>
          <p:cNvSpPr/>
          <p:nvPr/>
        </p:nvSpPr>
        <p:spPr>
          <a:xfrm>
            <a:off x="9116568" y="1545336"/>
            <a:ext cx="224028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Developer portal</a:t>
            </a:r>
            <a:endParaRPr lang="en-US" sz="1250" dirty="0"/>
          </a:p>
        </p:txBody>
      </p:sp>
      <p:sp>
        <p:nvSpPr>
          <p:cNvPr id="27" name="Text 25"/>
          <p:cNvSpPr/>
          <p:nvPr/>
        </p:nvSpPr>
        <p:spPr>
          <a:xfrm>
            <a:off x="9116568" y="1874520"/>
            <a:ext cx="2240280" cy="502920"/>
          </a:xfrm>
          <a:prstGeom prst="rect">
            <a:avLst/>
          </a:prstGeom>
          <a:noFill/>
          <a:ln/>
        </p:spPr>
        <p:txBody>
          <a:bodyPr wrap="square" lIns="635" tIns="635" rIns="635" bIns="635" rtlCol="0" anchor="ctr">
            <a:normAutofit/>
          </a:bodyPr>
          <a:lstStyle/>
          <a:p>
            <a:pPr marL="0" indent="0">
              <a:buNone/>
            </a:pPr>
            <a:r>
              <a:rPr lang="en-US" sz="920" dirty="0">
                <a:solidFill>
                  <a:srgbClr val="3B4A5E"/>
                </a:solidFill>
                <a:latin typeface="Segoe UI" pitchFamily="34" charset="0"/>
                <a:ea typeface="Segoe UI" pitchFamily="34" charset="-122"/>
                <a:cs typeface="Segoe UI" pitchFamily="34" charset="-120"/>
              </a:rPr>
              <a:t>Discovery and self-service subscription for internal teams and partners.</a:t>
            </a:r>
            <a:endParaRPr lang="en-US" sz="920" dirty="0"/>
          </a:p>
        </p:txBody>
      </p:sp>
      <p:sp>
        <p:nvSpPr>
          <p:cNvPr id="28" name="Shape 26"/>
          <p:cNvSpPr/>
          <p:nvPr/>
        </p:nvSpPr>
        <p:spPr>
          <a:xfrm>
            <a:off x="2057400" y="4434840"/>
            <a:ext cx="2148840" cy="621792"/>
          </a:xfrm>
          <a:prstGeom prst="roundRect">
            <a:avLst>
              <a:gd name="adj" fmla="val 11765"/>
            </a:avLst>
          </a:prstGeom>
          <a:solidFill>
            <a:srgbClr val="0078D4"/>
          </a:solidFill>
          <a:ln w="12700">
            <a:solidFill>
              <a:srgbClr val="0078D4"/>
            </a:solidFill>
            <a:prstDash val="solid"/>
          </a:ln>
        </p:spPr>
      </p:sp>
      <p:sp>
        <p:nvSpPr>
          <p:cNvPr id="29" name="Text 27"/>
          <p:cNvSpPr/>
          <p:nvPr/>
        </p:nvSpPr>
        <p:spPr>
          <a:xfrm>
            <a:off x="2130552" y="4617720"/>
            <a:ext cx="2002536" cy="164592"/>
          </a:xfrm>
          <a:prstGeom prst="rect">
            <a:avLst/>
          </a:prstGeom>
          <a:noFill/>
          <a:ln/>
        </p:spPr>
        <p:txBody>
          <a:bodyPr wrap="square" lIns="0" tIns="0" rIns="0" bIns="0" rtlCol="0" anchor="ctr">
            <a:normAutofit/>
          </a:bodyPr>
          <a:lstStyle/>
          <a:p>
            <a:pPr marL="0" indent="0" algn="ctr">
              <a:buNone/>
            </a:pPr>
            <a:r>
              <a:rPr lang="en-US" sz="880" dirty="0">
                <a:solidFill>
                  <a:srgbClr val="FFFFFF"/>
                </a:solidFill>
                <a:latin typeface="Segoe UI Semibold" pitchFamily="34" charset="0"/>
                <a:ea typeface="Segoe UI Semibold" pitchFamily="34" charset="-122"/>
                <a:cs typeface="Segoe UI Semibold" pitchFamily="34" charset="-120"/>
              </a:rPr>
              <a:t>Apps / agents</a:t>
            </a:r>
            <a:endParaRPr lang="en-US" sz="880" dirty="0"/>
          </a:p>
        </p:txBody>
      </p:sp>
      <p:sp>
        <p:nvSpPr>
          <p:cNvPr id="30" name="Shape 28"/>
          <p:cNvSpPr/>
          <p:nvPr/>
        </p:nvSpPr>
        <p:spPr>
          <a:xfrm>
            <a:off x="4251960" y="4745736"/>
            <a:ext cx="365760" cy="0"/>
          </a:xfrm>
          <a:prstGeom prst="line">
            <a:avLst/>
          </a:prstGeom>
          <a:noFill/>
          <a:ln w="17780">
            <a:solidFill>
              <a:srgbClr val="3B4A5E"/>
            </a:solidFill>
            <a:prstDash val="solid"/>
            <a:headEnd type="none"/>
            <a:tailEnd type="triangle"/>
          </a:ln>
        </p:spPr>
      </p:sp>
      <p:sp>
        <p:nvSpPr>
          <p:cNvPr id="31" name="Shape 29"/>
          <p:cNvSpPr/>
          <p:nvPr/>
        </p:nvSpPr>
        <p:spPr>
          <a:xfrm>
            <a:off x="4663440" y="4434840"/>
            <a:ext cx="2148840" cy="621792"/>
          </a:xfrm>
          <a:prstGeom prst="roundRect">
            <a:avLst>
              <a:gd name="adj" fmla="val 11765"/>
            </a:avLst>
          </a:prstGeom>
          <a:solidFill>
            <a:srgbClr val="00B7C3"/>
          </a:solidFill>
          <a:ln w="12700">
            <a:solidFill>
              <a:srgbClr val="00B7C3"/>
            </a:solidFill>
            <a:prstDash val="solid"/>
          </a:ln>
        </p:spPr>
      </p:sp>
      <p:sp>
        <p:nvSpPr>
          <p:cNvPr id="32" name="Text 30"/>
          <p:cNvSpPr/>
          <p:nvPr/>
        </p:nvSpPr>
        <p:spPr>
          <a:xfrm>
            <a:off x="4736592" y="4617720"/>
            <a:ext cx="2002536" cy="164592"/>
          </a:xfrm>
          <a:prstGeom prst="rect">
            <a:avLst/>
          </a:prstGeom>
          <a:noFill/>
          <a:ln/>
        </p:spPr>
        <p:txBody>
          <a:bodyPr wrap="square" lIns="0" tIns="0" rIns="0" bIns="0" rtlCol="0" anchor="ctr">
            <a:normAutofit/>
          </a:bodyPr>
          <a:lstStyle/>
          <a:p>
            <a:pPr marL="0" indent="0" algn="ctr">
              <a:buNone/>
            </a:pPr>
            <a:r>
              <a:rPr lang="en-US" sz="880" dirty="0">
                <a:solidFill>
                  <a:srgbClr val="FFFFFF"/>
                </a:solidFill>
                <a:latin typeface="Segoe UI Semibold" pitchFamily="34" charset="0"/>
                <a:ea typeface="Segoe UI Semibold" pitchFamily="34" charset="-122"/>
                <a:cs typeface="Segoe UI Semibold" pitchFamily="34" charset="-120"/>
              </a:rPr>
              <a:t>APIM gateway</a:t>
            </a:r>
            <a:endParaRPr lang="en-US" sz="880" dirty="0"/>
          </a:p>
        </p:txBody>
      </p:sp>
      <p:sp>
        <p:nvSpPr>
          <p:cNvPr id="33" name="Shape 31"/>
          <p:cNvSpPr/>
          <p:nvPr/>
        </p:nvSpPr>
        <p:spPr>
          <a:xfrm>
            <a:off x="6858000" y="4745736"/>
            <a:ext cx="365760" cy="0"/>
          </a:xfrm>
          <a:prstGeom prst="line">
            <a:avLst/>
          </a:prstGeom>
          <a:noFill/>
          <a:ln w="17780">
            <a:solidFill>
              <a:srgbClr val="3B4A5E"/>
            </a:solidFill>
            <a:prstDash val="solid"/>
            <a:headEnd type="none"/>
            <a:tailEnd type="triangle"/>
          </a:ln>
        </p:spPr>
      </p:sp>
      <p:sp>
        <p:nvSpPr>
          <p:cNvPr id="34" name="Shape 32"/>
          <p:cNvSpPr/>
          <p:nvPr/>
        </p:nvSpPr>
        <p:spPr>
          <a:xfrm>
            <a:off x="7269480" y="4434840"/>
            <a:ext cx="2148840" cy="621792"/>
          </a:xfrm>
          <a:prstGeom prst="roundRect">
            <a:avLst>
              <a:gd name="adj" fmla="val 11765"/>
            </a:avLst>
          </a:prstGeom>
          <a:solidFill>
            <a:srgbClr val="FFB900"/>
          </a:solidFill>
          <a:ln w="12700">
            <a:solidFill>
              <a:srgbClr val="FFB900"/>
            </a:solidFill>
            <a:prstDash val="solid"/>
          </a:ln>
        </p:spPr>
      </p:sp>
      <p:sp>
        <p:nvSpPr>
          <p:cNvPr id="35" name="Text 33"/>
          <p:cNvSpPr/>
          <p:nvPr/>
        </p:nvSpPr>
        <p:spPr>
          <a:xfrm>
            <a:off x="7342632" y="4617720"/>
            <a:ext cx="2002536" cy="164592"/>
          </a:xfrm>
          <a:prstGeom prst="rect">
            <a:avLst/>
          </a:prstGeom>
          <a:noFill/>
          <a:ln/>
        </p:spPr>
        <p:txBody>
          <a:bodyPr wrap="square" lIns="0" tIns="0" rIns="0" bIns="0" rtlCol="0" anchor="ctr">
            <a:normAutofit/>
          </a:bodyPr>
          <a:lstStyle/>
          <a:p>
            <a:pPr marL="0" indent="0" algn="ctr">
              <a:buNone/>
            </a:pPr>
            <a:r>
              <a:rPr lang="en-US" sz="880" dirty="0">
                <a:solidFill>
                  <a:srgbClr val="0B1E3F"/>
                </a:solidFill>
                <a:latin typeface="Segoe UI Semibold" pitchFamily="34" charset="0"/>
                <a:ea typeface="Segoe UI Semibold" pitchFamily="34" charset="-122"/>
                <a:cs typeface="Segoe UI Semibold" pitchFamily="34" charset="-120"/>
              </a:rPr>
              <a:t>Backends / tools</a:t>
            </a:r>
            <a:endParaRPr lang="en-US" sz="880" dirty="0"/>
          </a:p>
        </p:txBody>
      </p:sp>
      <p:sp>
        <p:nvSpPr>
          <p:cNvPr id="36" name="Text 34"/>
          <p:cNvSpPr/>
          <p:nvPr/>
        </p:nvSpPr>
        <p:spPr>
          <a:xfrm>
            <a:off x="1188720" y="5532120"/>
            <a:ext cx="9692640" cy="228600"/>
          </a:xfrm>
          <a:prstGeom prst="rect">
            <a:avLst/>
          </a:prstGeom>
          <a:noFill/>
          <a:ln/>
        </p:spPr>
        <p:txBody>
          <a:bodyPr wrap="square" lIns="0" tIns="0" rIns="0" bIns="0" rtlCol="0" anchor="ctr"/>
          <a:lstStyle/>
          <a:p>
            <a:pPr marL="0" indent="0" algn="ctr">
              <a:buNone/>
            </a:pPr>
            <a:r>
              <a:rPr lang="en-US" sz="1200" dirty="0">
                <a:solidFill>
                  <a:srgbClr val="0B1E3F"/>
                </a:solidFill>
                <a:latin typeface="Segoe UI Semibold" pitchFamily="34" charset="0"/>
                <a:ea typeface="Segoe UI Semibold" pitchFamily="34" charset="-122"/>
                <a:cs typeface="Segoe UI Semibold" pitchFamily="34" charset="-120"/>
              </a:rPr>
              <a:t>Products = teams · Subscriptions = consumers · Policies = enforceable controls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301752"/>
            <a:ext cx="3200400" cy="201168"/>
          </a:xfrm>
          <a:prstGeom prst="rect">
            <a:avLst/>
          </a:prstGeom>
          <a:noFill/>
          <a:ln/>
        </p:spPr>
        <p:txBody>
          <a:bodyPr wrap="square" lIns="0" tIns="0" rIns="0" bIns="0" rtlCol="0" anchor="ctr"/>
          <a:lstStyle/>
          <a:p>
            <a:pPr marL="0" indent="0">
              <a:buNone/>
            </a:pPr>
            <a:r>
              <a:rPr lang="en-US" sz="800" kern="0" spc="120" dirty="0">
                <a:solidFill>
                  <a:srgbClr val="00B7C3"/>
                </a:solidFill>
                <a:latin typeface="Segoe UI Semibold" pitchFamily="34" charset="0"/>
                <a:ea typeface="Segoe UI Semibold" pitchFamily="34" charset="-122"/>
                <a:cs typeface="Segoe UI Semibold" pitchFamily="34" charset="-120"/>
              </a:rPr>
              <a:t>DATED HIGHLIGHTS</a:t>
            </a:r>
            <a:endParaRPr lang="en-US" sz="800" dirty="0"/>
          </a:p>
        </p:txBody>
      </p:sp>
      <p:sp>
        <p:nvSpPr>
          <p:cNvPr id="3" name="Text 1"/>
          <p:cNvSpPr/>
          <p:nvPr/>
        </p:nvSpPr>
        <p:spPr>
          <a:xfrm>
            <a:off x="457200" y="521208"/>
            <a:ext cx="7955280" cy="438912"/>
          </a:xfrm>
          <a:prstGeom prst="rect">
            <a:avLst/>
          </a:prstGeom>
          <a:noFill/>
          <a:ln/>
        </p:spPr>
        <p:txBody>
          <a:bodyPr wrap="square" lIns="0" tIns="0" rIns="0" bIns="0" rtlCol="0" anchor="ctr"/>
          <a:lstStyle/>
          <a:p>
            <a:pPr marL="0" indent="0">
              <a:buNone/>
            </a:pPr>
            <a:r>
              <a:rPr lang="en-US" sz="2500" dirty="0">
                <a:solidFill>
                  <a:srgbClr val="0B1E3F"/>
                </a:solidFill>
                <a:latin typeface="Segoe UI Semibold" pitchFamily="34" charset="0"/>
                <a:ea typeface="Segoe UI Semibold" pitchFamily="34" charset="-122"/>
                <a:cs typeface="Segoe UI Semibold" pitchFamily="34" charset="-120"/>
              </a:rPr>
              <a:t>What's new in 2026: APIM as AI gateway</a:t>
            </a:r>
            <a:endParaRPr lang="en-US" sz="2500" dirty="0"/>
          </a:p>
        </p:txBody>
      </p:sp>
      <p:sp>
        <p:nvSpPr>
          <p:cNvPr id="4" name="Shape 2"/>
          <p:cNvSpPr/>
          <p:nvPr/>
        </p:nvSpPr>
        <p:spPr>
          <a:xfrm>
            <a:off x="10698480" y="118872"/>
            <a:ext cx="1051560" cy="1051560"/>
          </a:xfrm>
          <a:prstGeom prst="arc">
            <a:avLst/>
          </a:prstGeom>
          <a:solidFill>
            <a:srgbClr val="F5F7FA">
              <a:alpha val="0"/>
            </a:srgbClr>
          </a:solidFill>
          <a:ln w="38100">
            <a:solidFill>
              <a:srgbClr val="00B7C3">
                <a:alpha val="90000"/>
              </a:srgbClr>
            </a:solidFill>
            <a:prstDash val="solid"/>
          </a:ln>
        </p:spPr>
      </p:sp>
      <p:sp>
        <p:nvSpPr>
          <p:cNvPr id="5" name="Text 3"/>
          <p:cNvSpPr/>
          <p:nvPr/>
        </p:nvSpPr>
        <p:spPr>
          <a:xfrm>
            <a:off x="457200" y="6473952"/>
            <a:ext cx="7955280" cy="164592"/>
          </a:xfrm>
          <a:prstGeom prst="rect">
            <a:avLst/>
          </a:prstGeom>
          <a:noFill/>
          <a:ln/>
        </p:spPr>
        <p:txBody>
          <a:bodyPr wrap="square" lIns="0" tIns="0" rIns="0" bIns="0" rtlCol="0" anchor="ctr"/>
          <a:lstStyle/>
          <a:p>
            <a:pPr marL="0" indent="0">
              <a:buNone/>
            </a:pPr>
            <a:r>
              <a:rPr lang="en-US" sz="750" dirty="0">
                <a:solidFill>
                  <a:srgbClr val="8A97A8"/>
                </a:solidFill>
                <a:latin typeface="Segoe UI" pitchFamily="34" charset="0"/>
                <a:ea typeface="Segoe UI" pitchFamily="34" charset="-122"/>
                <a:cs typeface="Segoe UI" pitchFamily="34" charset="-120"/>
              </a:rPr>
              <a:t>Azure API Management AI Gateway — Oct 2026</a:t>
            </a:r>
            <a:endParaRPr lang="en-US" sz="750" dirty="0"/>
          </a:p>
        </p:txBody>
      </p:sp>
      <p:sp>
        <p:nvSpPr>
          <p:cNvPr id="6" name="Text 4"/>
          <p:cNvSpPr/>
          <p:nvPr/>
        </p:nvSpPr>
        <p:spPr>
          <a:xfrm>
            <a:off x="11430000" y="6446520"/>
            <a:ext cx="320040" cy="164592"/>
          </a:xfrm>
          <a:prstGeom prst="rect">
            <a:avLst/>
          </a:prstGeom>
          <a:noFill/>
          <a:ln/>
        </p:spPr>
        <p:txBody>
          <a:bodyPr wrap="square" lIns="0" tIns="0" rIns="0" bIns="0" rtlCol="0" anchor="ctr"/>
          <a:lstStyle/>
          <a:p>
            <a:pPr marL="0" indent="0" algn="r">
              <a:buNone/>
            </a:pPr>
            <a:r>
              <a:rPr lang="en-US" sz="800" dirty="0">
                <a:solidFill>
                  <a:srgbClr val="8A97A8"/>
                </a:solidFill>
                <a:latin typeface="Segoe UI Semibold" pitchFamily="34" charset="0"/>
                <a:ea typeface="Segoe UI Semibold" pitchFamily="34" charset="-122"/>
                <a:cs typeface="Segoe UI Semibold" pitchFamily="34" charset="-120"/>
              </a:rPr>
              <a:t>09</a:t>
            </a:r>
            <a:endParaRPr lang="en-US" sz="800" dirty="0"/>
          </a:p>
        </p:txBody>
      </p:sp>
      <p:sp>
        <p:nvSpPr>
          <p:cNvPr id="7" name="Shape 5"/>
          <p:cNvSpPr/>
          <p:nvPr/>
        </p:nvSpPr>
        <p:spPr>
          <a:xfrm>
            <a:off x="786384" y="1115568"/>
            <a:ext cx="292608" cy="292608"/>
          </a:xfrm>
          <a:prstGeom prst="ellipse">
            <a:avLst/>
          </a:prstGeom>
          <a:solidFill>
            <a:srgbClr val="00B7C3"/>
          </a:solidFill>
          <a:ln w="12700">
            <a:solidFill>
              <a:srgbClr val="00B7C3"/>
            </a:solidFill>
            <a:prstDash val="solid"/>
          </a:ln>
        </p:spPr>
      </p:sp>
      <p:sp>
        <p:nvSpPr>
          <p:cNvPr id="8" name="Shape 6"/>
          <p:cNvSpPr/>
          <p:nvPr/>
        </p:nvSpPr>
        <p:spPr>
          <a:xfrm>
            <a:off x="932688" y="1417320"/>
            <a:ext cx="0" cy="384048"/>
          </a:xfrm>
          <a:prstGeom prst="line">
            <a:avLst/>
          </a:prstGeom>
          <a:noFill/>
          <a:ln w="15240">
            <a:solidFill>
              <a:srgbClr val="C7D5E3"/>
            </a:solidFill>
            <a:prstDash val="solid"/>
          </a:ln>
        </p:spPr>
      </p:sp>
      <p:sp>
        <p:nvSpPr>
          <p:cNvPr id="9" name="Text 7"/>
          <p:cNvSpPr/>
          <p:nvPr/>
        </p:nvSpPr>
        <p:spPr>
          <a:xfrm>
            <a:off x="1298448" y="1069848"/>
            <a:ext cx="1234440" cy="201168"/>
          </a:xfrm>
          <a:prstGeom prst="rect">
            <a:avLst/>
          </a:prstGeom>
          <a:noFill/>
          <a:ln/>
        </p:spPr>
        <p:txBody>
          <a:bodyPr wrap="square" lIns="0" tIns="0" rIns="0" bIns="0" rtlCol="0" anchor="ctr"/>
          <a:lstStyle/>
          <a:p>
            <a:pPr marL="0" indent="0">
              <a:buNone/>
            </a:pPr>
            <a:r>
              <a:rPr lang="en-US" sz="1000" dirty="0">
                <a:solidFill>
                  <a:srgbClr val="0B1E3F"/>
                </a:solidFill>
                <a:latin typeface="Segoe UI Semibold" pitchFamily="34" charset="0"/>
                <a:ea typeface="Segoe UI Semibold" pitchFamily="34" charset="-122"/>
                <a:cs typeface="Segoe UI Semibold" pitchFamily="34" charset="-120"/>
              </a:rPr>
              <a:t>Sep 2026</a:t>
            </a:r>
            <a:endParaRPr lang="en-US" sz="1000" dirty="0"/>
          </a:p>
        </p:txBody>
      </p:sp>
      <p:sp>
        <p:nvSpPr>
          <p:cNvPr id="10" name="Text 8"/>
          <p:cNvSpPr/>
          <p:nvPr/>
        </p:nvSpPr>
        <p:spPr>
          <a:xfrm>
            <a:off x="2615184" y="1069848"/>
            <a:ext cx="8092440" cy="228600"/>
          </a:xfrm>
          <a:prstGeom prst="rect">
            <a:avLst/>
          </a:prstGeom>
          <a:noFill/>
          <a:ln/>
        </p:spPr>
        <p:txBody>
          <a:bodyPr wrap="square" lIns="0" tIns="0" rIns="0" bIns="0" rtlCol="0" anchor="ctr">
            <a:normAutofit/>
          </a:bodyPr>
          <a:lstStyle/>
          <a:p>
            <a:pPr marL="0" indent="0">
              <a:buNone/>
            </a:pPr>
            <a:r>
              <a:rPr lang="en-US" sz="1120" dirty="0">
                <a:solidFill>
                  <a:srgbClr val="3B4A5E"/>
                </a:solidFill>
                <a:latin typeface="Segoe UI" pitchFamily="34" charset="0"/>
                <a:ea typeface="Segoe UI" pitchFamily="34" charset="-122"/>
                <a:cs typeface="Segoe UI" pitchFamily="34" charset="-120"/>
              </a:rPr>
              <a:t>Workspaces extended to Basic v2 and Standard v2.</a:t>
            </a:r>
            <a:endParaRPr lang="en-US" sz="1120" dirty="0"/>
          </a:p>
        </p:txBody>
      </p:sp>
      <p:sp>
        <p:nvSpPr>
          <p:cNvPr id="11" name="Shape 9"/>
          <p:cNvSpPr/>
          <p:nvPr/>
        </p:nvSpPr>
        <p:spPr>
          <a:xfrm>
            <a:off x="786384" y="1828800"/>
            <a:ext cx="292608" cy="292608"/>
          </a:xfrm>
          <a:prstGeom prst="ellipse">
            <a:avLst/>
          </a:prstGeom>
          <a:solidFill>
            <a:srgbClr val="0078D4"/>
          </a:solidFill>
          <a:ln w="12700">
            <a:solidFill>
              <a:srgbClr val="0078D4"/>
            </a:solidFill>
            <a:prstDash val="solid"/>
          </a:ln>
        </p:spPr>
      </p:sp>
      <p:sp>
        <p:nvSpPr>
          <p:cNvPr id="12" name="Shape 10"/>
          <p:cNvSpPr/>
          <p:nvPr/>
        </p:nvSpPr>
        <p:spPr>
          <a:xfrm>
            <a:off x="932688" y="2130552"/>
            <a:ext cx="0" cy="384048"/>
          </a:xfrm>
          <a:prstGeom prst="line">
            <a:avLst/>
          </a:prstGeom>
          <a:noFill/>
          <a:ln w="15240">
            <a:solidFill>
              <a:srgbClr val="C7D5E3"/>
            </a:solidFill>
            <a:prstDash val="solid"/>
          </a:ln>
        </p:spPr>
      </p:sp>
      <p:sp>
        <p:nvSpPr>
          <p:cNvPr id="13" name="Text 11"/>
          <p:cNvSpPr/>
          <p:nvPr/>
        </p:nvSpPr>
        <p:spPr>
          <a:xfrm>
            <a:off x="1298448" y="1783080"/>
            <a:ext cx="1234440" cy="201168"/>
          </a:xfrm>
          <a:prstGeom prst="rect">
            <a:avLst/>
          </a:prstGeom>
          <a:noFill/>
          <a:ln/>
        </p:spPr>
        <p:txBody>
          <a:bodyPr wrap="square" lIns="0" tIns="0" rIns="0" bIns="0" rtlCol="0" anchor="ctr"/>
          <a:lstStyle/>
          <a:p>
            <a:pPr marL="0" indent="0">
              <a:buNone/>
            </a:pPr>
            <a:r>
              <a:rPr lang="en-US" sz="1000" dirty="0">
                <a:solidFill>
                  <a:srgbClr val="0B1E3F"/>
                </a:solidFill>
                <a:latin typeface="Segoe UI Semibold" pitchFamily="34" charset="0"/>
                <a:ea typeface="Segoe UI Semibold" pitchFamily="34" charset="-122"/>
                <a:cs typeface="Segoe UI Semibold" pitchFamily="34" charset="-120"/>
              </a:rPr>
              <a:t>Sep 2026</a:t>
            </a:r>
            <a:endParaRPr lang="en-US" sz="1000" dirty="0"/>
          </a:p>
        </p:txBody>
      </p:sp>
      <p:sp>
        <p:nvSpPr>
          <p:cNvPr id="14" name="Text 12"/>
          <p:cNvSpPr/>
          <p:nvPr/>
        </p:nvSpPr>
        <p:spPr>
          <a:xfrm>
            <a:off x="2615184" y="1783080"/>
            <a:ext cx="8092440" cy="228600"/>
          </a:xfrm>
          <a:prstGeom prst="rect">
            <a:avLst/>
          </a:prstGeom>
          <a:noFill/>
          <a:ln/>
        </p:spPr>
        <p:txBody>
          <a:bodyPr wrap="square" lIns="0" tIns="0" rIns="0" bIns="0" rtlCol="0" anchor="ctr">
            <a:normAutofit/>
          </a:bodyPr>
          <a:lstStyle/>
          <a:p>
            <a:pPr marL="0" indent="0">
              <a:buNone/>
            </a:pPr>
            <a:r>
              <a:rPr lang="en-US" sz="1120" dirty="0">
                <a:solidFill>
                  <a:srgbClr val="3B4A5E"/>
                </a:solidFill>
                <a:latin typeface="Segoe UI" pitchFamily="34" charset="0"/>
                <a:ea typeface="Segoe UI" pitchFamily="34" charset="-122"/>
                <a:cs typeface="Segoe UI" pitchFamily="34" charset="-120"/>
              </a:rPr>
              <a:t>Premium v2 GA and v2 scale refreshed: Basic/Standard v2 to 10 units, Premium v2 to 30.</a:t>
            </a:r>
            <a:endParaRPr lang="en-US" sz="1120" dirty="0"/>
          </a:p>
        </p:txBody>
      </p:sp>
      <p:sp>
        <p:nvSpPr>
          <p:cNvPr id="15" name="Shape 13"/>
          <p:cNvSpPr/>
          <p:nvPr/>
        </p:nvSpPr>
        <p:spPr>
          <a:xfrm>
            <a:off x="786384" y="2542032"/>
            <a:ext cx="292608" cy="292608"/>
          </a:xfrm>
          <a:prstGeom prst="ellipse">
            <a:avLst/>
          </a:prstGeom>
          <a:solidFill>
            <a:srgbClr val="00B7C3"/>
          </a:solidFill>
          <a:ln w="12700">
            <a:solidFill>
              <a:srgbClr val="00B7C3"/>
            </a:solidFill>
            <a:prstDash val="solid"/>
          </a:ln>
        </p:spPr>
      </p:sp>
      <p:sp>
        <p:nvSpPr>
          <p:cNvPr id="16" name="Shape 14"/>
          <p:cNvSpPr/>
          <p:nvPr/>
        </p:nvSpPr>
        <p:spPr>
          <a:xfrm>
            <a:off x="932688" y="2843784"/>
            <a:ext cx="0" cy="384048"/>
          </a:xfrm>
          <a:prstGeom prst="line">
            <a:avLst/>
          </a:prstGeom>
          <a:noFill/>
          <a:ln w="15240">
            <a:solidFill>
              <a:srgbClr val="C7D5E3"/>
            </a:solidFill>
            <a:prstDash val="solid"/>
          </a:ln>
        </p:spPr>
      </p:sp>
      <p:sp>
        <p:nvSpPr>
          <p:cNvPr id="17" name="Text 15"/>
          <p:cNvSpPr/>
          <p:nvPr/>
        </p:nvSpPr>
        <p:spPr>
          <a:xfrm>
            <a:off x="1298448" y="2496312"/>
            <a:ext cx="1234440" cy="201168"/>
          </a:xfrm>
          <a:prstGeom prst="rect">
            <a:avLst/>
          </a:prstGeom>
          <a:noFill/>
          <a:ln/>
        </p:spPr>
        <p:txBody>
          <a:bodyPr wrap="square" lIns="0" tIns="0" rIns="0" bIns="0" rtlCol="0" anchor="ctr"/>
          <a:lstStyle/>
          <a:p>
            <a:pPr marL="0" indent="0">
              <a:buNone/>
            </a:pPr>
            <a:r>
              <a:rPr lang="en-US" sz="1000" dirty="0">
                <a:solidFill>
                  <a:srgbClr val="0B1E3F"/>
                </a:solidFill>
                <a:latin typeface="Segoe UI Semibold" pitchFamily="34" charset="0"/>
                <a:ea typeface="Segoe UI Semibold" pitchFamily="34" charset="-122"/>
                <a:cs typeface="Segoe UI Semibold" pitchFamily="34" charset="-120"/>
              </a:rPr>
              <a:t>Aug 2026</a:t>
            </a:r>
            <a:endParaRPr lang="en-US" sz="1000" dirty="0"/>
          </a:p>
        </p:txBody>
      </p:sp>
      <p:sp>
        <p:nvSpPr>
          <p:cNvPr id="18" name="Text 16"/>
          <p:cNvSpPr/>
          <p:nvPr/>
        </p:nvSpPr>
        <p:spPr>
          <a:xfrm>
            <a:off x="2615184" y="2496312"/>
            <a:ext cx="8092440" cy="228600"/>
          </a:xfrm>
          <a:prstGeom prst="rect">
            <a:avLst/>
          </a:prstGeom>
          <a:noFill/>
          <a:ln/>
        </p:spPr>
        <p:txBody>
          <a:bodyPr wrap="square" lIns="0" tIns="0" rIns="0" bIns="0" rtlCol="0" anchor="ctr">
            <a:normAutofit/>
          </a:bodyPr>
          <a:lstStyle/>
          <a:p>
            <a:pPr marL="0" indent="0">
              <a:buNone/>
            </a:pPr>
            <a:r>
              <a:rPr lang="en-US" sz="1120" dirty="0">
                <a:solidFill>
                  <a:srgbClr val="3B4A5E"/>
                </a:solidFill>
                <a:latin typeface="Segoe UI" pitchFamily="34" charset="0"/>
                <a:ea typeface="Segoe UI" pitchFamily="34" charset="-122"/>
                <a:cs typeface="Segoe UI" pitchFamily="34" charset="-120"/>
              </a:rPr>
              <a:t>llm-content-safety protects MCP tool calls and A2A agent API traffic.</a:t>
            </a:r>
            <a:endParaRPr lang="en-US" sz="1120" dirty="0"/>
          </a:p>
        </p:txBody>
      </p:sp>
      <p:sp>
        <p:nvSpPr>
          <p:cNvPr id="19" name="Shape 17"/>
          <p:cNvSpPr/>
          <p:nvPr/>
        </p:nvSpPr>
        <p:spPr>
          <a:xfrm>
            <a:off x="786384" y="3255264"/>
            <a:ext cx="292608" cy="292608"/>
          </a:xfrm>
          <a:prstGeom prst="ellipse">
            <a:avLst/>
          </a:prstGeom>
          <a:solidFill>
            <a:srgbClr val="0078D4"/>
          </a:solidFill>
          <a:ln w="12700">
            <a:solidFill>
              <a:srgbClr val="0078D4"/>
            </a:solidFill>
            <a:prstDash val="solid"/>
          </a:ln>
        </p:spPr>
      </p:sp>
      <p:sp>
        <p:nvSpPr>
          <p:cNvPr id="20" name="Shape 18"/>
          <p:cNvSpPr/>
          <p:nvPr/>
        </p:nvSpPr>
        <p:spPr>
          <a:xfrm>
            <a:off x="932688" y="3557016"/>
            <a:ext cx="0" cy="384048"/>
          </a:xfrm>
          <a:prstGeom prst="line">
            <a:avLst/>
          </a:prstGeom>
          <a:noFill/>
          <a:ln w="15240">
            <a:solidFill>
              <a:srgbClr val="C7D5E3"/>
            </a:solidFill>
            <a:prstDash val="solid"/>
          </a:ln>
        </p:spPr>
      </p:sp>
      <p:sp>
        <p:nvSpPr>
          <p:cNvPr id="21" name="Text 19"/>
          <p:cNvSpPr/>
          <p:nvPr/>
        </p:nvSpPr>
        <p:spPr>
          <a:xfrm>
            <a:off x="1298448" y="3209544"/>
            <a:ext cx="1234440" cy="201168"/>
          </a:xfrm>
          <a:prstGeom prst="rect">
            <a:avLst/>
          </a:prstGeom>
          <a:noFill/>
          <a:ln/>
        </p:spPr>
        <p:txBody>
          <a:bodyPr wrap="square" lIns="0" tIns="0" rIns="0" bIns="0" rtlCol="0" anchor="ctr"/>
          <a:lstStyle/>
          <a:p>
            <a:pPr marL="0" indent="0">
              <a:buNone/>
            </a:pPr>
            <a:r>
              <a:rPr lang="en-US" sz="1000" dirty="0">
                <a:solidFill>
                  <a:srgbClr val="0B1E3F"/>
                </a:solidFill>
                <a:latin typeface="Segoe UI Semibold" pitchFamily="34" charset="0"/>
                <a:ea typeface="Segoe UI Semibold" pitchFamily="34" charset="-122"/>
                <a:cs typeface="Segoe UI Semibold" pitchFamily="34" charset="-120"/>
              </a:rPr>
              <a:t>Jun 2026</a:t>
            </a:r>
            <a:endParaRPr lang="en-US" sz="1000" dirty="0"/>
          </a:p>
        </p:txBody>
      </p:sp>
      <p:sp>
        <p:nvSpPr>
          <p:cNvPr id="22" name="Text 20"/>
          <p:cNvSpPr/>
          <p:nvPr/>
        </p:nvSpPr>
        <p:spPr>
          <a:xfrm>
            <a:off x="2615184" y="3209544"/>
            <a:ext cx="8092440" cy="228600"/>
          </a:xfrm>
          <a:prstGeom prst="rect">
            <a:avLst/>
          </a:prstGeom>
          <a:noFill/>
          <a:ln/>
        </p:spPr>
        <p:txBody>
          <a:bodyPr wrap="square" lIns="0" tIns="0" rIns="0" bIns="0" rtlCol="0" anchor="ctr">
            <a:normAutofit/>
          </a:bodyPr>
          <a:lstStyle/>
          <a:p>
            <a:pPr marL="0" indent="0">
              <a:buNone/>
            </a:pPr>
            <a:r>
              <a:rPr lang="en-US" sz="1120" dirty="0">
                <a:solidFill>
                  <a:srgbClr val="3B4A5E"/>
                </a:solidFill>
                <a:latin typeface="Segoe UI" pitchFamily="34" charset="0"/>
                <a:ea typeface="Segoe UI" pitchFamily="34" charset="-122"/>
                <a:cs typeface="Segoe UI" pitchFamily="34" charset="-120"/>
              </a:rPr>
              <a:t>Programmatic MCP management via API tools sub-resource, 2025-09-01-preview.</a:t>
            </a:r>
            <a:endParaRPr lang="en-US" sz="1120" dirty="0"/>
          </a:p>
        </p:txBody>
      </p:sp>
      <p:sp>
        <p:nvSpPr>
          <p:cNvPr id="23" name="Shape 21"/>
          <p:cNvSpPr/>
          <p:nvPr/>
        </p:nvSpPr>
        <p:spPr>
          <a:xfrm>
            <a:off x="786384" y="3968496"/>
            <a:ext cx="292608" cy="292608"/>
          </a:xfrm>
          <a:prstGeom prst="ellipse">
            <a:avLst/>
          </a:prstGeom>
          <a:solidFill>
            <a:srgbClr val="00B7C3"/>
          </a:solidFill>
          <a:ln w="12700">
            <a:solidFill>
              <a:srgbClr val="00B7C3"/>
            </a:solidFill>
            <a:prstDash val="solid"/>
          </a:ln>
        </p:spPr>
      </p:sp>
      <p:sp>
        <p:nvSpPr>
          <p:cNvPr id="24" name="Shape 22"/>
          <p:cNvSpPr/>
          <p:nvPr/>
        </p:nvSpPr>
        <p:spPr>
          <a:xfrm>
            <a:off x="932688" y="4270248"/>
            <a:ext cx="0" cy="384048"/>
          </a:xfrm>
          <a:prstGeom prst="line">
            <a:avLst/>
          </a:prstGeom>
          <a:noFill/>
          <a:ln w="15240">
            <a:solidFill>
              <a:srgbClr val="C7D5E3"/>
            </a:solidFill>
            <a:prstDash val="solid"/>
          </a:ln>
        </p:spPr>
      </p:sp>
      <p:sp>
        <p:nvSpPr>
          <p:cNvPr id="25" name="Text 23"/>
          <p:cNvSpPr/>
          <p:nvPr/>
        </p:nvSpPr>
        <p:spPr>
          <a:xfrm>
            <a:off x="1298448" y="3922776"/>
            <a:ext cx="1234440" cy="201168"/>
          </a:xfrm>
          <a:prstGeom prst="rect">
            <a:avLst/>
          </a:prstGeom>
          <a:noFill/>
          <a:ln/>
        </p:spPr>
        <p:txBody>
          <a:bodyPr wrap="square" lIns="0" tIns="0" rIns="0" bIns="0" rtlCol="0" anchor="ctr"/>
          <a:lstStyle/>
          <a:p>
            <a:pPr marL="0" indent="0">
              <a:buNone/>
            </a:pPr>
            <a:r>
              <a:rPr lang="en-US" sz="1000" dirty="0">
                <a:solidFill>
                  <a:srgbClr val="0B1E3F"/>
                </a:solidFill>
                <a:latin typeface="Segoe UI Semibold" pitchFamily="34" charset="0"/>
                <a:ea typeface="Segoe UI Semibold" pitchFamily="34" charset="-122"/>
                <a:cs typeface="Segoe UI Semibold" pitchFamily="34" charset="-120"/>
              </a:rPr>
              <a:t>2026 preview</a:t>
            </a:r>
            <a:endParaRPr lang="en-US" sz="1000" dirty="0"/>
          </a:p>
        </p:txBody>
      </p:sp>
      <p:sp>
        <p:nvSpPr>
          <p:cNvPr id="26" name="Text 24"/>
          <p:cNvSpPr/>
          <p:nvPr/>
        </p:nvSpPr>
        <p:spPr>
          <a:xfrm>
            <a:off x="2615184" y="3922776"/>
            <a:ext cx="8092440" cy="228600"/>
          </a:xfrm>
          <a:prstGeom prst="rect">
            <a:avLst/>
          </a:prstGeom>
          <a:noFill/>
          <a:ln/>
        </p:spPr>
        <p:txBody>
          <a:bodyPr wrap="square" lIns="0" tIns="0" rIns="0" bIns="0" rtlCol="0" anchor="ctr">
            <a:normAutofit/>
          </a:bodyPr>
          <a:lstStyle/>
          <a:p>
            <a:pPr marL="0" indent="0">
              <a:buNone/>
            </a:pPr>
            <a:r>
              <a:rPr lang="en-US" sz="1120" dirty="0">
                <a:solidFill>
                  <a:srgbClr val="3B4A5E"/>
                </a:solidFill>
                <a:latin typeface="Segoe UI" pitchFamily="34" charset="0"/>
                <a:ea typeface="Segoe UI" pitchFamily="34" charset="-122"/>
                <a:cs typeface="Segoe UI" pitchFamily="34" charset="-120"/>
              </a:rPr>
              <a:t>Unified model API and Foundry-integrated AI gateway.</a:t>
            </a:r>
            <a:endParaRPr lang="en-US" sz="1120" dirty="0"/>
          </a:p>
        </p:txBody>
      </p:sp>
      <p:sp>
        <p:nvSpPr>
          <p:cNvPr id="27" name="Shape 25"/>
          <p:cNvSpPr/>
          <p:nvPr/>
        </p:nvSpPr>
        <p:spPr>
          <a:xfrm>
            <a:off x="786384" y="4681728"/>
            <a:ext cx="292608" cy="292608"/>
          </a:xfrm>
          <a:prstGeom prst="ellipse">
            <a:avLst/>
          </a:prstGeom>
          <a:solidFill>
            <a:srgbClr val="0078D4"/>
          </a:solidFill>
          <a:ln w="12700">
            <a:solidFill>
              <a:srgbClr val="0078D4"/>
            </a:solidFill>
            <a:prstDash val="solid"/>
          </a:ln>
        </p:spPr>
      </p:sp>
      <p:sp>
        <p:nvSpPr>
          <p:cNvPr id="28" name="Shape 26"/>
          <p:cNvSpPr/>
          <p:nvPr/>
        </p:nvSpPr>
        <p:spPr>
          <a:xfrm>
            <a:off x="932688" y="4983480"/>
            <a:ext cx="0" cy="384048"/>
          </a:xfrm>
          <a:prstGeom prst="line">
            <a:avLst/>
          </a:prstGeom>
          <a:noFill/>
          <a:ln w="15240">
            <a:solidFill>
              <a:srgbClr val="C7D5E3"/>
            </a:solidFill>
            <a:prstDash val="solid"/>
          </a:ln>
        </p:spPr>
      </p:sp>
      <p:sp>
        <p:nvSpPr>
          <p:cNvPr id="29" name="Text 27"/>
          <p:cNvSpPr/>
          <p:nvPr/>
        </p:nvSpPr>
        <p:spPr>
          <a:xfrm>
            <a:off x="1298448" y="4636008"/>
            <a:ext cx="1234440" cy="201168"/>
          </a:xfrm>
          <a:prstGeom prst="rect">
            <a:avLst/>
          </a:prstGeom>
          <a:noFill/>
          <a:ln/>
        </p:spPr>
        <p:txBody>
          <a:bodyPr wrap="square" lIns="0" tIns="0" rIns="0" bIns="0" rtlCol="0" anchor="ctr"/>
          <a:lstStyle/>
          <a:p>
            <a:pPr marL="0" indent="0">
              <a:buNone/>
            </a:pPr>
            <a:r>
              <a:rPr lang="en-US" sz="1000" dirty="0">
                <a:solidFill>
                  <a:srgbClr val="0B1E3F"/>
                </a:solidFill>
                <a:latin typeface="Segoe UI Semibold" pitchFamily="34" charset="0"/>
                <a:ea typeface="Segoe UI Semibold" pitchFamily="34" charset="-122"/>
                <a:cs typeface="Segoe UI Semibold" pitchFamily="34" charset="-120"/>
              </a:rPr>
              <a:t>Sep 2026</a:t>
            </a:r>
            <a:endParaRPr lang="en-US" sz="1000" dirty="0"/>
          </a:p>
        </p:txBody>
      </p:sp>
      <p:sp>
        <p:nvSpPr>
          <p:cNvPr id="30" name="Text 28"/>
          <p:cNvSpPr/>
          <p:nvPr/>
        </p:nvSpPr>
        <p:spPr>
          <a:xfrm>
            <a:off x="2615184" y="4636008"/>
            <a:ext cx="8092440" cy="228600"/>
          </a:xfrm>
          <a:prstGeom prst="rect">
            <a:avLst/>
          </a:prstGeom>
          <a:noFill/>
          <a:ln/>
        </p:spPr>
        <p:txBody>
          <a:bodyPr wrap="square" lIns="0" tIns="0" rIns="0" bIns="0" rtlCol="0" anchor="ctr">
            <a:normAutofit/>
          </a:bodyPr>
          <a:lstStyle/>
          <a:p>
            <a:pPr marL="0" indent="0">
              <a:buNone/>
            </a:pPr>
            <a:r>
              <a:rPr lang="en-US" sz="1120" dirty="0">
                <a:solidFill>
                  <a:srgbClr val="3B4A5E"/>
                </a:solidFill>
                <a:latin typeface="Segoe UI" pitchFamily="34" charset="0"/>
                <a:ea typeface="Segoe UI" pitchFamily="34" charset="-122"/>
                <a:cs typeface="Segoe UI" pitchFamily="34" charset="-120"/>
              </a:rPr>
              <a:t>Token metrics include cached, reasoning and thinking token categories in preview.</a:t>
            </a:r>
            <a:endParaRPr lang="en-US" sz="1120" dirty="0"/>
          </a:p>
        </p:txBody>
      </p:sp>
      <p:sp>
        <p:nvSpPr>
          <p:cNvPr id="31" name="Shape 29"/>
          <p:cNvSpPr/>
          <p:nvPr/>
        </p:nvSpPr>
        <p:spPr>
          <a:xfrm>
            <a:off x="8686800" y="5440680"/>
            <a:ext cx="713232" cy="246888"/>
          </a:xfrm>
          <a:prstGeom prst="roundRect">
            <a:avLst>
              <a:gd name="adj" fmla="val 18519"/>
            </a:avLst>
          </a:prstGeom>
          <a:solidFill>
            <a:srgbClr val="D9F7FA"/>
          </a:solidFill>
          <a:ln w="12700">
            <a:solidFill>
              <a:srgbClr val="D9F7FA"/>
            </a:solidFill>
            <a:prstDash val="solid"/>
          </a:ln>
        </p:spPr>
      </p:sp>
      <p:sp>
        <p:nvSpPr>
          <p:cNvPr id="32" name="Text 30"/>
          <p:cNvSpPr/>
          <p:nvPr/>
        </p:nvSpPr>
        <p:spPr>
          <a:xfrm>
            <a:off x="8741664" y="5490972"/>
            <a:ext cx="603504" cy="100584"/>
          </a:xfrm>
          <a:prstGeom prst="rect">
            <a:avLst/>
          </a:prstGeom>
          <a:noFill/>
          <a:ln/>
        </p:spPr>
        <p:txBody>
          <a:bodyPr wrap="square" lIns="0" tIns="0" rIns="0" bIns="0" rtlCol="0" anchor="ctr">
            <a:normAutofit/>
          </a:bodyPr>
          <a:lstStyle/>
          <a:p>
            <a:pPr marL="0" indent="0" algn="ctr">
              <a:buNone/>
            </a:pPr>
            <a:r>
              <a:rPr lang="en-US" sz="750" dirty="0">
                <a:solidFill>
                  <a:srgbClr val="0B1E3F"/>
                </a:solidFill>
                <a:latin typeface="Segoe UI Semibold" pitchFamily="34" charset="0"/>
                <a:ea typeface="Segoe UI Semibold" pitchFamily="34" charset="-122"/>
                <a:cs typeface="Segoe UI Semibold" pitchFamily="34" charset="-120"/>
              </a:rPr>
              <a:t>MCP</a:t>
            </a:r>
            <a:endParaRPr lang="en-US" sz="750" dirty="0"/>
          </a:p>
        </p:txBody>
      </p:sp>
      <p:sp>
        <p:nvSpPr>
          <p:cNvPr id="33" name="Shape 31"/>
          <p:cNvSpPr/>
          <p:nvPr/>
        </p:nvSpPr>
        <p:spPr>
          <a:xfrm>
            <a:off x="9528048" y="5440680"/>
            <a:ext cx="713232" cy="246888"/>
          </a:xfrm>
          <a:prstGeom prst="roundRect">
            <a:avLst>
              <a:gd name="adj" fmla="val 18519"/>
            </a:avLst>
          </a:prstGeom>
          <a:solidFill>
            <a:srgbClr val="E5F1FB"/>
          </a:solidFill>
          <a:ln w="12700">
            <a:solidFill>
              <a:srgbClr val="E5F1FB"/>
            </a:solidFill>
            <a:prstDash val="solid"/>
          </a:ln>
        </p:spPr>
      </p:sp>
      <p:sp>
        <p:nvSpPr>
          <p:cNvPr id="34" name="Text 32"/>
          <p:cNvSpPr/>
          <p:nvPr/>
        </p:nvSpPr>
        <p:spPr>
          <a:xfrm>
            <a:off x="9582912" y="5490972"/>
            <a:ext cx="603504" cy="100584"/>
          </a:xfrm>
          <a:prstGeom prst="rect">
            <a:avLst/>
          </a:prstGeom>
          <a:noFill/>
          <a:ln/>
        </p:spPr>
        <p:txBody>
          <a:bodyPr wrap="square" lIns="0" tIns="0" rIns="0" bIns="0" rtlCol="0" anchor="ctr">
            <a:normAutofit/>
          </a:bodyPr>
          <a:lstStyle/>
          <a:p>
            <a:pPr marL="0" indent="0" algn="ctr">
              <a:buNone/>
            </a:pPr>
            <a:r>
              <a:rPr lang="en-US" sz="750" dirty="0">
                <a:solidFill>
                  <a:srgbClr val="0B1E3F"/>
                </a:solidFill>
                <a:latin typeface="Segoe UI Semibold" pitchFamily="34" charset="0"/>
                <a:ea typeface="Segoe UI Semibold" pitchFamily="34" charset="-122"/>
                <a:cs typeface="Segoe UI Semibold" pitchFamily="34" charset="-120"/>
              </a:rPr>
              <a:t>A2A</a:t>
            </a:r>
            <a:endParaRPr lang="en-US" sz="750" dirty="0"/>
          </a:p>
        </p:txBody>
      </p:sp>
      <p:sp>
        <p:nvSpPr>
          <p:cNvPr id="35" name="Shape 33"/>
          <p:cNvSpPr/>
          <p:nvPr/>
        </p:nvSpPr>
        <p:spPr>
          <a:xfrm>
            <a:off x="10369296" y="5440680"/>
            <a:ext cx="1097280" cy="246888"/>
          </a:xfrm>
          <a:prstGeom prst="roundRect">
            <a:avLst>
              <a:gd name="adj" fmla="val 18519"/>
            </a:avLst>
          </a:prstGeom>
          <a:solidFill>
            <a:srgbClr val="FFF3CF"/>
          </a:solidFill>
          <a:ln w="12700">
            <a:solidFill>
              <a:srgbClr val="FFF3CF"/>
            </a:solidFill>
            <a:prstDash val="solid"/>
          </a:ln>
        </p:spPr>
      </p:sp>
      <p:sp>
        <p:nvSpPr>
          <p:cNvPr id="36" name="Text 34"/>
          <p:cNvSpPr/>
          <p:nvPr/>
        </p:nvSpPr>
        <p:spPr>
          <a:xfrm>
            <a:off x="10424160" y="5490972"/>
            <a:ext cx="987552" cy="100584"/>
          </a:xfrm>
          <a:prstGeom prst="rect">
            <a:avLst/>
          </a:prstGeom>
          <a:noFill/>
          <a:ln/>
        </p:spPr>
        <p:txBody>
          <a:bodyPr wrap="square" lIns="0" tIns="0" rIns="0" bIns="0" rtlCol="0" anchor="ctr">
            <a:normAutofit/>
          </a:bodyPr>
          <a:lstStyle/>
          <a:p>
            <a:pPr marL="0" indent="0" algn="ctr">
              <a:buNone/>
            </a:pPr>
            <a:r>
              <a:rPr lang="en-US" sz="750" dirty="0">
                <a:solidFill>
                  <a:srgbClr val="0B1E3F"/>
                </a:solidFill>
                <a:latin typeface="Segoe UI Semibold" pitchFamily="34" charset="0"/>
                <a:ea typeface="Segoe UI Semibold" pitchFamily="34" charset="-122"/>
                <a:cs typeface="Segoe UI Semibold" pitchFamily="34" charset="-120"/>
              </a:rPr>
              <a:t>Unified API</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E3F"/>
        </a:solidFill>
        <a:effectLst/>
      </p:bgPr>
    </p:bg>
    <p:spTree>
      <p:nvGrpSpPr>
        <p:cNvPr id="1" name=""/>
        <p:cNvGrpSpPr/>
        <p:nvPr/>
      </p:nvGrpSpPr>
      <p:grpSpPr>
        <a:xfrm>
          <a:off x="0" y="0"/>
          <a:ext cx="0" cy="0"/>
          <a:chOff x="0" y="0"/>
          <a:chExt cx="0" cy="0"/>
        </a:xfrm>
      </p:grpSpPr>
      <p:sp>
        <p:nvSpPr>
          <p:cNvPr id="2" name="Shape 0"/>
          <p:cNvSpPr/>
          <p:nvPr/>
        </p:nvSpPr>
        <p:spPr>
          <a:xfrm>
            <a:off x="7955280" y="1508760"/>
            <a:ext cx="164592" cy="4480560"/>
          </a:xfrm>
          <a:prstGeom prst="rect">
            <a:avLst/>
          </a:prstGeom>
          <a:solidFill>
            <a:srgbClr val="00B7C3">
              <a:alpha val="85000"/>
            </a:srgbClr>
          </a:solidFill>
          <a:ln w="12700">
            <a:solidFill>
              <a:srgbClr val="00B7C3">
                <a:alpha val="85000"/>
              </a:srgbClr>
            </a:solidFill>
            <a:prstDash val="solid"/>
          </a:ln>
        </p:spPr>
      </p:sp>
      <p:sp>
        <p:nvSpPr>
          <p:cNvPr id="3" name="Shape 1"/>
          <p:cNvSpPr/>
          <p:nvPr/>
        </p:nvSpPr>
        <p:spPr>
          <a:xfrm>
            <a:off x="10808208" y="1508760"/>
            <a:ext cx="164592" cy="4480560"/>
          </a:xfrm>
          <a:prstGeom prst="rect">
            <a:avLst/>
          </a:prstGeom>
          <a:solidFill>
            <a:srgbClr val="00B7C3">
              <a:alpha val="85000"/>
            </a:srgbClr>
          </a:solidFill>
          <a:ln w="12700">
            <a:solidFill>
              <a:srgbClr val="00B7C3">
                <a:alpha val="85000"/>
              </a:srgbClr>
            </a:solidFill>
            <a:prstDash val="solid"/>
          </a:ln>
        </p:spPr>
      </p:sp>
      <p:sp>
        <p:nvSpPr>
          <p:cNvPr id="4" name="Shape 2"/>
          <p:cNvSpPr/>
          <p:nvPr/>
        </p:nvSpPr>
        <p:spPr>
          <a:xfrm>
            <a:off x="7964424" y="914400"/>
            <a:ext cx="2999232" cy="1234440"/>
          </a:xfrm>
          <a:prstGeom prst="arc">
            <a:avLst/>
          </a:prstGeom>
          <a:solidFill>
            <a:srgbClr val="00B7C3">
              <a:alpha val="0"/>
            </a:srgbClr>
          </a:solidFill>
          <a:ln w="88900">
            <a:solidFill>
              <a:srgbClr val="00B7C3">
                <a:alpha val="85000"/>
              </a:srgbClr>
            </a:solidFill>
            <a:prstDash val="solid"/>
          </a:ln>
        </p:spPr>
      </p:sp>
      <p:sp>
        <p:nvSpPr>
          <p:cNvPr id="5" name="Shape 3"/>
          <p:cNvSpPr/>
          <p:nvPr/>
        </p:nvSpPr>
        <p:spPr>
          <a:xfrm>
            <a:off x="685800" y="749808"/>
            <a:ext cx="658368" cy="658368"/>
          </a:xfrm>
          <a:prstGeom prst="ellipse">
            <a:avLst/>
          </a:prstGeom>
          <a:solidFill>
            <a:srgbClr val="00B7C3"/>
          </a:solidFill>
          <a:ln w="12700">
            <a:solidFill>
              <a:srgbClr val="00B7C3"/>
            </a:solidFill>
            <a:prstDash val="solid"/>
          </a:ln>
        </p:spPr>
      </p:sp>
      <p:sp>
        <p:nvSpPr>
          <p:cNvPr id="6" name="Text 4"/>
          <p:cNvSpPr/>
          <p:nvPr/>
        </p:nvSpPr>
        <p:spPr>
          <a:xfrm>
            <a:off x="685800" y="905256"/>
            <a:ext cx="658368" cy="201168"/>
          </a:xfrm>
          <a:prstGeom prst="rect">
            <a:avLst/>
          </a:prstGeom>
          <a:noFill/>
          <a:ln/>
        </p:spPr>
        <p:txBody>
          <a:bodyPr wrap="square" lIns="0" tIns="0" rIns="0" bIns="0" rtlCol="0" anchor="ctr"/>
          <a:lstStyle/>
          <a:p>
            <a:pPr marL="0" indent="0" algn="ctr">
              <a:buNone/>
            </a:pPr>
            <a:r>
              <a:rPr lang="en-US" sz="1700" dirty="0">
                <a:solidFill>
                  <a:srgbClr val="0B1E3F"/>
                </a:solidFill>
                <a:latin typeface="Segoe UI Semibold" pitchFamily="34" charset="0"/>
                <a:ea typeface="Segoe UI Semibold" pitchFamily="34" charset="-122"/>
                <a:cs typeface="Segoe UI Semibold" pitchFamily="34" charset="-120"/>
              </a:rPr>
              <a:t>04</a:t>
            </a:r>
            <a:endParaRPr lang="en-US" sz="1700" dirty="0"/>
          </a:p>
        </p:txBody>
      </p:sp>
      <p:sp>
        <p:nvSpPr>
          <p:cNvPr id="7" name="Text 5"/>
          <p:cNvSpPr/>
          <p:nvPr/>
        </p:nvSpPr>
        <p:spPr>
          <a:xfrm>
            <a:off x="685800" y="1691640"/>
            <a:ext cx="3840480" cy="237744"/>
          </a:xfrm>
          <a:prstGeom prst="rect">
            <a:avLst/>
          </a:prstGeom>
          <a:noFill/>
          <a:ln/>
        </p:spPr>
        <p:txBody>
          <a:bodyPr wrap="square" lIns="0" tIns="0" rIns="0" bIns="0" rtlCol="0" anchor="ctr"/>
          <a:lstStyle/>
          <a:p>
            <a:pPr marL="0" indent="0">
              <a:buNone/>
            </a:pPr>
            <a:r>
              <a:rPr lang="en-US" sz="1000" kern="0" spc="160" dirty="0">
                <a:solidFill>
                  <a:srgbClr val="00B7C3"/>
                </a:solidFill>
                <a:latin typeface="Segoe UI Semibold" pitchFamily="34" charset="0"/>
                <a:ea typeface="Segoe UI Semibold" pitchFamily="34" charset="-122"/>
                <a:cs typeface="Segoe UI Semibold" pitchFamily="34" charset="-120"/>
              </a:rPr>
              <a:t>SECTION 4</a:t>
            </a:r>
            <a:endParaRPr lang="en-US" sz="1000" dirty="0"/>
          </a:p>
        </p:txBody>
      </p:sp>
      <p:sp>
        <p:nvSpPr>
          <p:cNvPr id="8" name="Text 6"/>
          <p:cNvSpPr/>
          <p:nvPr/>
        </p:nvSpPr>
        <p:spPr>
          <a:xfrm>
            <a:off x="658368" y="2057400"/>
            <a:ext cx="6858000" cy="1097280"/>
          </a:xfrm>
          <a:prstGeom prst="rect">
            <a:avLst/>
          </a:prstGeom>
          <a:noFill/>
          <a:ln/>
        </p:spPr>
        <p:txBody>
          <a:bodyPr wrap="square" lIns="0" tIns="0" rIns="0" bIns="0" rtlCol="0" anchor="ctr">
            <a:normAutofit/>
          </a:bodyPr>
          <a:lstStyle/>
          <a:p>
            <a:pPr marL="0" indent="0">
              <a:buNone/>
            </a:pPr>
            <a:r>
              <a:rPr lang="en-US" sz="3800" dirty="0">
                <a:solidFill>
                  <a:srgbClr val="FFFFFF"/>
                </a:solidFill>
                <a:latin typeface="Segoe UI Semibold" pitchFamily="34" charset="0"/>
                <a:ea typeface="Segoe UI Semibold" pitchFamily="34" charset="-122"/>
                <a:cs typeface="Segoe UI Semibold" pitchFamily="34" charset="-120"/>
              </a:rPr>
              <a:t>AI gateway capabilities deep dive</a:t>
            </a:r>
            <a:endParaRPr lang="en-US" sz="3800" dirty="0"/>
          </a:p>
        </p:txBody>
      </p:sp>
      <p:sp>
        <p:nvSpPr>
          <p:cNvPr id="9" name="Shape 7"/>
          <p:cNvSpPr/>
          <p:nvPr/>
        </p:nvSpPr>
        <p:spPr>
          <a:xfrm>
            <a:off x="685800" y="3767328"/>
            <a:ext cx="1417320" cy="411480"/>
          </a:xfrm>
          <a:prstGeom prst="roundRect">
            <a:avLst>
              <a:gd name="adj" fmla="val 15556"/>
            </a:avLst>
          </a:prstGeom>
          <a:solidFill>
            <a:srgbClr val="FFB900"/>
          </a:solidFill>
          <a:ln w="12700">
            <a:solidFill>
              <a:srgbClr val="FFB900"/>
            </a:solidFill>
            <a:prstDash val="solid"/>
          </a:ln>
        </p:spPr>
      </p:sp>
      <p:sp>
        <p:nvSpPr>
          <p:cNvPr id="10" name="Text 8"/>
          <p:cNvSpPr/>
          <p:nvPr/>
        </p:nvSpPr>
        <p:spPr>
          <a:xfrm>
            <a:off x="685800" y="3886200"/>
            <a:ext cx="1417320" cy="128016"/>
          </a:xfrm>
          <a:prstGeom prst="rect">
            <a:avLst/>
          </a:prstGeom>
          <a:noFill/>
          <a:ln/>
        </p:spPr>
        <p:txBody>
          <a:bodyPr wrap="square" lIns="0" tIns="0" rIns="0" bIns="0" rtlCol="0" anchor="ctr"/>
          <a:lstStyle/>
          <a:p>
            <a:pPr marL="0" indent="0" algn="ctr">
              <a:buNone/>
            </a:pPr>
            <a:r>
              <a:rPr lang="en-US" sz="1000" dirty="0">
                <a:solidFill>
                  <a:srgbClr val="0B1E3F"/>
                </a:solidFill>
                <a:latin typeface="Segoe UI Semibold" pitchFamily="34" charset="0"/>
                <a:ea typeface="Segoe UI Semibold" pitchFamily="34" charset="-122"/>
                <a:cs typeface="Segoe UI Semibold" pitchFamily="34" charset="-120"/>
              </a:rPr>
              <a:t>25–40 · 15 min</a:t>
            </a:r>
            <a:endParaRPr lang="en-US" sz="1000" dirty="0"/>
          </a:p>
        </p:txBody>
      </p:sp>
      <p:sp>
        <p:nvSpPr>
          <p:cNvPr id="11" name="Text 9"/>
          <p:cNvSpPr/>
          <p:nvPr/>
        </p:nvSpPr>
        <p:spPr>
          <a:xfrm>
            <a:off x="685800" y="6355080"/>
            <a:ext cx="2834640" cy="164592"/>
          </a:xfrm>
          <a:prstGeom prst="rect">
            <a:avLst/>
          </a:prstGeom>
          <a:noFill/>
          <a:ln/>
        </p:spPr>
        <p:txBody>
          <a:bodyPr wrap="square" lIns="0" tIns="0" rIns="0" bIns="0" rtlCol="0" anchor="ctr"/>
          <a:lstStyle/>
          <a:p>
            <a:pPr marL="0" indent="0">
              <a:buNone/>
            </a:pPr>
            <a:r>
              <a:rPr lang="en-US" sz="800" dirty="0">
                <a:solidFill>
                  <a:srgbClr val="AFC3DA"/>
                </a:solidFill>
                <a:latin typeface="Segoe UI" pitchFamily="34" charset="0"/>
                <a:ea typeface="Segoe UI" pitchFamily="34" charset="-122"/>
                <a:cs typeface="Segoe UI" pitchFamily="34" charset="-120"/>
              </a:rPr>
              <a:t>90-minute technical session</a:t>
            </a:r>
            <a:endParaRPr lang="en-US" sz="800" dirty="0"/>
          </a:p>
        </p:txBody>
      </p:sp>
      <p:sp>
        <p:nvSpPr>
          <p:cNvPr id="12" name="Text 10"/>
          <p:cNvSpPr/>
          <p:nvPr/>
        </p:nvSpPr>
        <p:spPr>
          <a:xfrm>
            <a:off x="11292840" y="6355080"/>
            <a:ext cx="365760" cy="164592"/>
          </a:xfrm>
          <a:prstGeom prst="rect">
            <a:avLst/>
          </a:prstGeom>
          <a:noFill/>
          <a:ln/>
        </p:spPr>
        <p:txBody>
          <a:bodyPr wrap="square" lIns="0" tIns="0" rIns="0" bIns="0" rtlCol="0" anchor="ctr"/>
          <a:lstStyle/>
          <a:p>
            <a:pPr marL="0" indent="0" algn="r">
              <a:buNone/>
            </a:pPr>
            <a:r>
              <a:rPr lang="en-US" sz="800" dirty="0">
                <a:solidFill>
                  <a:srgbClr val="AFC3DA"/>
                </a:solidFill>
                <a:latin typeface="Segoe UI Semibold" pitchFamily="34" charset="0"/>
                <a:ea typeface="Segoe UI Semibold" pitchFamily="34" charset="-122"/>
                <a:cs typeface="Segoe UI Semibold"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301752"/>
            <a:ext cx="3200400" cy="201168"/>
          </a:xfrm>
          <a:prstGeom prst="rect">
            <a:avLst/>
          </a:prstGeom>
          <a:noFill/>
          <a:ln/>
        </p:spPr>
        <p:txBody>
          <a:bodyPr wrap="square" lIns="0" tIns="0" rIns="0" bIns="0" rtlCol="0" anchor="ctr"/>
          <a:lstStyle/>
          <a:p>
            <a:pPr marL="0" indent="0">
              <a:buNone/>
            </a:pPr>
            <a:r>
              <a:rPr lang="en-US" sz="800" kern="0" spc="120" dirty="0">
                <a:solidFill>
                  <a:srgbClr val="00B7C3"/>
                </a:solidFill>
                <a:latin typeface="Segoe UI Semibold" pitchFamily="34" charset="0"/>
                <a:ea typeface="Segoe UI Semibold" pitchFamily="34" charset="-122"/>
                <a:cs typeface="Segoe UI Semibold" pitchFamily="34" charset="-120"/>
              </a:rPr>
              <a:t>CAPABILITIES</a:t>
            </a:r>
            <a:endParaRPr lang="en-US" sz="800" dirty="0"/>
          </a:p>
        </p:txBody>
      </p:sp>
      <p:sp>
        <p:nvSpPr>
          <p:cNvPr id="3" name="Text 1"/>
          <p:cNvSpPr/>
          <p:nvPr/>
        </p:nvSpPr>
        <p:spPr>
          <a:xfrm>
            <a:off x="457200" y="521208"/>
            <a:ext cx="7955280" cy="438912"/>
          </a:xfrm>
          <a:prstGeom prst="rect">
            <a:avLst/>
          </a:prstGeom>
          <a:noFill/>
          <a:ln/>
        </p:spPr>
        <p:txBody>
          <a:bodyPr wrap="square" lIns="0" tIns="0" rIns="0" bIns="0" rtlCol="0" anchor="ctr"/>
          <a:lstStyle/>
          <a:p>
            <a:pPr marL="0" indent="0">
              <a:buNone/>
            </a:pPr>
            <a:r>
              <a:rPr lang="en-US" sz="2500" dirty="0">
                <a:solidFill>
                  <a:srgbClr val="0B1E3F"/>
                </a:solidFill>
                <a:latin typeface="Segoe UI Semibold" pitchFamily="34" charset="0"/>
                <a:ea typeface="Segoe UI Semibold" pitchFamily="34" charset="-122"/>
                <a:cs typeface="Segoe UI Semibold" pitchFamily="34" charset="-120"/>
              </a:rPr>
              <a:t>Pillar 1 — Security: keyless and safe by default</a:t>
            </a:r>
            <a:endParaRPr lang="en-US" sz="2500" dirty="0"/>
          </a:p>
        </p:txBody>
      </p:sp>
      <p:sp>
        <p:nvSpPr>
          <p:cNvPr id="4" name="Shape 2"/>
          <p:cNvSpPr/>
          <p:nvPr/>
        </p:nvSpPr>
        <p:spPr>
          <a:xfrm>
            <a:off x="10698480" y="118872"/>
            <a:ext cx="1051560" cy="1051560"/>
          </a:xfrm>
          <a:prstGeom prst="arc">
            <a:avLst/>
          </a:prstGeom>
          <a:solidFill>
            <a:srgbClr val="F5F7FA">
              <a:alpha val="0"/>
            </a:srgbClr>
          </a:solidFill>
          <a:ln w="38100">
            <a:solidFill>
              <a:srgbClr val="00B7C3">
                <a:alpha val="90000"/>
              </a:srgbClr>
            </a:solidFill>
            <a:prstDash val="solid"/>
          </a:ln>
        </p:spPr>
      </p:sp>
      <p:sp>
        <p:nvSpPr>
          <p:cNvPr id="5" name="Text 3"/>
          <p:cNvSpPr/>
          <p:nvPr/>
        </p:nvSpPr>
        <p:spPr>
          <a:xfrm>
            <a:off x="457200" y="6473952"/>
            <a:ext cx="7955280" cy="164592"/>
          </a:xfrm>
          <a:prstGeom prst="rect">
            <a:avLst/>
          </a:prstGeom>
          <a:noFill/>
          <a:ln/>
        </p:spPr>
        <p:txBody>
          <a:bodyPr wrap="square" lIns="0" tIns="0" rIns="0" bIns="0" rtlCol="0" anchor="ctr"/>
          <a:lstStyle/>
          <a:p>
            <a:pPr marL="0" indent="0">
              <a:buNone/>
            </a:pPr>
            <a:r>
              <a:rPr lang="en-US" sz="750" dirty="0">
                <a:solidFill>
                  <a:srgbClr val="8A97A8"/>
                </a:solidFill>
                <a:latin typeface="Segoe UI" pitchFamily="34" charset="0"/>
                <a:ea typeface="Segoe UI" pitchFamily="34" charset="-122"/>
                <a:cs typeface="Segoe UI" pitchFamily="34" charset="-120"/>
              </a:rPr>
              <a:t>Azure API Management AI Gateway — Oct 2026</a:t>
            </a:r>
            <a:endParaRPr lang="en-US" sz="750" dirty="0"/>
          </a:p>
        </p:txBody>
      </p:sp>
      <p:sp>
        <p:nvSpPr>
          <p:cNvPr id="6" name="Text 4"/>
          <p:cNvSpPr/>
          <p:nvPr/>
        </p:nvSpPr>
        <p:spPr>
          <a:xfrm>
            <a:off x="11430000" y="6446520"/>
            <a:ext cx="320040" cy="164592"/>
          </a:xfrm>
          <a:prstGeom prst="rect">
            <a:avLst/>
          </a:prstGeom>
          <a:noFill/>
          <a:ln/>
        </p:spPr>
        <p:txBody>
          <a:bodyPr wrap="square" lIns="0" tIns="0" rIns="0" bIns="0" rtlCol="0" anchor="ctr"/>
          <a:lstStyle/>
          <a:p>
            <a:pPr marL="0" indent="0" algn="r">
              <a:buNone/>
            </a:pPr>
            <a:r>
              <a:rPr lang="en-US" sz="800" dirty="0">
                <a:solidFill>
                  <a:srgbClr val="8A97A8"/>
                </a:solidFill>
                <a:latin typeface="Segoe UI Semibold" pitchFamily="34" charset="0"/>
                <a:ea typeface="Segoe UI Semibold" pitchFamily="34" charset="-122"/>
                <a:cs typeface="Segoe UI Semibold" pitchFamily="34" charset="-120"/>
              </a:rPr>
              <a:t>11</a:t>
            </a:r>
            <a:endParaRPr lang="en-US" sz="800" dirty="0"/>
          </a:p>
        </p:txBody>
      </p:sp>
      <p:sp>
        <p:nvSpPr>
          <p:cNvPr id="7" name="Shape 5"/>
          <p:cNvSpPr/>
          <p:nvPr/>
        </p:nvSpPr>
        <p:spPr>
          <a:xfrm>
            <a:off x="685800" y="1143000"/>
            <a:ext cx="3063240" cy="1051560"/>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8" name="Shape 6"/>
          <p:cNvSpPr/>
          <p:nvPr/>
        </p:nvSpPr>
        <p:spPr>
          <a:xfrm>
            <a:off x="685800" y="1143000"/>
            <a:ext cx="73152" cy="1051560"/>
          </a:xfrm>
          <a:prstGeom prst="rect">
            <a:avLst/>
          </a:prstGeom>
          <a:solidFill>
            <a:srgbClr val="00B7C3"/>
          </a:solidFill>
          <a:ln w="12700">
            <a:solidFill>
              <a:srgbClr val="00B7C3"/>
            </a:solidFill>
            <a:prstDash val="solid"/>
          </a:ln>
        </p:spPr>
      </p:sp>
      <p:sp>
        <p:nvSpPr>
          <p:cNvPr id="9" name="Shape 7"/>
          <p:cNvSpPr/>
          <p:nvPr/>
        </p:nvSpPr>
        <p:spPr>
          <a:xfrm>
            <a:off x="850392" y="1298448"/>
            <a:ext cx="393192" cy="393192"/>
          </a:xfrm>
          <a:prstGeom prst="ellipse">
            <a:avLst/>
          </a:prstGeom>
          <a:solidFill>
            <a:srgbClr val="00B7C3"/>
          </a:solidFill>
          <a:ln w="12700">
            <a:solidFill>
              <a:srgbClr val="00B7C3"/>
            </a:solidFill>
            <a:prstDash val="solid"/>
          </a:ln>
        </p:spPr>
      </p:sp>
      <p:sp>
        <p:nvSpPr>
          <p:cNvPr id="10" name="Text 8"/>
          <p:cNvSpPr/>
          <p:nvPr/>
        </p:nvSpPr>
        <p:spPr>
          <a:xfrm>
            <a:off x="850392" y="1357884"/>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MI</a:t>
            </a:r>
            <a:endParaRPr lang="en-US" sz="800" dirty="0"/>
          </a:p>
        </p:txBody>
      </p:sp>
      <p:sp>
        <p:nvSpPr>
          <p:cNvPr id="11" name="Text 9"/>
          <p:cNvSpPr/>
          <p:nvPr/>
        </p:nvSpPr>
        <p:spPr>
          <a:xfrm>
            <a:off x="1344168" y="1271016"/>
            <a:ext cx="224028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Managed identity</a:t>
            </a:r>
            <a:endParaRPr lang="en-US" sz="1250" dirty="0"/>
          </a:p>
        </p:txBody>
      </p:sp>
      <p:sp>
        <p:nvSpPr>
          <p:cNvPr id="12" name="Text 10"/>
          <p:cNvSpPr/>
          <p:nvPr/>
        </p:nvSpPr>
        <p:spPr>
          <a:xfrm>
            <a:off x="1344168" y="1600200"/>
            <a:ext cx="2240280" cy="502920"/>
          </a:xfrm>
          <a:prstGeom prst="rect">
            <a:avLst/>
          </a:prstGeom>
          <a:noFill/>
          <a:ln/>
        </p:spPr>
        <p:txBody>
          <a:bodyPr wrap="square" lIns="635" tIns="635" rIns="635" bIns="635" rtlCol="0" anchor="ctr">
            <a:normAutofit/>
          </a:bodyPr>
          <a:lstStyle/>
          <a:p>
            <a:pPr marL="0" indent="0">
              <a:buNone/>
            </a:pPr>
            <a:r>
              <a:rPr lang="en-US" sz="1040" dirty="0">
                <a:solidFill>
                  <a:srgbClr val="3B4A5E"/>
                </a:solidFill>
                <a:latin typeface="Segoe UI" pitchFamily="34" charset="0"/>
                <a:ea typeface="Segoe UI" pitchFamily="34" charset="-122"/>
                <a:cs typeface="Segoe UI" pitchFamily="34" charset="-120"/>
              </a:rPr>
              <a:t>Apps hold only an APIM subscription key; APIM authenticates to Foundry.</a:t>
            </a:r>
            <a:endParaRPr lang="en-US" sz="1040" dirty="0"/>
          </a:p>
        </p:txBody>
      </p:sp>
      <p:sp>
        <p:nvSpPr>
          <p:cNvPr id="13" name="Shape 11"/>
          <p:cNvSpPr/>
          <p:nvPr/>
        </p:nvSpPr>
        <p:spPr>
          <a:xfrm>
            <a:off x="685800" y="2542032"/>
            <a:ext cx="3063240" cy="1051560"/>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14" name="Shape 12"/>
          <p:cNvSpPr/>
          <p:nvPr/>
        </p:nvSpPr>
        <p:spPr>
          <a:xfrm>
            <a:off x="685800" y="2542032"/>
            <a:ext cx="73152" cy="1051560"/>
          </a:xfrm>
          <a:prstGeom prst="rect">
            <a:avLst/>
          </a:prstGeom>
          <a:solidFill>
            <a:srgbClr val="0078D4"/>
          </a:solidFill>
          <a:ln w="12700">
            <a:solidFill>
              <a:srgbClr val="0078D4"/>
            </a:solidFill>
            <a:prstDash val="solid"/>
          </a:ln>
        </p:spPr>
      </p:sp>
      <p:sp>
        <p:nvSpPr>
          <p:cNvPr id="15" name="Shape 13"/>
          <p:cNvSpPr/>
          <p:nvPr/>
        </p:nvSpPr>
        <p:spPr>
          <a:xfrm>
            <a:off x="850392" y="2697480"/>
            <a:ext cx="393192" cy="393192"/>
          </a:xfrm>
          <a:prstGeom prst="ellipse">
            <a:avLst/>
          </a:prstGeom>
          <a:solidFill>
            <a:srgbClr val="0078D4"/>
          </a:solidFill>
          <a:ln w="12700">
            <a:solidFill>
              <a:srgbClr val="0078D4"/>
            </a:solidFill>
            <a:prstDash val="solid"/>
          </a:ln>
        </p:spPr>
      </p:sp>
      <p:sp>
        <p:nvSpPr>
          <p:cNvPr id="16" name="Text 14"/>
          <p:cNvSpPr/>
          <p:nvPr/>
        </p:nvSpPr>
        <p:spPr>
          <a:xfrm>
            <a:off x="850392" y="2756916"/>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JWT</a:t>
            </a:r>
            <a:endParaRPr lang="en-US" sz="800" dirty="0"/>
          </a:p>
        </p:txBody>
      </p:sp>
      <p:sp>
        <p:nvSpPr>
          <p:cNvPr id="17" name="Text 15"/>
          <p:cNvSpPr/>
          <p:nvPr/>
        </p:nvSpPr>
        <p:spPr>
          <a:xfrm>
            <a:off x="1344168" y="2670048"/>
            <a:ext cx="224028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OAuth + JWT</a:t>
            </a:r>
            <a:endParaRPr lang="en-US" sz="1250" dirty="0"/>
          </a:p>
        </p:txBody>
      </p:sp>
      <p:sp>
        <p:nvSpPr>
          <p:cNvPr id="18" name="Text 16"/>
          <p:cNvSpPr/>
          <p:nvPr/>
        </p:nvSpPr>
        <p:spPr>
          <a:xfrm>
            <a:off x="1344168" y="2999232"/>
            <a:ext cx="2240280" cy="502920"/>
          </a:xfrm>
          <a:prstGeom prst="rect">
            <a:avLst/>
          </a:prstGeom>
          <a:noFill/>
          <a:ln/>
        </p:spPr>
        <p:txBody>
          <a:bodyPr wrap="square" lIns="635" tIns="635" rIns="635" bIns="635" rtlCol="0" anchor="ctr">
            <a:normAutofit/>
          </a:bodyPr>
          <a:lstStyle/>
          <a:p>
            <a:pPr marL="0" indent="0">
              <a:buNone/>
            </a:pPr>
            <a:r>
              <a:rPr lang="en-US" sz="1040" dirty="0">
                <a:solidFill>
                  <a:srgbClr val="3B4A5E"/>
                </a:solidFill>
                <a:latin typeface="Segoe UI" pitchFamily="34" charset="0"/>
                <a:ea typeface="Segoe UI" pitchFamily="34" charset="-122"/>
                <a:cs typeface="Segoe UI" pitchFamily="34" charset="-120"/>
              </a:rPr>
              <a:t>Credential manager and JWT validation protect AI apps, agents and APIs.</a:t>
            </a:r>
            <a:endParaRPr lang="en-US" sz="1040" dirty="0"/>
          </a:p>
        </p:txBody>
      </p:sp>
      <p:sp>
        <p:nvSpPr>
          <p:cNvPr id="19" name="Shape 17"/>
          <p:cNvSpPr/>
          <p:nvPr/>
        </p:nvSpPr>
        <p:spPr>
          <a:xfrm>
            <a:off x="685800" y="3941064"/>
            <a:ext cx="3063240" cy="1051560"/>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20" name="Shape 18"/>
          <p:cNvSpPr/>
          <p:nvPr/>
        </p:nvSpPr>
        <p:spPr>
          <a:xfrm>
            <a:off x="685800" y="3941064"/>
            <a:ext cx="73152" cy="1051560"/>
          </a:xfrm>
          <a:prstGeom prst="rect">
            <a:avLst/>
          </a:prstGeom>
          <a:solidFill>
            <a:srgbClr val="FFB900"/>
          </a:solidFill>
          <a:ln w="12700">
            <a:solidFill>
              <a:srgbClr val="FFB900"/>
            </a:solidFill>
            <a:prstDash val="solid"/>
          </a:ln>
        </p:spPr>
      </p:sp>
      <p:sp>
        <p:nvSpPr>
          <p:cNvPr id="21" name="Shape 19"/>
          <p:cNvSpPr/>
          <p:nvPr/>
        </p:nvSpPr>
        <p:spPr>
          <a:xfrm>
            <a:off x="850392" y="4096512"/>
            <a:ext cx="393192" cy="393192"/>
          </a:xfrm>
          <a:prstGeom prst="ellipse">
            <a:avLst/>
          </a:prstGeom>
          <a:solidFill>
            <a:srgbClr val="FFB900"/>
          </a:solidFill>
          <a:ln w="12700">
            <a:solidFill>
              <a:srgbClr val="FFB900"/>
            </a:solidFill>
            <a:prstDash val="solid"/>
          </a:ln>
        </p:spPr>
      </p:sp>
      <p:sp>
        <p:nvSpPr>
          <p:cNvPr id="22" name="Text 20"/>
          <p:cNvSpPr/>
          <p:nvPr/>
        </p:nvSpPr>
        <p:spPr>
          <a:xfrm>
            <a:off x="850392" y="4155948"/>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CS</a:t>
            </a:r>
            <a:endParaRPr lang="en-US" sz="800" dirty="0"/>
          </a:p>
        </p:txBody>
      </p:sp>
      <p:sp>
        <p:nvSpPr>
          <p:cNvPr id="23" name="Text 21"/>
          <p:cNvSpPr/>
          <p:nvPr/>
        </p:nvSpPr>
        <p:spPr>
          <a:xfrm>
            <a:off x="1344168" y="4069080"/>
            <a:ext cx="224028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Content safety</a:t>
            </a:r>
            <a:endParaRPr lang="en-US" sz="1250" dirty="0"/>
          </a:p>
        </p:txBody>
      </p:sp>
      <p:sp>
        <p:nvSpPr>
          <p:cNvPr id="24" name="Text 22"/>
          <p:cNvSpPr/>
          <p:nvPr/>
        </p:nvSpPr>
        <p:spPr>
          <a:xfrm>
            <a:off x="1344168" y="4398264"/>
            <a:ext cx="2240280" cy="502920"/>
          </a:xfrm>
          <a:prstGeom prst="rect">
            <a:avLst/>
          </a:prstGeom>
          <a:noFill/>
          <a:ln/>
        </p:spPr>
        <p:txBody>
          <a:bodyPr wrap="square" lIns="635" tIns="635" rIns="635" bIns="635" rtlCol="0" anchor="ctr">
            <a:normAutofit/>
          </a:bodyPr>
          <a:lstStyle/>
          <a:p>
            <a:pPr marL="0" indent="0">
              <a:buNone/>
            </a:pPr>
            <a:r>
              <a:rPr lang="en-US" sz="1040" dirty="0">
                <a:solidFill>
                  <a:srgbClr val="3B4A5E"/>
                </a:solidFill>
                <a:latin typeface="Segoe UI" pitchFamily="34" charset="0"/>
                <a:ea typeface="Segoe UI" pitchFamily="34" charset="-122"/>
                <a:cs typeface="Segoe UI" pitchFamily="34" charset="-120"/>
              </a:rPr>
              <a:t>Prompt Shields, harm categories and blocklists enforced centrally.</a:t>
            </a:r>
            <a:endParaRPr lang="en-US" sz="1040" dirty="0"/>
          </a:p>
        </p:txBody>
      </p:sp>
      <p:sp>
        <p:nvSpPr>
          <p:cNvPr id="25" name="Shape 23"/>
          <p:cNvSpPr/>
          <p:nvPr/>
        </p:nvSpPr>
        <p:spPr>
          <a:xfrm>
            <a:off x="4434840" y="1216152"/>
            <a:ext cx="6812280" cy="3611880"/>
          </a:xfrm>
          <a:prstGeom prst="rect">
            <a:avLst/>
          </a:prstGeom>
          <a:solidFill>
            <a:srgbClr val="06152D"/>
          </a:solidFill>
          <a:ln w="12700">
            <a:solidFill>
              <a:srgbClr val="06152D"/>
            </a:solidFill>
            <a:prstDash val="solid"/>
          </a:ln>
          <a:effectLst>
            <a:outerShdw blurRad="38100" dist="12700" dir="2700000" algn="bl" rotWithShape="0">
              <a:srgbClr val="000000">
                <a:alpha val="10000"/>
              </a:srgbClr>
            </a:outerShdw>
          </a:effectLst>
        </p:spPr>
      </p:sp>
      <p:sp>
        <p:nvSpPr>
          <p:cNvPr id="26" name="Text 24"/>
          <p:cNvSpPr/>
          <p:nvPr/>
        </p:nvSpPr>
        <p:spPr>
          <a:xfrm>
            <a:off x="4709160" y="1481328"/>
            <a:ext cx="6236208" cy="2423160"/>
          </a:xfrm>
          <a:prstGeom prst="rect">
            <a:avLst/>
          </a:prstGeom>
          <a:noFill/>
          <a:ln/>
        </p:spPr>
        <p:txBody>
          <a:bodyPr wrap="square" lIns="1016" tIns="1016" rIns="1016" bIns="1016" rtlCol="0" anchor="ctr">
            <a:normAutofit/>
          </a:bodyPr>
          <a:lstStyle/>
          <a:p>
            <a:pPr marL="0" indent="0">
              <a:buNone/>
            </a:pPr>
            <a:r>
              <a:rPr lang="en-US" sz="1030" dirty="0">
                <a:solidFill>
                  <a:srgbClr val="D7E7F6"/>
                </a:solidFill>
                <a:latin typeface="Consolas" pitchFamily="34" charset="0"/>
                <a:ea typeface="Consolas" pitchFamily="34" charset="-122"/>
                <a:cs typeface="Consolas" pitchFamily="34" charset="-120"/>
              </a:rPr>
              <a:t>&lt;llm-content-safety backend-id="content-safety" shield-prompt="true"&gt;</a:t>
            </a:r>
            <a:endParaRPr lang="en-US" sz="1030" dirty="0"/>
          </a:p>
          <a:p>
            <a:pPr marL="0" indent="0">
              <a:buNone/>
            </a:pPr>
            <a:r>
              <a:rPr lang="en-US" sz="1030" dirty="0">
                <a:solidFill>
                  <a:srgbClr val="D7E7F6"/>
                </a:solidFill>
                <a:latin typeface="Consolas" pitchFamily="34" charset="0"/>
                <a:ea typeface="Consolas" pitchFamily="34" charset="-122"/>
                <a:cs typeface="Consolas" pitchFamily="34" charset="-120"/>
              </a:rPr>
              <a:t>  &lt;categories output-type="EightSeverityLevels"&gt;</a:t>
            </a:r>
            <a:endParaRPr lang="en-US" sz="1030" dirty="0"/>
          </a:p>
          <a:p>
            <a:pPr marL="0" indent="0">
              <a:buNone/>
            </a:pPr>
            <a:r>
              <a:rPr lang="en-US" sz="1030" dirty="0">
                <a:solidFill>
                  <a:srgbClr val="D7E7F6"/>
                </a:solidFill>
                <a:latin typeface="Consolas" pitchFamily="34" charset="0"/>
                <a:ea typeface="Consolas" pitchFamily="34" charset="-122"/>
                <a:cs typeface="Consolas" pitchFamily="34" charset="-120"/>
              </a:rPr>
              <a:t>    &lt;category name="Hate" threshold="4" /&gt;</a:t>
            </a:r>
            <a:endParaRPr lang="en-US" sz="1030" dirty="0"/>
          </a:p>
          <a:p>
            <a:pPr marL="0" indent="0">
              <a:buNone/>
            </a:pPr>
            <a:r>
              <a:rPr lang="en-US" sz="1030" dirty="0">
                <a:solidFill>
                  <a:srgbClr val="D7E7F6"/>
                </a:solidFill>
                <a:latin typeface="Consolas" pitchFamily="34" charset="0"/>
                <a:ea typeface="Consolas" pitchFamily="34" charset="-122"/>
                <a:cs typeface="Consolas" pitchFamily="34" charset="-120"/>
              </a:rPr>
              <a:t>    &lt;category name="SelfHarm" threshold="4" /&gt;</a:t>
            </a:r>
            <a:endParaRPr lang="en-US" sz="1030" dirty="0"/>
          </a:p>
          <a:p>
            <a:pPr marL="0" indent="0">
              <a:buNone/>
            </a:pPr>
            <a:r>
              <a:rPr lang="en-US" sz="1030" dirty="0">
                <a:solidFill>
                  <a:srgbClr val="D7E7F6"/>
                </a:solidFill>
                <a:latin typeface="Consolas" pitchFamily="34" charset="0"/>
                <a:ea typeface="Consolas" pitchFamily="34" charset="-122"/>
                <a:cs typeface="Consolas" pitchFamily="34" charset="-120"/>
              </a:rPr>
              <a:t>    &lt;category name="Sexual" threshold="4" /&gt;</a:t>
            </a:r>
            <a:endParaRPr lang="en-US" sz="1030" dirty="0"/>
          </a:p>
          <a:p>
            <a:pPr marL="0" indent="0">
              <a:buNone/>
            </a:pPr>
            <a:r>
              <a:rPr lang="en-US" sz="1030" dirty="0">
                <a:solidFill>
                  <a:srgbClr val="D7E7F6"/>
                </a:solidFill>
                <a:latin typeface="Consolas" pitchFamily="34" charset="0"/>
                <a:ea typeface="Consolas" pitchFamily="34" charset="-122"/>
                <a:cs typeface="Consolas" pitchFamily="34" charset="-120"/>
              </a:rPr>
              <a:t>    &lt;category name="Violence" threshold="4" /&gt;</a:t>
            </a:r>
            <a:endParaRPr lang="en-US" sz="1030" dirty="0"/>
          </a:p>
          <a:p>
            <a:pPr marL="0" indent="0">
              <a:buNone/>
            </a:pPr>
            <a:r>
              <a:rPr lang="en-US" sz="1030" dirty="0">
                <a:solidFill>
                  <a:srgbClr val="D7E7F6"/>
                </a:solidFill>
                <a:latin typeface="Consolas" pitchFamily="34" charset="0"/>
                <a:ea typeface="Consolas" pitchFamily="34" charset="-122"/>
                <a:cs typeface="Consolas" pitchFamily="34" charset="-120"/>
              </a:rPr>
              <a:t>  &lt;/categories&gt;</a:t>
            </a:r>
            <a:endParaRPr lang="en-US" sz="1030" dirty="0"/>
          </a:p>
          <a:p>
            <a:pPr marL="0" indent="0">
              <a:buNone/>
            </a:pPr>
            <a:r>
              <a:rPr lang="en-US" sz="1030" dirty="0">
                <a:solidFill>
                  <a:srgbClr val="D7E7F6"/>
                </a:solidFill>
                <a:latin typeface="Consolas" pitchFamily="34" charset="0"/>
                <a:ea typeface="Consolas" pitchFamily="34" charset="-122"/>
                <a:cs typeface="Consolas" pitchFamily="34" charset="-120"/>
              </a:rPr>
              <a:t>&lt;/llm-content-safety&gt;</a:t>
            </a:r>
            <a:endParaRPr lang="en-US" sz="1030" dirty="0"/>
          </a:p>
        </p:txBody>
      </p:sp>
      <p:sp>
        <p:nvSpPr>
          <p:cNvPr id="27" name="Text 25"/>
          <p:cNvSpPr/>
          <p:nvPr/>
        </p:nvSpPr>
        <p:spPr>
          <a:xfrm>
            <a:off x="4709160" y="4270248"/>
            <a:ext cx="6236208" cy="228600"/>
          </a:xfrm>
          <a:prstGeom prst="rect">
            <a:avLst/>
          </a:prstGeom>
          <a:noFill/>
          <a:ln/>
        </p:spPr>
        <p:txBody>
          <a:bodyPr wrap="square" lIns="0" tIns="0" rIns="0" bIns="0" rtlCol="0" anchor="ctr"/>
          <a:lstStyle/>
          <a:p>
            <a:pPr marL="0" indent="0">
              <a:buNone/>
            </a:pPr>
            <a:r>
              <a:rPr lang="en-US" sz="1100" dirty="0">
                <a:solidFill>
                  <a:srgbClr val="00B7C3"/>
                </a:solidFill>
                <a:latin typeface="Segoe UI Semibold" pitchFamily="34" charset="0"/>
                <a:ea typeface="Segoe UI Semibold" pitchFamily="34" charset="-122"/>
                <a:cs typeface="Segoe UI Semibold" pitchFamily="34" charset="-120"/>
              </a:rPr>
              <a:t>Demo: jailbreak blocked before it reaches gpt-5.4-nano.</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301752"/>
            <a:ext cx="3200400" cy="201168"/>
          </a:xfrm>
          <a:prstGeom prst="rect">
            <a:avLst/>
          </a:prstGeom>
          <a:noFill/>
          <a:ln/>
        </p:spPr>
        <p:txBody>
          <a:bodyPr wrap="square" lIns="0" tIns="0" rIns="0" bIns="0" rtlCol="0" anchor="ctr"/>
          <a:lstStyle/>
          <a:p>
            <a:pPr marL="0" indent="0">
              <a:buNone/>
            </a:pPr>
            <a:r>
              <a:rPr lang="en-US" sz="800" kern="0" spc="120" dirty="0">
                <a:solidFill>
                  <a:srgbClr val="00B7C3"/>
                </a:solidFill>
                <a:latin typeface="Segoe UI Semibold" pitchFamily="34" charset="0"/>
                <a:ea typeface="Segoe UI Semibold" pitchFamily="34" charset="-122"/>
                <a:cs typeface="Segoe UI Semibold" pitchFamily="34" charset="-120"/>
              </a:rPr>
              <a:t>CAPABILITIES</a:t>
            </a:r>
            <a:endParaRPr lang="en-US" sz="800" dirty="0"/>
          </a:p>
        </p:txBody>
      </p:sp>
      <p:sp>
        <p:nvSpPr>
          <p:cNvPr id="3" name="Text 1"/>
          <p:cNvSpPr/>
          <p:nvPr/>
        </p:nvSpPr>
        <p:spPr>
          <a:xfrm>
            <a:off x="457200" y="521208"/>
            <a:ext cx="7955280" cy="438912"/>
          </a:xfrm>
          <a:prstGeom prst="rect">
            <a:avLst/>
          </a:prstGeom>
          <a:noFill/>
          <a:ln/>
        </p:spPr>
        <p:txBody>
          <a:bodyPr wrap="square" lIns="0" tIns="0" rIns="0" bIns="0" rtlCol="0" anchor="ctr"/>
          <a:lstStyle/>
          <a:p>
            <a:pPr marL="0" indent="0">
              <a:buNone/>
            </a:pPr>
            <a:r>
              <a:rPr lang="en-US" sz="2500" dirty="0">
                <a:solidFill>
                  <a:srgbClr val="0B1E3F"/>
                </a:solidFill>
                <a:latin typeface="Segoe UI Semibold" pitchFamily="34" charset="0"/>
                <a:ea typeface="Segoe UI Semibold" pitchFamily="34" charset="-122"/>
                <a:cs typeface="Segoe UI Semibold" pitchFamily="34" charset="-120"/>
              </a:rPr>
              <a:t>Pillar 2 — Cost &amp; scale: token budgets as policy</a:t>
            </a:r>
            <a:endParaRPr lang="en-US" sz="2500" dirty="0"/>
          </a:p>
        </p:txBody>
      </p:sp>
      <p:sp>
        <p:nvSpPr>
          <p:cNvPr id="4" name="Shape 2"/>
          <p:cNvSpPr/>
          <p:nvPr/>
        </p:nvSpPr>
        <p:spPr>
          <a:xfrm>
            <a:off x="10698480" y="118872"/>
            <a:ext cx="1051560" cy="1051560"/>
          </a:xfrm>
          <a:prstGeom prst="arc">
            <a:avLst/>
          </a:prstGeom>
          <a:solidFill>
            <a:srgbClr val="F5F7FA">
              <a:alpha val="0"/>
            </a:srgbClr>
          </a:solidFill>
          <a:ln w="38100">
            <a:solidFill>
              <a:srgbClr val="00B7C3">
                <a:alpha val="90000"/>
              </a:srgbClr>
            </a:solidFill>
            <a:prstDash val="solid"/>
          </a:ln>
        </p:spPr>
      </p:sp>
      <p:sp>
        <p:nvSpPr>
          <p:cNvPr id="5" name="Text 3"/>
          <p:cNvSpPr/>
          <p:nvPr/>
        </p:nvSpPr>
        <p:spPr>
          <a:xfrm>
            <a:off x="457200" y="6473952"/>
            <a:ext cx="7955280" cy="164592"/>
          </a:xfrm>
          <a:prstGeom prst="rect">
            <a:avLst/>
          </a:prstGeom>
          <a:noFill/>
          <a:ln/>
        </p:spPr>
        <p:txBody>
          <a:bodyPr wrap="square" lIns="0" tIns="0" rIns="0" bIns="0" rtlCol="0" anchor="ctr"/>
          <a:lstStyle/>
          <a:p>
            <a:pPr marL="0" indent="0">
              <a:buNone/>
            </a:pPr>
            <a:r>
              <a:rPr lang="en-US" sz="750" dirty="0">
                <a:solidFill>
                  <a:srgbClr val="8A97A8"/>
                </a:solidFill>
                <a:latin typeface="Segoe UI" pitchFamily="34" charset="0"/>
                <a:ea typeface="Segoe UI" pitchFamily="34" charset="-122"/>
                <a:cs typeface="Segoe UI" pitchFamily="34" charset="-120"/>
              </a:rPr>
              <a:t>Azure API Management AI Gateway — Oct 2026</a:t>
            </a:r>
            <a:endParaRPr lang="en-US" sz="750" dirty="0"/>
          </a:p>
        </p:txBody>
      </p:sp>
      <p:sp>
        <p:nvSpPr>
          <p:cNvPr id="6" name="Text 4"/>
          <p:cNvSpPr/>
          <p:nvPr/>
        </p:nvSpPr>
        <p:spPr>
          <a:xfrm>
            <a:off x="11430000" y="6446520"/>
            <a:ext cx="320040" cy="164592"/>
          </a:xfrm>
          <a:prstGeom prst="rect">
            <a:avLst/>
          </a:prstGeom>
          <a:noFill/>
          <a:ln/>
        </p:spPr>
        <p:txBody>
          <a:bodyPr wrap="square" lIns="0" tIns="0" rIns="0" bIns="0" rtlCol="0" anchor="ctr"/>
          <a:lstStyle/>
          <a:p>
            <a:pPr marL="0" indent="0" algn="r">
              <a:buNone/>
            </a:pPr>
            <a:r>
              <a:rPr lang="en-US" sz="800" dirty="0">
                <a:solidFill>
                  <a:srgbClr val="8A97A8"/>
                </a:solidFill>
                <a:latin typeface="Segoe UI Semibold" pitchFamily="34" charset="0"/>
                <a:ea typeface="Segoe UI Semibold" pitchFamily="34" charset="-122"/>
                <a:cs typeface="Segoe UI Semibold" pitchFamily="34" charset="-120"/>
              </a:rPr>
              <a:t>12</a:t>
            </a:r>
            <a:endParaRPr lang="en-US" sz="800" dirty="0"/>
          </a:p>
        </p:txBody>
      </p:sp>
      <p:sp>
        <p:nvSpPr>
          <p:cNvPr id="7" name="Shape 5"/>
          <p:cNvSpPr/>
          <p:nvPr/>
        </p:nvSpPr>
        <p:spPr>
          <a:xfrm>
            <a:off x="685800" y="1078992"/>
            <a:ext cx="5806440" cy="3310128"/>
          </a:xfrm>
          <a:prstGeom prst="rect">
            <a:avLst/>
          </a:prstGeom>
          <a:solidFill>
            <a:srgbClr val="06152D"/>
          </a:solidFill>
          <a:ln w="12700">
            <a:solidFill>
              <a:srgbClr val="06152D"/>
            </a:solidFill>
            <a:prstDash val="solid"/>
          </a:ln>
          <a:effectLst>
            <a:outerShdw blurRad="38100" dist="12700" dir="2700000" algn="bl" rotWithShape="0">
              <a:srgbClr val="000000">
                <a:alpha val="10000"/>
              </a:srgbClr>
            </a:outerShdw>
          </a:effectLst>
        </p:spPr>
      </p:sp>
      <p:sp>
        <p:nvSpPr>
          <p:cNvPr id="8" name="Text 6"/>
          <p:cNvSpPr/>
          <p:nvPr/>
        </p:nvSpPr>
        <p:spPr>
          <a:xfrm>
            <a:off x="914400" y="1280160"/>
            <a:ext cx="5440680" cy="2468880"/>
          </a:xfrm>
          <a:prstGeom prst="rect">
            <a:avLst/>
          </a:prstGeom>
          <a:noFill/>
          <a:ln/>
        </p:spPr>
        <p:txBody>
          <a:bodyPr wrap="square" lIns="381" tIns="381" rIns="381" bIns="381" rtlCol="0" anchor="t"/>
          <a:lstStyle/>
          <a:p>
            <a:pPr marL="0" indent="0">
              <a:lnSpc>
                <a:spcPct val="115000"/>
              </a:lnSpc>
              <a:buNone/>
            </a:pPr>
            <a:r>
              <a:rPr lang="en-US" sz="1150" dirty="0">
                <a:solidFill>
                  <a:srgbClr val="D7E7F6"/>
                </a:solidFill>
                <a:latin typeface="Consolas" pitchFamily="34" charset="0"/>
                <a:ea typeface="Consolas" pitchFamily="34" charset="-122"/>
                <a:cs typeface="Consolas" pitchFamily="34" charset="-120"/>
              </a:rPr>
              <a:t>&lt;llm-token-limit counter-key="@(context.Subscription.Id)"</a:t>
            </a:r>
            <a:endParaRPr lang="en-US" sz="1150" dirty="0"/>
          </a:p>
          <a:p>
            <a:pPr marL="0" indent="0">
              <a:lnSpc>
                <a:spcPct val="115000"/>
              </a:lnSpc>
              <a:buNone/>
            </a:pPr>
            <a:r>
              <a:rPr lang="en-US" sz="1150" dirty="0">
                <a:solidFill>
                  <a:srgbClr val="D7E7F6"/>
                </a:solidFill>
                <a:latin typeface="Consolas" pitchFamily="34" charset="0"/>
                <a:ea typeface="Consolas" pitchFamily="34" charset="-122"/>
                <a:cs typeface="Consolas" pitchFamily="34" charset="-120"/>
              </a:rPr>
              <a:t>  tokens-per-minute="300"</a:t>
            </a:r>
            <a:endParaRPr lang="en-US" sz="1150" dirty="0"/>
          </a:p>
          <a:p>
            <a:pPr marL="0" indent="0">
              <a:lnSpc>
                <a:spcPct val="115000"/>
              </a:lnSpc>
              <a:buNone/>
            </a:pPr>
            <a:r>
              <a:rPr lang="en-US" sz="1150" dirty="0">
                <a:solidFill>
                  <a:srgbClr val="D7E7F6"/>
                </a:solidFill>
                <a:latin typeface="Consolas" pitchFamily="34" charset="0"/>
                <a:ea typeface="Consolas" pitchFamily="34" charset="-122"/>
                <a:cs typeface="Consolas" pitchFamily="34" charset="-120"/>
              </a:rPr>
              <a:t>  token-quota="100000"</a:t>
            </a:r>
            <a:endParaRPr lang="en-US" sz="1150" dirty="0"/>
          </a:p>
          <a:p>
            <a:pPr marL="0" indent="0">
              <a:lnSpc>
                <a:spcPct val="115000"/>
              </a:lnSpc>
              <a:buNone/>
            </a:pPr>
            <a:r>
              <a:rPr lang="en-US" sz="1150" dirty="0">
                <a:solidFill>
                  <a:srgbClr val="D7E7F6"/>
                </a:solidFill>
                <a:latin typeface="Consolas" pitchFamily="34" charset="0"/>
                <a:ea typeface="Consolas" pitchFamily="34" charset="-122"/>
                <a:cs typeface="Consolas" pitchFamily="34" charset="-120"/>
              </a:rPr>
              <a:t>  token-quota-period="Monthly"</a:t>
            </a:r>
            <a:endParaRPr lang="en-US" sz="1150" dirty="0"/>
          </a:p>
          <a:p>
            <a:pPr marL="0" indent="0">
              <a:lnSpc>
                <a:spcPct val="115000"/>
              </a:lnSpc>
              <a:buNone/>
            </a:pPr>
            <a:r>
              <a:rPr lang="en-US" sz="1150" dirty="0">
                <a:solidFill>
                  <a:srgbClr val="D7E7F6"/>
                </a:solidFill>
                <a:latin typeface="Consolas" pitchFamily="34" charset="0"/>
                <a:ea typeface="Consolas" pitchFamily="34" charset="-122"/>
                <a:cs typeface="Consolas" pitchFamily="34" charset="-120"/>
              </a:rPr>
              <a:t>  estimate-prompt-tokens="false"</a:t>
            </a:r>
            <a:endParaRPr lang="en-US" sz="1150" dirty="0"/>
          </a:p>
          <a:p>
            <a:pPr marL="0" indent="0">
              <a:lnSpc>
                <a:spcPct val="115000"/>
              </a:lnSpc>
              <a:buNone/>
            </a:pPr>
            <a:r>
              <a:rPr lang="en-US" sz="1150" dirty="0">
                <a:solidFill>
                  <a:srgbClr val="D7E7F6"/>
                </a:solidFill>
                <a:latin typeface="Consolas" pitchFamily="34" charset="0"/>
                <a:ea typeface="Consolas" pitchFamily="34" charset="-122"/>
                <a:cs typeface="Consolas" pitchFamily="34" charset="-120"/>
              </a:rPr>
              <a:t>  remaining-tokens-header-name="x-ratelimit-remaining-tokens"</a:t>
            </a:r>
            <a:endParaRPr lang="en-US" sz="1150" dirty="0"/>
          </a:p>
          <a:p>
            <a:pPr marL="0" indent="0">
              <a:lnSpc>
                <a:spcPct val="115000"/>
              </a:lnSpc>
              <a:buNone/>
            </a:pPr>
            <a:r>
              <a:rPr lang="en-US" sz="1150" dirty="0">
                <a:solidFill>
                  <a:srgbClr val="D7E7F6"/>
                </a:solidFill>
                <a:latin typeface="Consolas" pitchFamily="34" charset="0"/>
                <a:ea typeface="Consolas" pitchFamily="34" charset="-122"/>
                <a:cs typeface="Consolas" pitchFamily="34" charset="-120"/>
              </a:rPr>
              <a:t>  remaining-quota-tokens-header-name="x-quota-remaining-tokens"</a:t>
            </a:r>
            <a:endParaRPr lang="en-US" sz="1150" dirty="0"/>
          </a:p>
          <a:p>
            <a:pPr marL="0" indent="0">
              <a:lnSpc>
                <a:spcPct val="115000"/>
              </a:lnSpc>
              <a:buNone/>
            </a:pPr>
            <a:r>
              <a:rPr lang="en-US" sz="1150" dirty="0">
                <a:solidFill>
                  <a:srgbClr val="D7E7F6"/>
                </a:solidFill>
                <a:latin typeface="Consolas" pitchFamily="34" charset="0"/>
                <a:ea typeface="Consolas" pitchFamily="34" charset="-122"/>
                <a:cs typeface="Consolas" pitchFamily="34" charset="-120"/>
              </a:rPr>
              <a:t>  tokens-consumed-header-name="x-tokens-consumed" /&gt;</a:t>
            </a:r>
            <a:endParaRPr lang="en-US" sz="1150" dirty="0"/>
          </a:p>
        </p:txBody>
      </p:sp>
      <p:sp>
        <p:nvSpPr>
          <p:cNvPr id="9" name="Text 7"/>
          <p:cNvSpPr/>
          <p:nvPr/>
        </p:nvSpPr>
        <p:spPr>
          <a:xfrm>
            <a:off x="914400" y="4050792"/>
            <a:ext cx="5074920" cy="164592"/>
          </a:xfrm>
          <a:prstGeom prst="rect">
            <a:avLst/>
          </a:prstGeom>
          <a:noFill/>
          <a:ln/>
        </p:spPr>
        <p:txBody>
          <a:bodyPr wrap="square" lIns="0" tIns="0" rIns="0" bIns="0" rtlCol="0" anchor="ctr"/>
          <a:lstStyle/>
          <a:p>
            <a:pPr marL="0" indent="0">
              <a:buNone/>
            </a:pPr>
            <a:r>
              <a:rPr lang="en-US" sz="1020" dirty="0">
                <a:solidFill>
                  <a:srgbClr val="FFB900"/>
                </a:solidFill>
                <a:latin typeface="Segoe UI Semibold" pitchFamily="34" charset="0"/>
                <a:ea typeface="Segoe UI Semibold" pitchFamily="34" charset="-122"/>
                <a:cs typeface="Segoe UI Semibold" pitchFamily="34" charset="-120"/>
              </a:rPr>
              <a:t>Bronze sandbox: 300 tokens/min · 100K/month</a:t>
            </a:r>
            <a:endParaRPr lang="en-US" sz="1020" dirty="0"/>
          </a:p>
        </p:txBody>
      </p:sp>
      <p:sp>
        <p:nvSpPr>
          <p:cNvPr id="10" name="Shape 8"/>
          <p:cNvSpPr/>
          <p:nvPr/>
        </p:nvSpPr>
        <p:spPr>
          <a:xfrm>
            <a:off x="6903720" y="1143000"/>
            <a:ext cx="2011680" cy="1143000"/>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11" name="Shape 9"/>
          <p:cNvSpPr/>
          <p:nvPr/>
        </p:nvSpPr>
        <p:spPr>
          <a:xfrm>
            <a:off x="6903720" y="1143000"/>
            <a:ext cx="73152" cy="1143000"/>
          </a:xfrm>
          <a:prstGeom prst="rect">
            <a:avLst/>
          </a:prstGeom>
          <a:solidFill>
            <a:srgbClr val="00B7C3"/>
          </a:solidFill>
          <a:ln w="12700">
            <a:solidFill>
              <a:srgbClr val="00B7C3"/>
            </a:solidFill>
            <a:prstDash val="solid"/>
          </a:ln>
        </p:spPr>
      </p:sp>
      <p:sp>
        <p:nvSpPr>
          <p:cNvPr id="12" name="Text 10"/>
          <p:cNvSpPr/>
          <p:nvPr/>
        </p:nvSpPr>
        <p:spPr>
          <a:xfrm>
            <a:off x="7086600" y="1280160"/>
            <a:ext cx="169164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Semantic caching</a:t>
            </a:r>
            <a:endParaRPr lang="en-US" sz="1250" dirty="0"/>
          </a:p>
        </p:txBody>
      </p:sp>
      <p:sp>
        <p:nvSpPr>
          <p:cNvPr id="13" name="Text 11"/>
          <p:cNvSpPr/>
          <p:nvPr/>
        </p:nvSpPr>
        <p:spPr>
          <a:xfrm>
            <a:off x="7086600" y="1600200"/>
            <a:ext cx="1691640" cy="594360"/>
          </a:xfrm>
          <a:prstGeom prst="rect">
            <a:avLst/>
          </a:prstGeom>
          <a:noFill/>
          <a:ln/>
        </p:spPr>
        <p:txBody>
          <a:bodyPr wrap="square" lIns="635" tIns="635" rIns="635" bIns="635" rtlCol="0" anchor="ctr">
            <a:normAutofit/>
          </a:bodyPr>
          <a:lstStyle/>
          <a:p>
            <a:pPr marL="0" indent="0">
              <a:buNone/>
            </a:pPr>
            <a:r>
              <a:rPr lang="en-US" sz="910" dirty="0">
                <a:solidFill>
                  <a:srgbClr val="3B4A5E"/>
                </a:solidFill>
                <a:latin typeface="Segoe UI" pitchFamily="34" charset="0"/>
                <a:ea typeface="Segoe UI" pitchFamily="34" charset="-122"/>
                <a:cs typeface="Segoe UI" pitchFamily="34" charset="-120"/>
              </a:rPr>
              <a:t>Reuse similar completions with Managed Redis.</a:t>
            </a:r>
            <a:endParaRPr lang="en-US" sz="910" dirty="0"/>
          </a:p>
        </p:txBody>
      </p:sp>
      <p:sp>
        <p:nvSpPr>
          <p:cNvPr id="14" name="Shape 12"/>
          <p:cNvSpPr/>
          <p:nvPr/>
        </p:nvSpPr>
        <p:spPr>
          <a:xfrm>
            <a:off x="9281160" y="1143000"/>
            <a:ext cx="2011680" cy="1143000"/>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15" name="Shape 13"/>
          <p:cNvSpPr/>
          <p:nvPr/>
        </p:nvSpPr>
        <p:spPr>
          <a:xfrm>
            <a:off x="9281160" y="1143000"/>
            <a:ext cx="73152" cy="1143000"/>
          </a:xfrm>
          <a:prstGeom prst="rect">
            <a:avLst/>
          </a:prstGeom>
          <a:solidFill>
            <a:srgbClr val="0078D4"/>
          </a:solidFill>
          <a:ln w="12700">
            <a:solidFill>
              <a:srgbClr val="0078D4"/>
            </a:solidFill>
            <a:prstDash val="solid"/>
          </a:ln>
        </p:spPr>
      </p:sp>
      <p:sp>
        <p:nvSpPr>
          <p:cNvPr id="16" name="Text 14"/>
          <p:cNvSpPr/>
          <p:nvPr/>
        </p:nvSpPr>
        <p:spPr>
          <a:xfrm>
            <a:off x="9464040" y="1280160"/>
            <a:ext cx="169164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PTU-first</a:t>
            </a:r>
            <a:endParaRPr lang="en-US" sz="1250" dirty="0"/>
          </a:p>
        </p:txBody>
      </p:sp>
      <p:sp>
        <p:nvSpPr>
          <p:cNvPr id="17" name="Text 15"/>
          <p:cNvSpPr/>
          <p:nvPr/>
        </p:nvSpPr>
        <p:spPr>
          <a:xfrm>
            <a:off x="9464040" y="1600200"/>
            <a:ext cx="1691640" cy="594360"/>
          </a:xfrm>
          <a:prstGeom prst="rect">
            <a:avLst/>
          </a:prstGeom>
          <a:noFill/>
          <a:ln/>
        </p:spPr>
        <p:txBody>
          <a:bodyPr wrap="square" lIns="635" tIns="635" rIns="635" bIns="635" rtlCol="0" anchor="ctr">
            <a:normAutofit/>
          </a:bodyPr>
          <a:lstStyle/>
          <a:p>
            <a:pPr marL="0" indent="0">
              <a:buNone/>
            </a:pPr>
            <a:r>
              <a:rPr lang="en-US" sz="870" dirty="0">
                <a:solidFill>
                  <a:srgbClr val="3B4A5E"/>
                </a:solidFill>
                <a:latin typeface="Segoe UI" pitchFamily="34" charset="0"/>
                <a:ea typeface="Segoe UI" pitchFamily="34" charset="-122"/>
                <a:cs typeface="Segoe UI" pitchFamily="34" charset="-120"/>
              </a:rPr>
              <a:t>Use priority routing for reserved capacity, spill over when needed.</a:t>
            </a:r>
            <a:endParaRPr lang="en-US" sz="870" dirty="0"/>
          </a:p>
        </p:txBody>
      </p:sp>
      <p:sp>
        <p:nvSpPr>
          <p:cNvPr id="18" name="Shape 16"/>
          <p:cNvSpPr/>
          <p:nvPr/>
        </p:nvSpPr>
        <p:spPr>
          <a:xfrm>
            <a:off x="6903720" y="2743200"/>
            <a:ext cx="2011680" cy="1143000"/>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19" name="Shape 17"/>
          <p:cNvSpPr/>
          <p:nvPr/>
        </p:nvSpPr>
        <p:spPr>
          <a:xfrm>
            <a:off x="6903720" y="2743200"/>
            <a:ext cx="73152" cy="1143000"/>
          </a:xfrm>
          <a:prstGeom prst="rect">
            <a:avLst/>
          </a:prstGeom>
          <a:solidFill>
            <a:srgbClr val="FFB900"/>
          </a:solidFill>
          <a:ln w="12700">
            <a:solidFill>
              <a:srgbClr val="FFB900"/>
            </a:solidFill>
            <a:prstDash val="solid"/>
          </a:ln>
        </p:spPr>
      </p:sp>
      <p:sp>
        <p:nvSpPr>
          <p:cNvPr id="20" name="Text 18"/>
          <p:cNvSpPr/>
          <p:nvPr/>
        </p:nvSpPr>
        <p:spPr>
          <a:xfrm>
            <a:off x="7086600" y="2880360"/>
            <a:ext cx="169164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Headers</a:t>
            </a:r>
            <a:endParaRPr lang="en-US" sz="1250" dirty="0"/>
          </a:p>
        </p:txBody>
      </p:sp>
      <p:sp>
        <p:nvSpPr>
          <p:cNvPr id="21" name="Text 19"/>
          <p:cNvSpPr/>
          <p:nvPr/>
        </p:nvSpPr>
        <p:spPr>
          <a:xfrm>
            <a:off x="7086600" y="3200400"/>
            <a:ext cx="1691640" cy="594360"/>
          </a:xfrm>
          <a:prstGeom prst="rect">
            <a:avLst/>
          </a:prstGeom>
          <a:noFill/>
          <a:ln/>
        </p:spPr>
        <p:txBody>
          <a:bodyPr wrap="square" lIns="635" tIns="635" rIns="635" bIns="635" rtlCol="0" anchor="ctr">
            <a:normAutofit/>
          </a:bodyPr>
          <a:lstStyle/>
          <a:p>
            <a:pPr marL="0" indent="0">
              <a:buNone/>
            </a:pPr>
            <a:r>
              <a:rPr lang="en-US" sz="790" dirty="0">
                <a:solidFill>
                  <a:srgbClr val="3B4A5E"/>
                </a:solidFill>
                <a:latin typeface="Segoe UI" pitchFamily="34" charset="0"/>
                <a:ea typeface="Segoe UI" pitchFamily="34" charset="-122"/>
                <a:cs typeface="Segoe UI" pitchFamily="34" charset="-120"/>
              </a:rPr>
              <a:t>x-ratelimit-remaining-tokens, x-quota-remaining-tokens and x-tokens-consumed.</a:t>
            </a:r>
            <a:endParaRPr lang="en-US" sz="790" dirty="0"/>
          </a:p>
        </p:txBody>
      </p:sp>
      <p:sp>
        <p:nvSpPr>
          <p:cNvPr id="22" name="Shape 20"/>
          <p:cNvSpPr/>
          <p:nvPr/>
        </p:nvSpPr>
        <p:spPr>
          <a:xfrm>
            <a:off x="9281160" y="2743200"/>
            <a:ext cx="2011680" cy="1143000"/>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23" name="Shape 21"/>
          <p:cNvSpPr/>
          <p:nvPr/>
        </p:nvSpPr>
        <p:spPr>
          <a:xfrm>
            <a:off x="9281160" y="2743200"/>
            <a:ext cx="73152" cy="1143000"/>
          </a:xfrm>
          <a:prstGeom prst="rect">
            <a:avLst/>
          </a:prstGeom>
          <a:solidFill>
            <a:srgbClr val="00B7C3"/>
          </a:solidFill>
          <a:ln w="12700">
            <a:solidFill>
              <a:srgbClr val="00B7C3"/>
            </a:solidFill>
            <a:prstDash val="solid"/>
          </a:ln>
        </p:spPr>
      </p:sp>
      <p:sp>
        <p:nvSpPr>
          <p:cNvPr id="24" name="Text 22"/>
          <p:cNvSpPr/>
          <p:nvPr/>
        </p:nvSpPr>
        <p:spPr>
          <a:xfrm>
            <a:off x="9464040" y="2880360"/>
            <a:ext cx="169164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Chargeback</a:t>
            </a:r>
            <a:endParaRPr lang="en-US" sz="1250" dirty="0"/>
          </a:p>
        </p:txBody>
      </p:sp>
      <p:sp>
        <p:nvSpPr>
          <p:cNvPr id="25" name="Text 23"/>
          <p:cNvSpPr/>
          <p:nvPr/>
        </p:nvSpPr>
        <p:spPr>
          <a:xfrm>
            <a:off x="9464040" y="3200400"/>
            <a:ext cx="1691640" cy="594360"/>
          </a:xfrm>
          <a:prstGeom prst="rect">
            <a:avLst/>
          </a:prstGeom>
          <a:noFill/>
          <a:ln/>
        </p:spPr>
        <p:txBody>
          <a:bodyPr wrap="square" lIns="635" tIns="635" rIns="635" bIns="635" rtlCol="0" anchor="ctr">
            <a:normAutofit/>
          </a:bodyPr>
          <a:lstStyle/>
          <a:p>
            <a:pPr marL="0" indent="0">
              <a:buNone/>
            </a:pPr>
            <a:r>
              <a:rPr lang="en-US" sz="870" dirty="0">
                <a:solidFill>
                  <a:srgbClr val="3B4A5E"/>
                </a:solidFill>
                <a:latin typeface="Segoe UI" pitchFamily="34" charset="0"/>
                <a:ea typeface="Segoe UI" pitchFamily="34" charset="-122"/>
                <a:cs typeface="Segoe UI" pitchFamily="34" charset="-120"/>
              </a:rPr>
              <a:t>Product and subscription dimensions map cost to teams.</a:t>
            </a:r>
            <a:endParaRPr lang="en-US" sz="870" dirty="0"/>
          </a:p>
        </p:txBody>
      </p:sp>
      <p:sp>
        <p:nvSpPr>
          <p:cNvPr id="26" name="Text 24"/>
          <p:cNvSpPr/>
          <p:nvPr/>
        </p:nvSpPr>
        <p:spPr>
          <a:xfrm>
            <a:off x="6400800" y="4663440"/>
            <a:ext cx="4663440" cy="411480"/>
          </a:xfrm>
          <a:prstGeom prst="rect">
            <a:avLst/>
          </a:prstGeom>
          <a:noFill/>
          <a:ln/>
        </p:spPr>
        <p:txBody>
          <a:bodyPr wrap="square" lIns="0" tIns="0" rIns="0" bIns="0" rtlCol="0" anchor="ctr">
            <a:normAutofit/>
          </a:bodyPr>
          <a:lstStyle/>
          <a:p>
            <a:pPr marL="0" indent="0">
              <a:buNone/>
            </a:pPr>
            <a:r>
              <a:rPr lang="en-US" sz="1500" dirty="0">
                <a:solidFill>
                  <a:srgbClr val="0B1E3F"/>
                </a:solidFill>
                <a:latin typeface="Segoe UI Semibold" pitchFamily="34" charset="0"/>
                <a:ea typeface="Segoe UI Semibold" pitchFamily="34" charset="-122"/>
                <a:cs typeface="Segoe UI Semibold" pitchFamily="34" charset="-120"/>
              </a:rPr>
              <a:t>Cost controls apply before the model call, not after finance receives the bill.</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301752"/>
            <a:ext cx="3200400" cy="201168"/>
          </a:xfrm>
          <a:prstGeom prst="rect">
            <a:avLst/>
          </a:prstGeom>
          <a:noFill/>
          <a:ln/>
        </p:spPr>
        <p:txBody>
          <a:bodyPr wrap="square" lIns="0" tIns="0" rIns="0" bIns="0" rtlCol="0" anchor="ctr"/>
          <a:lstStyle/>
          <a:p>
            <a:pPr marL="0" indent="0">
              <a:buNone/>
            </a:pPr>
            <a:r>
              <a:rPr lang="en-US" sz="800" kern="0" spc="120" dirty="0">
                <a:solidFill>
                  <a:srgbClr val="00B7C3"/>
                </a:solidFill>
                <a:latin typeface="Segoe UI Semibold" pitchFamily="34" charset="0"/>
                <a:ea typeface="Segoe UI Semibold" pitchFamily="34" charset="-122"/>
                <a:cs typeface="Segoe UI Semibold" pitchFamily="34" charset="-120"/>
              </a:rPr>
              <a:t>CAPABILITIES</a:t>
            </a:r>
            <a:endParaRPr lang="en-US" sz="800" dirty="0"/>
          </a:p>
        </p:txBody>
      </p:sp>
      <p:sp>
        <p:nvSpPr>
          <p:cNvPr id="3" name="Text 1"/>
          <p:cNvSpPr/>
          <p:nvPr/>
        </p:nvSpPr>
        <p:spPr>
          <a:xfrm>
            <a:off x="457200" y="521208"/>
            <a:ext cx="7955280" cy="438912"/>
          </a:xfrm>
          <a:prstGeom prst="rect">
            <a:avLst/>
          </a:prstGeom>
          <a:noFill/>
          <a:ln/>
        </p:spPr>
        <p:txBody>
          <a:bodyPr wrap="square" lIns="0" tIns="0" rIns="0" bIns="0" rtlCol="0" anchor="ctr"/>
          <a:lstStyle/>
          <a:p>
            <a:pPr marL="0" indent="0">
              <a:buNone/>
            </a:pPr>
            <a:r>
              <a:rPr lang="en-US" sz="2500" dirty="0">
                <a:solidFill>
                  <a:srgbClr val="0B1E3F"/>
                </a:solidFill>
                <a:latin typeface="Segoe UI Semibold" pitchFamily="34" charset="0"/>
                <a:ea typeface="Segoe UI Semibold" pitchFamily="34" charset="-122"/>
                <a:cs typeface="Segoe UI Semibold" pitchFamily="34" charset="-120"/>
              </a:rPr>
              <a:t>Pillar 3 — Resiliency: pools, retry and circuit breaker</a:t>
            </a:r>
            <a:endParaRPr lang="en-US" sz="2500" dirty="0"/>
          </a:p>
        </p:txBody>
      </p:sp>
      <p:sp>
        <p:nvSpPr>
          <p:cNvPr id="4" name="Shape 2"/>
          <p:cNvSpPr/>
          <p:nvPr/>
        </p:nvSpPr>
        <p:spPr>
          <a:xfrm>
            <a:off x="10698480" y="118872"/>
            <a:ext cx="1051560" cy="1051560"/>
          </a:xfrm>
          <a:prstGeom prst="arc">
            <a:avLst/>
          </a:prstGeom>
          <a:solidFill>
            <a:srgbClr val="F5F7FA">
              <a:alpha val="0"/>
            </a:srgbClr>
          </a:solidFill>
          <a:ln w="38100">
            <a:solidFill>
              <a:srgbClr val="00B7C3">
                <a:alpha val="90000"/>
              </a:srgbClr>
            </a:solidFill>
            <a:prstDash val="solid"/>
          </a:ln>
        </p:spPr>
      </p:sp>
      <p:sp>
        <p:nvSpPr>
          <p:cNvPr id="5" name="Text 3"/>
          <p:cNvSpPr/>
          <p:nvPr/>
        </p:nvSpPr>
        <p:spPr>
          <a:xfrm>
            <a:off x="457200" y="6473952"/>
            <a:ext cx="7955280" cy="164592"/>
          </a:xfrm>
          <a:prstGeom prst="rect">
            <a:avLst/>
          </a:prstGeom>
          <a:noFill/>
          <a:ln/>
        </p:spPr>
        <p:txBody>
          <a:bodyPr wrap="square" lIns="0" tIns="0" rIns="0" bIns="0" rtlCol="0" anchor="ctr"/>
          <a:lstStyle/>
          <a:p>
            <a:pPr marL="0" indent="0">
              <a:buNone/>
            </a:pPr>
            <a:r>
              <a:rPr lang="en-US" sz="750" dirty="0">
                <a:solidFill>
                  <a:srgbClr val="8A97A8"/>
                </a:solidFill>
                <a:latin typeface="Segoe UI" pitchFamily="34" charset="0"/>
                <a:ea typeface="Segoe UI" pitchFamily="34" charset="-122"/>
                <a:cs typeface="Segoe UI" pitchFamily="34" charset="-120"/>
              </a:rPr>
              <a:t>Azure API Management AI Gateway — Oct 2026</a:t>
            </a:r>
            <a:endParaRPr lang="en-US" sz="750" dirty="0"/>
          </a:p>
        </p:txBody>
      </p:sp>
      <p:sp>
        <p:nvSpPr>
          <p:cNvPr id="6" name="Text 4"/>
          <p:cNvSpPr/>
          <p:nvPr/>
        </p:nvSpPr>
        <p:spPr>
          <a:xfrm>
            <a:off x="11430000" y="6446520"/>
            <a:ext cx="320040" cy="164592"/>
          </a:xfrm>
          <a:prstGeom prst="rect">
            <a:avLst/>
          </a:prstGeom>
          <a:noFill/>
          <a:ln/>
        </p:spPr>
        <p:txBody>
          <a:bodyPr wrap="square" lIns="0" tIns="0" rIns="0" bIns="0" rtlCol="0" anchor="ctr"/>
          <a:lstStyle/>
          <a:p>
            <a:pPr marL="0" indent="0" algn="r">
              <a:buNone/>
            </a:pPr>
            <a:r>
              <a:rPr lang="en-US" sz="800" dirty="0">
                <a:solidFill>
                  <a:srgbClr val="8A97A8"/>
                </a:solidFill>
                <a:latin typeface="Segoe UI Semibold" pitchFamily="34" charset="0"/>
                <a:ea typeface="Segoe UI Semibold" pitchFamily="34" charset="-122"/>
                <a:cs typeface="Segoe UI Semibold" pitchFamily="34" charset="-120"/>
              </a:rPr>
              <a:t>13</a:t>
            </a:r>
            <a:endParaRPr lang="en-US" sz="800" dirty="0"/>
          </a:p>
        </p:txBody>
      </p:sp>
      <p:sp>
        <p:nvSpPr>
          <p:cNvPr id="7" name="Shape 5"/>
          <p:cNvSpPr/>
          <p:nvPr/>
        </p:nvSpPr>
        <p:spPr>
          <a:xfrm>
            <a:off x="822960" y="1234440"/>
            <a:ext cx="1920240" cy="621792"/>
          </a:xfrm>
          <a:prstGeom prst="roundRect">
            <a:avLst>
              <a:gd name="adj" fmla="val 11765"/>
            </a:avLst>
          </a:prstGeom>
          <a:solidFill>
            <a:srgbClr val="3B4A5E"/>
          </a:solidFill>
          <a:ln w="12700">
            <a:solidFill>
              <a:srgbClr val="3B4A5E"/>
            </a:solidFill>
            <a:prstDash val="solid"/>
          </a:ln>
        </p:spPr>
      </p:sp>
      <p:sp>
        <p:nvSpPr>
          <p:cNvPr id="8" name="Text 6"/>
          <p:cNvSpPr/>
          <p:nvPr/>
        </p:nvSpPr>
        <p:spPr>
          <a:xfrm>
            <a:off x="896112" y="1417320"/>
            <a:ext cx="1773936" cy="164592"/>
          </a:xfrm>
          <a:prstGeom prst="rect">
            <a:avLst/>
          </a:prstGeom>
          <a:noFill/>
          <a:ln/>
        </p:spPr>
        <p:txBody>
          <a:bodyPr wrap="square" lIns="0" tIns="0" rIns="0" bIns="0" rtlCol="0" anchor="ctr">
            <a:normAutofit/>
          </a:bodyPr>
          <a:lstStyle/>
          <a:p>
            <a:pPr marL="0" indent="0" algn="ctr">
              <a:buNone/>
            </a:pPr>
            <a:r>
              <a:rPr lang="en-US" sz="880" dirty="0">
                <a:solidFill>
                  <a:srgbClr val="FFFFFF"/>
                </a:solidFill>
                <a:latin typeface="Segoe UI Semibold" pitchFamily="34" charset="0"/>
                <a:ea typeface="Segoe UI Semibold" pitchFamily="34" charset="-122"/>
                <a:cs typeface="Segoe UI Semibold" pitchFamily="34" charset="-120"/>
              </a:rPr>
              <a:t>Client</a:t>
            </a:r>
            <a:endParaRPr lang="en-US" sz="880" dirty="0"/>
          </a:p>
        </p:txBody>
      </p:sp>
      <p:sp>
        <p:nvSpPr>
          <p:cNvPr id="9" name="Shape 7"/>
          <p:cNvSpPr/>
          <p:nvPr/>
        </p:nvSpPr>
        <p:spPr>
          <a:xfrm>
            <a:off x="2788920" y="1545336"/>
            <a:ext cx="347472" cy="0"/>
          </a:xfrm>
          <a:prstGeom prst="line">
            <a:avLst/>
          </a:prstGeom>
          <a:noFill/>
          <a:ln w="17780">
            <a:solidFill>
              <a:srgbClr val="3B4A5E"/>
            </a:solidFill>
            <a:prstDash val="solid"/>
            <a:headEnd type="none"/>
            <a:tailEnd type="triangle"/>
          </a:ln>
        </p:spPr>
      </p:sp>
      <p:sp>
        <p:nvSpPr>
          <p:cNvPr id="10" name="Shape 8"/>
          <p:cNvSpPr/>
          <p:nvPr/>
        </p:nvSpPr>
        <p:spPr>
          <a:xfrm>
            <a:off x="3182112" y="1234440"/>
            <a:ext cx="1920240" cy="621792"/>
          </a:xfrm>
          <a:prstGeom prst="roundRect">
            <a:avLst>
              <a:gd name="adj" fmla="val 11765"/>
            </a:avLst>
          </a:prstGeom>
          <a:solidFill>
            <a:srgbClr val="0078D4"/>
          </a:solidFill>
          <a:ln w="12700">
            <a:solidFill>
              <a:srgbClr val="0078D4"/>
            </a:solidFill>
            <a:prstDash val="solid"/>
          </a:ln>
        </p:spPr>
      </p:sp>
      <p:sp>
        <p:nvSpPr>
          <p:cNvPr id="11" name="Text 9"/>
          <p:cNvSpPr/>
          <p:nvPr/>
        </p:nvSpPr>
        <p:spPr>
          <a:xfrm>
            <a:off x="3255264" y="1417320"/>
            <a:ext cx="1773936" cy="164592"/>
          </a:xfrm>
          <a:prstGeom prst="rect">
            <a:avLst/>
          </a:prstGeom>
          <a:noFill/>
          <a:ln/>
        </p:spPr>
        <p:txBody>
          <a:bodyPr wrap="square" lIns="0" tIns="0" rIns="0" bIns="0" rtlCol="0" anchor="ctr">
            <a:normAutofit/>
          </a:bodyPr>
          <a:lstStyle/>
          <a:p>
            <a:pPr marL="0" indent="0" algn="ctr">
              <a:buNone/>
            </a:pPr>
            <a:r>
              <a:rPr lang="en-US" sz="880" dirty="0">
                <a:solidFill>
                  <a:srgbClr val="FFFFFF"/>
                </a:solidFill>
                <a:latin typeface="Segoe UI Semibold" pitchFamily="34" charset="0"/>
                <a:ea typeface="Segoe UI Semibold" pitchFamily="34" charset="-122"/>
                <a:cs typeface="Segoe UI Semibold" pitchFamily="34" charset="-120"/>
              </a:rPr>
              <a:t>APIM retry</a:t>
            </a:r>
            <a:endParaRPr lang="en-US" sz="880" dirty="0"/>
          </a:p>
        </p:txBody>
      </p:sp>
      <p:sp>
        <p:nvSpPr>
          <p:cNvPr id="12" name="Shape 10"/>
          <p:cNvSpPr/>
          <p:nvPr/>
        </p:nvSpPr>
        <p:spPr>
          <a:xfrm>
            <a:off x="5148072" y="1545336"/>
            <a:ext cx="347472" cy="0"/>
          </a:xfrm>
          <a:prstGeom prst="line">
            <a:avLst/>
          </a:prstGeom>
          <a:noFill/>
          <a:ln w="17780">
            <a:solidFill>
              <a:srgbClr val="3B4A5E"/>
            </a:solidFill>
            <a:prstDash val="solid"/>
            <a:headEnd type="none"/>
            <a:tailEnd type="triangle"/>
          </a:ln>
        </p:spPr>
      </p:sp>
      <p:sp>
        <p:nvSpPr>
          <p:cNvPr id="13" name="Shape 11"/>
          <p:cNvSpPr/>
          <p:nvPr/>
        </p:nvSpPr>
        <p:spPr>
          <a:xfrm>
            <a:off x="5541264" y="1234440"/>
            <a:ext cx="1920240" cy="621792"/>
          </a:xfrm>
          <a:prstGeom prst="roundRect">
            <a:avLst>
              <a:gd name="adj" fmla="val 11765"/>
            </a:avLst>
          </a:prstGeom>
          <a:solidFill>
            <a:srgbClr val="00B7C3"/>
          </a:solidFill>
          <a:ln w="12700">
            <a:solidFill>
              <a:srgbClr val="00B7C3"/>
            </a:solidFill>
            <a:prstDash val="solid"/>
          </a:ln>
        </p:spPr>
      </p:sp>
      <p:sp>
        <p:nvSpPr>
          <p:cNvPr id="14" name="Text 12"/>
          <p:cNvSpPr/>
          <p:nvPr/>
        </p:nvSpPr>
        <p:spPr>
          <a:xfrm>
            <a:off x="5614416" y="1417320"/>
            <a:ext cx="1773936" cy="164592"/>
          </a:xfrm>
          <a:prstGeom prst="rect">
            <a:avLst/>
          </a:prstGeom>
          <a:noFill/>
          <a:ln/>
        </p:spPr>
        <p:txBody>
          <a:bodyPr wrap="square" lIns="0" tIns="0" rIns="0" bIns="0" rtlCol="0" anchor="ctr">
            <a:normAutofit/>
          </a:bodyPr>
          <a:lstStyle/>
          <a:p>
            <a:pPr marL="0" indent="0" algn="ctr">
              <a:buNone/>
            </a:pPr>
            <a:r>
              <a:rPr lang="en-US" sz="880" dirty="0">
                <a:solidFill>
                  <a:srgbClr val="0B1E3F"/>
                </a:solidFill>
                <a:latin typeface="Segoe UI Semibold" pitchFamily="34" charset="0"/>
                <a:ea typeface="Segoe UI Semibold" pitchFamily="34" charset="-122"/>
                <a:cs typeface="Segoe UI Semibold" pitchFamily="34" charset="-120"/>
              </a:rPr>
              <a:t>foundry-pool</a:t>
            </a:r>
            <a:endParaRPr lang="en-US" sz="880" dirty="0"/>
          </a:p>
        </p:txBody>
      </p:sp>
      <p:sp>
        <p:nvSpPr>
          <p:cNvPr id="15" name="Shape 13"/>
          <p:cNvSpPr/>
          <p:nvPr/>
        </p:nvSpPr>
        <p:spPr>
          <a:xfrm>
            <a:off x="7406640" y="1005840"/>
            <a:ext cx="1508760" cy="685800"/>
          </a:xfrm>
          <a:prstGeom prst="roundRect">
            <a:avLst>
              <a:gd name="adj" fmla="val 10667"/>
            </a:avLst>
          </a:prstGeom>
          <a:solidFill>
            <a:srgbClr val="E5F1FB"/>
          </a:solidFill>
          <a:ln w="15240">
            <a:solidFill>
              <a:srgbClr val="0078D4"/>
            </a:solidFill>
            <a:prstDash val="solid"/>
          </a:ln>
        </p:spPr>
      </p:sp>
      <p:sp>
        <p:nvSpPr>
          <p:cNvPr id="16" name="Text 14"/>
          <p:cNvSpPr/>
          <p:nvPr/>
        </p:nvSpPr>
        <p:spPr>
          <a:xfrm>
            <a:off x="7516368" y="1161288"/>
            <a:ext cx="1280160" cy="256032"/>
          </a:xfrm>
          <a:prstGeom prst="rect">
            <a:avLst/>
          </a:prstGeom>
          <a:noFill/>
          <a:ln/>
        </p:spPr>
        <p:txBody>
          <a:bodyPr wrap="square" lIns="0" tIns="0" rIns="0" bIns="0" rtlCol="0" anchor="ctr">
            <a:normAutofit/>
          </a:bodyPr>
          <a:lstStyle/>
          <a:p>
            <a:pPr marL="0" indent="0" algn="ctr">
              <a:buNone/>
            </a:pPr>
            <a:r>
              <a:rPr lang="en-US" sz="1000" dirty="0">
                <a:solidFill>
                  <a:srgbClr val="0B1E3F"/>
                </a:solidFill>
                <a:latin typeface="Segoe UI Semibold" pitchFamily="34" charset="0"/>
                <a:ea typeface="Segoe UI Semibold" pitchFamily="34" charset="-122"/>
                <a:cs typeface="Segoe UI Semibold" pitchFamily="34" charset="-120"/>
              </a:rPr>
              <a:t>Sweden</a:t>
            </a:r>
            <a:endParaRPr lang="en-US" sz="1000" dirty="0"/>
          </a:p>
          <a:p>
            <a:pPr marL="0" indent="0" algn="ctr">
              <a:buNone/>
            </a:pPr>
            <a:r>
              <a:rPr lang="en-US" sz="1000" dirty="0">
                <a:solidFill>
                  <a:srgbClr val="0B1E3F"/>
                </a:solidFill>
                <a:latin typeface="Segoe UI Semibold" pitchFamily="34" charset="0"/>
                <a:ea typeface="Segoe UI Semibold" pitchFamily="34" charset="-122"/>
                <a:cs typeface="Segoe UI Semibold" pitchFamily="34" charset="-120"/>
              </a:rPr>
              <a:t>Central</a:t>
            </a:r>
            <a:endParaRPr lang="en-US" sz="1000" dirty="0"/>
          </a:p>
        </p:txBody>
      </p:sp>
      <p:sp>
        <p:nvSpPr>
          <p:cNvPr id="17" name="Shape 15"/>
          <p:cNvSpPr/>
          <p:nvPr/>
        </p:nvSpPr>
        <p:spPr>
          <a:xfrm>
            <a:off x="9528048" y="1005840"/>
            <a:ext cx="1508760" cy="685800"/>
          </a:xfrm>
          <a:prstGeom prst="roundRect">
            <a:avLst>
              <a:gd name="adj" fmla="val 10667"/>
            </a:avLst>
          </a:prstGeom>
          <a:solidFill>
            <a:srgbClr val="D9F7FA"/>
          </a:solidFill>
          <a:ln w="15240">
            <a:solidFill>
              <a:srgbClr val="00B7C3"/>
            </a:solidFill>
            <a:prstDash val="solid"/>
          </a:ln>
        </p:spPr>
      </p:sp>
      <p:sp>
        <p:nvSpPr>
          <p:cNvPr id="18" name="Text 16"/>
          <p:cNvSpPr/>
          <p:nvPr/>
        </p:nvSpPr>
        <p:spPr>
          <a:xfrm>
            <a:off x="9637776" y="1161288"/>
            <a:ext cx="1280160" cy="256032"/>
          </a:xfrm>
          <a:prstGeom prst="rect">
            <a:avLst/>
          </a:prstGeom>
          <a:noFill/>
          <a:ln/>
        </p:spPr>
        <p:txBody>
          <a:bodyPr wrap="square" lIns="0" tIns="0" rIns="0" bIns="0" rtlCol="0" anchor="ctr">
            <a:normAutofit/>
          </a:bodyPr>
          <a:lstStyle/>
          <a:p>
            <a:pPr marL="0" indent="0" algn="ctr">
              <a:buNone/>
            </a:pPr>
            <a:r>
              <a:rPr lang="en-US" sz="1000" dirty="0">
                <a:solidFill>
                  <a:srgbClr val="0B1E3F"/>
                </a:solidFill>
                <a:latin typeface="Segoe UI Semibold" pitchFamily="34" charset="0"/>
                <a:ea typeface="Segoe UI Semibold" pitchFamily="34" charset="-122"/>
                <a:cs typeface="Segoe UI Semibold" pitchFamily="34" charset="-120"/>
              </a:rPr>
              <a:t>France</a:t>
            </a:r>
            <a:endParaRPr lang="en-US" sz="1000" dirty="0"/>
          </a:p>
          <a:p>
            <a:pPr marL="0" indent="0" algn="ctr">
              <a:buNone/>
            </a:pPr>
            <a:r>
              <a:rPr lang="en-US" sz="1000" dirty="0">
                <a:solidFill>
                  <a:srgbClr val="0B1E3F"/>
                </a:solidFill>
                <a:latin typeface="Segoe UI Semibold" pitchFamily="34" charset="0"/>
                <a:ea typeface="Segoe UI Semibold" pitchFamily="34" charset="-122"/>
                <a:cs typeface="Segoe UI Semibold" pitchFamily="34" charset="-120"/>
              </a:rPr>
              <a:t>Central</a:t>
            </a:r>
            <a:endParaRPr lang="en-US" sz="1000" dirty="0"/>
          </a:p>
        </p:txBody>
      </p:sp>
      <p:sp>
        <p:nvSpPr>
          <p:cNvPr id="19" name="Shape 17"/>
          <p:cNvSpPr/>
          <p:nvPr/>
        </p:nvSpPr>
        <p:spPr>
          <a:xfrm>
            <a:off x="6629400" y="1408176"/>
            <a:ext cx="777240" cy="0"/>
          </a:xfrm>
          <a:prstGeom prst="line">
            <a:avLst/>
          </a:prstGeom>
          <a:noFill/>
          <a:ln w="17780">
            <a:solidFill>
              <a:srgbClr val="3B4A5E"/>
            </a:solidFill>
            <a:prstDash val="solid"/>
            <a:tailEnd type="triangle"/>
          </a:ln>
        </p:spPr>
      </p:sp>
      <p:sp>
        <p:nvSpPr>
          <p:cNvPr id="20" name="Shape 18"/>
          <p:cNvSpPr/>
          <p:nvPr/>
        </p:nvSpPr>
        <p:spPr>
          <a:xfrm>
            <a:off x="6629400" y="1920240"/>
            <a:ext cx="2880360" cy="0"/>
          </a:xfrm>
          <a:prstGeom prst="line">
            <a:avLst/>
          </a:prstGeom>
          <a:noFill/>
          <a:ln w="17780">
            <a:solidFill>
              <a:srgbClr val="3B4A5E"/>
            </a:solidFill>
            <a:prstDash val="solid"/>
            <a:tailEnd type="triangle"/>
          </a:ln>
        </p:spPr>
      </p:sp>
      <p:sp>
        <p:nvSpPr>
          <p:cNvPr id="21" name="Shape 19"/>
          <p:cNvSpPr/>
          <p:nvPr/>
        </p:nvSpPr>
        <p:spPr>
          <a:xfrm>
            <a:off x="822960" y="2743200"/>
            <a:ext cx="3246120" cy="1234440"/>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22" name="Shape 20"/>
          <p:cNvSpPr/>
          <p:nvPr/>
        </p:nvSpPr>
        <p:spPr>
          <a:xfrm>
            <a:off x="822960" y="2743200"/>
            <a:ext cx="73152" cy="1234440"/>
          </a:xfrm>
          <a:prstGeom prst="rect">
            <a:avLst/>
          </a:prstGeom>
          <a:solidFill>
            <a:srgbClr val="00B7C3"/>
          </a:solidFill>
          <a:ln w="12700">
            <a:solidFill>
              <a:srgbClr val="00B7C3"/>
            </a:solidFill>
            <a:prstDash val="solid"/>
          </a:ln>
        </p:spPr>
      </p:sp>
      <p:sp>
        <p:nvSpPr>
          <p:cNvPr id="23" name="Shape 21"/>
          <p:cNvSpPr/>
          <p:nvPr/>
        </p:nvSpPr>
        <p:spPr>
          <a:xfrm>
            <a:off x="987552" y="2898648"/>
            <a:ext cx="393192" cy="393192"/>
          </a:xfrm>
          <a:prstGeom prst="ellipse">
            <a:avLst/>
          </a:prstGeom>
          <a:solidFill>
            <a:srgbClr val="00B7C3"/>
          </a:solidFill>
          <a:ln w="12700">
            <a:solidFill>
              <a:srgbClr val="00B7C3"/>
            </a:solidFill>
            <a:prstDash val="solid"/>
          </a:ln>
        </p:spPr>
      </p:sp>
      <p:sp>
        <p:nvSpPr>
          <p:cNvPr id="24" name="Text 22"/>
          <p:cNvSpPr/>
          <p:nvPr/>
        </p:nvSpPr>
        <p:spPr>
          <a:xfrm>
            <a:off x="987552" y="2958084"/>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50</a:t>
            </a:r>
            <a:endParaRPr lang="en-US" sz="800" dirty="0"/>
          </a:p>
        </p:txBody>
      </p:sp>
      <p:sp>
        <p:nvSpPr>
          <p:cNvPr id="25" name="Text 23"/>
          <p:cNvSpPr/>
          <p:nvPr/>
        </p:nvSpPr>
        <p:spPr>
          <a:xfrm>
            <a:off x="1481328" y="2871216"/>
            <a:ext cx="242316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Weighted 50/50</a:t>
            </a:r>
            <a:endParaRPr lang="en-US" sz="1250" dirty="0"/>
          </a:p>
        </p:txBody>
      </p:sp>
      <p:sp>
        <p:nvSpPr>
          <p:cNvPr id="26" name="Text 24"/>
          <p:cNvSpPr/>
          <p:nvPr/>
        </p:nvSpPr>
        <p:spPr>
          <a:xfrm>
            <a:off x="1481328" y="3200400"/>
            <a:ext cx="2423160" cy="685800"/>
          </a:xfrm>
          <a:prstGeom prst="rect">
            <a:avLst/>
          </a:prstGeom>
          <a:noFill/>
          <a:ln/>
        </p:spPr>
        <p:txBody>
          <a:bodyPr wrap="square" lIns="635" tIns="635" rIns="635" bIns="635" rtlCol="0" anchor="ctr">
            <a:normAutofit/>
          </a:bodyPr>
          <a:lstStyle/>
          <a:p>
            <a:pPr marL="0" indent="0">
              <a:buNone/>
            </a:pPr>
            <a:r>
              <a:rPr lang="en-US" sz="1040" dirty="0">
                <a:solidFill>
                  <a:srgbClr val="3B4A5E"/>
                </a:solidFill>
                <a:latin typeface="Segoe UI" pitchFamily="34" charset="0"/>
                <a:ea typeface="Segoe UI" pitchFamily="34" charset="-122"/>
                <a:cs typeface="Segoe UI" pitchFamily="34" charset="-120"/>
              </a:rPr>
              <a:t>Six requests spread across Sweden Central and France Central.</a:t>
            </a:r>
            <a:endParaRPr lang="en-US" sz="1040" dirty="0"/>
          </a:p>
        </p:txBody>
      </p:sp>
      <p:sp>
        <p:nvSpPr>
          <p:cNvPr id="27" name="Shape 25"/>
          <p:cNvSpPr/>
          <p:nvPr/>
        </p:nvSpPr>
        <p:spPr>
          <a:xfrm>
            <a:off x="4480560" y="2743200"/>
            <a:ext cx="3246120" cy="1234440"/>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28" name="Shape 26"/>
          <p:cNvSpPr/>
          <p:nvPr/>
        </p:nvSpPr>
        <p:spPr>
          <a:xfrm>
            <a:off x="4480560" y="2743200"/>
            <a:ext cx="73152" cy="1234440"/>
          </a:xfrm>
          <a:prstGeom prst="rect">
            <a:avLst/>
          </a:prstGeom>
          <a:solidFill>
            <a:srgbClr val="FFB900"/>
          </a:solidFill>
          <a:ln w="12700">
            <a:solidFill>
              <a:srgbClr val="FFB900"/>
            </a:solidFill>
            <a:prstDash val="solid"/>
          </a:ln>
        </p:spPr>
      </p:sp>
      <p:sp>
        <p:nvSpPr>
          <p:cNvPr id="29" name="Shape 27"/>
          <p:cNvSpPr/>
          <p:nvPr/>
        </p:nvSpPr>
        <p:spPr>
          <a:xfrm>
            <a:off x="4645152" y="2898648"/>
            <a:ext cx="393192" cy="393192"/>
          </a:xfrm>
          <a:prstGeom prst="ellipse">
            <a:avLst/>
          </a:prstGeom>
          <a:solidFill>
            <a:srgbClr val="FFB900"/>
          </a:solidFill>
          <a:ln w="12700">
            <a:solidFill>
              <a:srgbClr val="FFB900"/>
            </a:solidFill>
            <a:prstDash val="solid"/>
          </a:ln>
        </p:spPr>
      </p:sp>
      <p:sp>
        <p:nvSpPr>
          <p:cNvPr id="30" name="Text 28"/>
          <p:cNvSpPr/>
          <p:nvPr/>
        </p:nvSpPr>
        <p:spPr>
          <a:xfrm>
            <a:off x="4645152" y="2958084"/>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CB</a:t>
            </a:r>
            <a:endParaRPr lang="en-US" sz="800" dirty="0"/>
          </a:p>
        </p:txBody>
      </p:sp>
      <p:sp>
        <p:nvSpPr>
          <p:cNvPr id="31" name="Text 29"/>
          <p:cNvSpPr/>
          <p:nvPr/>
        </p:nvSpPr>
        <p:spPr>
          <a:xfrm>
            <a:off x="5138928" y="2871216"/>
            <a:ext cx="242316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Circuit breaker</a:t>
            </a:r>
            <a:endParaRPr lang="en-US" sz="1250" dirty="0"/>
          </a:p>
        </p:txBody>
      </p:sp>
      <p:sp>
        <p:nvSpPr>
          <p:cNvPr id="32" name="Text 30"/>
          <p:cNvSpPr/>
          <p:nvPr/>
        </p:nvSpPr>
        <p:spPr>
          <a:xfrm>
            <a:off x="5138928" y="3200400"/>
            <a:ext cx="2423160" cy="685800"/>
          </a:xfrm>
          <a:prstGeom prst="rect">
            <a:avLst/>
          </a:prstGeom>
          <a:noFill/>
          <a:ln/>
        </p:spPr>
        <p:txBody>
          <a:bodyPr wrap="square" lIns="635" tIns="635" rIns="635" bIns="635" rtlCol="0" anchor="ctr">
            <a:normAutofit/>
          </a:bodyPr>
          <a:lstStyle/>
          <a:p>
            <a:pPr marL="0" indent="0">
              <a:buNone/>
            </a:pPr>
            <a:r>
              <a:rPr lang="en-US" sz="1040" dirty="0">
                <a:solidFill>
                  <a:srgbClr val="3B4A5E"/>
                </a:solidFill>
                <a:latin typeface="Segoe UI" pitchFamily="34" charset="0"/>
                <a:ea typeface="Segoe UI" pitchFamily="34" charset="-122"/>
                <a:cs typeface="Segoe UI" pitchFamily="34" charset="-120"/>
              </a:rPr>
              <a:t>Trips on 429/5xx and honors Retry-After from backend.</a:t>
            </a:r>
            <a:endParaRPr lang="en-US" sz="1040" dirty="0"/>
          </a:p>
        </p:txBody>
      </p:sp>
      <p:sp>
        <p:nvSpPr>
          <p:cNvPr id="33" name="Shape 31"/>
          <p:cNvSpPr/>
          <p:nvPr/>
        </p:nvSpPr>
        <p:spPr>
          <a:xfrm>
            <a:off x="8138160" y="2743200"/>
            <a:ext cx="3246120" cy="1234440"/>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34" name="Shape 32"/>
          <p:cNvSpPr/>
          <p:nvPr/>
        </p:nvSpPr>
        <p:spPr>
          <a:xfrm>
            <a:off x="8138160" y="2743200"/>
            <a:ext cx="73152" cy="1234440"/>
          </a:xfrm>
          <a:prstGeom prst="rect">
            <a:avLst/>
          </a:prstGeom>
          <a:solidFill>
            <a:srgbClr val="0078D4"/>
          </a:solidFill>
          <a:ln w="12700">
            <a:solidFill>
              <a:srgbClr val="0078D4"/>
            </a:solidFill>
            <a:prstDash val="solid"/>
          </a:ln>
        </p:spPr>
      </p:sp>
      <p:sp>
        <p:nvSpPr>
          <p:cNvPr id="35" name="Shape 33"/>
          <p:cNvSpPr/>
          <p:nvPr/>
        </p:nvSpPr>
        <p:spPr>
          <a:xfrm>
            <a:off x="8302752" y="2898648"/>
            <a:ext cx="393192" cy="393192"/>
          </a:xfrm>
          <a:prstGeom prst="ellipse">
            <a:avLst/>
          </a:prstGeom>
          <a:solidFill>
            <a:srgbClr val="0078D4"/>
          </a:solidFill>
          <a:ln w="12700">
            <a:solidFill>
              <a:srgbClr val="0078D4"/>
            </a:solidFill>
            <a:prstDash val="solid"/>
          </a:ln>
        </p:spPr>
      </p:sp>
      <p:sp>
        <p:nvSpPr>
          <p:cNvPr id="36" name="Text 34"/>
          <p:cNvSpPr/>
          <p:nvPr/>
        </p:nvSpPr>
        <p:spPr>
          <a:xfrm>
            <a:off x="8302752" y="2958084"/>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R</a:t>
            </a:r>
            <a:endParaRPr lang="en-US" sz="800" dirty="0"/>
          </a:p>
        </p:txBody>
      </p:sp>
      <p:sp>
        <p:nvSpPr>
          <p:cNvPr id="37" name="Text 35"/>
          <p:cNvSpPr/>
          <p:nvPr/>
        </p:nvSpPr>
        <p:spPr>
          <a:xfrm>
            <a:off x="8796528" y="2871216"/>
            <a:ext cx="242316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Retry policy</a:t>
            </a:r>
            <a:endParaRPr lang="en-US" sz="1250" dirty="0"/>
          </a:p>
        </p:txBody>
      </p:sp>
      <p:sp>
        <p:nvSpPr>
          <p:cNvPr id="38" name="Text 36"/>
          <p:cNvSpPr/>
          <p:nvPr/>
        </p:nvSpPr>
        <p:spPr>
          <a:xfrm>
            <a:off x="8796528" y="3200400"/>
            <a:ext cx="2423160" cy="685800"/>
          </a:xfrm>
          <a:prstGeom prst="rect">
            <a:avLst/>
          </a:prstGeom>
          <a:noFill/>
          <a:ln/>
        </p:spPr>
        <p:txBody>
          <a:bodyPr wrap="square" lIns="635" tIns="635" rIns="635" bIns="635" rtlCol="0" anchor="ctr">
            <a:normAutofit/>
          </a:bodyPr>
          <a:lstStyle/>
          <a:p>
            <a:pPr marL="0" indent="0">
              <a:buNone/>
            </a:pPr>
            <a:r>
              <a:rPr lang="en-US" sz="1040" dirty="0">
                <a:solidFill>
                  <a:srgbClr val="3B4A5E"/>
                </a:solidFill>
                <a:latin typeface="Segoe UI" pitchFamily="34" charset="0"/>
                <a:ea typeface="Segoe UI" pitchFamily="34" charset="-122"/>
                <a:cs typeface="Segoe UI" pitchFamily="34" charset="-120"/>
              </a:rPr>
              <a:t>Retry through the pool instead of teaching every app to back off.</a:t>
            </a:r>
            <a:endParaRPr lang="en-US" sz="1040" dirty="0"/>
          </a:p>
        </p:txBody>
      </p:sp>
      <p:sp>
        <p:nvSpPr>
          <p:cNvPr id="39" name="Text 37"/>
          <p:cNvSpPr/>
          <p:nvPr/>
        </p:nvSpPr>
        <p:spPr>
          <a:xfrm>
            <a:off x="1097280" y="4892040"/>
            <a:ext cx="9966960" cy="228600"/>
          </a:xfrm>
          <a:prstGeom prst="rect">
            <a:avLst/>
          </a:prstGeom>
          <a:noFill/>
          <a:ln/>
        </p:spPr>
        <p:txBody>
          <a:bodyPr wrap="square" lIns="0" tIns="0" rIns="0" bIns="0" rtlCol="0" anchor="ctr"/>
          <a:lstStyle/>
          <a:p>
            <a:pPr marL="0" indent="0" algn="ctr">
              <a:buNone/>
            </a:pPr>
            <a:r>
              <a:rPr lang="en-US" sz="1120" dirty="0">
                <a:solidFill>
                  <a:srgbClr val="0B1E3F"/>
                </a:solidFill>
                <a:latin typeface="Segoe UI Semibold" pitchFamily="34" charset="0"/>
                <a:ea typeface="Segoe UI Semibold" pitchFamily="34" charset="-122"/>
                <a:cs typeface="Segoe UI Semibold" pitchFamily="34" charset="-120"/>
              </a:rPr>
              <a:t>Backend pools support round-robin, weighted and priority routing; pools support up to 30 backends.</a:t>
            </a:r>
            <a:endParaRPr lang="en-US" sz="11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301752"/>
            <a:ext cx="3200400" cy="201168"/>
          </a:xfrm>
          <a:prstGeom prst="rect">
            <a:avLst/>
          </a:prstGeom>
          <a:noFill/>
          <a:ln/>
        </p:spPr>
        <p:txBody>
          <a:bodyPr wrap="square" lIns="0" tIns="0" rIns="0" bIns="0" rtlCol="0" anchor="ctr"/>
          <a:lstStyle/>
          <a:p>
            <a:pPr marL="0" indent="0">
              <a:buNone/>
            </a:pPr>
            <a:r>
              <a:rPr lang="en-US" sz="800" kern="0" spc="120" dirty="0">
                <a:solidFill>
                  <a:srgbClr val="00B7C3"/>
                </a:solidFill>
                <a:latin typeface="Segoe UI Semibold" pitchFamily="34" charset="0"/>
                <a:ea typeface="Segoe UI Semibold" pitchFamily="34" charset="-122"/>
                <a:cs typeface="Segoe UI Semibold" pitchFamily="34" charset="-120"/>
              </a:rPr>
              <a:t>CAPABILITIES</a:t>
            </a:r>
            <a:endParaRPr lang="en-US" sz="800" dirty="0"/>
          </a:p>
        </p:txBody>
      </p:sp>
      <p:sp>
        <p:nvSpPr>
          <p:cNvPr id="3" name="Text 1"/>
          <p:cNvSpPr/>
          <p:nvPr/>
        </p:nvSpPr>
        <p:spPr>
          <a:xfrm>
            <a:off x="457200" y="521208"/>
            <a:ext cx="7955280" cy="438912"/>
          </a:xfrm>
          <a:prstGeom prst="rect">
            <a:avLst/>
          </a:prstGeom>
          <a:noFill/>
          <a:ln/>
        </p:spPr>
        <p:txBody>
          <a:bodyPr wrap="square" lIns="0" tIns="0" rIns="0" bIns="0" rtlCol="0" anchor="ctr"/>
          <a:lstStyle/>
          <a:p>
            <a:pPr marL="0" indent="0">
              <a:buNone/>
            </a:pPr>
            <a:r>
              <a:rPr lang="en-US" sz="2500" dirty="0">
                <a:solidFill>
                  <a:srgbClr val="0B1E3F"/>
                </a:solidFill>
                <a:latin typeface="Segoe UI Semibold" pitchFamily="34" charset="0"/>
                <a:ea typeface="Segoe UI Semibold" pitchFamily="34" charset="-122"/>
                <a:cs typeface="Segoe UI Semibold" pitchFamily="34" charset="-120"/>
              </a:rPr>
              <a:t>Pillar 4 — Observability: token telemetry and LLM logs</a:t>
            </a:r>
            <a:endParaRPr lang="en-US" sz="2500" dirty="0"/>
          </a:p>
        </p:txBody>
      </p:sp>
      <p:sp>
        <p:nvSpPr>
          <p:cNvPr id="4" name="Shape 2"/>
          <p:cNvSpPr/>
          <p:nvPr/>
        </p:nvSpPr>
        <p:spPr>
          <a:xfrm>
            <a:off x="10698480" y="118872"/>
            <a:ext cx="1051560" cy="1051560"/>
          </a:xfrm>
          <a:prstGeom prst="arc">
            <a:avLst/>
          </a:prstGeom>
          <a:solidFill>
            <a:srgbClr val="F5F7FA">
              <a:alpha val="0"/>
            </a:srgbClr>
          </a:solidFill>
          <a:ln w="38100">
            <a:solidFill>
              <a:srgbClr val="00B7C3">
                <a:alpha val="90000"/>
              </a:srgbClr>
            </a:solidFill>
            <a:prstDash val="solid"/>
          </a:ln>
        </p:spPr>
      </p:sp>
      <p:sp>
        <p:nvSpPr>
          <p:cNvPr id="5" name="Text 3"/>
          <p:cNvSpPr/>
          <p:nvPr/>
        </p:nvSpPr>
        <p:spPr>
          <a:xfrm>
            <a:off x="457200" y="6473952"/>
            <a:ext cx="7955280" cy="164592"/>
          </a:xfrm>
          <a:prstGeom prst="rect">
            <a:avLst/>
          </a:prstGeom>
          <a:noFill/>
          <a:ln/>
        </p:spPr>
        <p:txBody>
          <a:bodyPr wrap="square" lIns="0" tIns="0" rIns="0" bIns="0" rtlCol="0" anchor="ctr"/>
          <a:lstStyle/>
          <a:p>
            <a:pPr marL="0" indent="0">
              <a:buNone/>
            </a:pPr>
            <a:r>
              <a:rPr lang="en-US" sz="750" dirty="0">
                <a:solidFill>
                  <a:srgbClr val="8A97A8"/>
                </a:solidFill>
                <a:latin typeface="Segoe UI" pitchFamily="34" charset="0"/>
                <a:ea typeface="Segoe UI" pitchFamily="34" charset="-122"/>
                <a:cs typeface="Segoe UI" pitchFamily="34" charset="-120"/>
              </a:rPr>
              <a:t>Azure API Management AI Gateway — Oct 2026</a:t>
            </a:r>
            <a:endParaRPr lang="en-US" sz="750" dirty="0"/>
          </a:p>
        </p:txBody>
      </p:sp>
      <p:sp>
        <p:nvSpPr>
          <p:cNvPr id="6" name="Text 4"/>
          <p:cNvSpPr/>
          <p:nvPr/>
        </p:nvSpPr>
        <p:spPr>
          <a:xfrm>
            <a:off x="11430000" y="6446520"/>
            <a:ext cx="320040" cy="164592"/>
          </a:xfrm>
          <a:prstGeom prst="rect">
            <a:avLst/>
          </a:prstGeom>
          <a:noFill/>
          <a:ln/>
        </p:spPr>
        <p:txBody>
          <a:bodyPr wrap="square" lIns="0" tIns="0" rIns="0" bIns="0" rtlCol="0" anchor="ctr"/>
          <a:lstStyle/>
          <a:p>
            <a:pPr marL="0" indent="0" algn="r">
              <a:buNone/>
            </a:pPr>
            <a:r>
              <a:rPr lang="en-US" sz="800" dirty="0">
                <a:solidFill>
                  <a:srgbClr val="8A97A8"/>
                </a:solidFill>
                <a:latin typeface="Segoe UI Semibold" pitchFamily="34" charset="0"/>
                <a:ea typeface="Segoe UI Semibold" pitchFamily="34" charset="-122"/>
                <a:cs typeface="Segoe UI Semibold" pitchFamily="34" charset="-120"/>
              </a:rPr>
              <a:t>14</a:t>
            </a:r>
            <a:endParaRPr lang="en-US" sz="800" dirty="0"/>
          </a:p>
        </p:txBody>
      </p:sp>
      <p:sp>
        <p:nvSpPr>
          <p:cNvPr id="7" name="Shape 5"/>
          <p:cNvSpPr/>
          <p:nvPr/>
        </p:nvSpPr>
        <p:spPr>
          <a:xfrm>
            <a:off x="685800" y="1143000"/>
            <a:ext cx="3657600" cy="3154680"/>
          </a:xfrm>
          <a:prstGeom prst="rect">
            <a:avLst/>
          </a:prstGeom>
          <a:solidFill>
            <a:srgbClr val="FFFFFF"/>
          </a:solidFill>
          <a:ln w="12700">
            <a:solidFill>
              <a:srgbClr val="D8E2EC"/>
            </a:solidFill>
            <a:prstDash val="solid"/>
          </a:ln>
          <a:effectLst>
            <a:outerShdw blurRad="38100" dist="12700" dir="2700000" algn="bl" rotWithShape="0">
              <a:srgbClr val="000000">
                <a:alpha val="8000"/>
              </a:srgbClr>
            </a:outerShdw>
          </a:effectLst>
        </p:spPr>
      </p:sp>
      <p:graphicFrame>
        <p:nvGraphicFramePr>
          <p:cNvPr id="8" name="Chart 0"/>
          <p:cNvGraphicFramePr/>
          <p:nvPr/>
        </p:nvGraphicFramePr>
        <p:xfrm>
          <a:off x="914400" y="1508760"/>
          <a:ext cx="3154680" cy="219456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p:nvPr/>
        </p:nvSpPr>
        <p:spPr>
          <a:xfrm>
            <a:off x="932688" y="3886200"/>
            <a:ext cx="3154680" cy="146304"/>
          </a:xfrm>
          <a:prstGeom prst="rect">
            <a:avLst/>
          </a:prstGeom>
          <a:noFill/>
          <a:ln/>
        </p:spPr>
        <p:txBody>
          <a:bodyPr wrap="square" lIns="0" tIns="0" rIns="0" bIns="0" rtlCol="0" anchor="ctr"/>
          <a:lstStyle/>
          <a:p>
            <a:pPr marL="0" indent="0" algn="ctr">
              <a:buNone/>
            </a:pPr>
            <a:r>
              <a:rPr lang="en-US" sz="950" dirty="0">
                <a:solidFill>
                  <a:srgbClr val="0B1E3F"/>
                </a:solidFill>
                <a:latin typeface="Segoe UI Semibold" pitchFamily="34" charset="0"/>
                <a:ea typeface="Segoe UI Semibold" pitchFamily="34" charset="-122"/>
                <a:cs typeface="Segoe UI Semibold" pitchFamily="34" charset="-120"/>
              </a:rPr>
              <a:t>Token usage by product</a:t>
            </a:r>
            <a:endParaRPr lang="en-US" sz="950" dirty="0"/>
          </a:p>
        </p:txBody>
      </p:sp>
      <p:sp>
        <p:nvSpPr>
          <p:cNvPr id="10" name="Shape 7"/>
          <p:cNvSpPr/>
          <p:nvPr/>
        </p:nvSpPr>
        <p:spPr>
          <a:xfrm>
            <a:off x="4709160" y="1143000"/>
            <a:ext cx="6492240" cy="3154680"/>
          </a:xfrm>
          <a:prstGeom prst="rect">
            <a:avLst/>
          </a:prstGeom>
          <a:solidFill>
            <a:srgbClr val="06152D"/>
          </a:solidFill>
          <a:ln w="12700">
            <a:solidFill>
              <a:srgbClr val="06152D"/>
            </a:solidFill>
            <a:prstDash val="solid"/>
          </a:ln>
          <a:effectLst>
            <a:outerShdw blurRad="38100" dist="12700" dir="2700000" algn="bl" rotWithShape="0">
              <a:srgbClr val="000000">
                <a:alpha val="8000"/>
              </a:srgbClr>
            </a:outerShdw>
          </a:effectLst>
        </p:spPr>
      </p:sp>
      <p:sp>
        <p:nvSpPr>
          <p:cNvPr id="11" name="Text 8"/>
          <p:cNvSpPr/>
          <p:nvPr/>
        </p:nvSpPr>
        <p:spPr>
          <a:xfrm>
            <a:off x="4983480" y="1463040"/>
            <a:ext cx="5943600" cy="2103120"/>
          </a:xfrm>
          <a:prstGeom prst="rect">
            <a:avLst/>
          </a:prstGeom>
          <a:noFill/>
          <a:ln/>
        </p:spPr>
        <p:txBody>
          <a:bodyPr wrap="square" lIns="635" tIns="635" rIns="635" bIns="635" rtlCol="0" anchor="ctr">
            <a:normAutofit/>
          </a:bodyPr>
          <a:lstStyle/>
          <a:p>
            <a:pPr marL="0" indent="0">
              <a:buNone/>
            </a:pPr>
            <a:r>
              <a:rPr lang="en-US" sz="1130" dirty="0">
                <a:solidFill>
                  <a:srgbClr val="D7E7F6"/>
                </a:solidFill>
                <a:latin typeface="Consolas" pitchFamily="34" charset="0"/>
                <a:ea typeface="Consolas" pitchFamily="34" charset="-122"/>
                <a:cs typeface="Consolas" pitchFamily="34" charset="-120"/>
              </a:rPr>
              <a:t>AppMetrics</a:t>
            </a:r>
            <a:endParaRPr lang="en-US" sz="1130" dirty="0"/>
          </a:p>
          <a:p>
            <a:pPr marL="0" indent="0">
              <a:buNone/>
            </a:pPr>
            <a:r>
              <a:rPr lang="en-US" sz="1130" dirty="0">
                <a:solidFill>
                  <a:srgbClr val="D7E7F6"/>
                </a:solidFill>
                <a:latin typeface="Consolas" pitchFamily="34" charset="0"/>
                <a:ea typeface="Consolas" pitchFamily="34" charset="-122"/>
                <a:cs typeface="Consolas" pitchFamily="34" charset="-120"/>
              </a:rPr>
              <a:t>| where Namespace == "ai-gateway"</a:t>
            </a:r>
            <a:endParaRPr lang="en-US" sz="1130" dirty="0"/>
          </a:p>
          <a:p>
            <a:pPr marL="0" indent="0">
              <a:buNone/>
            </a:pPr>
            <a:r>
              <a:rPr lang="en-US" sz="1130" dirty="0">
                <a:solidFill>
                  <a:srgbClr val="D7E7F6"/>
                </a:solidFill>
                <a:latin typeface="Consolas" pitchFamily="34" charset="0"/>
                <a:ea typeface="Consolas" pitchFamily="34" charset="-122"/>
                <a:cs typeface="Consolas" pitchFamily="34" charset="-120"/>
              </a:rPr>
              <a:t>| summarize Tokens=sum(Sum) by Product</a:t>
            </a:r>
            <a:endParaRPr lang="en-US" sz="1130" dirty="0"/>
          </a:p>
          <a:p>
            <a:pPr marL="0" indent="0">
              <a:buNone/>
            </a:pPr>
            <a:endParaRPr lang="en-US" sz="1130" dirty="0"/>
          </a:p>
          <a:p>
            <a:pPr marL="0" indent="0">
              <a:buNone/>
            </a:pPr>
            <a:r>
              <a:rPr lang="en-US" sz="1130" dirty="0">
                <a:solidFill>
                  <a:srgbClr val="D7E7F6"/>
                </a:solidFill>
                <a:latin typeface="Consolas" pitchFamily="34" charset="0"/>
                <a:ea typeface="Consolas" pitchFamily="34" charset="-122"/>
                <a:cs typeface="Consolas" pitchFamily="34" charset="-120"/>
              </a:rPr>
              <a:t>ApiManagementGatewayLlmLog</a:t>
            </a:r>
            <a:endParaRPr lang="en-US" sz="1130" dirty="0"/>
          </a:p>
          <a:p>
            <a:pPr marL="0" indent="0">
              <a:buNone/>
            </a:pPr>
            <a:r>
              <a:rPr lang="en-US" sz="1130" dirty="0">
                <a:solidFill>
                  <a:srgbClr val="D7E7F6"/>
                </a:solidFill>
                <a:latin typeface="Consolas" pitchFamily="34" charset="0"/>
                <a:ea typeface="Consolas" pitchFamily="34" charset="-122"/>
                <a:cs typeface="Consolas" pitchFamily="34" charset="-120"/>
              </a:rPr>
              <a:t>| summarize Calls=count() by DeploymentName</a:t>
            </a:r>
            <a:endParaRPr lang="en-US" sz="1130" dirty="0"/>
          </a:p>
          <a:p>
            <a:pPr marL="0" indent="0">
              <a:buNone/>
            </a:pPr>
            <a:r>
              <a:rPr lang="en-US" sz="1130" dirty="0">
                <a:solidFill>
                  <a:srgbClr val="D7E7F6"/>
                </a:solidFill>
                <a:latin typeface="Consolas" pitchFamily="34" charset="0"/>
                <a:ea typeface="Consolas" pitchFamily="34" charset="-122"/>
                <a:cs typeface="Consolas" pitchFamily="34" charset="-120"/>
              </a:rPr>
              <a:t>| where DeploymentName == "gpt-5.4-nano"</a:t>
            </a:r>
            <a:endParaRPr lang="en-US" sz="1130" dirty="0"/>
          </a:p>
        </p:txBody>
      </p:sp>
      <p:sp>
        <p:nvSpPr>
          <p:cNvPr id="12" name="Text 9"/>
          <p:cNvSpPr/>
          <p:nvPr/>
        </p:nvSpPr>
        <p:spPr>
          <a:xfrm>
            <a:off x="4983480" y="3822192"/>
            <a:ext cx="5989320" cy="146304"/>
          </a:xfrm>
          <a:prstGeom prst="rect">
            <a:avLst/>
          </a:prstGeom>
          <a:noFill/>
          <a:ln/>
        </p:spPr>
        <p:txBody>
          <a:bodyPr wrap="square" lIns="0" tIns="0" rIns="0" bIns="0" rtlCol="0" anchor="ctr"/>
          <a:lstStyle/>
          <a:p>
            <a:pPr marL="0" indent="0">
              <a:buNone/>
            </a:pPr>
            <a:r>
              <a:rPr lang="en-US" sz="920" dirty="0">
                <a:solidFill>
                  <a:srgbClr val="00B7C3"/>
                </a:solidFill>
                <a:latin typeface="Segoe UI Semibold" pitchFamily="34" charset="0"/>
                <a:ea typeface="Segoe UI Semibold" pitchFamily="34" charset="-122"/>
                <a:cs typeface="Segoe UI Semibold" pitchFamily="34" charset="-120"/>
              </a:rPr>
              <a:t>Dimensions: Subscription ID · Product · API ID · Client IP</a:t>
            </a:r>
            <a:endParaRPr lang="en-US" sz="920" dirty="0"/>
          </a:p>
        </p:txBody>
      </p:sp>
      <p:sp>
        <p:nvSpPr>
          <p:cNvPr id="13" name="Shape 10"/>
          <p:cNvSpPr/>
          <p:nvPr/>
        </p:nvSpPr>
        <p:spPr>
          <a:xfrm>
            <a:off x="914400" y="4864608"/>
            <a:ext cx="3246120" cy="685800"/>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14" name="Shape 11"/>
          <p:cNvSpPr/>
          <p:nvPr/>
        </p:nvSpPr>
        <p:spPr>
          <a:xfrm>
            <a:off x="914400" y="4864608"/>
            <a:ext cx="73152" cy="685800"/>
          </a:xfrm>
          <a:prstGeom prst="rect">
            <a:avLst/>
          </a:prstGeom>
          <a:solidFill>
            <a:srgbClr val="0078D4"/>
          </a:solidFill>
          <a:ln w="12700">
            <a:solidFill>
              <a:srgbClr val="0078D4"/>
            </a:solidFill>
            <a:prstDash val="solid"/>
          </a:ln>
        </p:spPr>
      </p:sp>
      <p:sp>
        <p:nvSpPr>
          <p:cNvPr id="15" name="Shape 12"/>
          <p:cNvSpPr/>
          <p:nvPr/>
        </p:nvSpPr>
        <p:spPr>
          <a:xfrm>
            <a:off x="1078992" y="5020056"/>
            <a:ext cx="393192" cy="393192"/>
          </a:xfrm>
          <a:prstGeom prst="ellipse">
            <a:avLst/>
          </a:prstGeom>
          <a:solidFill>
            <a:srgbClr val="0078D4"/>
          </a:solidFill>
          <a:ln w="12700">
            <a:solidFill>
              <a:srgbClr val="0078D4"/>
            </a:solidFill>
            <a:prstDash val="solid"/>
          </a:ln>
        </p:spPr>
      </p:sp>
      <p:sp>
        <p:nvSpPr>
          <p:cNvPr id="16" name="Text 13"/>
          <p:cNvSpPr/>
          <p:nvPr/>
        </p:nvSpPr>
        <p:spPr>
          <a:xfrm>
            <a:off x="1078992" y="5079492"/>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W</a:t>
            </a:r>
            <a:endParaRPr lang="en-US" sz="800" dirty="0"/>
          </a:p>
        </p:txBody>
      </p:sp>
      <p:sp>
        <p:nvSpPr>
          <p:cNvPr id="17" name="Text 14"/>
          <p:cNvSpPr/>
          <p:nvPr/>
        </p:nvSpPr>
        <p:spPr>
          <a:xfrm>
            <a:off x="1572768" y="4992624"/>
            <a:ext cx="242316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Workbook</a:t>
            </a:r>
            <a:endParaRPr lang="en-US" sz="1250" dirty="0"/>
          </a:p>
        </p:txBody>
      </p:sp>
      <p:sp>
        <p:nvSpPr>
          <p:cNvPr id="18" name="Text 15"/>
          <p:cNvSpPr/>
          <p:nvPr/>
        </p:nvSpPr>
        <p:spPr>
          <a:xfrm>
            <a:off x="1572768" y="5321808"/>
            <a:ext cx="2423160" cy="137160"/>
          </a:xfrm>
          <a:prstGeom prst="rect">
            <a:avLst/>
          </a:prstGeom>
          <a:noFill/>
          <a:ln/>
        </p:spPr>
        <p:txBody>
          <a:bodyPr wrap="square" lIns="635" tIns="635" rIns="635" bIns="635" rtlCol="0" anchor="ctr">
            <a:normAutofit/>
          </a:bodyPr>
          <a:lstStyle/>
          <a:p>
            <a:pPr marL="0" indent="0">
              <a:buNone/>
            </a:pPr>
            <a:r>
              <a:rPr lang="en-US" sz="810" dirty="0">
                <a:solidFill>
                  <a:srgbClr val="3B4A5E"/>
                </a:solidFill>
                <a:latin typeface="Segoe UI" pitchFamily="34" charset="0"/>
                <a:ea typeface="Segoe UI" pitchFamily="34" charset="-122"/>
                <a:cs typeface="Segoe UI" pitchFamily="34" charset="-120"/>
              </a:rPr>
              <a:t>Built-in workbook surfaces consumption patterns.</a:t>
            </a:r>
            <a:endParaRPr lang="en-US" sz="810" dirty="0"/>
          </a:p>
        </p:txBody>
      </p:sp>
      <p:sp>
        <p:nvSpPr>
          <p:cNvPr id="19" name="Shape 16"/>
          <p:cNvSpPr/>
          <p:nvPr/>
        </p:nvSpPr>
        <p:spPr>
          <a:xfrm>
            <a:off x="4480560" y="4864608"/>
            <a:ext cx="3246120" cy="685800"/>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20" name="Shape 17"/>
          <p:cNvSpPr/>
          <p:nvPr/>
        </p:nvSpPr>
        <p:spPr>
          <a:xfrm>
            <a:off x="4480560" y="4864608"/>
            <a:ext cx="73152" cy="685800"/>
          </a:xfrm>
          <a:prstGeom prst="rect">
            <a:avLst/>
          </a:prstGeom>
          <a:solidFill>
            <a:srgbClr val="FFB900"/>
          </a:solidFill>
          <a:ln w="12700">
            <a:solidFill>
              <a:srgbClr val="FFB900"/>
            </a:solidFill>
            <a:prstDash val="solid"/>
          </a:ln>
        </p:spPr>
      </p:sp>
      <p:sp>
        <p:nvSpPr>
          <p:cNvPr id="21" name="Shape 18"/>
          <p:cNvSpPr/>
          <p:nvPr/>
        </p:nvSpPr>
        <p:spPr>
          <a:xfrm>
            <a:off x="4645152" y="5020056"/>
            <a:ext cx="393192" cy="393192"/>
          </a:xfrm>
          <a:prstGeom prst="ellipse">
            <a:avLst/>
          </a:prstGeom>
          <a:solidFill>
            <a:srgbClr val="FFB900"/>
          </a:solidFill>
          <a:ln w="12700">
            <a:solidFill>
              <a:srgbClr val="FFB900"/>
            </a:solidFill>
            <a:prstDash val="solid"/>
          </a:ln>
        </p:spPr>
      </p:sp>
      <p:sp>
        <p:nvSpPr>
          <p:cNvPr id="22" name="Text 19"/>
          <p:cNvSpPr/>
          <p:nvPr/>
        </p:nvSpPr>
        <p:spPr>
          <a:xfrm>
            <a:off x="4645152" y="5079492"/>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a:t>
            </a:r>
            <a:endParaRPr lang="en-US" sz="800" dirty="0"/>
          </a:p>
        </p:txBody>
      </p:sp>
      <p:sp>
        <p:nvSpPr>
          <p:cNvPr id="23" name="Text 20"/>
          <p:cNvSpPr/>
          <p:nvPr/>
        </p:nvSpPr>
        <p:spPr>
          <a:xfrm>
            <a:off x="5138928" y="4992624"/>
            <a:ext cx="242316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FinOps</a:t>
            </a:r>
            <a:endParaRPr lang="en-US" sz="1250" dirty="0"/>
          </a:p>
        </p:txBody>
      </p:sp>
      <p:sp>
        <p:nvSpPr>
          <p:cNvPr id="24" name="Text 21"/>
          <p:cNvSpPr/>
          <p:nvPr/>
        </p:nvSpPr>
        <p:spPr>
          <a:xfrm>
            <a:off x="5138928" y="5321808"/>
            <a:ext cx="2423160" cy="137160"/>
          </a:xfrm>
          <a:prstGeom prst="rect">
            <a:avLst/>
          </a:prstGeom>
          <a:noFill/>
          <a:ln/>
        </p:spPr>
        <p:txBody>
          <a:bodyPr wrap="square" lIns="635" tIns="635" rIns="635" bIns="635" rtlCol="0" anchor="ctr">
            <a:normAutofit/>
          </a:bodyPr>
          <a:lstStyle/>
          <a:p>
            <a:pPr marL="0" indent="0">
              <a:buNone/>
            </a:pPr>
            <a:r>
              <a:rPr lang="en-US" sz="810" dirty="0">
                <a:solidFill>
                  <a:srgbClr val="3B4A5E"/>
                </a:solidFill>
                <a:latin typeface="Segoe UI" pitchFamily="34" charset="0"/>
                <a:ea typeface="Segoe UI" pitchFamily="34" charset="-122"/>
                <a:cs typeface="Segoe UI" pitchFamily="34" charset="-120"/>
              </a:rPr>
              <a:t>Chargeback per team, product and subscription.</a:t>
            </a:r>
            <a:endParaRPr lang="en-US" sz="810" dirty="0"/>
          </a:p>
        </p:txBody>
      </p:sp>
      <p:sp>
        <p:nvSpPr>
          <p:cNvPr id="25" name="Shape 22"/>
          <p:cNvSpPr/>
          <p:nvPr/>
        </p:nvSpPr>
        <p:spPr>
          <a:xfrm>
            <a:off x="8046720" y="4864608"/>
            <a:ext cx="3246120" cy="685800"/>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26" name="Shape 23"/>
          <p:cNvSpPr/>
          <p:nvPr/>
        </p:nvSpPr>
        <p:spPr>
          <a:xfrm>
            <a:off x="8046720" y="4864608"/>
            <a:ext cx="73152" cy="685800"/>
          </a:xfrm>
          <a:prstGeom prst="rect">
            <a:avLst/>
          </a:prstGeom>
          <a:solidFill>
            <a:srgbClr val="00B7C3"/>
          </a:solidFill>
          <a:ln w="12700">
            <a:solidFill>
              <a:srgbClr val="00B7C3"/>
            </a:solidFill>
            <a:prstDash val="solid"/>
          </a:ln>
        </p:spPr>
      </p:sp>
      <p:sp>
        <p:nvSpPr>
          <p:cNvPr id="27" name="Shape 24"/>
          <p:cNvSpPr/>
          <p:nvPr/>
        </p:nvSpPr>
        <p:spPr>
          <a:xfrm>
            <a:off x="8211312" y="5020056"/>
            <a:ext cx="393192" cy="393192"/>
          </a:xfrm>
          <a:prstGeom prst="ellipse">
            <a:avLst/>
          </a:prstGeom>
          <a:solidFill>
            <a:srgbClr val="00B7C3"/>
          </a:solidFill>
          <a:ln w="12700">
            <a:solidFill>
              <a:srgbClr val="00B7C3"/>
            </a:solidFill>
            <a:prstDash val="solid"/>
          </a:ln>
        </p:spPr>
      </p:sp>
      <p:sp>
        <p:nvSpPr>
          <p:cNvPr id="28" name="Text 25"/>
          <p:cNvSpPr/>
          <p:nvPr/>
        </p:nvSpPr>
        <p:spPr>
          <a:xfrm>
            <a:off x="8211312" y="5079492"/>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L</a:t>
            </a:r>
            <a:endParaRPr lang="en-US" sz="800" dirty="0"/>
          </a:p>
        </p:txBody>
      </p:sp>
      <p:sp>
        <p:nvSpPr>
          <p:cNvPr id="29" name="Text 26"/>
          <p:cNvSpPr/>
          <p:nvPr/>
        </p:nvSpPr>
        <p:spPr>
          <a:xfrm>
            <a:off x="8705088" y="4992624"/>
            <a:ext cx="242316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Debugging</a:t>
            </a:r>
            <a:endParaRPr lang="en-US" sz="1250" dirty="0"/>
          </a:p>
        </p:txBody>
      </p:sp>
      <p:sp>
        <p:nvSpPr>
          <p:cNvPr id="30" name="Text 27"/>
          <p:cNvSpPr/>
          <p:nvPr/>
        </p:nvSpPr>
        <p:spPr>
          <a:xfrm>
            <a:off x="8705088" y="5321808"/>
            <a:ext cx="2423160" cy="137160"/>
          </a:xfrm>
          <a:prstGeom prst="rect">
            <a:avLst/>
          </a:prstGeom>
          <a:noFill/>
          <a:ln/>
        </p:spPr>
        <p:txBody>
          <a:bodyPr wrap="square" lIns="635" tIns="635" rIns="635" bIns="635" rtlCol="0" anchor="ctr">
            <a:normAutofit/>
          </a:bodyPr>
          <a:lstStyle/>
          <a:p>
            <a:pPr marL="0" indent="0">
              <a:buNone/>
            </a:pPr>
            <a:r>
              <a:rPr lang="en-US" sz="810" dirty="0">
                <a:solidFill>
                  <a:srgbClr val="3B4A5E"/>
                </a:solidFill>
                <a:latin typeface="Segoe UI" pitchFamily="34" charset="0"/>
                <a:ea typeface="Segoe UI" pitchFamily="34" charset="-122"/>
                <a:cs typeface="Segoe UI" pitchFamily="34" charset="-120"/>
              </a:rPr>
              <a:t>Prompt/completion logs explain agent behavior.</a:t>
            </a:r>
            <a:endParaRPr lang="en-US" sz="81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301752"/>
            <a:ext cx="3200400" cy="201168"/>
          </a:xfrm>
          <a:prstGeom prst="rect">
            <a:avLst/>
          </a:prstGeom>
          <a:noFill/>
          <a:ln/>
        </p:spPr>
        <p:txBody>
          <a:bodyPr wrap="square" lIns="0" tIns="0" rIns="0" bIns="0" rtlCol="0" anchor="ctr"/>
          <a:lstStyle/>
          <a:p>
            <a:pPr marL="0" indent="0">
              <a:buNone/>
            </a:pPr>
            <a:r>
              <a:rPr lang="en-US" sz="800" kern="0" spc="120" dirty="0">
                <a:solidFill>
                  <a:srgbClr val="00B7C3"/>
                </a:solidFill>
                <a:latin typeface="Segoe UI Semibold" pitchFamily="34" charset="0"/>
                <a:ea typeface="Segoe UI Semibold" pitchFamily="34" charset="-122"/>
                <a:cs typeface="Segoe UI Semibold" pitchFamily="34" charset="-120"/>
              </a:rPr>
              <a:t>CAPABILITIES</a:t>
            </a:r>
            <a:endParaRPr lang="en-US" sz="800" dirty="0"/>
          </a:p>
        </p:txBody>
      </p:sp>
      <p:sp>
        <p:nvSpPr>
          <p:cNvPr id="3" name="Text 1"/>
          <p:cNvSpPr/>
          <p:nvPr/>
        </p:nvSpPr>
        <p:spPr>
          <a:xfrm>
            <a:off x="457200" y="521208"/>
            <a:ext cx="7955280" cy="438912"/>
          </a:xfrm>
          <a:prstGeom prst="rect">
            <a:avLst/>
          </a:prstGeom>
          <a:noFill/>
          <a:ln/>
        </p:spPr>
        <p:txBody>
          <a:bodyPr wrap="square" lIns="0" tIns="0" rIns="0" bIns="0" rtlCol="0" anchor="ctr"/>
          <a:lstStyle/>
          <a:p>
            <a:pPr marL="0" indent="0">
              <a:buNone/>
            </a:pPr>
            <a:r>
              <a:rPr lang="en-US" sz="2500" dirty="0">
                <a:solidFill>
                  <a:srgbClr val="0B1E3F"/>
                </a:solidFill>
                <a:latin typeface="Segoe UI Semibold" pitchFamily="34" charset="0"/>
                <a:ea typeface="Segoe UI Semibold" pitchFamily="34" charset="-122"/>
                <a:cs typeface="Segoe UI Semibold" pitchFamily="34" charset="-120"/>
              </a:rPr>
              <a:t>Pillar 5 — MCP &amp; agents: govern tools and APIs</a:t>
            </a:r>
            <a:endParaRPr lang="en-US" sz="2500" dirty="0"/>
          </a:p>
        </p:txBody>
      </p:sp>
      <p:sp>
        <p:nvSpPr>
          <p:cNvPr id="4" name="Shape 2"/>
          <p:cNvSpPr/>
          <p:nvPr/>
        </p:nvSpPr>
        <p:spPr>
          <a:xfrm>
            <a:off x="10698480" y="118872"/>
            <a:ext cx="1051560" cy="1051560"/>
          </a:xfrm>
          <a:prstGeom prst="arc">
            <a:avLst/>
          </a:prstGeom>
          <a:solidFill>
            <a:srgbClr val="F5F7FA">
              <a:alpha val="0"/>
            </a:srgbClr>
          </a:solidFill>
          <a:ln w="38100">
            <a:solidFill>
              <a:srgbClr val="00B7C3">
                <a:alpha val="90000"/>
              </a:srgbClr>
            </a:solidFill>
            <a:prstDash val="solid"/>
          </a:ln>
        </p:spPr>
      </p:sp>
      <p:sp>
        <p:nvSpPr>
          <p:cNvPr id="5" name="Text 3"/>
          <p:cNvSpPr/>
          <p:nvPr/>
        </p:nvSpPr>
        <p:spPr>
          <a:xfrm>
            <a:off x="457200" y="6473952"/>
            <a:ext cx="7955280" cy="164592"/>
          </a:xfrm>
          <a:prstGeom prst="rect">
            <a:avLst/>
          </a:prstGeom>
          <a:noFill/>
          <a:ln/>
        </p:spPr>
        <p:txBody>
          <a:bodyPr wrap="square" lIns="0" tIns="0" rIns="0" bIns="0" rtlCol="0" anchor="ctr"/>
          <a:lstStyle/>
          <a:p>
            <a:pPr marL="0" indent="0">
              <a:buNone/>
            </a:pPr>
            <a:r>
              <a:rPr lang="en-US" sz="750" dirty="0">
                <a:solidFill>
                  <a:srgbClr val="8A97A8"/>
                </a:solidFill>
                <a:latin typeface="Segoe UI" pitchFamily="34" charset="0"/>
                <a:ea typeface="Segoe UI" pitchFamily="34" charset="-122"/>
                <a:cs typeface="Segoe UI" pitchFamily="34" charset="-120"/>
              </a:rPr>
              <a:t>Azure API Management AI Gateway — Oct 2026</a:t>
            </a:r>
            <a:endParaRPr lang="en-US" sz="750" dirty="0"/>
          </a:p>
        </p:txBody>
      </p:sp>
      <p:sp>
        <p:nvSpPr>
          <p:cNvPr id="6" name="Text 4"/>
          <p:cNvSpPr/>
          <p:nvPr/>
        </p:nvSpPr>
        <p:spPr>
          <a:xfrm>
            <a:off x="11430000" y="6446520"/>
            <a:ext cx="320040" cy="164592"/>
          </a:xfrm>
          <a:prstGeom prst="rect">
            <a:avLst/>
          </a:prstGeom>
          <a:noFill/>
          <a:ln/>
        </p:spPr>
        <p:txBody>
          <a:bodyPr wrap="square" lIns="0" tIns="0" rIns="0" bIns="0" rtlCol="0" anchor="ctr"/>
          <a:lstStyle/>
          <a:p>
            <a:pPr marL="0" indent="0" algn="r">
              <a:buNone/>
            </a:pPr>
            <a:r>
              <a:rPr lang="en-US" sz="800" dirty="0">
                <a:solidFill>
                  <a:srgbClr val="8A97A8"/>
                </a:solidFill>
                <a:latin typeface="Segoe UI Semibold" pitchFamily="34" charset="0"/>
                <a:ea typeface="Segoe UI Semibold" pitchFamily="34" charset="-122"/>
                <a:cs typeface="Segoe UI Semibold" pitchFamily="34" charset="-120"/>
              </a:rPr>
              <a:t>15</a:t>
            </a:r>
            <a:endParaRPr lang="en-US" sz="800" dirty="0"/>
          </a:p>
        </p:txBody>
      </p:sp>
      <p:sp>
        <p:nvSpPr>
          <p:cNvPr id="7" name="Shape 5"/>
          <p:cNvSpPr/>
          <p:nvPr/>
        </p:nvSpPr>
        <p:spPr>
          <a:xfrm>
            <a:off x="777240" y="1234440"/>
            <a:ext cx="2057400" cy="621792"/>
          </a:xfrm>
          <a:prstGeom prst="roundRect">
            <a:avLst>
              <a:gd name="adj" fmla="val 11765"/>
            </a:avLst>
          </a:prstGeom>
          <a:solidFill>
            <a:srgbClr val="0078D4"/>
          </a:solidFill>
          <a:ln w="12700">
            <a:solidFill>
              <a:srgbClr val="0078D4"/>
            </a:solidFill>
            <a:prstDash val="solid"/>
          </a:ln>
        </p:spPr>
      </p:sp>
      <p:sp>
        <p:nvSpPr>
          <p:cNvPr id="8" name="Text 6"/>
          <p:cNvSpPr/>
          <p:nvPr/>
        </p:nvSpPr>
        <p:spPr>
          <a:xfrm>
            <a:off x="850392" y="1417320"/>
            <a:ext cx="1911096" cy="164592"/>
          </a:xfrm>
          <a:prstGeom prst="rect">
            <a:avLst/>
          </a:prstGeom>
          <a:noFill/>
          <a:ln/>
        </p:spPr>
        <p:txBody>
          <a:bodyPr wrap="square" lIns="0" tIns="0" rIns="0" bIns="0" rtlCol="0" anchor="ctr">
            <a:normAutofit/>
          </a:bodyPr>
          <a:lstStyle/>
          <a:p>
            <a:pPr marL="0" indent="0" algn="ctr">
              <a:buNone/>
            </a:pPr>
            <a:r>
              <a:rPr lang="en-US" sz="880" dirty="0">
                <a:solidFill>
                  <a:srgbClr val="FFFFFF"/>
                </a:solidFill>
                <a:latin typeface="Segoe UI Semibold" pitchFamily="34" charset="0"/>
                <a:ea typeface="Segoe UI Semibold" pitchFamily="34" charset="-122"/>
                <a:cs typeface="Segoe UI Semibold" pitchFamily="34" charset="-120"/>
              </a:rPr>
              <a:t>REST API</a:t>
            </a:r>
            <a:endParaRPr lang="en-US" sz="880" dirty="0"/>
          </a:p>
        </p:txBody>
      </p:sp>
      <p:sp>
        <p:nvSpPr>
          <p:cNvPr id="9" name="Shape 7"/>
          <p:cNvSpPr/>
          <p:nvPr/>
        </p:nvSpPr>
        <p:spPr>
          <a:xfrm>
            <a:off x="2880360" y="1545336"/>
            <a:ext cx="320040" cy="0"/>
          </a:xfrm>
          <a:prstGeom prst="line">
            <a:avLst/>
          </a:prstGeom>
          <a:noFill/>
          <a:ln w="17780">
            <a:solidFill>
              <a:srgbClr val="3B4A5E"/>
            </a:solidFill>
            <a:prstDash val="solid"/>
            <a:headEnd type="none"/>
            <a:tailEnd type="triangle"/>
          </a:ln>
        </p:spPr>
      </p:sp>
      <p:sp>
        <p:nvSpPr>
          <p:cNvPr id="10" name="Shape 8"/>
          <p:cNvSpPr/>
          <p:nvPr/>
        </p:nvSpPr>
        <p:spPr>
          <a:xfrm>
            <a:off x="3246120" y="1234440"/>
            <a:ext cx="2057400" cy="621792"/>
          </a:xfrm>
          <a:prstGeom prst="roundRect">
            <a:avLst>
              <a:gd name="adj" fmla="val 11765"/>
            </a:avLst>
          </a:prstGeom>
          <a:solidFill>
            <a:srgbClr val="00B7C3"/>
          </a:solidFill>
          <a:ln w="12700">
            <a:solidFill>
              <a:srgbClr val="00B7C3"/>
            </a:solidFill>
            <a:prstDash val="solid"/>
          </a:ln>
        </p:spPr>
      </p:sp>
      <p:sp>
        <p:nvSpPr>
          <p:cNvPr id="11" name="Text 9"/>
          <p:cNvSpPr/>
          <p:nvPr/>
        </p:nvSpPr>
        <p:spPr>
          <a:xfrm>
            <a:off x="3319272" y="1417320"/>
            <a:ext cx="1911096" cy="164592"/>
          </a:xfrm>
          <a:prstGeom prst="rect">
            <a:avLst/>
          </a:prstGeom>
          <a:noFill/>
          <a:ln/>
        </p:spPr>
        <p:txBody>
          <a:bodyPr wrap="square" lIns="0" tIns="0" rIns="0" bIns="0" rtlCol="0" anchor="ctr">
            <a:normAutofit/>
          </a:bodyPr>
          <a:lstStyle/>
          <a:p>
            <a:pPr marL="0" indent="0" algn="ctr">
              <a:buNone/>
            </a:pPr>
            <a:r>
              <a:rPr lang="en-US" sz="880" dirty="0">
                <a:solidFill>
                  <a:srgbClr val="FFFFFF"/>
                </a:solidFill>
                <a:latin typeface="Segoe UI Semibold" pitchFamily="34" charset="0"/>
                <a:ea typeface="Segoe UI Semibold" pitchFamily="34" charset="-122"/>
                <a:cs typeface="Segoe UI Semibold" pitchFamily="34" charset="-120"/>
              </a:rPr>
              <a:t>APIM MCP server</a:t>
            </a:r>
            <a:endParaRPr lang="en-US" sz="880" dirty="0"/>
          </a:p>
        </p:txBody>
      </p:sp>
      <p:sp>
        <p:nvSpPr>
          <p:cNvPr id="12" name="Shape 10"/>
          <p:cNvSpPr/>
          <p:nvPr/>
        </p:nvSpPr>
        <p:spPr>
          <a:xfrm>
            <a:off x="5349240" y="1545336"/>
            <a:ext cx="320040" cy="0"/>
          </a:xfrm>
          <a:prstGeom prst="line">
            <a:avLst/>
          </a:prstGeom>
          <a:noFill/>
          <a:ln w="17780">
            <a:solidFill>
              <a:srgbClr val="3B4A5E"/>
            </a:solidFill>
            <a:prstDash val="solid"/>
            <a:headEnd type="none"/>
            <a:tailEnd type="triangle"/>
          </a:ln>
        </p:spPr>
      </p:sp>
      <p:sp>
        <p:nvSpPr>
          <p:cNvPr id="13" name="Shape 11"/>
          <p:cNvSpPr/>
          <p:nvPr/>
        </p:nvSpPr>
        <p:spPr>
          <a:xfrm>
            <a:off x="5715000" y="1234440"/>
            <a:ext cx="2057400" cy="621792"/>
          </a:xfrm>
          <a:prstGeom prst="roundRect">
            <a:avLst>
              <a:gd name="adj" fmla="val 11765"/>
            </a:avLst>
          </a:prstGeom>
          <a:solidFill>
            <a:srgbClr val="FFB900"/>
          </a:solidFill>
          <a:ln w="12700">
            <a:solidFill>
              <a:srgbClr val="FFB900"/>
            </a:solidFill>
            <a:prstDash val="solid"/>
          </a:ln>
        </p:spPr>
      </p:sp>
      <p:sp>
        <p:nvSpPr>
          <p:cNvPr id="14" name="Text 12"/>
          <p:cNvSpPr/>
          <p:nvPr/>
        </p:nvSpPr>
        <p:spPr>
          <a:xfrm>
            <a:off x="5788152" y="1417320"/>
            <a:ext cx="1911096" cy="164592"/>
          </a:xfrm>
          <a:prstGeom prst="rect">
            <a:avLst/>
          </a:prstGeom>
          <a:noFill/>
          <a:ln/>
        </p:spPr>
        <p:txBody>
          <a:bodyPr wrap="square" lIns="0" tIns="0" rIns="0" bIns="0" rtlCol="0" anchor="ctr">
            <a:normAutofit/>
          </a:bodyPr>
          <a:lstStyle/>
          <a:p>
            <a:pPr marL="0" indent="0" algn="ctr">
              <a:buNone/>
            </a:pPr>
            <a:r>
              <a:rPr lang="en-US" sz="880" dirty="0">
                <a:solidFill>
                  <a:srgbClr val="0B1E3F"/>
                </a:solidFill>
                <a:latin typeface="Segoe UI Semibold" pitchFamily="34" charset="0"/>
                <a:ea typeface="Segoe UI Semibold" pitchFamily="34" charset="-122"/>
                <a:cs typeface="Segoe UI Semibold" pitchFamily="34" charset="-120"/>
              </a:rPr>
              <a:t>MCP clients</a:t>
            </a:r>
            <a:endParaRPr lang="en-US" sz="880" dirty="0"/>
          </a:p>
        </p:txBody>
      </p:sp>
      <p:sp>
        <p:nvSpPr>
          <p:cNvPr id="15" name="Shape 13"/>
          <p:cNvSpPr/>
          <p:nvPr/>
        </p:nvSpPr>
        <p:spPr>
          <a:xfrm>
            <a:off x="777240" y="2331720"/>
            <a:ext cx="2057400" cy="621792"/>
          </a:xfrm>
          <a:prstGeom prst="roundRect">
            <a:avLst>
              <a:gd name="adj" fmla="val 11765"/>
            </a:avLst>
          </a:prstGeom>
          <a:solidFill>
            <a:srgbClr val="3B4A5E"/>
          </a:solidFill>
          <a:ln w="12700">
            <a:solidFill>
              <a:srgbClr val="3B4A5E"/>
            </a:solidFill>
            <a:prstDash val="solid"/>
          </a:ln>
        </p:spPr>
      </p:sp>
      <p:sp>
        <p:nvSpPr>
          <p:cNvPr id="16" name="Text 14"/>
          <p:cNvSpPr/>
          <p:nvPr/>
        </p:nvSpPr>
        <p:spPr>
          <a:xfrm>
            <a:off x="850392" y="2514600"/>
            <a:ext cx="1911096" cy="164592"/>
          </a:xfrm>
          <a:prstGeom prst="rect">
            <a:avLst/>
          </a:prstGeom>
          <a:noFill/>
          <a:ln/>
        </p:spPr>
        <p:txBody>
          <a:bodyPr wrap="square" lIns="0" tIns="0" rIns="0" bIns="0" rtlCol="0" anchor="ctr">
            <a:normAutofit/>
          </a:bodyPr>
          <a:lstStyle/>
          <a:p>
            <a:pPr marL="0" indent="0" algn="ctr">
              <a:buNone/>
            </a:pPr>
            <a:r>
              <a:rPr lang="en-US" sz="880" dirty="0">
                <a:solidFill>
                  <a:srgbClr val="FFFFFF"/>
                </a:solidFill>
                <a:latin typeface="Segoe UI Semibold" pitchFamily="34" charset="0"/>
                <a:ea typeface="Segoe UI Semibold" pitchFamily="34" charset="-122"/>
                <a:cs typeface="Segoe UI Semibold" pitchFamily="34" charset="-120"/>
              </a:rPr>
              <a:t>Existing MCP</a:t>
            </a:r>
            <a:endParaRPr lang="en-US" sz="880" dirty="0"/>
          </a:p>
        </p:txBody>
      </p:sp>
      <p:sp>
        <p:nvSpPr>
          <p:cNvPr id="17" name="Shape 15"/>
          <p:cNvSpPr/>
          <p:nvPr/>
        </p:nvSpPr>
        <p:spPr>
          <a:xfrm>
            <a:off x="2880360" y="2642616"/>
            <a:ext cx="320040" cy="0"/>
          </a:xfrm>
          <a:prstGeom prst="line">
            <a:avLst/>
          </a:prstGeom>
          <a:noFill/>
          <a:ln w="17780">
            <a:solidFill>
              <a:srgbClr val="3B4A5E"/>
            </a:solidFill>
            <a:prstDash val="solid"/>
            <a:headEnd type="none"/>
            <a:tailEnd type="triangle"/>
          </a:ln>
        </p:spPr>
      </p:sp>
      <p:sp>
        <p:nvSpPr>
          <p:cNvPr id="18" name="Shape 16"/>
          <p:cNvSpPr/>
          <p:nvPr/>
        </p:nvSpPr>
        <p:spPr>
          <a:xfrm>
            <a:off x="3246120" y="2331720"/>
            <a:ext cx="2057400" cy="621792"/>
          </a:xfrm>
          <a:prstGeom prst="roundRect">
            <a:avLst>
              <a:gd name="adj" fmla="val 11765"/>
            </a:avLst>
          </a:prstGeom>
          <a:solidFill>
            <a:srgbClr val="00B7C3"/>
          </a:solidFill>
          <a:ln w="12700">
            <a:solidFill>
              <a:srgbClr val="00B7C3"/>
            </a:solidFill>
            <a:prstDash val="solid"/>
          </a:ln>
        </p:spPr>
      </p:sp>
      <p:sp>
        <p:nvSpPr>
          <p:cNvPr id="19" name="Text 17"/>
          <p:cNvSpPr/>
          <p:nvPr/>
        </p:nvSpPr>
        <p:spPr>
          <a:xfrm>
            <a:off x="3319272" y="2514600"/>
            <a:ext cx="1911096" cy="164592"/>
          </a:xfrm>
          <a:prstGeom prst="rect">
            <a:avLst/>
          </a:prstGeom>
          <a:noFill/>
          <a:ln/>
        </p:spPr>
        <p:txBody>
          <a:bodyPr wrap="square" lIns="0" tIns="0" rIns="0" bIns="0" rtlCol="0" anchor="ctr">
            <a:normAutofit/>
          </a:bodyPr>
          <a:lstStyle/>
          <a:p>
            <a:pPr marL="0" indent="0" algn="ctr">
              <a:buNone/>
            </a:pPr>
            <a:r>
              <a:rPr lang="en-US" sz="880" dirty="0">
                <a:solidFill>
                  <a:srgbClr val="FFFFFF"/>
                </a:solidFill>
                <a:latin typeface="Segoe UI Semibold" pitchFamily="34" charset="0"/>
                <a:ea typeface="Segoe UI Semibold" pitchFamily="34" charset="-122"/>
                <a:cs typeface="Segoe UI Semibold" pitchFamily="34" charset="-120"/>
              </a:rPr>
              <a:t>APIM pass-through</a:t>
            </a:r>
            <a:endParaRPr lang="en-US" sz="880" dirty="0"/>
          </a:p>
        </p:txBody>
      </p:sp>
      <p:sp>
        <p:nvSpPr>
          <p:cNvPr id="20" name="Shape 18"/>
          <p:cNvSpPr/>
          <p:nvPr/>
        </p:nvSpPr>
        <p:spPr>
          <a:xfrm>
            <a:off x="5349240" y="2642616"/>
            <a:ext cx="320040" cy="0"/>
          </a:xfrm>
          <a:prstGeom prst="line">
            <a:avLst/>
          </a:prstGeom>
          <a:noFill/>
          <a:ln w="17780">
            <a:solidFill>
              <a:srgbClr val="3B4A5E"/>
            </a:solidFill>
            <a:prstDash val="solid"/>
            <a:headEnd type="none"/>
            <a:tailEnd type="triangle"/>
          </a:ln>
        </p:spPr>
      </p:sp>
      <p:sp>
        <p:nvSpPr>
          <p:cNvPr id="21" name="Shape 19"/>
          <p:cNvSpPr/>
          <p:nvPr/>
        </p:nvSpPr>
        <p:spPr>
          <a:xfrm>
            <a:off x="5715000" y="2331720"/>
            <a:ext cx="2057400" cy="621792"/>
          </a:xfrm>
          <a:prstGeom prst="roundRect">
            <a:avLst>
              <a:gd name="adj" fmla="val 11765"/>
            </a:avLst>
          </a:prstGeom>
          <a:solidFill>
            <a:srgbClr val="0078D4"/>
          </a:solidFill>
          <a:ln w="12700">
            <a:solidFill>
              <a:srgbClr val="0078D4"/>
            </a:solidFill>
            <a:prstDash val="solid"/>
          </a:ln>
        </p:spPr>
      </p:sp>
      <p:sp>
        <p:nvSpPr>
          <p:cNvPr id="22" name="Text 20"/>
          <p:cNvSpPr/>
          <p:nvPr/>
        </p:nvSpPr>
        <p:spPr>
          <a:xfrm>
            <a:off x="5788152" y="2514600"/>
            <a:ext cx="1911096" cy="164592"/>
          </a:xfrm>
          <a:prstGeom prst="rect">
            <a:avLst/>
          </a:prstGeom>
          <a:noFill/>
          <a:ln/>
        </p:spPr>
        <p:txBody>
          <a:bodyPr wrap="square" lIns="0" tIns="0" rIns="0" bIns="0" rtlCol="0" anchor="ctr">
            <a:normAutofit/>
          </a:bodyPr>
          <a:lstStyle/>
          <a:p>
            <a:pPr marL="0" indent="0" algn="ctr">
              <a:buNone/>
            </a:pPr>
            <a:r>
              <a:rPr lang="en-US" sz="880" dirty="0">
                <a:solidFill>
                  <a:srgbClr val="0B1E3F"/>
                </a:solidFill>
                <a:latin typeface="Segoe UI Semibold" pitchFamily="34" charset="0"/>
                <a:ea typeface="Segoe UI Semibold" pitchFamily="34" charset="-122"/>
                <a:cs typeface="Segoe UI Semibold" pitchFamily="34" charset="-120"/>
              </a:rPr>
              <a:t>Foundry / Copilot Studio</a:t>
            </a:r>
            <a:endParaRPr lang="en-US" sz="880" dirty="0"/>
          </a:p>
        </p:txBody>
      </p:sp>
      <p:sp>
        <p:nvSpPr>
          <p:cNvPr id="23" name="Shape 21"/>
          <p:cNvSpPr/>
          <p:nvPr/>
        </p:nvSpPr>
        <p:spPr>
          <a:xfrm>
            <a:off x="777240" y="3429000"/>
            <a:ext cx="2057400" cy="621792"/>
          </a:xfrm>
          <a:prstGeom prst="roundRect">
            <a:avLst>
              <a:gd name="adj" fmla="val 11765"/>
            </a:avLst>
          </a:prstGeom>
          <a:solidFill>
            <a:srgbClr val="3B4A5E"/>
          </a:solidFill>
          <a:ln w="12700">
            <a:solidFill>
              <a:srgbClr val="3B4A5E"/>
            </a:solidFill>
            <a:prstDash val="solid"/>
          </a:ln>
        </p:spPr>
      </p:sp>
      <p:sp>
        <p:nvSpPr>
          <p:cNvPr id="24" name="Text 22"/>
          <p:cNvSpPr/>
          <p:nvPr/>
        </p:nvSpPr>
        <p:spPr>
          <a:xfrm>
            <a:off x="850392" y="3611880"/>
            <a:ext cx="1911096" cy="164592"/>
          </a:xfrm>
          <a:prstGeom prst="rect">
            <a:avLst/>
          </a:prstGeom>
          <a:noFill/>
          <a:ln/>
        </p:spPr>
        <p:txBody>
          <a:bodyPr wrap="square" lIns="0" tIns="0" rIns="0" bIns="0" rtlCol="0" anchor="ctr">
            <a:normAutofit/>
          </a:bodyPr>
          <a:lstStyle/>
          <a:p>
            <a:pPr marL="0" indent="0" algn="ctr">
              <a:buNone/>
            </a:pPr>
            <a:r>
              <a:rPr lang="en-US" sz="880" dirty="0">
                <a:solidFill>
                  <a:srgbClr val="FFFFFF"/>
                </a:solidFill>
                <a:latin typeface="Segoe UI Semibold" pitchFamily="34" charset="0"/>
                <a:ea typeface="Segoe UI Semibold" pitchFamily="34" charset="-122"/>
                <a:cs typeface="Segoe UI Semibold" pitchFamily="34" charset="-120"/>
              </a:rPr>
              <a:t>A2A agent API</a:t>
            </a:r>
            <a:endParaRPr lang="en-US" sz="880" dirty="0"/>
          </a:p>
        </p:txBody>
      </p:sp>
      <p:sp>
        <p:nvSpPr>
          <p:cNvPr id="25" name="Shape 23"/>
          <p:cNvSpPr/>
          <p:nvPr/>
        </p:nvSpPr>
        <p:spPr>
          <a:xfrm>
            <a:off x="2880360" y="3739896"/>
            <a:ext cx="320040" cy="0"/>
          </a:xfrm>
          <a:prstGeom prst="line">
            <a:avLst/>
          </a:prstGeom>
          <a:noFill/>
          <a:ln w="17780">
            <a:solidFill>
              <a:srgbClr val="3B4A5E"/>
            </a:solidFill>
            <a:prstDash val="solid"/>
            <a:headEnd type="none"/>
            <a:tailEnd type="triangle"/>
          </a:ln>
        </p:spPr>
      </p:sp>
      <p:sp>
        <p:nvSpPr>
          <p:cNvPr id="26" name="Shape 24"/>
          <p:cNvSpPr/>
          <p:nvPr/>
        </p:nvSpPr>
        <p:spPr>
          <a:xfrm>
            <a:off x="3246120" y="3429000"/>
            <a:ext cx="2057400" cy="621792"/>
          </a:xfrm>
          <a:prstGeom prst="roundRect">
            <a:avLst>
              <a:gd name="adj" fmla="val 11765"/>
            </a:avLst>
          </a:prstGeom>
          <a:solidFill>
            <a:srgbClr val="00B7C3"/>
          </a:solidFill>
          <a:ln w="12700">
            <a:solidFill>
              <a:srgbClr val="00B7C3"/>
            </a:solidFill>
            <a:prstDash val="solid"/>
          </a:ln>
        </p:spPr>
      </p:sp>
      <p:sp>
        <p:nvSpPr>
          <p:cNvPr id="27" name="Text 25"/>
          <p:cNvSpPr/>
          <p:nvPr/>
        </p:nvSpPr>
        <p:spPr>
          <a:xfrm>
            <a:off x="3319272" y="3611880"/>
            <a:ext cx="1911096" cy="164592"/>
          </a:xfrm>
          <a:prstGeom prst="rect">
            <a:avLst/>
          </a:prstGeom>
          <a:noFill/>
          <a:ln/>
        </p:spPr>
        <p:txBody>
          <a:bodyPr wrap="square" lIns="0" tIns="0" rIns="0" bIns="0" rtlCol="0" anchor="ctr">
            <a:normAutofit/>
          </a:bodyPr>
          <a:lstStyle/>
          <a:p>
            <a:pPr marL="0" indent="0" algn="ctr">
              <a:buNone/>
            </a:pPr>
            <a:r>
              <a:rPr lang="en-US" sz="880" dirty="0">
                <a:solidFill>
                  <a:srgbClr val="FFFFFF"/>
                </a:solidFill>
                <a:latin typeface="Segoe UI Semibold" pitchFamily="34" charset="0"/>
                <a:ea typeface="Segoe UI Semibold" pitchFamily="34" charset="-122"/>
                <a:cs typeface="Segoe UI Semibold" pitchFamily="34" charset="-120"/>
              </a:rPr>
              <a:t>APIM mediation</a:t>
            </a:r>
            <a:endParaRPr lang="en-US" sz="880" dirty="0"/>
          </a:p>
        </p:txBody>
      </p:sp>
      <p:sp>
        <p:nvSpPr>
          <p:cNvPr id="28" name="Shape 26"/>
          <p:cNvSpPr/>
          <p:nvPr/>
        </p:nvSpPr>
        <p:spPr>
          <a:xfrm>
            <a:off x="5349240" y="3739896"/>
            <a:ext cx="320040" cy="0"/>
          </a:xfrm>
          <a:prstGeom prst="line">
            <a:avLst/>
          </a:prstGeom>
          <a:noFill/>
          <a:ln w="17780">
            <a:solidFill>
              <a:srgbClr val="3B4A5E"/>
            </a:solidFill>
            <a:prstDash val="solid"/>
            <a:headEnd type="none"/>
            <a:tailEnd type="triangle"/>
          </a:ln>
        </p:spPr>
      </p:sp>
      <p:sp>
        <p:nvSpPr>
          <p:cNvPr id="29" name="Shape 27"/>
          <p:cNvSpPr/>
          <p:nvPr/>
        </p:nvSpPr>
        <p:spPr>
          <a:xfrm>
            <a:off x="5715000" y="3429000"/>
            <a:ext cx="2057400" cy="621792"/>
          </a:xfrm>
          <a:prstGeom prst="roundRect">
            <a:avLst>
              <a:gd name="adj" fmla="val 11765"/>
            </a:avLst>
          </a:prstGeom>
          <a:solidFill>
            <a:srgbClr val="FFB900"/>
          </a:solidFill>
          <a:ln w="12700">
            <a:solidFill>
              <a:srgbClr val="FFB900"/>
            </a:solidFill>
            <a:prstDash val="solid"/>
          </a:ln>
        </p:spPr>
      </p:sp>
      <p:sp>
        <p:nvSpPr>
          <p:cNvPr id="30" name="Text 28"/>
          <p:cNvSpPr/>
          <p:nvPr/>
        </p:nvSpPr>
        <p:spPr>
          <a:xfrm>
            <a:off x="5788152" y="3611880"/>
            <a:ext cx="1911096" cy="164592"/>
          </a:xfrm>
          <a:prstGeom prst="rect">
            <a:avLst/>
          </a:prstGeom>
          <a:noFill/>
          <a:ln/>
        </p:spPr>
        <p:txBody>
          <a:bodyPr wrap="square" lIns="0" tIns="0" rIns="0" bIns="0" rtlCol="0" anchor="ctr">
            <a:normAutofit/>
          </a:bodyPr>
          <a:lstStyle/>
          <a:p>
            <a:pPr marL="0" indent="0" algn="ctr">
              <a:buNone/>
            </a:pPr>
            <a:r>
              <a:rPr lang="en-US" sz="880" dirty="0">
                <a:solidFill>
                  <a:srgbClr val="0B1E3F"/>
                </a:solidFill>
                <a:latin typeface="Segoe UI Semibold" pitchFamily="34" charset="0"/>
                <a:ea typeface="Segoe UI Semibold" pitchFamily="34" charset="-122"/>
                <a:cs typeface="Segoe UI Semibold" pitchFamily="34" charset="-120"/>
              </a:rPr>
              <a:t>Agent card rewritten</a:t>
            </a:r>
            <a:endParaRPr lang="en-US" sz="880" dirty="0"/>
          </a:p>
        </p:txBody>
      </p:sp>
      <p:sp>
        <p:nvSpPr>
          <p:cNvPr id="31" name="Shape 29"/>
          <p:cNvSpPr/>
          <p:nvPr/>
        </p:nvSpPr>
        <p:spPr>
          <a:xfrm>
            <a:off x="8503920" y="1051560"/>
            <a:ext cx="2377440" cy="987552"/>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32" name="Shape 30"/>
          <p:cNvSpPr/>
          <p:nvPr/>
        </p:nvSpPr>
        <p:spPr>
          <a:xfrm>
            <a:off x="8503920" y="1051560"/>
            <a:ext cx="73152" cy="987552"/>
          </a:xfrm>
          <a:prstGeom prst="rect">
            <a:avLst/>
          </a:prstGeom>
          <a:solidFill>
            <a:srgbClr val="0078D4"/>
          </a:solidFill>
          <a:ln w="12700">
            <a:solidFill>
              <a:srgbClr val="0078D4"/>
            </a:solidFill>
            <a:prstDash val="solid"/>
          </a:ln>
        </p:spPr>
      </p:sp>
      <p:sp>
        <p:nvSpPr>
          <p:cNvPr id="33" name="Shape 31"/>
          <p:cNvSpPr/>
          <p:nvPr/>
        </p:nvSpPr>
        <p:spPr>
          <a:xfrm>
            <a:off x="8668512" y="1207008"/>
            <a:ext cx="393192" cy="393192"/>
          </a:xfrm>
          <a:prstGeom prst="ellipse">
            <a:avLst/>
          </a:prstGeom>
          <a:solidFill>
            <a:srgbClr val="0078D4"/>
          </a:solidFill>
          <a:ln w="12700">
            <a:solidFill>
              <a:srgbClr val="0078D4"/>
            </a:solidFill>
            <a:prstDash val="solid"/>
          </a:ln>
        </p:spPr>
      </p:sp>
      <p:sp>
        <p:nvSpPr>
          <p:cNvPr id="34" name="Text 32"/>
          <p:cNvSpPr/>
          <p:nvPr/>
        </p:nvSpPr>
        <p:spPr>
          <a:xfrm>
            <a:off x="8668512" y="1266444"/>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AC</a:t>
            </a:r>
            <a:endParaRPr lang="en-US" sz="800" dirty="0"/>
          </a:p>
        </p:txBody>
      </p:sp>
      <p:sp>
        <p:nvSpPr>
          <p:cNvPr id="35" name="Text 33"/>
          <p:cNvSpPr/>
          <p:nvPr/>
        </p:nvSpPr>
        <p:spPr>
          <a:xfrm>
            <a:off x="9162288" y="1179576"/>
            <a:ext cx="155448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API Center</a:t>
            </a:r>
            <a:endParaRPr lang="en-US" sz="1250" dirty="0"/>
          </a:p>
        </p:txBody>
      </p:sp>
      <p:sp>
        <p:nvSpPr>
          <p:cNvPr id="36" name="Text 34"/>
          <p:cNvSpPr/>
          <p:nvPr/>
        </p:nvSpPr>
        <p:spPr>
          <a:xfrm>
            <a:off x="9162288" y="1508760"/>
            <a:ext cx="1554480" cy="438912"/>
          </a:xfrm>
          <a:prstGeom prst="rect">
            <a:avLst/>
          </a:prstGeom>
          <a:noFill/>
          <a:ln/>
        </p:spPr>
        <p:txBody>
          <a:bodyPr wrap="square" lIns="635" tIns="635" rIns="635" bIns="635" rtlCol="0" anchor="ctr">
            <a:normAutofit/>
          </a:bodyPr>
          <a:lstStyle/>
          <a:p>
            <a:pPr marL="0" indent="0">
              <a:buNone/>
            </a:pPr>
            <a:r>
              <a:rPr lang="en-US" sz="880" dirty="0">
                <a:solidFill>
                  <a:srgbClr val="3B4A5E"/>
                </a:solidFill>
                <a:latin typeface="Segoe UI" pitchFamily="34" charset="0"/>
                <a:ea typeface="Segoe UI" pitchFamily="34" charset="-122"/>
                <a:cs typeface="Segoe UI" pitchFamily="34" charset="-120"/>
              </a:rPr>
              <a:t>Registry for APIs, MCP servers and agents.</a:t>
            </a:r>
            <a:endParaRPr lang="en-US" sz="880" dirty="0"/>
          </a:p>
        </p:txBody>
      </p:sp>
      <p:sp>
        <p:nvSpPr>
          <p:cNvPr id="37" name="Shape 35"/>
          <p:cNvSpPr/>
          <p:nvPr/>
        </p:nvSpPr>
        <p:spPr>
          <a:xfrm>
            <a:off x="8503920" y="2423160"/>
            <a:ext cx="2377440" cy="987552"/>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38" name="Shape 36"/>
          <p:cNvSpPr/>
          <p:nvPr/>
        </p:nvSpPr>
        <p:spPr>
          <a:xfrm>
            <a:off x="8503920" y="2423160"/>
            <a:ext cx="73152" cy="987552"/>
          </a:xfrm>
          <a:prstGeom prst="rect">
            <a:avLst/>
          </a:prstGeom>
          <a:solidFill>
            <a:srgbClr val="FFB900"/>
          </a:solidFill>
          <a:ln w="12700">
            <a:solidFill>
              <a:srgbClr val="FFB900"/>
            </a:solidFill>
            <a:prstDash val="solid"/>
          </a:ln>
        </p:spPr>
      </p:sp>
      <p:sp>
        <p:nvSpPr>
          <p:cNvPr id="39" name="Shape 37"/>
          <p:cNvSpPr/>
          <p:nvPr/>
        </p:nvSpPr>
        <p:spPr>
          <a:xfrm>
            <a:off x="8668512" y="2578608"/>
            <a:ext cx="393192" cy="393192"/>
          </a:xfrm>
          <a:prstGeom prst="ellipse">
            <a:avLst/>
          </a:prstGeom>
          <a:solidFill>
            <a:srgbClr val="FFB900"/>
          </a:solidFill>
          <a:ln w="12700">
            <a:solidFill>
              <a:srgbClr val="FFB900"/>
            </a:solidFill>
            <a:prstDash val="solid"/>
          </a:ln>
        </p:spPr>
      </p:sp>
      <p:sp>
        <p:nvSpPr>
          <p:cNvPr id="40" name="Text 38"/>
          <p:cNvSpPr/>
          <p:nvPr/>
        </p:nvSpPr>
        <p:spPr>
          <a:xfrm>
            <a:off x="8668512" y="2638044"/>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a:t>
            </a:r>
            <a:endParaRPr lang="en-US" sz="800" dirty="0"/>
          </a:p>
        </p:txBody>
      </p:sp>
      <p:sp>
        <p:nvSpPr>
          <p:cNvPr id="41" name="Text 39"/>
          <p:cNvSpPr/>
          <p:nvPr/>
        </p:nvSpPr>
        <p:spPr>
          <a:xfrm>
            <a:off x="9162288" y="2551176"/>
            <a:ext cx="155448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Limits</a:t>
            </a:r>
            <a:endParaRPr lang="en-US" sz="1250" dirty="0"/>
          </a:p>
        </p:txBody>
      </p:sp>
      <p:sp>
        <p:nvSpPr>
          <p:cNvPr id="42" name="Text 40"/>
          <p:cNvSpPr/>
          <p:nvPr/>
        </p:nvSpPr>
        <p:spPr>
          <a:xfrm>
            <a:off x="9162288" y="2880360"/>
            <a:ext cx="1554480" cy="438912"/>
          </a:xfrm>
          <a:prstGeom prst="rect">
            <a:avLst/>
          </a:prstGeom>
          <a:noFill/>
          <a:ln/>
        </p:spPr>
        <p:txBody>
          <a:bodyPr wrap="square" lIns="635" tIns="635" rIns="635" bIns="635" rtlCol="0" anchor="ctr">
            <a:normAutofit/>
          </a:bodyPr>
          <a:lstStyle/>
          <a:p>
            <a:pPr marL="0" indent="0">
              <a:buNone/>
            </a:pPr>
            <a:r>
              <a:rPr lang="en-US" sz="880" dirty="0">
                <a:solidFill>
                  <a:srgbClr val="3B4A5E"/>
                </a:solidFill>
                <a:latin typeface="Segoe UI" pitchFamily="34" charset="0"/>
                <a:ea typeface="Segoe UI" pitchFamily="34" charset="-122"/>
                <a:cs typeface="Segoe UI" pitchFamily="34" charset="-120"/>
              </a:rPr>
              <a:t>MCP: tools only, not Consumption, not workspaces.</a:t>
            </a:r>
            <a:endParaRPr lang="en-US" sz="880" dirty="0"/>
          </a:p>
        </p:txBody>
      </p:sp>
      <p:sp>
        <p:nvSpPr>
          <p:cNvPr id="43" name="Shape 41"/>
          <p:cNvSpPr/>
          <p:nvPr/>
        </p:nvSpPr>
        <p:spPr>
          <a:xfrm>
            <a:off x="8503920" y="3794760"/>
            <a:ext cx="2377440" cy="987552"/>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44" name="Shape 42"/>
          <p:cNvSpPr/>
          <p:nvPr/>
        </p:nvSpPr>
        <p:spPr>
          <a:xfrm>
            <a:off x="8503920" y="3794760"/>
            <a:ext cx="73152" cy="987552"/>
          </a:xfrm>
          <a:prstGeom prst="rect">
            <a:avLst/>
          </a:prstGeom>
          <a:solidFill>
            <a:srgbClr val="00B7C3"/>
          </a:solidFill>
          <a:ln w="12700">
            <a:solidFill>
              <a:srgbClr val="00B7C3"/>
            </a:solidFill>
            <a:prstDash val="solid"/>
          </a:ln>
        </p:spPr>
      </p:sp>
      <p:sp>
        <p:nvSpPr>
          <p:cNvPr id="45" name="Shape 43"/>
          <p:cNvSpPr/>
          <p:nvPr/>
        </p:nvSpPr>
        <p:spPr>
          <a:xfrm>
            <a:off x="8668512" y="3950208"/>
            <a:ext cx="393192" cy="393192"/>
          </a:xfrm>
          <a:prstGeom prst="ellipse">
            <a:avLst/>
          </a:prstGeom>
          <a:solidFill>
            <a:srgbClr val="00B7C3"/>
          </a:solidFill>
          <a:ln w="12700">
            <a:solidFill>
              <a:srgbClr val="00B7C3"/>
            </a:solidFill>
            <a:prstDash val="solid"/>
          </a:ln>
        </p:spPr>
      </p:sp>
      <p:sp>
        <p:nvSpPr>
          <p:cNvPr id="46" name="Text 44"/>
          <p:cNvSpPr/>
          <p:nvPr/>
        </p:nvSpPr>
        <p:spPr>
          <a:xfrm>
            <a:off x="8668512" y="4009644"/>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P</a:t>
            </a:r>
            <a:endParaRPr lang="en-US" sz="800" dirty="0"/>
          </a:p>
        </p:txBody>
      </p:sp>
      <p:sp>
        <p:nvSpPr>
          <p:cNvPr id="47" name="Text 45"/>
          <p:cNvSpPr/>
          <p:nvPr/>
        </p:nvSpPr>
        <p:spPr>
          <a:xfrm>
            <a:off x="9162288" y="3922776"/>
            <a:ext cx="155448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Policy scope</a:t>
            </a:r>
            <a:endParaRPr lang="en-US" sz="1250" dirty="0"/>
          </a:p>
        </p:txBody>
      </p:sp>
      <p:sp>
        <p:nvSpPr>
          <p:cNvPr id="48" name="Text 46"/>
          <p:cNvSpPr/>
          <p:nvPr/>
        </p:nvSpPr>
        <p:spPr>
          <a:xfrm>
            <a:off x="9162288" y="4251960"/>
            <a:ext cx="1554480" cy="438912"/>
          </a:xfrm>
          <a:prstGeom prst="rect">
            <a:avLst/>
          </a:prstGeom>
          <a:noFill/>
          <a:ln/>
        </p:spPr>
        <p:txBody>
          <a:bodyPr wrap="square" lIns="635" tIns="635" rIns="635" bIns="635" rtlCol="0" anchor="ctr">
            <a:normAutofit/>
          </a:bodyPr>
          <a:lstStyle/>
          <a:p>
            <a:pPr marL="0" indent="0">
              <a:buNone/>
            </a:pPr>
            <a:r>
              <a:rPr lang="en-US" sz="880" dirty="0">
                <a:solidFill>
                  <a:srgbClr val="3B4A5E"/>
                </a:solidFill>
                <a:latin typeface="Segoe UI" pitchFamily="34" charset="0"/>
                <a:ea typeface="Segoe UI" pitchFamily="34" charset="-122"/>
                <a:cs typeface="Segoe UI" pitchFamily="34" charset="-120"/>
              </a:rPr>
              <a:t>Policies apply across all tools in a server.</a:t>
            </a:r>
            <a:endParaRPr lang="en-US" sz="880" dirty="0"/>
          </a:p>
        </p:txBody>
      </p:sp>
      <p:sp>
        <p:nvSpPr>
          <p:cNvPr id="49" name="Text 47"/>
          <p:cNvSpPr/>
          <p:nvPr/>
        </p:nvSpPr>
        <p:spPr>
          <a:xfrm>
            <a:off x="1005840" y="5074920"/>
            <a:ext cx="9875520" cy="228600"/>
          </a:xfrm>
          <a:prstGeom prst="rect">
            <a:avLst/>
          </a:prstGeom>
          <a:noFill/>
          <a:ln/>
        </p:spPr>
        <p:txBody>
          <a:bodyPr wrap="square" lIns="0" tIns="0" rIns="0" bIns="0" rtlCol="0" anchor="ctr"/>
          <a:lstStyle/>
          <a:p>
            <a:pPr marL="0" indent="0" algn="ctr">
              <a:buNone/>
            </a:pPr>
            <a:r>
              <a:rPr lang="en-US" sz="1200" dirty="0">
                <a:solidFill>
                  <a:srgbClr val="0B1E3F"/>
                </a:solidFill>
                <a:latin typeface="Segoe UI Semibold" pitchFamily="34" charset="0"/>
                <a:ea typeface="Segoe UI Semibold" pitchFamily="34" charset="-122"/>
                <a:cs typeface="Segoe UI Semibold" pitchFamily="34" charset="-120"/>
              </a:rPr>
              <a:t>Zava Retail REST API becomes /zava-mcp/mcp with tools: search-products and get-order-status.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E3F"/>
        </a:solidFill>
        <a:effectLst/>
      </p:bgPr>
    </p:bg>
    <p:spTree>
      <p:nvGrpSpPr>
        <p:cNvPr id="1" name=""/>
        <p:cNvGrpSpPr/>
        <p:nvPr/>
      </p:nvGrpSpPr>
      <p:grpSpPr>
        <a:xfrm>
          <a:off x="0" y="0"/>
          <a:ext cx="0" cy="0"/>
          <a:chOff x="0" y="0"/>
          <a:chExt cx="0" cy="0"/>
        </a:xfrm>
      </p:grpSpPr>
      <p:sp>
        <p:nvSpPr>
          <p:cNvPr id="2" name="Shape 0"/>
          <p:cNvSpPr/>
          <p:nvPr/>
        </p:nvSpPr>
        <p:spPr>
          <a:xfrm>
            <a:off x="7955280" y="1508760"/>
            <a:ext cx="164592" cy="4480560"/>
          </a:xfrm>
          <a:prstGeom prst="rect">
            <a:avLst/>
          </a:prstGeom>
          <a:solidFill>
            <a:srgbClr val="00B7C3">
              <a:alpha val="85000"/>
            </a:srgbClr>
          </a:solidFill>
          <a:ln w="12700">
            <a:solidFill>
              <a:srgbClr val="00B7C3">
                <a:alpha val="85000"/>
              </a:srgbClr>
            </a:solidFill>
            <a:prstDash val="solid"/>
          </a:ln>
        </p:spPr>
      </p:sp>
      <p:sp>
        <p:nvSpPr>
          <p:cNvPr id="3" name="Shape 1"/>
          <p:cNvSpPr/>
          <p:nvPr/>
        </p:nvSpPr>
        <p:spPr>
          <a:xfrm>
            <a:off x="10808208" y="1508760"/>
            <a:ext cx="164592" cy="4480560"/>
          </a:xfrm>
          <a:prstGeom prst="rect">
            <a:avLst/>
          </a:prstGeom>
          <a:solidFill>
            <a:srgbClr val="00B7C3">
              <a:alpha val="85000"/>
            </a:srgbClr>
          </a:solidFill>
          <a:ln w="12700">
            <a:solidFill>
              <a:srgbClr val="00B7C3">
                <a:alpha val="85000"/>
              </a:srgbClr>
            </a:solidFill>
            <a:prstDash val="solid"/>
          </a:ln>
        </p:spPr>
      </p:sp>
      <p:sp>
        <p:nvSpPr>
          <p:cNvPr id="4" name="Shape 2"/>
          <p:cNvSpPr/>
          <p:nvPr/>
        </p:nvSpPr>
        <p:spPr>
          <a:xfrm>
            <a:off x="7964424" y="914400"/>
            <a:ext cx="2999232" cy="1234440"/>
          </a:xfrm>
          <a:prstGeom prst="arc">
            <a:avLst/>
          </a:prstGeom>
          <a:solidFill>
            <a:srgbClr val="00B7C3">
              <a:alpha val="0"/>
            </a:srgbClr>
          </a:solidFill>
          <a:ln w="88900">
            <a:solidFill>
              <a:srgbClr val="00B7C3">
                <a:alpha val="85000"/>
              </a:srgbClr>
            </a:solidFill>
            <a:prstDash val="solid"/>
          </a:ln>
        </p:spPr>
      </p:sp>
      <p:sp>
        <p:nvSpPr>
          <p:cNvPr id="5" name="Shape 3"/>
          <p:cNvSpPr/>
          <p:nvPr/>
        </p:nvSpPr>
        <p:spPr>
          <a:xfrm>
            <a:off x="685800" y="749808"/>
            <a:ext cx="658368" cy="658368"/>
          </a:xfrm>
          <a:prstGeom prst="ellipse">
            <a:avLst/>
          </a:prstGeom>
          <a:solidFill>
            <a:srgbClr val="00B7C3"/>
          </a:solidFill>
          <a:ln w="12700">
            <a:solidFill>
              <a:srgbClr val="00B7C3"/>
            </a:solidFill>
            <a:prstDash val="solid"/>
          </a:ln>
        </p:spPr>
      </p:sp>
      <p:sp>
        <p:nvSpPr>
          <p:cNvPr id="6" name="Text 4"/>
          <p:cNvSpPr/>
          <p:nvPr/>
        </p:nvSpPr>
        <p:spPr>
          <a:xfrm>
            <a:off x="685800" y="905256"/>
            <a:ext cx="658368" cy="201168"/>
          </a:xfrm>
          <a:prstGeom prst="rect">
            <a:avLst/>
          </a:prstGeom>
          <a:noFill/>
          <a:ln/>
        </p:spPr>
        <p:txBody>
          <a:bodyPr wrap="square" lIns="0" tIns="0" rIns="0" bIns="0" rtlCol="0" anchor="ctr"/>
          <a:lstStyle/>
          <a:p>
            <a:pPr marL="0" indent="0" algn="ctr">
              <a:buNone/>
            </a:pPr>
            <a:r>
              <a:rPr lang="en-US" sz="1700" dirty="0">
                <a:solidFill>
                  <a:srgbClr val="0B1E3F"/>
                </a:solidFill>
                <a:latin typeface="Segoe UI Semibold" pitchFamily="34" charset="0"/>
                <a:ea typeface="Segoe UI Semibold" pitchFamily="34" charset="-122"/>
                <a:cs typeface="Segoe UI Semibold" pitchFamily="34" charset="-120"/>
              </a:rPr>
              <a:t>05</a:t>
            </a:r>
            <a:endParaRPr lang="en-US" sz="1700" dirty="0"/>
          </a:p>
        </p:txBody>
      </p:sp>
      <p:sp>
        <p:nvSpPr>
          <p:cNvPr id="7" name="Text 5"/>
          <p:cNvSpPr/>
          <p:nvPr/>
        </p:nvSpPr>
        <p:spPr>
          <a:xfrm>
            <a:off x="685800" y="1691640"/>
            <a:ext cx="3840480" cy="237744"/>
          </a:xfrm>
          <a:prstGeom prst="rect">
            <a:avLst/>
          </a:prstGeom>
          <a:noFill/>
          <a:ln/>
        </p:spPr>
        <p:txBody>
          <a:bodyPr wrap="square" lIns="0" tIns="0" rIns="0" bIns="0" rtlCol="0" anchor="ctr"/>
          <a:lstStyle/>
          <a:p>
            <a:pPr marL="0" indent="0">
              <a:buNone/>
            </a:pPr>
            <a:r>
              <a:rPr lang="en-US" sz="1000" kern="0" spc="160" dirty="0">
                <a:solidFill>
                  <a:srgbClr val="00B7C3"/>
                </a:solidFill>
                <a:latin typeface="Segoe UI Semibold" pitchFamily="34" charset="0"/>
                <a:ea typeface="Segoe UI Semibold" pitchFamily="34" charset="-122"/>
                <a:cs typeface="Segoe UI Semibold" pitchFamily="34" charset="-120"/>
              </a:rPr>
              <a:t>SECTION 5</a:t>
            </a:r>
            <a:endParaRPr lang="en-US" sz="1000" dirty="0"/>
          </a:p>
        </p:txBody>
      </p:sp>
      <p:sp>
        <p:nvSpPr>
          <p:cNvPr id="8" name="Text 6"/>
          <p:cNvSpPr/>
          <p:nvPr/>
        </p:nvSpPr>
        <p:spPr>
          <a:xfrm>
            <a:off x="658368" y="2057400"/>
            <a:ext cx="6858000" cy="1097280"/>
          </a:xfrm>
          <a:prstGeom prst="rect">
            <a:avLst/>
          </a:prstGeom>
          <a:noFill/>
          <a:ln/>
        </p:spPr>
        <p:txBody>
          <a:bodyPr wrap="square" lIns="0" tIns="0" rIns="0" bIns="0" rtlCol="0" anchor="ctr">
            <a:normAutofit/>
          </a:bodyPr>
          <a:lstStyle/>
          <a:p>
            <a:pPr marL="0" indent="0">
              <a:buNone/>
            </a:pPr>
            <a:r>
              <a:rPr lang="en-US" sz="3800" dirty="0">
                <a:solidFill>
                  <a:srgbClr val="FFFFFF"/>
                </a:solidFill>
                <a:latin typeface="Segoe UI Semibold" pitchFamily="34" charset="0"/>
                <a:ea typeface="Segoe UI Semibold" pitchFamily="34" charset="-122"/>
                <a:cs typeface="Segoe UI Semibold" pitchFamily="34" charset="-120"/>
              </a:rPr>
              <a:t>Live demo</a:t>
            </a:r>
            <a:endParaRPr lang="en-US" sz="3800" dirty="0"/>
          </a:p>
        </p:txBody>
      </p:sp>
      <p:sp>
        <p:nvSpPr>
          <p:cNvPr id="9" name="Shape 7"/>
          <p:cNvSpPr/>
          <p:nvPr/>
        </p:nvSpPr>
        <p:spPr>
          <a:xfrm>
            <a:off x="685800" y="3767328"/>
            <a:ext cx="1417320" cy="411480"/>
          </a:xfrm>
          <a:prstGeom prst="roundRect">
            <a:avLst>
              <a:gd name="adj" fmla="val 15556"/>
            </a:avLst>
          </a:prstGeom>
          <a:solidFill>
            <a:srgbClr val="FFB900"/>
          </a:solidFill>
          <a:ln w="12700">
            <a:solidFill>
              <a:srgbClr val="FFB900"/>
            </a:solidFill>
            <a:prstDash val="solid"/>
          </a:ln>
        </p:spPr>
      </p:sp>
      <p:sp>
        <p:nvSpPr>
          <p:cNvPr id="10" name="Text 8"/>
          <p:cNvSpPr/>
          <p:nvPr/>
        </p:nvSpPr>
        <p:spPr>
          <a:xfrm>
            <a:off x="685800" y="3886200"/>
            <a:ext cx="1417320" cy="128016"/>
          </a:xfrm>
          <a:prstGeom prst="rect">
            <a:avLst/>
          </a:prstGeom>
          <a:noFill/>
          <a:ln/>
        </p:spPr>
        <p:txBody>
          <a:bodyPr wrap="square" lIns="0" tIns="0" rIns="0" bIns="0" rtlCol="0" anchor="ctr"/>
          <a:lstStyle/>
          <a:p>
            <a:pPr marL="0" indent="0" algn="ctr">
              <a:buNone/>
            </a:pPr>
            <a:r>
              <a:rPr lang="en-US" sz="1000" dirty="0">
                <a:solidFill>
                  <a:srgbClr val="0B1E3F"/>
                </a:solidFill>
                <a:latin typeface="Segoe UI Semibold" pitchFamily="34" charset="0"/>
                <a:ea typeface="Segoe UI Semibold" pitchFamily="34" charset="-122"/>
                <a:cs typeface="Segoe UI Semibold" pitchFamily="34" charset="-120"/>
              </a:rPr>
              <a:t>40–65 · 25 min</a:t>
            </a:r>
            <a:endParaRPr lang="en-US" sz="1000" dirty="0"/>
          </a:p>
        </p:txBody>
      </p:sp>
      <p:sp>
        <p:nvSpPr>
          <p:cNvPr id="11" name="Text 9"/>
          <p:cNvSpPr/>
          <p:nvPr/>
        </p:nvSpPr>
        <p:spPr>
          <a:xfrm>
            <a:off x="685800" y="6355080"/>
            <a:ext cx="2834640" cy="164592"/>
          </a:xfrm>
          <a:prstGeom prst="rect">
            <a:avLst/>
          </a:prstGeom>
          <a:noFill/>
          <a:ln/>
        </p:spPr>
        <p:txBody>
          <a:bodyPr wrap="square" lIns="0" tIns="0" rIns="0" bIns="0" rtlCol="0" anchor="ctr"/>
          <a:lstStyle/>
          <a:p>
            <a:pPr marL="0" indent="0">
              <a:buNone/>
            </a:pPr>
            <a:r>
              <a:rPr lang="en-US" sz="800" dirty="0">
                <a:solidFill>
                  <a:srgbClr val="AFC3DA"/>
                </a:solidFill>
                <a:latin typeface="Segoe UI" pitchFamily="34" charset="0"/>
                <a:ea typeface="Segoe UI" pitchFamily="34" charset="-122"/>
                <a:cs typeface="Segoe UI" pitchFamily="34" charset="-120"/>
              </a:rPr>
              <a:t>90-minute technical session</a:t>
            </a:r>
            <a:endParaRPr lang="en-US" sz="800" dirty="0"/>
          </a:p>
        </p:txBody>
      </p:sp>
      <p:sp>
        <p:nvSpPr>
          <p:cNvPr id="12" name="Text 10"/>
          <p:cNvSpPr/>
          <p:nvPr/>
        </p:nvSpPr>
        <p:spPr>
          <a:xfrm>
            <a:off x="11292840" y="6355080"/>
            <a:ext cx="365760" cy="164592"/>
          </a:xfrm>
          <a:prstGeom prst="rect">
            <a:avLst/>
          </a:prstGeom>
          <a:noFill/>
          <a:ln/>
        </p:spPr>
        <p:txBody>
          <a:bodyPr wrap="square" lIns="0" tIns="0" rIns="0" bIns="0" rtlCol="0" anchor="ctr"/>
          <a:lstStyle/>
          <a:p>
            <a:pPr marL="0" indent="0" algn="r">
              <a:buNone/>
            </a:pPr>
            <a:r>
              <a:rPr lang="en-US" sz="800" dirty="0">
                <a:solidFill>
                  <a:srgbClr val="AFC3DA"/>
                </a:solidFill>
                <a:latin typeface="Segoe UI Semibold" pitchFamily="34" charset="0"/>
                <a:ea typeface="Segoe UI Semibold" pitchFamily="34" charset="-122"/>
                <a:cs typeface="Segoe UI Semibold" pitchFamily="34" charset="-120"/>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301752"/>
            <a:ext cx="3200400" cy="201168"/>
          </a:xfrm>
          <a:prstGeom prst="rect">
            <a:avLst/>
          </a:prstGeom>
          <a:noFill/>
          <a:ln/>
        </p:spPr>
        <p:txBody>
          <a:bodyPr wrap="square" lIns="0" tIns="0" rIns="0" bIns="0" rtlCol="0" anchor="ctr"/>
          <a:lstStyle/>
          <a:p>
            <a:pPr marL="0" indent="0">
              <a:buNone/>
            </a:pPr>
            <a:r>
              <a:rPr lang="en-US" sz="800" kern="0" spc="120" dirty="0">
                <a:solidFill>
                  <a:srgbClr val="00B7C3"/>
                </a:solidFill>
                <a:latin typeface="Segoe UI Semibold" pitchFamily="34" charset="0"/>
                <a:ea typeface="Segoe UI Semibold" pitchFamily="34" charset="-122"/>
                <a:cs typeface="Segoe UI Semibold" pitchFamily="34" charset="-120"/>
              </a:rPr>
              <a:t>LIVE DEMO</a:t>
            </a:r>
            <a:endParaRPr lang="en-US" sz="800" dirty="0"/>
          </a:p>
        </p:txBody>
      </p:sp>
      <p:sp>
        <p:nvSpPr>
          <p:cNvPr id="3" name="Text 1"/>
          <p:cNvSpPr/>
          <p:nvPr/>
        </p:nvSpPr>
        <p:spPr>
          <a:xfrm>
            <a:off x="457200" y="521208"/>
            <a:ext cx="7955280" cy="438912"/>
          </a:xfrm>
          <a:prstGeom prst="rect">
            <a:avLst/>
          </a:prstGeom>
          <a:noFill/>
          <a:ln/>
        </p:spPr>
        <p:txBody>
          <a:bodyPr wrap="square" lIns="0" tIns="0" rIns="0" bIns="0" rtlCol="0" anchor="ctr"/>
          <a:lstStyle/>
          <a:p>
            <a:pPr marL="0" indent="0">
              <a:buNone/>
            </a:pPr>
            <a:r>
              <a:rPr lang="en-US" sz="2500" dirty="0">
                <a:solidFill>
                  <a:srgbClr val="0B1E3F"/>
                </a:solidFill>
                <a:latin typeface="Segoe UI Semibold" pitchFamily="34" charset="0"/>
                <a:ea typeface="Segoe UI Semibold" pitchFamily="34" charset="-122"/>
                <a:cs typeface="Segoe UI Semibold" pitchFamily="34" charset="-120"/>
              </a:rPr>
              <a:t>Reference architecture: one policy chain</a:t>
            </a:r>
            <a:endParaRPr lang="en-US" sz="2500" dirty="0"/>
          </a:p>
        </p:txBody>
      </p:sp>
      <p:sp>
        <p:nvSpPr>
          <p:cNvPr id="4" name="Shape 2"/>
          <p:cNvSpPr/>
          <p:nvPr/>
        </p:nvSpPr>
        <p:spPr>
          <a:xfrm>
            <a:off x="10698480" y="118872"/>
            <a:ext cx="1051560" cy="1051560"/>
          </a:xfrm>
          <a:prstGeom prst="arc">
            <a:avLst/>
          </a:prstGeom>
          <a:solidFill>
            <a:srgbClr val="F5F7FA">
              <a:alpha val="0"/>
            </a:srgbClr>
          </a:solidFill>
          <a:ln w="38100">
            <a:solidFill>
              <a:srgbClr val="00B7C3">
                <a:alpha val="90000"/>
              </a:srgbClr>
            </a:solidFill>
            <a:prstDash val="solid"/>
          </a:ln>
        </p:spPr>
      </p:sp>
      <p:sp>
        <p:nvSpPr>
          <p:cNvPr id="5" name="Text 3"/>
          <p:cNvSpPr/>
          <p:nvPr/>
        </p:nvSpPr>
        <p:spPr>
          <a:xfrm>
            <a:off x="457200" y="6473952"/>
            <a:ext cx="7955280" cy="164592"/>
          </a:xfrm>
          <a:prstGeom prst="rect">
            <a:avLst/>
          </a:prstGeom>
          <a:noFill/>
          <a:ln/>
        </p:spPr>
        <p:txBody>
          <a:bodyPr wrap="square" lIns="0" tIns="0" rIns="0" bIns="0" rtlCol="0" anchor="ctr"/>
          <a:lstStyle/>
          <a:p>
            <a:pPr marL="0" indent="0">
              <a:buNone/>
            </a:pPr>
            <a:r>
              <a:rPr lang="en-US" sz="750" dirty="0">
                <a:solidFill>
                  <a:srgbClr val="8A97A8"/>
                </a:solidFill>
                <a:latin typeface="Segoe UI" pitchFamily="34" charset="0"/>
                <a:ea typeface="Segoe UI" pitchFamily="34" charset="-122"/>
                <a:cs typeface="Segoe UI" pitchFamily="34" charset="-120"/>
              </a:rPr>
              <a:t>Azure API Management AI Gateway — Oct 2026</a:t>
            </a:r>
            <a:endParaRPr lang="en-US" sz="750" dirty="0"/>
          </a:p>
        </p:txBody>
      </p:sp>
      <p:sp>
        <p:nvSpPr>
          <p:cNvPr id="6" name="Text 4"/>
          <p:cNvSpPr/>
          <p:nvPr/>
        </p:nvSpPr>
        <p:spPr>
          <a:xfrm>
            <a:off x="11430000" y="6446520"/>
            <a:ext cx="320040" cy="164592"/>
          </a:xfrm>
          <a:prstGeom prst="rect">
            <a:avLst/>
          </a:prstGeom>
          <a:noFill/>
          <a:ln/>
        </p:spPr>
        <p:txBody>
          <a:bodyPr wrap="square" lIns="0" tIns="0" rIns="0" bIns="0" rtlCol="0" anchor="ctr"/>
          <a:lstStyle/>
          <a:p>
            <a:pPr marL="0" indent="0" algn="r">
              <a:buNone/>
            </a:pPr>
            <a:r>
              <a:rPr lang="en-US" sz="800" dirty="0">
                <a:solidFill>
                  <a:srgbClr val="8A97A8"/>
                </a:solidFill>
                <a:latin typeface="Segoe UI Semibold" pitchFamily="34" charset="0"/>
                <a:ea typeface="Segoe UI Semibold" pitchFamily="34" charset="-122"/>
                <a:cs typeface="Segoe UI Semibold" pitchFamily="34" charset="-120"/>
              </a:rPr>
              <a:t>17</a:t>
            </a:r>
            <a:endParaRPr lang="en-US" sz="800" dirty="0"/>
          </a:p>
        </p:txBody>
      </p:sp>
      <p:sp>
        <p:nvSpPr>
          <p:cNvPr id="7" name="Shape 5"/>
          <p:cNvSpPr/>
          <p:nvPr/>
        </p:nvSpPr>
        <p:spPr>
          <a:xfrm>
            <a:off x="594360" y="2057400"/>
            <a:ext cx="1965960" cy="1188720"/>
          </a:xfrm>
          <a:prstGeom prst="roundRect">
            <a:avLst>
              <a:gd name="adj" fmla="val 4615"/>
            </a:avLst>
          </a:prstGeom>
          <a:solidFill>
            <a:srgbClr val="E5F1FB"/>
          </a:solidFill>
          <a:ln w="12700">
            <a:solidFill>
              <a:srgbClr val="0078D4"/>
            </a:solidFill>
            <a:prstDash val="solid"/>
          </a:ln>
        </p:spPr>
      </p:sp>
      <p:sp>
        <p:nvSpPr>
          <p:cNvPr id="8" name="Text 6"/>
          <p:cNvSpPr/>
          <p:nvPr/>
        </p:nvSpPr>
        <p:spPr>
          <a:xfrm>
            <a:off x="704088" y="2148840"/>
            <a:ext cx="1746504" cy="1005840"/>
          </a:xfrm>
          <a:prstGeom prst="rect">
            <a:avLst/>
          </a:prstGeom>
          <a:noFill/>
          <a:ln/>
        </p:spPr>
        <p:txBody>
          <a:bodyPr wrap="square" lIns="0" tIns="0" rIns="0" bIns="0" rtlCol="0" anchor="ctr">
            <a:normAutofit/>
          </a:bodyPr>
          <a:lstStyle/>
          <a:p>
            <a:pPr marL="0" indent="0" algn="ctr">
              <a:buNone/>
            </a:pPr>
            <a:r>
              <a:rPr lang="en-US" sz="1200" dirty="0">
                <a:solidFill>
                  <a:srgbClr val="0B1E3F"/>
                </a:solidFill>
                <a:latin typeface="Segoe UI Semibold" pitchFamily="34" charset="0"/>
                <a:ea typeface="Segoe UI Semibold" pitchFamily="34" charset="-122"/>
                <a:cs typeface="Segoe UI Semibold" pitchFamily="34" charset="-120"/>
              </a:rPr>
              <a:t>Apps</a:t>
            </a:r>
            <a:endParaRPr lang="en-US" sz="1200" dirty="0"/>
          </a:p>
          <a:p>
            <a:pPr marL="0" indent="0" algn="ctr">
              <a:buNone/>
            </a:pPr>
            <a:r>
              <a:rPr lang="en-US" sz="1200" dirty="0">
                <a:solidFill>
                  <a:srgbClr val="0B1E3F"/>
                </a:solidFill>
                <a:latin typeface="Segoe UI Semibold" pitchFamily="34" charset="0"/>
                <a:ea typeface="Segoe UI Semibold" pitchFamily="34" charset="-122"/>
                <a:cs typeface="Segoe UI Semibold" pitchFamily="34" charset="-120"/>
              </a:rPr>
              <a:t>Agents</a:t>
            </a:r>
            <a:endParaRPr lang="en-US" sz="1200" dirty="0"/>
          </a:p>
          <a:p>
            <a:pPr marL="0" indent="0" algn="ctr">
              <a:buNone/>
            </a:pPr>
            <a:r>
              <a:rPr lang="en-US" sz="1200" dirty="0">
                <a:solidFill>
                  <a:srgbClr val="0B1E3F"/>
                </a:solidFill>
                <a:latin typeface="Segoe UI Semibold" pitchFamily="34" charset="0"/>
                <a:ea typeface="Segoe UI Semibold" pitchFamily="34" charset="-122"/>
                <a:cs typeface="Segoe UI Semibold" pitchFamily="34" charset="-120"/>
              </a:rPr>
              <a:t>SDK clients</a:t>
            </a:r>
            <a:endParaRPr lang="en-US" sz="1200" dirty="0"/>
          </a:p>
        </p:txBody>
      </p:sp>
      <p:sp>
        <p:nvSpPr>
          <p:cNvPr id="9" name="Shape 7"/>
          <p:cNvSpPr/>
          <p:nvPr/>
        </p:nvSpPr>
        <p:spPr>
          <a:xfrm>
            <a:off x="3017520" y="1143000"/>
            <a:ext cx="4023360" cy="2926080"/>
          </a:xfrm>
          <a:prstGeom prst="roundRect">
            <a:avLst>
              <a:gd name="adj" fmla="val 3750"/>
            </a:avLst>
          </a:prstGeom>
          <a:solidFill>
            <a:srgbClr val="0B1E3F"/>
          </a:solidFill>
          <a:ln w="17780">
            <a:solidFill>
              <a:srgbClr val="00B7C3"/>
            </a:solidFill>
            <a:prstDash val="solid"/>
          </a:ln>
        </p:spPr>
      </p:sp>
      <p:sp>
        <p:nvSpPr>
          <p:cNvPr id="10" name="Text 8"/>
          <p:cNvSpPr/>
          <p:nvPr/>
        </p:nvSpPr>
        <p:spPr>
          <a:xfrm>
            <a:off x="3246120" y="1280160"/>
            <a:ext cx="3566160" cy="548640"/>
          </a:xfrm>
          <a:prstGeom prst="rect">
            <a:avLst/>
          </a:prstGeom>
          <a:noFill/>
          <a:ln/>
        </p:spPr>
        <p:txBody>
          <a:bodyPr wrap="square" lIns="0" tIns="0" rIns="0" bIns="0" rtlCol="0" anchor="ctr">
            <a:normAutofit/>
          </a:bodyPr>
          <a:lstStyle/>
          <a:p>
            <a:pPr marL="0" indent="0" algn="ctr">
              <a:buNone/>
            </a:pPr>
            <a:r>
              <a:rPr lang="en-US" sz="1400" dirty="0">
                <a:solidFill>
                  <a:srgbClr val="FFFFFF"/>
                </a:solidFill>
                <a:latin typeface="Segoe UI Semibold" pitchFamily="34" charset="0"/>
                <a:ea typeface="Segoe UI Semibold" pitchFamily="34" charset="-122"/>
                <a:cs typeface="Segoe UI Semibold" pitchFamily="34" charset="-120"/>
              </a:rPr>
              <a:t>APIM AI Gateway</a:t>
            </a:r>
            <a:endParaRPr lang="en-US" sz="1400" dirty="0"/>
          </a:p>
          <a:p>
            <a:pPr marL="0" indent="0" algn="ctr">
              <a:buNone/>
            </a:pPr>
            <a:r>
              <a:rPr lang="en-US" sz="1400" dirty="0">
                <a:solidFill>
                  <a:srgbClr val="FFFFFF"/>
                </a:solidFill>
                <a:latin typeface="Segoe UI Semibold" pitchFamily="34" charset="0"/>
                <a:ea typeface="Segoe UI Semibold" pitchFamily="34" charset="-122"/>
                <a:cs typeface="Segoe UI Semibold" pitchFamily="34" charset="-120"/>
              </a:rPr>
              <a:t>Basic v2 · Sweden Central</a:t>
            </a:r>
            <a:endParaRPr lang="en-US" sz="1400" dirty="0"/>
          </a:p>
        </p:txBody>
      </p:sp>
      <p:sp>
        <p:nvSpPr>
          <p:cNvPr id="11" name="Shape 9"/>
          <p:cNvSpPr/>
          <p:nvPr/>
        </p:nvSpPr>
        <p:spPr>
          <a:xfrm>
            <a:off x="3310128" y="2103120"/>
            <a:ext cx="868680" cy="246888"/>
          </a:xfrm>
          <a:prstGeom prst="roundRect">
            <a:avLst>
              <a:gd name="adj" fmla="val 18519"/>
            </a:avLst>
          </a:prstGeom>
          <a:solidFill>
            <a:srgbClr val="D9F7FA"/>
          </a:solidFill>
          <a:ln w="12700">
            <a:solidFill>
              <a:srgbClr val="D9F7FA"/>
            </a:solidFill>
            <a:prstDash val="solid"/>
          </a:ln>
        </p:spPr>
      </p:sp>
      <p:sp>
        <p:nvSpPr>
          <p:cNvPr id="12" name="Text 10"/>
          <p:cNvSpPr/>
          <p:nvPr/>
        </p:nvSpPr>
        <p:spPr>
          <a:xfrm>
            <a:off x="3364992" y="2153412"/>
            <a:ext cx="758952" cy="100584"/>
          </a:xfrm>
          <a:prstGeom prst="rect">
            <a:avLst/>
          </a:prstGeom>
          <a:noFill/>
          <a:ln/>
        </p:spPr>
        <p:txBody>
          <a:bodyPr wrap="square" lIns="0" tIns="0" rIns="0" bIns="0" rtlCol="0" anchor="ctr">
            <a:normAutofit/>
          </a:bodyPr>
          <a:lstStyle/>
          <a:p>
            <a:pPr marL="0" indent="0" algn="ctr">
              <a:buNone/>
            </a:pPr>
            <a:r>
              <a:rPr lang="en-US" sz="750" dirty="0">
                <a:solidFill>
                  <a:srgbClr val="0B1E3F"/>
                </a:solidFill>
                <a:latin typeface="Segoe UI Semibold" pitchFamily="34" charset="0"/>
                <a:ea typeface="Segoe UI Semibold" pitchFamily="34" charset="-122"/>
                <a:cs typeface="Segoe UI Semibold" pitchFamily="34" charset="-120"/>
              </a:rPr>
              <a:t>auth</a:t>
            </a:r>
            <a:endParaRPr lang="en-US" sz="750" dirty="0"/>
          </a:p>
        </p:txBody>
      </p:sp>
      <p:sp>
        <p:nvSpPr>
          <p:cNvPr id="13" name="Shape 11"/>
          <p:cNvSpPr/>
          <p:nvPr/>
        </p:nvSpPr>
        <p:spPr>
          <a:xfrm>
            <a:off x="4315968" y="2103120"/>
            <a:ext cx="1280160" cy="246888"/>
          </a:xfrm>
          <a:prstGeom prst="roundRect">
            <a:avLst>
              <a:gd name="adj" fmla="val 18519"/>
            </a:avLst>
          </a:prstGeom>
          <a:solidFill>
            <a:srgbClr val="FFF3CF"/>
          </a:solidFill>
          <a:ln w="12700">
            <a:solidFill>
              <a:srgbClr val="FFF3CF"/>
            </a:solidFill>
            <a:prstDash val="solid"/>
          </a:ln>
        </p:spPr>
      </p:sp>
      <p:sp>
        <p:nvSpPr>
          <p:cNvPr id="14" name="Text 12"/>
          <p:cNvSpPr/>
          <p:nvPr/>
        </p:nvSpPr>
        <p:spPr>
          <a:xfrm>
            <a:off x="4370832" y="2153412"/>
            <a:ext cx="1170432" cy="100584"/>
          </a:xfrm>
          <a:prstGeom prst="rect">
            <a:avLst/>
          </a:prstGeom>
          <a:noFill/>
          <a:ln/>
        </p:spPr>
        <p:txBody>
          <a:bodyPr wrap="square" lIns="0" tIns="0" rIns="0" bIns="0" rtlCol="0" anchor="ctr">
            <a:normAutofit/>
          </a:bodyPr>
          <a:lstStyle/>
          <a:p>
            <a:pPr marL="0" indent="0" algn="ctr">
              <a:buNone/>
            </a:pPr>
            <a:r>
              <a:rPr lang="en-US" sz="750" dirty="0">
                <a:solidFill>
                  <a:srgbClr val="0B1E3F"/>
                </a:solidFill>
                <a:latin typeface="Segoe UI Semibold" pitchFamily="34" charset="0"/>
                <a:ea typeface="Segoe UI Semibold" pitchFamily="34" charset="-122"/>
                <a:cs typeface="Segoe UI Semibold" pitchFamily="34" charset="-120"/>
              </a:rPr>
              <a:t>content safety</a:t>
            </a:r>
            <a:endParaRPr lang="en-US" sz="750" dirty="0"/>
          </a:p>
        </p:txBody>
      </p:sp>
      <p:sp>
        <p:nvSpPr>
          <p:cNvPr id="15" name="Shape 13"/>
          <p:cNvSpPr/>
          <p:nvPr/>
        </p:nvSpPr>
        <p:spPr>
          <a:xfrm>
            <a:off x="5733288" y="2103120"/>
            <a:ext cx="1005840" cy="246888"/>
          </a:xfrm>
          <a:prstGeom prst="roundRect">
            <a:avLst>
              <a:gd name="adj" fmla="val 18519"/>
            </a:avLst>
          </a:prstGeom>
          <a:solidFill>
            <a:srgbClr val="D9F7FA"/>
          </a:solidFill>
          <a:ln w="12700">
            <a:solidFill>
              <a:srgbClr val="D9F7FA"/>
            </a:solidFill>
            <a:prstDash val="solid"/>
          </a:ln>
        </p:spPr>
      </p:sp>
      <p:sp>
        <p:nvSpPr>
          <p:cNvPr id="16" name="Text 14"/>
          <p:cNvSpPr/>
          <p:nvPr/>
        </p:nvSpPr>
        <p:spPr>
          <a:xfrm>
            <a:off x="5788152" y="2153412"/>
            <a:ext cx="896112" cy="100584"/>
          </a:xfrm>
          <a:prstGeom prst="rect">
            <a:avLst/>
          </a:prstGeom>
          <a:noFill/>
          <a:ln/>
        </p:spPr>
        <p:txBody>
          <a:bodyPr wrap="square" lIns="0" tIns="0" rIns="0" bIns="0" rtlCol="0" anchor="ctr">
            <a:normAutofit/>
          </a:bodyPr>
          <a:lstStyle/>
          <a:p>
            <a:pPr marL="0" indent="0" algn="ctr">
              <a:buNone/>
            </a:pPr>
            <a:r>
              <a:rPr lang="en-US" sz="750" dirty="0">
                <a:solidFill>
                  <a:srgbClr val="0B1E3F"/>
                </a:solidFill>
                <a:latin typeface="Segoe UI Semibold" pitchFamily="34" charset="0"/>
                <a:ea typeface="Segoe UI Semibold" pitchFamily="34" charset="-122"/>
                <a:cs typeface="Segoe UI Semibold" pitchFamily="34" charset="-120"/>
              </a:rPr>
              <a:t>token limit</a:t>
            </a:r>
            <a:endParaRPr lang="en-US" sz="750" dirty="0"/>
          </a:p>
        </p:txBody>
      </p:sp>
      <p:sp>
        <p:nvSpPr>
          <p:cNvPr id="17" name="Shape 15"/>
          <p:cNvSpPr/>
          <p:nvPr/>
        </p:nvSpPr>
        <p:spPr>
          <a:xfrm>
            <a:off x="3611880" y="2834640"/>
            <a:ext cx="1325880" cy="246888"/>
          </a:xfrm>
          <a:prstGeom prst="roundRect">
            <a:avLst>
              <a:gd name="adj" fmla="val 18519"/>
            </a:avLst>
          </a:prstGeom>
          <a:solidFill>
            <a:srgbClr val="D9F7FA"/>
          </a:solidFill>
          <a:ln w="12700">
            <a:solidFill>
              <a:srgbClr val="D9F7FA"/>
            </a:solidFill>
            <a:prstDash val="solid"/>
          </a:ln>
        </p:spPr>
      </p:sp>
      <p:sp>
        <p:nvSpPr>
          <p:cNvPr id="18" name="Text 16"/>
          <p:cNvSpPr/>
          <p:nvPr/>
        </p:nvSpPr>
        <p:spPr>
          <a:xfrm>
            <a:off x="3666744" y="2884932"/>
            <a:ext cx="1216152" cy="100584"/>
          </a:xfrm>
          <a:prstGeom prst="rect">
            <a:avLst/>
          </a:prstGeom>
          <a:noFill/>
          <a:ln/>
        </p:spPr>
        <p:txBody>
          <a:bodyPr wrap="square" lIns="0" tIns="0" rIns="0" bIns="0" rtlCol="0" anchor="ctr">
            <a:normAutofit/>
          </a:bodyPr>
          <a:lstStyle/>
          <a:p>
            <a:pPr marL="0" indent="0" algn="ctr">
              <a:buNone/>
            </a:pPr>
            <a:r>
              <a:rPr lang="en-US" sz="750" dirty="0">
                <a:solidFill>
                  <a:srgbClr val="0B1E3F"/>
                </a:solidFill>
                <a:latin typeface="Segoe UI Semibold" pitchFamily="34" charset="0"/>
                <a:ea typeface="Segoe UI Semibold" pitchFamily="34" charset="-122"/>
                <a:cs typeface="Segoe UI Semibold" pitchFamily="34" charset="-120"/>
              </a:rPr>
              <a:t>token metrics</a:t>
            </a:r>
            <a:endParaRPr lang="en-US" sz="750" dirty="0"/>
          </a:p>
        </p:txBody>
      </p:sp>
      <p:sp>
        <p:nvSpPr>
          <p:cNvPr id="19" name="Shape 17"/>
          <p:cNvSpPr/>
          <p:nvPr/>
        </p:nvSpPr>
        <p:spPr>
          <a:xfrm>
            <a:off x="5120640" y="2834640"/>
            <a:ext cx="1325880" cy="246888"/>
          </a:xfrm>
          <a:prstGeom prst="roundRect">
            <a:avLst>
              <a:gd name="adj" fmla="val 18519"/>
            </a:avLst>
          </a:prstGeom>
          <a:solidFill>
            <a:srgbClr val="D9F7FA"/>
          </a:solidFill>
          <a:ln w="12700">
            <a:solidFill>
              <a:srgbClr val="D9F7FA"/>
            </a:solidFill>
            <a:prstDash val="solid"/>
          </a:ln>
        </p:spPr>
      </p:sp>
      <p:sp>
        <p:nvSpPr>
          <p:cNvPr id="20" name="Text 18"/>
          <p:cNvSpPr/>
          <p:nvPr/>
        </p:nvSpPr>
        <p:spPr>
          <a:xfrm>
            <a:off x="5175504" y="2884932"/>
            <a:ext cx="1216152" cy="100584"/>
          </a:xfrm>
          <a:prstGeom prst="rect">
            <a:avLst/>
          </a:prstGeom>
          <a:noFill/>
          <a:ln/>
        </p:spPr>
        <p:txBody>
          <a:bodyPr wrap="square" lIns="0" tIns="0" rIns="0" bIns="0" rtlCol="0" anchor="ctr">
            <a:normAutofit/>
          </a:bodyPr>
          <a:lstStyle/>
          <a:p>
            <a:pPr marL="0" indent="0" algn="ctr">
              <a:buNone/>
            </a:pPr>
            <a:r>
              <a:rPr lang="en-US" sz="750" dirty="0">
                <a:solidFill>
                  <a:srgbClr val="0B1E3F"/>
                </a:solidFill>
                <a:latin typeface="Segoe UI Semibold" pitchFamily="34" charset="0"/>
                <a:ea typeface="Segoe UI Semibold" pitchFamily="34" charset="-122"/>
                <a:cs typeface="Segoe UI Semibold" pitchFamily="34" charset="-120"/>
              </a:rPr>
              <a:t>load balancer</a:t>
            </a:r>
            <a:endParaRPr lang="en-US" sz="750" dirty="0"/>
          </a:p>
        </p:txBody>
      </p:sp>
      <p:sp>
        <p:nvSpPr>
          <p:cNvPr id="21" name="Text 19"/>
          <p:cNvSpPr/>
          <p:nvPr/>
        </p:nvSpPr>
        <p:spPr>
          <a:xfrm>
            <a:off x="3246120" y="3520440"/>
            <a:ext cx="3566160" cy="274320"/>
          </a:xfrm>
          <a:prstGeom prst="rect">
            <a:avLst/>
          </a:prstGeom>
          <a:noFill/>
          <a:ln/>
        </p:spPr>
        <p:txBody>
          <a:bodyPr wrap="square" lIns="0" tIns="0" rIns="0" bIns="0" rtlCol="0" anchor="ctr"/>
          <a:lstStyle/>
          <a:p>
            <a:pPr marL="0" indent="0" algn="ctr">
              <a:buNone/>
            </a:pPr>
            <a:r>
              <a:rPr lang="en-US" sz="900" dirty="0">
                <a:solidFill>
                  <a:srgbClr val="D9F7FA"/>
                </a:solidFill>
                <a:latin typeface="Segoe UI" pitchFamily="34" charset="0"/>
                <a:ea typeface="Segoe UI" pitchFamily="34" charset="-122"/>
                <a:cs typeface="Segoe UI" pitchFamily="34" charset="-120"/>
              </a:rPr>
              <a:t>policy chain on every model and tool call</a:t>
            </a:r>
            <a:endParaRPr lang="en-US" sz="900" dirty="0"/>
          </a:p>
        </p:txBody>
      </p:sp>
      <p:sp>
        <p:nvSpPr>
          <p:cNvPr id="22" name="Shape 20"/>
          <p:cNvSpPr/>
          <p:nvPr/>
        </p:nvSpPr>
        <p:spPr>
          <a:xfrm>
            <a:off x="8138160" y="1188720"/>
            <a:ext cx="2651760" cy="868680"/>
          </a:xfrm>
          <a:prstGeom prst="roundRect">
            <a:avLst>
              <a:gd name="adj" fmla="val 6316"/>
            </a:avLst>
          </a:prstGeom>
          <a:solidFill>
            <a:srgbClr val="E5F1FB"/>
          </a:solidFill>
          <a:ln w="12700">
            <a:solidFill>
              <a:srgbClr val="0078D4"/>
            </a:solidFill>
            <a:prstDash val="solid"/>
          </a:ln>
        </p:spPr>
      </p:sp>
      <p:sp>
        <p:nvSpPr>
          <p:cNvPr id="23" name="Text 21"/>
          <p:cNvSpPr/>
          <p:nvPr/>
        </p:nvSpPr>
        <p:spPr>
          <a:xfrm>
            <a:off x="8247888" y="1280160"/>
            <a:ext cx="2432304" cy="685800"/>
          </a:xfrm>
          <a:prstGeom prst="rect">
            <a:avLst/>
          </a:prstGeom>
          <a:noFill/>
          <a:ln/>
        </p:spPr>
        <p:txBody>
          <a:bodyPr wrap="square" lIns="0" tIns="0" rIns="0" bIns="0" rtlCol="0" anchor="ctr">
            <a:normAutofit/>
          </a:bodyPr>
          <a:lstStyle/>
          <a:p>
            <a:pPr marL="0" indent="0" algn="ctr">
              <a:buNone/>
            </a:pPr>
            <a:r>
              <a:rPr lang="en-US" sz="1000" dirty="0">
                <a:solidFill>
                  <a:srgbClr val="0B1E3F"/>
                </a:solidFill>
                <a:latin typeface="Segoe UI Semibold" pitchFamily="34" charset="0"/>
                <a:ea typeface="Segoe UI Semibold" pitchFamily="34" charset="-122"/>
                <a:cs typeface="Segoe UI Semibold" pitchFamily="34" charset="-120"/>
              </a:rPr>
              <a:t>Foundry Sweden Central</a:t>
            </a:r>
            <a:endParaRPr lang="en-US" sz="1000" dirty="0"/>
          </a:p>
          <a:p>
            <a:pPr marL="0" indent="0" algn="ctr">
              <a:buNone/>
            </a:pPr>
            <a:r>
              <a:rPr lang="en-US" sz="1000" dirty="0">
                <a:solidFill>
                  <a:srgbClr val="0B1E3F"/>
                </a:solidFill>
                <a:latin typeface="Segoe UI Semibold" pitchFamily="34" charset="0"/>
                <a:ea typeface="Segoe UI Semibold" pitchFamily="34" charset="-122"/>
                <a:cs typeface="Segoe UI Semibold" pitchFamily="34" charset="-120"/>
              </a:rPr>
              <a:t>gpt-5.4-nano</a:t>
            </a:r>
            <a:endParaRPr lang="en-US" sz="1000" dirty="0"/>
          </a:p>
        </p:txBody>
      </p:sp>
      <p:sp>
        <p:nvSpPr>
          <p:cNvPr id="24" name="Shape 22"/>
          <p:cNvSpPr/>
          <p:nvPr/>
        </p:nvSpPr>
        <p:spPr>
          <a:xfrm>
            <a:off x="8138160" y="2377440"/>
            <a:ext cx="2651760" cy="868680"/>
          </a:xfrm>
          <a:prstGeom prst="roundRect">
            <a:avLst>
              <a:gd name="adj" fmla="val 6316"/>
            </a:avLst>
          </a:prstGeom>
          <a:solidFill>
            <a:srgbClr val="D9F7FA"/>
          </a:solidFill>
          <a:ln w="12700">
            <a:solidFill>
              <a:srgbClr val="00B7C3"/>
            </a:solidFill>
            <a:prstDash val="solid"/>
          </a:ln>
        </p:spPr>
      </p:sp>
      <p:sp>
        <p:nvSpPr>
          <p:cNvPr id="25" name="Text 23"/>
          <p:cNvSpPr/>
          <p:nvPr/>
        </p:nvSpPr>
        <p:spPr>
          <a:xfrm>
            <a:off x="8247888" y="2468880"/>
            <a:ext cx="2432304" cy="685800"/>
          </a:xfrm>
          <a:prstGeom prst="rect">
            <a:avLst/>
          </a:prstGeom>
          <a:noFill/>
          <a:ln/>
        </p:spPr>
        <p:txBody>
          <a:bodyPr wrap="square" lIns="0" tIns="0" rIns="0" bIns="0" rtlCol="0" anchor="ctr">
            <a:normAutofit/>
          </a:bodyPr>
          <a:lstStyle/>
          <a:p>
            <a:pPr marL="0" indent="0" algn="ctr">
              <a:buNone/>
            </a:pPr>
            <a:r>
              <a:rPr lang="en-US" sz="1000" dirty="0">
                <a:solidFill>
                  <a:srgbClr val="0B1E3F"/>
                </a:solidFill>
                <a:latin typeface="Segoe UI Semibold" pitchFamily="34" charset="0"/>
                <a:ea typeface="Segoe UI Semibold" pitchFamily="34" charset="-122"/>
                <a:cs typeface="Segoe UI Semibold" pitchFamily="34" charset="-120"/>
              </a:rPr>
              <a:t>Foundry France Central</a:t>
            </a:r>
            <a:endParaRPr lang="en-US" sz="1000" dirty="0"/>
          </a:p>
          <a:p>
            <a:pPr marL="0" indent="0" algn="ctr">
              <a:buNone/>
            </a:pPr>
            <a:r>
              <a:rPr lang="en-US" sz="1000" dirty="0">
                <a:solidFill>
                  <a:srgbClr val="0B1E3F"/>
                </a:solidFill>
                <a:latin typeface="Segoe UI Semibold" pitchFamily="34" charset="0"/>
                <a:ea typeface="Segoe UI Semibold" pitchFamily="34" charset="-122"/>
                <a:cs typeface="Segoe UI Semibold" pitchFamily="34" charset="-120"/>
              </a:rPr>
              <a:t>gpt-5.4-nano</a:t>
            </a:r>
            <a:endParaRPr lang="en-US" sz="1000" dirty="0"/>
          </a:p>
        </p:txBody>
      </p:sp>
      <p:sp>
        <p:nvSpPr>
          <p:cNvPr id="26" name="Shape 24"/>
          <p:cNvSpPr/>
          <p:nvPr/>
        </p:nvSpPr>
        <p:spPr>
          <a:xfrm>
            <a:off x="8138160" y="3566160"/>
            <a:ext cx="2651760" cy="777240"/>
          </a:xfrm>
          <a:prstGeom prst="roundRect">
            <a:avLst>
              <a:gd name="adj" fmla="val 7059"/>
            </a:avLst>
          </a:prstGeom>
          <a:solidFill>
            <a:srgbClr val="FFF3CF"/>
          </a:solidFill>
          <a:ln w="12700">
            <a:solidFill>
              <a:srgbClr val="FFB900"/>
            </a:solidFill>
            <a:prstDash val="solid"/>
          </a:ln>
        </p:spPr>
      </p:sp>
      <p:sp>
        <p:nvSpPr>
          <p:cNvPr id="27" name="Text 25"/>
          <p:cNvSpPr/>
          <p:nvPr/>
        </p:nvSpPr>
        <p:spPr>
          <a:xfrm>
            <a:off x="8247888" y="3657600"/>
            <a:ext cx="2432304" cy="594360"/>
          </a:xfrm>
          <a:prstGeom prst="rect">
            <a:avLst/>
          </a:prstGeom>
          <a:noFill/>
          <a:ln/>
        </p:spPr>
        <p:txBody>
          <a:bodyPr wrap="square" lIns="0" tIns="0" rIns="0" bIns="0" rtlCol="0" anchor="ctr">
            <a:normAutofit/>
          </a:bodyPr>
          <a:lstStyle/>
          <a:p>
            <a:pPr marL="0" indent="0" algn="ctr">
              <a:buNone/>
            </a:pPr>
            <a:r>
              <a:rPr lang="en-US" sz="1000" dirty="0">
                <a:solidFill>
                  <a:srgbClr val="0B1E3F"/>
                </a:solidFill>
                <a:latin typeface="Segoe UI Semibold" pitchFamily="34" charset="0"/>
                <a:ea typeface="Segoe UI Semibold" pitchFamily="34" charset="-122"/>
                <a:cs typeface="Segoe UI Semibold" pitchFamily="34" charset="-120"/>
              </a:rPr>
              <a:t>MCP server</a:t>
            </a:r>
            <a:endParaRPr lang="en-US" sz="1000" dirty="0"/>
          </a:p>
          <a:p>
            <a:pPr marL="0" indent="0" algn="ctr">
              <a:buNone/>
            </a:pPr>
            <a:r>
              <a:rPr lang="en-US" sz="1000" dirty="0">
                <a:solidFill>
                  <a:srgbClr val="0B1E3F"/>
                </a:solidFill>
                <a:latin typeface="Segoe UI Semibold" pitchFamily="34" charset="0"/>
                <a:ea typeface="Segoe UI Semibold" pitchFamily="34" charset="-122"/>
                <a:cs typeface="Segoe UI Semibold" pitchFamily="34" charset="-120"/>
              </a:rPr>
              <a:t>/zava-mcp/mcp</a:t>
            </a:r>
            <a:endParaRPr lang="en-US" sz="1000" dirty="0"/>
          </a:p>
        </p:txBody>
      </p:sp>
      <p:sp>
        <p:nvSpPr>
          <p:cNvPr id="28" name="Shape 26"/>
          <p:cNvSpPr/>
          <p:nvPr/>
        </p:nvSpPr>
        <p:spPr>
          <a:xfrm>
            <a:off x="8138160" y="4846320"/>
            <a:ext cx="2651760" cy="777240"/>
          </a:xfrm>
          <a:prstGeom prst="roundRect">
            <a:avLst>
              <a:gd name="adj" fmla="val 7059"/>
            </a:avLst>
          </a:prstGeom>
          <a:solidFill>
            <a:srgbClr val="FFFFFF"/>
          </a:solidFill>
          <a:ln w="12700">
            <a:solidFill>
              <a:srgbClr val="D8E2EC"/>
            </a:solidFill>
            <a:prstDash val="solid"/>
          </a:ln>
        </p:spPr>
      </p:sp>
      <p:sp>
        <p:nvSpPr>
          <p:cNvPr id="29" name="Text 27"/>
          <p:cNvSpPr/>
          <p:nvPr/>
        </p:nvSpPr>
        <p:spPr>
          <a:xfrm>
            <a:off x="8247888" y="4937760"/>
            <a:ext cx="2432304" cy="594360"/>
          </a:xfrm>
          <a:prstGeom prst="rect">
            <a:avLst/>
          </a:prstGeom>
          <a:noFill/>
          <a:ln/>
        </p:spPr>
        <p:txBody>
          <a:bodyPr wrap="square" lIns="0" tIns="0" rIns="0" bIns="0" rtlCol="0" anchor="ctr">
            <a:normAutofit/>
          </a:bodyPr>
          <a:lstStyle/>
          <a:p>
            <a:pPr marL="0" indent="0" algn="ctr">
              <a:buNone/>
            </a:pPr>
            <a:r>
              <a:rPr lang="en-US" sz="900" dirty="0">
                <a:solidFill>
                  <a:srgbClr val="0B1E3F"/>
                </a:solidFill>
                <a:latin typeface="Segoe UI Semibold" pitchFamily="34" charset="0"/>
                <a:ea typeface="Segoe UI Semibold" pitchFamily="34" charset="-122"/>
                <a:cs typeface="Segoe UI Semibold" pitchFamily="34" charset="-120"/>
              </a:rPr>
              <a:t>Zava Retail API</a:t>
            </a:r>
            <a:endParaRPr lang="en-US" sz="900" dirty="0"/>
          </a:p>
          <a:p>
            <a:pPr marL="0" indent="0" algn="ctr">
              <a:buNone/>
            </a:pPr>
            <a:r>
              <a:rPr lang="en-US" sz="900" dirty="0">
                <a:solidFill>
                  <a:srgbClr val="0B1E3F"/>
                </a:solidFill>
                <a:latin typeface="Segoe UI Semibold" pitchFamily="34" charset="0"/>
                <a:ea typeface="Segoe UI Semibold" pitchFamily="34" charset="-122"/>
                <a:cs typeface="Segoe UI Semibold" pitchFamily="34" charset="-120"/>
              </a:rPr>
              <a:t>search-products · get-order-status</a:t>
            </a:r>
            <a:endParaRPr lang="en-US" sz="900" dirty="0"/>
          </a:p>
        </p:txBody>
      </p:sp>
      <p:sp>
        <p:nvSpPr>
          <p:cNvPr id="30" name="Shape 28"/>
          <p:cNvSpPr/>
          <p:nvPr/>
        </p:nvSpPr>
        <p:spPr>
          <a:xfrm>
            <a:off x="3017520" y="4846320"/>
            <a:ext cx="4023360" cy="777240"/>
          </a:xfrm>
          <a:prstGeom prst="roundRect">
            <a:avLst>
              <a:gd name="adj" fmla="val 7059"/>
            </a:avLst>
          </a:prstGeom>
          <a:solidFill>
            <a:srgbClr val="FFFFFF"/>
          </a:solidFill>
          <a:ln w="12700">
            <a:solidFill>
              <a:srgbClr val="D8E2EC"/>
            </a:solidFill>
            <a:prstDash val="solid"/>
          </a:ln>
        </p:spPr>
      </p:sp>
      <p:sp>
        <p:nvSpPr>
          <p:cNvPr id="31" name="Text 29"/>
          <p:cNvSpPr/>
          <p:nvPr/>
        </p:nvSpPr>
        <p:spPr>
          <a:xfrm>
            <a:off x="3127248" y="4937760"/>
            <a:ext cx="3803904" cy="594360"/>
          </a:xfrm>
          <a:prstGeom prst="rect">
            <a:avLst/>
          </a:prstGeom>
          <a:noFill/>
          <a:ln/>
        </p:spPr>
        <p:txBody>
          <a:bodyPr wrap="square" lIns="0" tIns="0" rIns="0" bIns="0" rtlCol="0" anchor="ctr">
            <a:normAutofit/>
          </a:bodyPr>
          <a:lstStyle/>
          <a:p>
            <a:pPr marL="0" indent="0" algn="ctr">
              <a:buNone/>
            </a:pPr>
            <a:r>
              <a:rPr lang="en-US" sz="1000" dirty="0">
                <a:solidFill>
                  <a:srgbClr val="0B1E3F"/>
                </a:solidFill>
                <a:latin typeface="Segoe UI Semibold" pitchFamily="34" charset="0"/>
                <a:ea typeface="Segoe UI Semibold" pitchFamily="34" charset="-122"/>
                <a:cs typeface="Segoe UI Semibold" pitchFamily="34" charset="-120"/>
              </a:rPr>
              <a:t>Application Insights · Log Analytics</a:t>
            </a:r>
            <a:endParaRPr lang="en-US" sz="1000" dirty="0"/>
          </a:p>
          <a:p>
            <a:pPr marL="0" indent="0" algn="ctr">
              <a:buNone/>
            </a:pPr>
            <a:r>
              <a:rPr lang="en-US" sz="1000" dirty="0">
                <a:solidFill>
                  <a:srgbClr val="0B1E3F"/>
                </a:solidFill>
                <a:latin typeface="Segoe UI Semibold" pitchFamily="34" charset="0"/>
                <a:ea typeface="Segoe UI Semibold" pitchFamily="34" charset="-122"/>
                <a:cs typeface="Segoe UI Semibold" pitchFamily="34" charset="-120"/>
              </a:rPr>
              <a:t>token metrics per product · LLM logs</a:t>
            </a:r>
            <a:endParaRPr lang="en-US" sz="1000" dirty="0"/>
          </a:p>
        </p:txBody>
      </p:sp>
      <p:sp>
        <p:nvSpPr>
          <p:cNvPr id="32" name="Shape 30"/>
          <p:cNvSpPr/>
          <p:nvPr/>
        </p:nvSpPr>
        <p:spPr>
          <a:xfrm>
            <a:off x="2560320" y="2651760"/>
            <a:ext cx="457200" cy="0"/>
          </a:xfrm>
          <a:prstGeom prst="line">
            <a:avLst/>
          </a:prstGeom>
          <a:noFill/>
          <a:ln w="15240">
            <a:solidFill>
              <a:srgbClr val="3B4A5E"/>
            </a:solidFill>
            <a:prstDash val="solid"/>
            <a:tailEnd type="triangle"/>
          </a:ln>
        </p:spPr>
      </p:sp>
      <p:sp>
        <p:nvSpPr>
          <p:cNvPr id="33" name="Shape 31"/>
          <p:cNvSpPr/>
          <p:nvPr/>
        </p:nvSpPr>
        <p:spPr>
          <a:xfrm>
            <a:off x="7040880" y="1627632"/>
            <a:ext cx="1097280" cy="0"/>
          </a:xfrm>
          <a:prstGeom prst="line">
            <a:avLst/>
          </a:prstGeom>
          <a:noFill/>
          <a:ln w="15240">
            <a:solidFill>
              <a:srgbClr val="3B4A5E"/>
            </a:solidFill>
            <a:prstDash val="solid"/>
            <a:tailEnd type="triangle"/>
          </a:ln>
        </p:spPr>
      </p:sp>
      <p:sp>
        <p:nvSpPr>
          <p:cNvPr id="34" name="Shape 32"/>
          <p:cNvSpPr/>
          <p:nvPr/>
        </p:nvSpPr>
        <p:spPr>
          <a:xfrm>
            <a:off x="7040880" y="2816352"/>
            <a:ext cx="1097280" cy="0"/>
          </a:xfrm>
          <a:prstGeom prst="line">
            <a:avLst/>
          </a:prstGeom>
          <a:noFill/>
          <a:ln w="15240">
            <a:solidFill>
              <a:srgbClr val="3B4A5E"/>
            </a:solidFill>
            <a:prstDash val="solid"/>
            <a:tailEnd type="triangle"/>
          </a:ln>
        </p:spPr>
      </p:sp>
      <p:sp>
        <p:nvSpPr>
          <p:cNvPr id="35" name="Shape 33"/>
          <p:cNvSpPr/>
          <p:nvPr/>
        </p:nvSpPr>
        <p:spPr>
          <a:xfrm>
            <a:off x="7040880" y="3931920"/>
            <a:ext cx="1097280" cy="0"/>
          </a:xfrm>
          <a:prstGeom prst="line">
            <a:avLst/>
          </a:prstGeom>
          <a:noFill/>
          <a:ln w="15240">
            <a:solidFill>
              <a:srgbClr val="3B4A5E"/>
            </a:solidFill>
            <a:prstDash val="solid"/>
            <a:tailEnd type="triangle"/>
          </a:ln>
        </p:spPr>
      </p:sp>
      <p:sp>
        <p:nvSpPr>
          <p:cNvPr id="36" name="Shape 34"/>
          <p:cNvSpPr/>
          <p:nvPr/>
        </p:nvSpPr>
        <p:spPr>
          <a:xfrm>
            <a:off x="9464040" y="4343400"/>
            <a:ext cx="0" cy="502920"/>
          </a:xfrm>
          <a:prstGeom prst="line">
            <a:avLst/>
          </a:prstGeom>
          <a:noFill/>
          <a:ln w="15240">
            <a:solidFill>
              <a:srgbClr val="3B4A5E"/>
            </a:solidFill>
            <a:prstDash val="solid"/>
            <a:tailEnd type="triangle"/>
          </a:ln>
        </p:spPr>
      </p:sp>
      <p:sp>
        <p:nvSpPr>
          <p:cNvPr id="37" name="Shape 35"/>
          <p:cNvSpPr/>
          <p:nvPr/>
        </p:nvSpPr>
        <p:spPr>
          <a:xfrm>
            <a:off x="5029200" y="4069080"/>
            <a:ext cx="0" cy="777240"/>
          </a:xfrm>
          <a:prstGeom prst="line">
            <a:avLst/>
          </a:prstGeom>
          <a:noFill/>
          <a:ln w="15240">
            <a:solidFill>
              <a:srgbClr val="3B4A5E"/>
            </a:solidFill>
            <a:prstDash val="solid"/>
            <a:tailEnd type="triangle"/>
          </a:ln>
        </p:spPr>
      </p:sp>
      <p:sp>
        <p:nvSpPr>
          <p:cNvPr id="38" name="Text 36"/>
          <p:cNvSpPr/>
          <p:nvPr/>
        </p:nvSpPr>
        <p:spPr>
          <a:xfrm>
            <a:off x="7132320" y="1371600"/>
            <a:ext cx="914400" cy="182880"/>
          </a:xfrm>
          <a:prstGeom prst="rect">
            <a:avLst/>
          </a:prstGeom>
          <a:noFill/>
          <a:ln/>
        </p:spPr>
        <p:txBody>
          <a:bodyPr wrap="square" lIns="0" tIns="0" rIns="0" bIns="0" rtlCol="0" anchor="ctr"/>
          <a:lstStyle/>
          <a:p>
            <a:pPr marL="0" indent="0">
              <a:buNone/>
            </a:pPr>
            <a:r>
              <a:rPr lang="en-US" sz="800" dirty="0">
                <a:solidFill>
                  <a:srgbClr val="0078D4"/>
                </a:solidFill>
                <a:latin typeface="Segoe UI Semibold" pitchFamily="34" charset="0"/>
                <a:ea typeface="Segoe UI Semibold" pitchFamily="34" charset="-122"/>
                <a:cs typeface="Segoe UI Semibold" pitchFamily="34" charset="-120"/>
              </a:rPr>
              <a:t>Model path</a:t>
            </a:r>
            <a:endParaRPr lang="en-US" sz="800" dirty="0"/>
          </a:p>
        </p:txBody>
      </p:sp>
      <p:sp>
        <p:nvSpPr>
          <p:cNvPr id="39" name="Text 37"/>
          <p:cNvSpPr/>
          <p:nvPr/>
        </p:nvSpPr>
        <p:spPr>
          <a:xfrm>
            <a:off x="7132320" y="3675888"/>
            <a:ext cx="914400" cy="182880"/>
          </a:xfrm>
          <a:prstGeom prst="rect">
            <a:avLst/>
          </a:prstGeom>
          <a:noFill/>
          <a:ln/>
        </p:spPr>
        <p:txBody>
          <a:bodyPr wrap="square" lIns="0" tIns="0" rIns="0" bIns="0" rtlCol="0" anchor="ctr"/>
          <a:lstStyle/>
          <a:p>
            <a:pPr marL="0" indent="0">
              <a:buNone/>
            </a:pPr>
            <a:r>
              <a:rPr lang="en-US" sz="800" dirty="0">
                <a:solidFill>
                  <a:srgbClr val="FFB900"/>
                </a:solidFill>
                <a:latin typeface="Segoe UI Semibold" pitchFamily="34" charset="0"/>
                <a:ea typeface="Segoe UI Semibold" pitchFamily="34" charset="-122"/>
                <a:cs typeface="Segoe UI Semibold" pitchFamily="34" charset="-120"/>
              </a:rPr>
              <a:t>Tool path</a:t>
            </a:r>
            <a:endParaRPr lang="en-US" sz="800" dirty="0"/>
          </a:p>
        </p:txBody>
      </p:sp>
      <p:sp>
        <p:nvSpPr>
          <p:cNvPr id="40" name="Text 38"/>
          <p:cNvSpPr/>
          <p:nvPr/>
        </p:nvSpPr>
        <p:spPr>
          <a:xfrm>
            <a:off x="5138928" y="4343400"/>
            <a:ext cx="914400" cy="182880"/>
          </a:xfrm>
          <a:prstGeom prst="rect">
            <a:avLst/>
          </a:prstGeom>
          <a:noFill/>
          <a:ln/>
        </p:spPr>
        <p:txBody>
          <a:bodyPr wrap="square" lIns="0" tIns="0" rIns="0" bIns="0" rtlCol="0" anchor="ctr"/>
          <a:lstStyle/>
          <a:p>
            <a:pPr marL="0" indent="0">
              <a:buNone/>
            </a:pPr>
            <a:r>
              <a:rPr lang="en-US" sz="800" dirty="0">
                <a:solidFill>
                  <a:srgbClr val="3B4A5E"/>
                </a:solidFill>
                <a:latin typeface="Segoe UI Semibold" pitchFamily="34" charset="0"/>
                <a:ea typeface="Segoe UI Semibold" pitchFamily="34" charset="-122"/>
                <a:cs typeface="Segoe UI Semibold" pitchFamily="34" charset="-120"/>
              </a:rPr>
              <a:t>telemetry</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301752"/>
            <a:ext cx="3200400" cy="201168"/>
          </a:xfrm>
          <a:prstGeom prst="rect">
            <a:avLst/>
          </a:prstGeom>
          <a:noFill/>
          <a:ln/>
        </p:spPr>
        <p:txBody>
          <a:bodyPr wrap="square" lIns="0" tIns="0" rIns="0" bIns="0" rtlCol="0" anchor="ctr"/>
          <a:lstStyle/>
          <a:p>
            <a:pPr marL="0" indent="0">
              <a:buNone/>
            </a:pPr>
            <a:r>
              <a:rPr lang="en-US" sz="800" kern="0" spc="120" dirty="0">
                <a:solidFill>
                  <a:srgbClr val="00B7C3"/>
                </a:solidFill>
                <a:latin typeface="Segoe UI Semibold" pitchFamily="34" charset="0"/>
                <a:ea typeface="Segoe UI Semibold" pitchFamily="34" charset="-122"/>
                <a:cs typeface="Segoe UI Semibold" pitchFamily="34" charset="-120"/>
              </a:rPr>
              <a:t>LIVE DEMO</a:t>
            </a:r>
            <a:endParaRPr lang="en-US" sz="800" dirty="0"/>
          </a:p>
        </p:txBody>
      </p:sp>
      <p:sp>
        <p:nvSpPr>
          <p:cNvPr id="3" name="Text 1"/>
          <p:cNvSpPr/>
          <p:nvPr/>
        </p:nvSpPr>
        <p:spPr>
          <a:xfrm>
            <a:off x="457200" y="521208"/>
            <a:ext cx="7955280" cy="438912"/>
          </a:xfrm>
          <a:prstGeom prst="rect">
            <a:avLst/>
          </a:prstGeom>
          <a:noFill/>
          <a:ln/>
        </p:spPr>
        <p:txBody>
          <a:bodyPr wrap="square" lIns="0" tIns="0" rIns="0" bIns="0" rtlCol="0" anchor="ctr"/>
          <a:lstStyle/>
          <a:p>
            <a:pPr marL="0" indent="0">
              <a:buNone/>
            </a:pPr>
            <a:r>
              <a:rPr lang="en-US" sz="2500" dirty="0">
                <a:solidFill>
                  <a:srgbClr val="0B1E3F"/>
                </a:solidFill>
                <a:latin typeface="Segoe UI Semibold" pitchFamily="34" charset="0"/>
                <a:ea typeface="Segoe UI Semibold" pitchFamily="34" charset="-122"/>
                <a:cs typeface="Segoe UI Semibold" pitchFamily="34" charset="-120"/>
              </a:rPr>
              <a:t>Live demo map: D1–D8</a:t>
            </a:r>
            <a:endParaRPr lang="en-US" sz="2500" dirty="0"/>
          </a:p>
        </p:txBody>
      </p:sp>
      <p:sp>
        <p:nvSpPr>
          <p:cNvPr id="4" name="Shape 2"/>
          <p:cNvSpPr/>
          <p:nvPr/>
        </p:nvSpPr>
        <p:spPr>
          <a:xfrm>
            <a:off x="10698480" y="118872"/>
            <a:ext cx="1051560" cy="1051560"/>
          </a:xfrm>
          <a:prstGeom prst="arc">
            <a:avLst/>
          </a:prstGeom>
          <a:solidFill>
            <a:srgbClr val="F5F7FA">
              <a:alpha val="0"/>
            </a:srgbClr>
          </a:solidFill>
          <a:ln w="38100">
            <a:solidFill>
              <a:srgbClr val="00B7C3">
                <a:alpha val="90000"/>
              </a:srgbClr>
            </a:solidFill>
            <a:prstDash val="solid"/>
          </a:ln>
        </p:spPr>
      </p:sp>
      <p:sp>
        <p:nvSpPr>
          <p:cNvPr id="5" name="Text 3"/>
          <p:cNvSpPr/>
          <p:nvPr/>
        </p:nvSpPr>
        <p:spPr>
          <a:xfrm>
            <a:off x="457200" y="6473952"/>
            <a:ext cx="7955280" cy="164592"/>
          </a:xfrm>
          <a:prstGeom prst="rect">
            <a:avLst/>
          </a:prstGeom>
          <a:noFill/>
          <a:ln/>
        </p:spPr>
        <p:txBody>
          <a:bodyPr wrap="square" lIns="0" tIns="0" rIns="0" bIns="0" rtlCol="0" anchor="ctr"/>
          <a:lstStyle/>
          <a:p>
            <a:pPr marL="0" indent="0">
              <a:buNone/>
            </a:pPr>
            <a:r>
              <a:rPr lang="en-US" sz="750" dirty="0">
                <a:solidFill>
                  <a:srgbClr val="8A97A8"/>
                </a:solidFill>
                <a:latin typeface="Segoe UI" pitchFamily="34" charset="0"/>
                <a:ea typeface="Segoe UI" pitchFamily="34" charset="-122"/>
                <a:cs typeface="Segoe UI" pitchFamily="34" charset="-120"/>
              </a:rPr>
              <a:t>Azure API Management AI Gateway — Oct 2026</a:t>
            </a:r>
            <a:endParaRPr lang="en-US" sz="750" dirty="0"/>
          </a:p>
        </p:txBody>
      </p:sp>
      <p:sp>
        <p:nvSpPr>
          <p:cNvPr id="6" name="Text 4"/>
          <p:cNvSpPr/>
          <p:nvPr/>
        </p:nvSpPr>
        <p:spPr>
          <a:xfrm>
            <a:off x="11430000" y="6446520"/>
            <a:ext cx="320040" cy="164592"/>
          </a:xfrm>
          <a:prstGeom prst="rect">
            <a:avLst/>
          </a:prstGeom>
          <a:noFill/>
          <a:ln/>
        </p:spPr>
        <p:txBody>
          <a:bodyPr wrap="square" lIns="0" tIns="0" rIns="0" bIns="0" rtlCol="0" anchor="ctr"/>
          <a:lstStyle/>
          <a:p>
            <a:pPr marL="0" indent="0" algn="r">
              <a:buNone/>
            </a:pPr>
            <a:r>
              <a:rPr lang="en-US" sz="800" dirty="0">
                <a:solidFill>
                  <a:srgbClr val="8A97A8"/>
                </a:solidFill>
                <a:latin typeface="Segoe UI Semibold" pitchFamily="34" charset="0"/>
                <a:ea typeface="Segoe UI Semibold" pitchFamily="34" charset="-122"/>
                <a:cs typeface="Segoe UI Semibold" pitchFamily="34" charset="-120"/>
              </a:rPr>
              <a:t>18</a:t>
            </a:r>
            <a:endParaRPr lang="en-US" sz="800" dirty="0"/>
          </a:p>
        </p:txBody>
      </p:sp>
      <p:sp>
        <p:nvSpPr>
          <p:cNvPr id="7" name="Shape 5"/>
          <p:cNvSpPr/>
          <p:nvPr/>
        </p:nvSpPr>
        <p:spPr>
          <a:xfrm>
            <a:off x="640080" y="1060704"/>
            <a:ext cx="5166360" cy="731520"/>
          </a:xfrm>
          <a:prstGeom prst="rect">
            <a:avLst/>
          </a:prstGeom>
          <a:solidFill>
            <a:srgbClr val="FFFFFF"/>
          </a:solidFill>
          <a:ln w="10160">
            <a:solidFill>
              <a:srgbClr val="D8E2EC"/>
            </a:solidFill>
            <a:prstDash val="solid"/>
          </a:ln>
        </p:spPr>
      </p:sp>
      <p:sp>
        <p:nvSpPr>
          <p:cNvPr id="8" name="Shape 6"/>
          <p:cNvSpPr/>
          <p:nvPr/>
        </p:nvSpPr>
        <p:spPr>
          <a:xfrm>
            <a:off x="640080" y="1060704"/>
            <a:ext cx="73152" cy="731520"/>
          </a:xfrm>
          <a:prstGeom prst="rect">
            <a:avLst/>
          </a:prstGeom>
          <a:solidFill>
            <a:srgbClr val="00B7C3"/>
          </a:solidFill>
          <a:ln w="12700">
            <a:solidFill>
              <a:srgbClr val="00B7C3"/>
            </a:solidFill>
            <a:prstDash val="solid"/>
          </a:ln>
        </p:spPr>
      </p:sp>
      <p:sp>
        <p:nvSpPr>
          <p:cNvPr id="9" name="Text 7"/>
          <p:cNvSpPr/>
          <p:nvPr/>
        </p:nvSpPr>
        <p:spPr>
          <a:xfrm>
            <a:off x="822960" y="1197864"/>
            <a:ext cx="4846320" cy="256032"/>
          </a:xfrm>
          <a:prstGeom prst="rect">
            <a:avLst/>
          </a:prstGeom>
          <a:noFill/>
          <a:ln/>
        </p:spPr>
        <p:txBody>
          <a:bodyPr wrap="square" lIns="0" tIns="0" rIns="0" bIns="0" rtlCol="0" anchor="ctr">
            <a:normAutofit/>
          </a:bodyPr>
          <a:lstStyle/>
          <a:p>
            <a:pPr marL="0" indent="0">
              <a:buNone/>
            </a:pPr>
            <a:r>
              <a:rPr lang="en-US" sz="1080" dirty="0">
                <a:solidFill>
                  <a:srgbClr val="0B1E3F"/>
                </a:solidFill>
                <a:latin typeface="Segoe UI Semibold" pitchFamily="34" charset="0"/>
                <a:ea typeface="Segoe UI Semibold" pitchFamily="34" charset="-122"/>
                <a:cs typeface="Segoe UI Semibold" pitchFamily="34" charset="-120"/>
              </a:rPr>
              <a:t>D1  Keyless chat</a:t>
            </a:r>
            <a:endParaRPr lang="en-US" sz="1080" dirty="0"/>
          </a:p>
        </p:txBody>
      </p:sp>
      <p:sp>
        <p:nvSpPr>
          <p:cNvPr id="10" name="Text 8"/>
          <p:cNvSpPr/>
          <p:nvPr/>
        </p:nvSpPr>
        <p:spPr>
          <a:xfrm>
            <a:off x="822960" y="1517904"/>
            <a:ext cx="4846320" cy="182880"/>
          </a:xfrm>
          <a:prstGeom prst="rect">
            <a:avLst/>
          </a:prstGeom>
          <a:noFill/>
          <a:ln/>
        </p:spPr>
        <p:txBody>
          <a:bodyPr wrap="square" lIns="635" tIns="635" rIns="635" bIns="635" rtlCol="0" anchor="ctr">
            <a:normAutofit/>
          </a:bodyPr>
          <a:lstStyle/>
          <a:p>
            <a:pPr marL="0" indent="0">
              <a:buNone/>
            </a:pPr>
            <a:r>
              <a:rPr lang="en-US" sz="820" dirty="0">
                <a:solidFill>
                  <a:srgbClr val="3B4A5E"/>
                </a:solidFill>
                <a:latin typeface="Segoe UI" pitchFamily="34" charset="0"/>
                <a:ea typeface="Segoe UI" pitchFamily="34" charset="-122"/>
                <a:cs typeface="Segoe UI" pitchFamily="34" charset="-120"/>
              </a:rPr>
              <a:t>200 via France Central; token headers show 44 prompt / 51 completion and 19,905 remaining.</a:t>
            </a:r>
            <a:endParaRPr lang="en-US" sz="820" dirty="0"/>
          </a:p>
        </p:txBody>
      </p:sp>
      <p:sp>
        <p:nvSpPr>
          <p:cNvPr id="11" name="Shape 9"/>
          <p:cNvSpPr/>
          <p:nvPr/>
        </p:nvSpPr>
        <p:spPr>
          <a:xfrm>
            <a:off x="6126480" y="1060704"/>
            <a:ext cx="5166360" cy="731520"/>
          </a:xfrm>
          <a:prstGeom prst="rect">
            <a:avLst/>
          </a:prstGeom>
          <a:solidFill>
            <a:srgbClr val="FFFFFF"/>
          </a:solidFill>
          <a:ln w="10160">
            <a:solidFill>
              <a:srgbClr val="D8E2EC"/>
            </a:solidFill>
            <a:prstDash val="solid"/>
          </a:ln>
        </p:spPr>
      </p:sp>
      <p:sp>
        <p:nvSpPr>
          <p:cNvPr id="12" name="Shape 10"/>
          <p:cNvSpPr/>
          <p:nvPr/>
        </p:nvSpPr>
        <p:spPr>
          <a:xfrm>
            <a:off x="6126480" y="1060704"/>
            <a:ext cx="73152" cy="731520"/>
          </a:xfrm>
          <a:prstGeom prst="rect">
            <a:avLst/>
          </a:prstGeom>
          <a:solidFill>
            <a:srgbClr val="00B7C3"/>
          </a:solidFill>
          <a:ln w="12700">
            <a:solidFill>
              <a:srgbClr val="00B7C3"/>
            </a:solidFill>
            <a:prstDash val="solid"/>
          </a:ln>
        </p:spPr>
      </p:sp>
      <p:sp>
        <p:nvSpPr>
          <p:cNvPr id="13" name="Text 11"/>
          <p:cNvSpPr/>
          <p:nvPr/>
        </p:nvSpPr>
        <p:spPr>
          <a:xfrm>
            <a:off x="6309360" y="1197864"/>
            <a:ext cx="4846320" cy="256032"/>
          </a:xfrm>
          <a:prstGeom prst="rect">
            <a:avLst/>
          </a:prstGeom>
          <a:noFill/>
          <a:ln/>
        </p:spPr>
        <p:txBody>
          <a:bodyPr wrap="square" lIns="0" tIns="0" rIns="0" bIns="0" rtlCol="0" anchor="ctr">
            <a:normAutofit/>
          </a:bodyPr>
          <a:lstStyle/>
          <a:p>
            <a:pPr marL="0" indent="0">
              <a:buNone/>
            </a:pPr>
            <a:r>
              <a:rPr lang="en-US" sz="1080" dirty="0">
                <a:solidFill>
                  <a:srgbClr val="0B1E3F"/>
                </a:solidFill>
                <a:latin typeface="Segoe UI Semibold" pitchFamily="34" charset="0"/>
                <a:ea typeface="Segoe UI Semibold" pitchFamily="34" charset="-122"/>
                <a:cs typeface="Segoe UI Semibold" pitchFamily="34" charset="-120"/>
              </a:rPr>
              <a:t>D2  Load balancing</a:t>
            </a:r>
            <a:endParaRPr lang="en-US" sz="1080" dirty="0"/>
          </a:p>
        </p:txBody>
      </p:sp>
      <p:sp>
        <p:nvSpPr>
          <p:cNvPr id="14" name="Text 12"/>
          <p:cNvSpPr/>
          <p:nvPr/>
        </p:nvSpPr>
        <p:spPr>
          <a:xfrm>
            <a:off x="6309360" y="1517904"/>
            <a:ext cx="4846320" cy="182880"/>
          </a:xfrm>
          <a:prstGeom prst="rect">
            <a:avLst/>
          </a:prstGeom>
          <a:noFill/>
          <a:ln/>
        </p:spPr>
        <p:txBody>
          <a:bodyPr wrap="square" lIns="635" tIns="635" rIns="635" bIns="635" rtlCol="0" anchor="ctr">
            <a:normAutofit/>
          </a:bodyPr>
          <a:lstStyle/>
          <a:p>
            <a:pPr marL="0" indent="0">
              <a:buNone/>
            </a:pPr>
            <a:r>
              <a:rPr lang="en-US" sz="820" dirty="0">
                <a:solidFill>
                  <a:srgbClr val="3B4A5E"/>
                </a:solidFill>
                <a:latin typeface="Segoe UI" pitchFamily="34" charset="0"/>
                <a:ea typeface="Segoe UI" pitchFamily="34" charset="-122"/>
                <a:cs typeface="Segoe UI" pitchFamily="34" charset="-120"/>
              </a:rPr>
              <a:t>Six calls spread across Sweden Central and France Central; circuit breaker explained.</a:t>
            </a:r>
            <a:endParaRPr lang="en-US" sz="820" dirty="0"/>
          </a:p>
        </p:txBody>
      </p:sp>
      <p:sp>
        <p:nvSpPr>
          <p:cNvPr id="15" name="Shape 13"/>
          <p:cNvSpPr/>
          <p:nvPr/>
        </p:nvSpPr>
        <p:spPr>
          <a:xfrm>
            <a:off x="640080" y="2157984"/>
            <a:ext cx="5166360" cy="731520"/>
          </a:xfrm>
          <a:prstGeom prst="rect">
            <a:avLst/>
          </a:prstGeom>
          <a:solidFill>
            <a:srgbClr val="FFFFFF"/>
          </a:solidFill>
          <a:ln w="10160">
            <a:solidFill>
              <a:srgbClr val="D8E2EC"/>
            </a:solidFill>
            <a:prstDash val="solid"/>
          </a:ln>
        </p:spPr>
      </p:sp>
      <p:sp>
        <p:nvSpPr>
          <p:cNvPr id="16" name="Shape 14"/>
          <p:cNvSpPr/>
          <p:nvPr/>
        </p:nvSpPr>
        <p:spPr>
          <a:xfrm>
            <a:off x="640080" y="2157984"/>
            <a:ext cx="73152" cy="731520"/>
          </a:xfrm>
          <a:prstGeom prst="rect">
            <a:avLst/>
          </a:prstGeom>
          <a:solidFill>
            <a:srgbClr val="FFB900"/>
          </a:solidFill>
          <a:ln w="12700">
            <a:solidFill>
              <a:srgbClr val="FFB900"/>
            </a:solidFill>
            <a:prstDash val="solid"/>
          </a:ln>
        </p:spPr>
      </p:sp>
      <p:sp>
        <p:nvSpPr>
          <p:cNvPr id="17" name="Text 15"/>
          <p:cNvSpPr/>
          <p:nvPr/>
        </p:nvSpPr>
        <p:spPr>
          <a:xfrm>
            <a:off x="822960" y="2295144"/>
            <a:ext cx="4846320" cy="256032"/>
          </a:xfrm>
          <a:prstGeom prst="rect">
            <a:avLst/>
          </a:prstGeom>
          <a:noFill/>
          <a:ln/>
        </p:spPr>
        <p:txBody>
          <a:bodyPr wrap="square" lIns="0" tIns="0" rIns="0" bIns="0" rtlCol="0" anchor="ctr">
            <a:normAutofit/>
          </a:bodyPr>
          <a:lstStyle/>
          <a:p>
            <a:pPr marL="0" indent="0">
              <a:buNone/>
            </a:pPr>
            <a:r>
              <a:rPr lang="en-US" sz="1080" dirty="0">
                <a:solidFill>
                  <a:srgbClr val="0B1E3F"/>
                </a:solidFill>
                <a:latin typeface="Segoe UI Semibold" pitchFamily="34" charset="0"/>
                <a:ea typeface="Segoe UI Semibold" pitchFamily="34" charset="-122"/>
                <a:cs typeface="Segoe UI Semibold" pitchFamily="34" charset="-120"/>
              </a:rPr>
              <a:t>D3  Token budgets</a:t>
            </a:r>
            <a:endParaRPr lang="en-US" sz="1080" dirty="0"/>
          </a:p>
        </p:txBody>
      </p:sp>
      <p:sp>
        <p:nvSpPr>
          <p:cNvPr id="18" name="Text 16"/>
          <p:cNvSpPr/>
          <p:nvPr/>
        </p:nvSpPr>
        <p:spPr>
          <a:xfrm>
            <a:off x="822960" y="2615184"/>
            <a:ext cx="4846320" cy="182880"/>
          </a:xfrm>
          <a:prstGeom prst="rect">
            <a:avLst/>
          </a:prstGeom>
          <a:noFill/>
          <a:ln/>
        </p:spPr>
        <p:txBody>
          <a:bodyPr wrap="square" lIns="635" tIns="635" rIns="635" bIns="635" rtlCol="0" anchor="ctr">
            <a:normAutofit/>
          </a:bodyPr>
          <a:lstStyle/>
          <a:p>
            <a:pPr marL="0" indent="0">
              <a:buNone/>
            </a:pPr>
            <a:r>
              <a:rPr lang="en-US" sz="820" dirty="0">
                <a:solidFill>
                  <a:srgbClr val="3B4A5E"/>
                </a:solidFill>
                <a:latin typeface="Segoe UI" pitchFamily="34" charset="0"/>
                <a:ea typeface="Segoe UI" pitchFamily="34" charset="-122"/>
                <a:cs typeface="Segoe UI" pitchFamily="34" charset="-120"/>
              </a:rPr>
              <a:t>Bronze hits 429 with Retry-After; Gold continues; monthly quota returns 403.</a:t>
            </a:r>
            <a:endParaRPr lang="en-US" sz="820" dirty="0"/>
          </a:p>
        </p:txBody>
      </p:sp>
      <p:sp>
        <p:nvSpPr>
          <p:cNvPr id="19" name="Shape 17"/>
          <p:cNvSpPr/>
          <p:nvPr/>
        </p:nvSpPr>
        <p:spPr>
          <a:xfrm>
            <a:off x="6126480" y="2157984"/>
            <a:ext cx="5166360" cy="731520"/>
          </a:xfrm>
          <a:prstGeom prst="rect">
            <a:avLst/>
          </a:prstGeom>
          <a:solidFill>
            <a:srgbClr val="FFFFFF"/>
          </a:solidFill>
          <a:ln w="10160">
            <a:solidFill>
              <a:srgbClr val="D8E2EC"/>
            </a:solidFill>
            <a:prstDash val="solid"/>
          </a:ln>
        </p:spPr>
      </p:sp>
      <p:sp>
        <p:nvSpPr>
          <p:cNvPr id="20" name="Shape 18"/>
          <p:cNvSpPr/>
          <p:nvPr/>
        </p:nvSpPr>
        <p:spPr>
          <a:xfrm>
            <a:off x="6126480" y="2157984"/>
            <a:ext cx="73152" cy="731520"/>
          </a:xfrm>
          <a:prstGeom prst="rect">
            <a:avLst/>
          </a:prstGeom>
          <a:solidFill>
            <a:srgbClr val="00B7C3"/>
          </a:solidFill>
          <a:ln w="12700">
            <a:solidFill>
              <a:srgbClr val="00B7C3"/>
            </a:solidFill>
            <a:prstDash val="solid"/>
          </a:ln>
        </p:spPr>
      </p:sp>
      <p:sp>
        <p:nvSpPr>
          <p:cNvPr id="21" name="Text 19"/>
          <p:cNvSpPr/>
          <p:nvPr/>
        </p:nvSpPr>
        <p:spPr>
          <a:xfrm>
            <a:off x="6309360" y="2295144"/>
            <a:ext cx="4846320" cy="256032"/>
          </a:xfrm>
          <a:prstGeom prst="rect">
            <a:avLst/>
          </a:prstGeom>
          <a:noFill/>
          <a:ln/>
        </p:spPr>
        <p:txBody>
          <a:bodyPr wrap="square" lIns="0" tIns="0" rIns="0" bIns="0" rtlCol="0" anchor="ctr">
            <a:normAutofit/>
          </a:bodyPr>
          <a:lstStyle/>
          <a:p>
            <a:pPr marL="0" indent="0">
              <a:buNone/>
            </a:pPr>
            <a:r>
              <a:rPr lang="en-US" sz="1080" dirty="0">
                <a:solidFill>
                  <a:srgbClr val="0B1E3F"/>
                </a:solidFill>
                <a:latin typeface="Segoe UI Semibold" pitchFamily="34" charset="0"/>
                <a:ea typeface="Segoe UI Semibold" pitchFamily="34" charset="-122"/>
                <a:cs typeface="Segoe UI Semibold" pitchFamily="34" charset="-120"/>
              </a:rPr>
              <a:t>D4  Content safety</a:t>
            </a:r>
            <a:endParaRPr lang="en-US" sz="1080" dirty="0"/>
          </a:p>
        </p:txBody>
      </p:sp>
      <p:sp>
        <p:nvSpPr>
          <p:cNvPr id="22" name="Text 20"/>
          <p:cNvSpPr/>
          <p:nvPr/>
        </p:nvSpPr>
        <p:spPr>
          <a:xfrm>
            <a:off x="6309360" y="2615184"/>
            <a:ext cx="4846320" cy="182880"/>
          </a:xfrm>
          <a:prstGeom prst="rect">
            <a:avLst/>
          </a:prstGeom>
          <a:noFill/>
          <a:ln/>
        </p:spPr>
        <p:txBody>
          <a:bodyPr wrap="square" lIns="635" tIns="635" rIns="635" bIns="635" rtlCol="0" anchor="ctr">
            <a:normAutofit/>
          </a:bodyPr>
          <a:lstStyle/>
          <a:p>
            <a:pPr marL="0" indent="0">
              <a:buNone/>
            </a:pPr>
            <a:r>
              <a:rPr lang="en-US" sz="820" dirty="0">
                <a:solidFill>
                  <a:srgbClr val="3B4A5E"/>
                </a:solidFill>
                <a:latin typeface="Segoe UI" pitchFamily="34" charset="0"/>
                <a:ea typeface="Segoe UI" pitchFamily="34" charset="-122"/>
                <a:cs typeface="Segoe UI" pitchFamily="34" charset="-120"/>
              </a:rPr>
              <a:t>Benign prompt passes; jailbreak blocked by Prompt Shields.</a:t>
            </a:r>
            <a:endParaRPr lang="en-US" sz="820" dirty="0"/>
          </a:p>
        </p:txBody>
      </p:sp>
      <p:sp>
        <p:nvSpPr>
          <p:cNvPr id="23" name="Shape 21"/>
          <p:cNvSpPr/>
          <p:nvPr/>
        </p:nvSpPr>
        <p:spPr>
          <a:xfrm>
            <a:off x="640080" y="3255264"/>
            <a:ext cx="5166360" cy="731520"/>
          </a:xfrm>
          <a:prstGeom prst="rect">
            <a:avLst/>
          </a:prstGeom>
          <a:solidFill>
            <a:srgbClr val="FFFFFF"/>
          </a:solidFill>
          <a:ln w="10160">
            <a:solidFill>
              <a:srgbClr val="D8E2EC"/>
            </a:solidFill>
            <a:prstDash val="solid"/>
          </a:ln>
        </p:spPr>
      </p:sp>
      <p:sp>
        <p:nvSpPr>
          <p:cNvPr id="24" name="Shape 22"/>
          <p:cNvSpPr/>
          <p:nvPr/>
        </p:nvSpPr>
        <p:spPr>
          <a:xfrm>
            <a:off x="640080" y="3255264"/>
            <a:ext cx="73152" cy="731520"/>
          </a:xfrm>
          <a:prstGeom prst="rect">
            <a:avLst/>
          </a:prstGeom>
          <a:solidFill>
            <a:srgbClr val="00B7C3"/>
          </a:solidFill>
          <a:ln w="12700">
            <a:solidFill>
              <a:srgbClr val="00B7C3"/>
            </a:solidFill>
            <a:prstDash val="solid"/>
          </a:ln>
        </p:spPr>
      </p:sp>
      <p:sp>
        <p:nvSpPr>
          <p:cNvPr id="25" name="Text 23"/>
          <p:cNvSpPr/>
          <p:nvPr/>
        </p:nvSpPr>
        <p:spPr>
          <a:xfrm>
            <a:off x="822960" y="3392424"/>
            <a:ext cx="4846320" cy="256032"/>
          </a:xfrm>
          <a:prstGeom prst="rect">
            <a:avLst/>
          </a:prstGeom>
          <a:noFill/>
          <a:ln/>
        </p:spPr>
        <p:txBody>
          <a:bodyPr wrap="square" lIns="0" tIns="0" rIns="0" bIns="0" rtlCol="0" anchor="ctr">
            <a:normAutofit/>
          </a:bodyPr>
          <a:lstStyle/>
          <a:p>
            <a:pPr marL="0" indent="0">
              <a:buNone/>
            </a:pPr>
            <a:r>
              <a:rPr lang="en-US" sz="1080" dirty="0">
                <a:solidFill>
                  <a:srgbClr val="0B1E3F"/>
                </a:solidFill>
                <a:latin typeface="Segoe UI Semibold" pitchFamily="34" charset="0"/>
                <a:ea typeface="Segoe UI Semibold" pitchFamily="34" charset="-122"/>
                <a:cs typeface="Segoe UI Semibold" pitchFamily="34" charset="-120"/>
              </a:rPr>
              <a:t>D5  MCP server</a:t>
            </a:r>
            <a:endParaRPr lang="en-US" sz="1080" dirty="0"/>
          </a:p>
        </p:txBody>
      </p:sp>
      <p:sp>
        <p:nvSpPr>
          <p:cNvPr id="26" name="Text 24"/>
          <p:cNvSpPr/>
          <p:nvPr/>
        </p:nvSpPr>
        <p:spPr>
          <a:xfrm>
            <a:off x="822960" y="3712464"/>
            <a:ext cx="4846320" cy="182880"/>
          </a:xfrm>
          <a:prstGeom prst="rect">
            <a:avLst/>
          </a:prstGeom>
          <a:noFill/>
          <a:ln/>
        </p:spPr>
        <p:txBody>
          <a:bodyPr wrap="square" lIns="635" tIns="635" rIns="635" bIns="635" rtlCol="0" anchor="ctr">
            <a:normAutofit/>
          </a:bodyPr>
          <a:lstStyle/>
          <a:p>
            <a:pPr marL="0" indent="0">
              <a:buNone/>
            </a:pPr>
            <a:r>
              <a:rPr lang="en-US" sz="820" dirty="0">
                <a:solidFill>
                  <a:srgbClr val="3B4A5E"/>
                </a:solidFill>
                <a:latin typeface="Segoe UI" pitchFamily="34" charset="0"/>
                <a:ea typeface="Segoe UI" pitchFamily="34" charset="-122"/>
                <a:cs typeface="Segoe UI" pitchFamily="34" charset="-120"/>
              </a:rPr>
              <a:t>Initialize, tools/list, tools/call search-products and get-order-status.</a:t>
            </a:r>
            <a:endParaRPr lang="en-US" sz="820" dirty="0"/>
          </a:p>
        </p:txBody>
      </p:sp>
      <p:sp>
        <p:nvSpPr>
          <p:cNvPr id="27" name="Shape 25"/>
          <p:cNvSpPr/>
          <p:nvPr/>
        </p:nvSpPr>
        <p:spPr>
          <a:xfrm>
            <a:off x="6126480" y="3255264"/>
            <a:ext cx="5166360" cy="731520"/>
          </a:xfrm>
          <a:prstGeom prst="rect">
            <a:avLst/>
          </a:prstGeom>
          <a:solidFill>
            <a:srgbClr val="FFFFFF"/>
          </a:solidFill>
          <a:ln w="10160">
            <a:solidFill>
              <a:srgbClr val="D8E2EC"/>
            </a:solidFill>
            <a:prstDash val="solid"/>
          </a:ln>
        </p:spPr>
      </p:sp>
      <p:sp>
        <p:nvSpPr>
          <p:cNvPr id="28" name="Shape 26"/>
          <p:cNvSpPr/>
          <p:nvPr/>
        </p:nvSpPr>
        <p:spPr>
          <a:xfrm>
            <a:off x="6126480" y="3255264"/>
            <a:ext cx="73152" cy="731520"/>
          </a:xfrm>
          <a:prstGeom prst="rect">
            <a:avLst/>
          </a:prstGeom>
          <a:solidFill>
            <a:srgbClr val="00B7C3"/>
          </a:solidFill>
          <a:ln w="12700">
            <a:solidFill>
              <a:srgbClr val="00B7C3"/>
            </a:solidFill>
            <a:prstDash val="solid"/>
          </a:ln>
        </p:spPr>
      </p:sp>
      <p:sp>
        <p:nvSpPr>
          <p:cNvPr id="29" name="Text 27"/>
          <p:cNvSpPr/>
          <p:nvPr/>
        </p:nvSpPr>
        <p:spPr>
          <a:xfrm>
            <a:off x="6309360" y="3392424"/>
            <a:ext cx="4846320" cy="256032"/>
          </a:xfrm>
          <a:prstGeom prst="rect">
            <a:avLst/>
          </a:prstGeom>
          <a:noFill/>
          <a:ln/>
        </p:spPr>
        <p:txBody>
          <a:bodyPr wrap="square" lIns="0" tIns="0" rIns="0" bIns="0" rtlCol="0" anchor="ctr">
            <a:normAutofit/>
          </a:bodyPr>
          <a:lstStyle/>
          <a:p>
            <a:pPr marL="0" indent="0">
              <a:buNone/>
            </a:pPr>
            <a:r>
              <a:rPr lang="en-US" sz="1080" dirty="0">
                <a:solidFill>
                  <a:srgbClr val="0B1E3F"/>
                </a:solidFill>
                <a:latin typeface="Segoe UI Semibold" pitchFamily="34" charset="0"/>
                <a:ea typeface="Segoe UI Semibold" pitchFamily="34" charset="-122"/>
                <a:cs typeface="Segoe UI Semibold" pitchFamily="34" charset="-120"/>
              </a:rPr>
              <a:t>D6  Agent</a:t>
            </a:r>
            <a:endParaRPr lang="en-US" sz="1080" dirty="0"/>
          </a:p>
        </p:txBody>
      </p:sp>
      <p:sp>
        <p:nvSpPr>
          <p:cNvPr id="30" name="Text 28"/>
          <p:cNvSpPr/>
          <p:nvPr/>
        </p:nvSpPr>
        <p:spPr>
          <a:xfrm>
            <a:off x="6309360" y="3712464"/>
            <a:ext cx="4846320" cy="182880"/>
          </a:xfrm>
          <a:prstGeom prst="rect">
            <a:avLst/>
          </a:prstGeom>
          <a:noFill/>
          <a:ln/>
        </p:spPr>
        <p:txBody>
          <a:bodyPr wrap="square" lIns="635" tIns="635" rIns="635" bIns="635" rtlCol="0" anchor="ctr">
            <a:normAutofit/>
          </a:bodyPr>
          <a:lstStyle/>
          <a:p>
            <a:pPr marL="0" indent="0">
              <a:buNone/>
            </a:pPr>
            <a:r>
              <a:rPr lang="en-US" sz="820" dirty="0">
                <a:solidFill>
                  <a:srgbClr val="3B4A5E"/>
                </a:solidFill>
                <a:latin typeface="Segoe UI" pitchFamily="34" charset="0"/>
                <a:ea typeface="Segoe UI" pitchFamily="34" charset="-122"/>
                <a:cs typeface="Segoe UI" pitchFamily="34" charset="-120"/>
              </a:rPr>
              <a:t>Model calls MCP tools via gateway to answer product and order questions.</a:t>
            </a:r>
            <a:endParaRPr lang="en-US" sz="820" dirty="0"/>
          </a:p>
        </p:txBody>
      </p:sp>
      <p:sp>
        <p:nvSpPr>
          <p:cNvPr id="31" name="Shape 29"/>
          <p:cNvSpPr/>
          <p:nvPr/>
        </p:nvSpPr>
        <p:spPr>
          <a:xfrm>
            <a:off x="640080" y="4352544"/>
            <a:ext cx="5166360" cy="731520"/>
          </a:xfrm>
          <a:prstGeom prst="rect">
            <a:avLst/>
          </a:prstGeom>
          <a:solidFill>
            <a:srgbClr val="FFFFFF"/>
          </a:solidFill>
          <a:ln w="10160">
            <a:solidFill>
              <a:srgbClr val="D8E2EC"/>
            </a:solidFill>
            <a:prstDash val="solid"/>
          </a:ln>
        </p:spPr>
      </p:sp>
      <p:sp>
        <p:nvSpPr>
          <p:cNvPr id="32" name="Shape 30"/>
          <p:cNvSpPr/>
          <p:nvPr/>
        </p:nvSpPr>
        <p:spPr>
          <a:xfrm>
            <a:off x="640080" y="4352544"/>
            <a:ext cx="73152" cy="731520"/>
          </a:xfrm>
          <a:prstGeom prst="rect">
            <a:avLst/>
          </a:prstGeom>
          <a:solidFill>
            <a:srgbClr val="00B7C3"/>
          </a:solidFill>
          <a:ln w="12700">
            <a:solidFill>
              <a:srgbClr val="00B7C3"/>
            </a:solidFill>
            <a:prstDash val="solid"/>
          </a:ln>
        </p:spPr>
      </p:sp>
      <p:sp>
        <p:nvSpPr>
          <p:cNvPr id="33" name="Text 31"/>
          <p:cNvSpPr/>
          <p:nvPr/>
        </p:nvSpPr>
        <p:spPr>
          <a:xfrm>
            <a:off x="822960" y="4489704"/>
            <a:ext cx="4846320" cy="256032"/>
          </a:xfrm>
          <a:prstGeom prst="rect">
            <a:avLst/>
          </a:prstGeom>
          <a:noFill/>
          <a:ln/>
        </p:spPr>
        <p:txBody>
          <a:bodyPr wrap="square" lIns="0" tIns="0" rIns="0" bIns="0" rtlCol="0" anchor="ctr">
            <a:normAutofit/>
          </a:bodyPr>
          <a:lstStyle/>
          <a:p>
            <a:pPr marL="0" indent="0">
              <a:buNone/>
            </a:pPr>
            <a:r>
              <a:rPr lang="en-US" sz="1080" dirty="0">
                <a:solidFill>
                  <a:srgbClr val="0B1E3F"/>
                </a:solidFill>
                <a:latin typeface="Segoe UI Semibold" pitchFamily="34" charset="0"/>
                <a:ea typeface="Segoe UI Semibold" pitchFamily="34" charset="-122"/>
                <a:cs typeface="Segoe UI Semibold" pitchFamily="34" charset="-120"/>
              </a:rPr>
              <a:t>D7  Observability</a:t>
            </a:r>
            <a:endParaRPr lang="en-US" sz="1080" dirty="0"/>
          </a:p>
        </p:txBody>
      </p:sp>
      <p:sp>
        <p:nvSpPr>
          <p:cNvPr id="34" name="Text 32"/>
          <p:cNvSpPr/>
          <p:nvPr/>
        </p:nvSpPr>
        <p:spPr>
          <a:xfrm>
            <a:off x="822960" y="4809744"/>
            <a:ext cx="4846320" cy="182880"/>
          </a:xfrm>
          <a:prstGeom prst="rect">
            <a:avLst/>
          </a:prstGeom>
          <a:noFill/>
          <a:ln/>
        </p:spPr>
        <p:txBody>
          <a:bodyPr wrap="square" lIns="635" tIns="635" rIns="635" bIns="635" rtlCol="0" anchor="ctr">
            <a:normAutofit/>
          </a:bodyPr>
          <a:lstStyle/>
          <a:p>
            <a:pPr marL="0" indent="0">
              <a:buNone/>
            </a:pPr>
            <a:r>
              <a:rPr lang="en-US" sz="820" dirty="0">
                <a:solidFill>
                  <a:srgbClr val="3B4A5E"/>
                </a:solidFill>
                <a:latin typeface="Segoe UI" pitchFamily="34" charset="0"/>
                <a:ea typeface="Segoe UI" pitchFamily="34" charset="-122"/>
                <a:cs typeface="Segoe UI" pitchFamily="34" charset="-120"/>
              </a:rPr>
              <a:t>AppMetrics by Product and ApiManagementGatewayLlmLog by DeploymentName gpt-5.4-nano.</a:t>
            </a:r>
            <a:endParaRPr lang="en-US" sz="820" dirty="0"/>
          </a:p>
        </p:txBody>
      </p:sp>
      <p:sp>
        <p:nvSpPr>
          <p:cNvPr id="35" name="Shape 33"/>
          <p:cNvSpPr/>
          <p:nvPr/>
        </p:nvSpPr>
        <p:spPr>
          <a:xfrm>
            <a:off x="6126480" y="4352544"/>
            <a:ext cx="5166360" cy="731520"/>
          </a:xfrm>
          <a:prstGeom prst="rect">
            <a:avLst/>
          </a:prstGeom>
          <a:solidFill>
            <a:srgbClr val="FFFFFF"/>
          </a:solidFill>
          <a:ln w="10160">
            <a:solidFill>
              <a:srgbClr val="D8E2EC"/>
            </a:solidFill>
            <a:prstDash val="solid"/>
          </a:ln>
        </p:spPr>
      </p:sp>
      <p:sp>
        <p:nvSpPr>
          <p:cNvPr id="36" name="Shape 34"/>
          <p:cNvSpPr/>
          <p:nvPr/>
        </p:nvSpPr>
        <p:spPr>
          <a:xfrm>
            <a:off x="6126480" y="4352544"/>
            <a:ext cx="73152" cy="731520"/>
          </a:xfrm>
          <a:prstGeom prst="rect">
            <a:avLst/>
          </a:prstGeom>
          <a:solidFill>
            <a:srgbClr val="00B7C3"/>
          </a:solidFill>
          <a:ln w="12700">
            <a:solidFill>
              <a:srgbClr val="00B7C3"/>
            </a:solidFill>
            <a:prstDash val="solid"/>
          </a:ln>
        </p:spPr>
      </p:sp>
      <p:sp>
        <p:nvSpPr>
          <p:cNvPr id="37" name="Text 35"/>
          <p:cNvSpPr/>
          <p:nvPr/>
        </p:nvSpPr>
        <p:spPr>
          <a:xfrm>
            <a:off x="6309360" y="4489704"/>
            <a:ext cx="4846320" cy="256032"/>
          </a:xfrm>
          <a:prstGeom prst="rect">
            <a:avLst/>
          </a:prstGeom>
          <a:noFill/>
          <a:ln/>
        </p:spPr>
        <p:txBody>
          <a:bodyPr wrap="square" lIns="0" tIns="0" rIns="0" bIns="0" rtlCol="0" anchor="ctr">
            <a:normAutofit/>
          </a:bodyPr>
          <a:lstStyle/>
          <a:p>
            <a:pPr marL="0" indent="0">
              <a:buNone/>
            </a:pPr>
            <a:r>
              <a:rPr lang="en-US" sz="1080" dirty="0">
                <a:solidFill>
                  <a:srgbClr val="0B1E3F"/>
                </a:solidFill>
                <a:latin typeface="Segoe UI Semibold" pitchFamily="34" charset="0"/>
                <a:ea typeface="Segoe UI Semibold" pitchFamily="34" charset="-122"/>
                <a:cs typeface="Segoe UI Semibold" pitchFamily="34" charset="-120"/>
              </a:rPr>
              <a:t>D8  CI/CD</a:t>
            </a:r>
            <a:endParaRPr lang="en-US" sz="1080" dirty="0"/>
          </a:p>
        </p:txBody>
      </p:sp>
      <p:sp>
        <p:nvSpPr>
          <p:cNvPr id="38" name="Text 36"/>
          <p:cNvSpPr/>
          <p:nvPr/>
        </p:nvSpPr>
        <p:spPr>
          <a:xfrm>
            <a:off x="6309360" y="4809744"/>
            <a:ext cx="4846320" cy="182880"/>
          </a:xfrm>
          <a:prstGeom prst="rect">
            <a:avLst/>
          </a:prstGeom>
          <a:noFill/>
          <a:ln/>
        </p:spPr>
        <p:txBody>
          <a:bodyPr wrap="square" lIns="635" tIns="635" rIns="635" bIns="635" rtlCol="0" anchor="ctr">
            <a:normAutofit/>
          </a:bodyPr>
          <a:lstStyle/>
          <a:p>
            <a:pPr marL="0" indent="0">
              <a:buNone/>
            </a:pPr>
            <a:r>
              <a:rPr lang="en-US" sz="820" dirty="0">
                <a:solidFill>
                  <a:srgbClr val="3B4A5E"/>
                </a:solidFill>
                <a:latin typeface="Segoe UI" pitchFamily="34" charset="0"/>
                <a:ea typeface="Segoe UI" pitchFamily="34" charset="-122"/>
                <a:cs typeface="Segoe UI" pitchFamily="34" charset="-120"/>
              </a:rPr>
              <a:t>Bicep deployed by GitHub Actions: deploy, smoke test, run demo.</a:t>
            </a:r>
            <a:endParaRPr lang="en-US" sz="820" dirty="0"/>
          </a:p>
        </p:txBody>
      </p:sp>
      <p:sp>
        <p:nvSpPr>
          <p:cNvPr id="39" name="Shape 37"/>
          <p:cNvSpPr/>
          <p:nvPr/>
        </p:nvSpPr>
        <p:spPr>
          <a:xfrm>
            <a:off x="822960" y="5623560"/>
            <a:ext cx="10378440" cy="347472"/>
          </a:xfrm>
          <a:prstGeom prst="roundRect">
            <a:avLst>
              <a:gd name="adj" fmla="val 13158"/>
            </a:avLst>
          </a:prstGeom>
          <a:solidFill>
            <a:srgbClr val="E5F1FB"/>
          </a:solidFill>
          <a:ln w="12700">
            <a:solidFill>
              <a:srgbClr val="E5F1FB"/>
            </a:solidFill>
            <a:prstDash val="solid"/>
          </a:ln>
        </p:spPr>
      </p:sp>
      <p:sp>
        <p:nvSpPr>
          <p:cNvPr id="40" name="Text 38"/>
          <p:cNvSpPr/>
          <p:nvPr/>
        </p:nvSpPr>
        <p:spPr>
          <a:xfrm>
            <a:off x="1051560" y="5733288"/>
            <a:ext cx="9875520" cy="109728"/>
          </a:xfrm>
          <a:prstGeom prst="rect">
            <a:avLst/>
          </a:prstGeom>
          <a:noFill/>
          <a:ln/>
        </p:spPr>
        <p:txBody>
          <a:bodyPr wrap="square" lIns="0" tIns="0" rIns="0" bIns="0" rtlCol="0" anchor="ctr">
            <a:normAutofit/>
          </a:bodyPr>
          <a:lstStyle/>
          <a:p>
            <a:pPr marL="0" indent="0" algn="ctr">
              <a:buNone/>
            </a:pPr>
            <a:r>
              <a:rPr lang="en-US" sz="860" dirty="0">
                <a:solidFill>
                  <a:srgbClr val="0B1E3F"/>
                </a:solidFill>
                <a:latin typeface="Segoe UI Semibold" pitchFamily="34" charset="0"/>
                <a:ea typeface="Segoe UI Semibold" pitchFamily="34" charset="-122"/>
                <a:cs typeface="Segoe UI Semibold" pitchFamily="34" charset="-120"/>
              </a:rPr>
              <a:t>Narrated fallback video: docs/video/apim-ai-gateway-demo.mp4</a:t>
            </a:r>
            <a:endParaRPr lang="en-US" sz="86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301752"/>
            <a:ext cx="3200400" cy="201168"/>
          </a:xfrm>
          <a:prstGeom prst="rect">
            <a:avLst/>
          </a:prstGeom>
          <a:noFill/>
          <a:ln/>
        </p:spPr>
        <p:txBody>
          <a:bodyPr wrap="square" lIns="0" tIns="0" rIns="0" bIns="0" rtlCol="0" anchor="ctr"/>
          <a:lstStyle/>
          <a:p>
            <a:pPr marL="0" indent="0">
              <a:buNone/>
            </a:pPr>
            <a:r>
              <a:rPr lang="en-US" sz="800" kern="0" spc="120" dirty="0">
                <a:solidFill>
                  <a:srgbClr val="00B7C3"/>
                </a:solidFill>
                <a:latin typeface="Segoe UI Semibold" pitchFamily="34" charset="0"/>
                <a:ea typeface="Segoe UI Semibold" pitchFamily="34" charset="-122"/>
                <a:cs typeface="Segoe UI Semibold" pitchFamily="34" charset="-120"/>
              </a:rPr>
              <a:t>IF LIVE DEMO FAILS</a:t>
            </a:r>
            <a:endParaRPr lang="en-US" sz="800" dirty="0"/>
          </a:p>
        </p:txBody>
      </p:sp>
      <p:sp>
        <p:nvSpPr>
          <p:cNvPr id="3" name="Text 1"/>
          <p:cNvSpPr/>
          <p:nvPr/>
        </p:nvSpPr>
        <p:spPr>
          <a:xfrm>
            <a:off x="457200" y="521208"/>
            <a:ext cx="7955280" cy="438912"/>
          </a:xfrm>
          <a:prstGeom prst="rect">
            <a:avLst/>
          </a:prstGeom>
          <a:noFill/>
          <a:ln/>
        </p:spPr>
        <p:txBody>
          <a:bodyPr wrap="square" lIns="0" tIns="0" rIns="0" bIns="0" rtlCol="0" anchor="ctr"/>
          <a:lstStyle/>
          <a:p>
            <a:pPr marL="0" indent="0">
              <a:buNone/>
            </a:pPr>
            <a:r>
              <a:rPr lang="en-US" sz="2500" dirty="0">
                <a:solidFill>
                  <a:srgbClr val="0B1E3F"/>
                </a:solidFill>
                <a:latin typeface="Segoe UI Semibold" pitchFamily="34" charset="0"/>
                <a:ea typeface="Segoe UI Semibold" pitchFamily="34" charset="-122"/>
                <a:cs typeface="Segoe UI Semibold" pitchFamily="34" charset="-120"/>
              </a:rPr>
              <a:t>Backup demo narrative: D1 keyless chat + D2 failover</a:t>
            </a:r>
            <a:endParaRPr lang="en-US" sz="2500" dirty="0"/>
          </a:p>
        </p:txBody>
      </p:sp>
      <p:sp>
        <p:nvSpPr>
          <p:cNvPr id="4" name="Shape 2"/>
          <p:cNvSpPr/>
          <p:nvPr/>
        </p:nvSpPr>
        <p:spPr>
          <a:xfrm>
            <a:off x="10698480" y="118872"/>
            <a:ext cx="1051560" cy="1051560"/>
          </a:xfrm>
          <a:prstGeom prst="arc">
            <a:avLst/>
          </a:prstGeom>
          <a:solidFill>
            <a:srgbClr val="F5F7FA">
              <a:alpha val="0"/>
            </a:srgbClr>
          </a:solidFill>
          <a:ln w="38100">
            <a:solidFill>
              <a:srgbClr val="00B7C3">
                <a:alpha val="90000"/>
              </a:srgbClr>
            </a:solidFill>
            <a:prstDash val="solid"/>
          </a:ln>
        </p:spPr>
      </p:sp>
      <p:sp>
        <p:nvSpPr>
          <p:cNvPr id="5" name="Text 3"/>
          <p:cNvSpPr/>
          <p:nvPr/>
        </p:nvSpPr>
        <p:spPr>
          <a:xfrm>
            <a:off x="457200" y="6473952"/>
            <a:ext cx="7955280" cy="164592"/>
          </a:xfrm>
          <a:prstGeom prst="rect">
            <a:avLst/>
          </a:prstGeom>
          <a:noFill/>
          <a:ln/>
        </p:spPr>
        <p:txBody>
          <a:bodyPr wrap="square" lIns="0" tIns="0" rIns="0" bIns="0" rtlCol="0" anchor="ctr"/>
          <a:lstStyle/>
          <a:p>
            <a:pPr marL="0" indent="0">
              <a:buNone/>
            </a:pPr>
            <a:r>
              <a:rPr lang="en-US" sz="750" dirty="0">
                <a:solidFill>
                  <a:srgbClr val="8A97A8"/>
                </a:solidFill>
                <a:latin typeface="Segoe UI" pitchFamily="34" charset="0"/>
                <a:ea typeface="Segoe UI" pitchFamily="34" charset="-122"/>
                <a:cs typeface="Segoe UI" pitchFamily="34" charset="-120"/>
              </a:rPr>
              <a:t>Azure API Management AI Gateway — Oct 2026</a:t>
            </a:r>
            <a:endParaRPr lang="en-US" sz="750" dirty="0"/>
          </a:p>
        </p:txBody>
      </p:sp>
      <p:sp>
        <p:nvSpPr>
          <p:cNvPr id="6" name="Text 4"/>
          <p:cNvSpPr/>
          <p:nvPr/>
        </p:nvSpPr>
        <p:spPr>
          <a:xfrm>
            <a:off x="11430000" y="6446520"/>
            <a:ext cx="320040" cy="164592"/>
          </a:xfrm>
          <a:prstGeom prst="rect">
            <a:avLst/>
          </a:prstGeom>
          <a:noFill/>
          <a:ln/>
        </p:spPr>
        <p:txBody>
          <a:bodyPr wrap="square" lIns="0" tIns="0" rIns="0" bIns="0" rtlCol="0" anchor="ctr"/>
          <a:lstStyle/>
          <a:p>
            <a:pPr marL="0" indent="0" algn="r">
              <a:buNone/>
            </a:pPr>
            <a:r>
              <a:rPr lang="en-US" sz="800" dirty="0">
                <a:solidFill>
                  <a:srgbClr val="8A97A8"/>
                </a:solidFill>
                <a:latin typeface="Segoe UI Semibold" pitchFamily="34" charset="0"/>
                <a:ea typeface="Segoe UI Semibold" pitchFamily="34" charset="-122"/>
                <a:cs typeface="Segoe UI Semibold" pitchFamily="34" charset="-120"/>
              </a:rPr>
              <a:t>19</a:t>
            </a:r>
            <a:endParaRPr lang="en-US" sz="800" dirty="0"/>
          </a:p>
        </p:txBody>
      </p:sp>
      <p:sp>
        <p:nvSpPr>
          <p:cNvPr id="7" name="Shape 5"/>
          <p:cNvSpPr/>
          <p:nvPr/>
        </p:nvSpPr>
        <p:spPr>
          <a:xfrm>
            <a:off x="685800" y="1097280"/>
            <a:ext cx="5212080" cy="2743200"/>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8" name="Shape 6"/>
          <p:cNvSpPr/>
          <p:nvPr/>
        </p:nvSpPr>
        <p:spPr>
          <a:xfrm>
            <a:off x="685800" y="1097280"/>
            <a:ext cx="73152" cy="2743200"/>
          </a:xfrm>
          <a:prstGeom prst="rect">
            <a:avLst/>
          </a:prstGeom>
          <a:solidFill>
            <a:srgbClr val="00B7C3"/>
          </a:solidFill>
          <a:ln w="12700">
            <a:solidFill>
              <a:srgbClr val="00B7C3"/>
            </a:solidFill>
            <a:prstDash val="solid"/>
          </a:ln>
        </p:spPr>
      </p:sp>
      <p:sp>
        <p:nvSpPr>
          <p:cNvPr id="9" name="Shape 7"/>
          <p:cNvSpPr/>
          <p:nvPr/>
        </p:nvSpPr>
        <p:spPr>
          <a:xfrm>
            <a:off x="850392" y="1252728"/>
            <a:ext cx="393192" cy="393192"/>
          </a:xfrm>
          <a:prstGeom prst="ellipse">
            <a:avLst/>
          </a:prstGeom>
          <a:solidFill>
            <a:srgbClr val="00B7C3"/>
          </a:solidFill>
          <a:ln w="12700">
            <a:solidFill>
              <a:srgbClr val="00B7C3"/>
            </a:solidFill>
            <a:prstDash val="solid"/>
          </a:ln>
        </p:spPr>
      </p:sp>
      <p:sp>
        <p:nvSpPr>
          <p:cNvPr id="10" name="Text 8"/>
          <p:cNvSpPr/>
          <p:nvPr/>
        </p:nvSpPr>
        <p:spPr>
          <a:xfrm>
            <a:off x="850392" y="1312164"/>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D1</a:t>
            </a:r>
            <a:endParaRPr lang="en-US" sz="800" dirty="0"/>
          </a:p>
        </p:txBody>
      </p:sp>
      <p:sp>
        <p:nvSpPr>
          <p:cNvPr id="11" name="Text 9"/>
          <p:cNvSpPr/>
          <p:nvPr/>
        </p:nvSpPr>
        <p:spPr>
          <a:xfrm>
            <a:off x="1344168" y="1225296"/>
            <a:ext cx="438912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D1 verified output</a:t>
            </a:r>
            <a:endParaRPr lang="en-US" sz="1250" dirty="0"/>
          </a:p>
        </p:txBody>
      </p:sp>
      <p:sp>
        <p:nvSpPr>
          <p:cNvPr id="12" name="Text 10"/>
          <p:cNvSpPr/>
          <p:nvPr/>
        </p:nvSpPr>
        <p:spPr>
          <a:xfrm>
            <a:off x="1344168" y="1554480"/>
            <a:ext cx="4389120" cy="2194560"/>
          </a:xfrm>
          <a:prstGeom prst="rect">
            <a:avLst/>
          </a:prstGeom>
          <a:noFill/>
          <a:ln/>
        </p:spPr>
        <p:txBody>
          <a:bodyPr wrap="square" lIns="635" tIns="635" rIns="635" bIns="635" rtlCol="0" anchor="ctr">
            <a:normAutofit/>
          </a:bodyPr>
          <a:lstStyle/>
          <a:p>
            <a:pPr marL="0" indent="0">
              <a:buNone/>
            </a:pPr>
            <a:r>
              <a:rPr lang="en-US" sz="1020" dirty="0">
                <a:solidFill>
                  <a:srgbClr val="3B4A5E"/>
                </a:solidFill>
                <a:latin typeface="Segoe UI" pitchFamily="34" charset="0"/>
                <a:ea typeface="Segoe UI" pitchFamily="34" charset="-122"/>
                <a:cs typeface="Segoe UI" pitchFamily="34" charset="-120"/>
              </a:rPr>
              <a:t>HTTP 200 via France Central. App uses only an APIM subscription key; APIM authenticates to Foundry with managed identity.</a:t>
            </a:r>
            <a:endParaRPr lang="en-US" sz="1020" dirty="0"/>
          </a:p>
        </p:txBody>
      </p:sp>
      <p:sp>
        <p:nvSpPr>
          <p:cNvPr id="13" name="Shape 11"/>
          <p:cNvSpPr/>
          <p:nvPr/>
        </p:nvSpPr>
        <p:spPr>
          <a:xfrm>
            <a:off x="6309360" y="1097280"/>
            <a:ext cx="5212080" cy="2743200"/>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14" name="Shape 12"/>
          <p:cNvSpPr/>
          <p:nvPr/>
        </p:nvSpPr>
        <p:spPr>
          <a:xfrm>
            <a:off x="6309360" y="1097280"/>
            <a:ext cx="73152" cy="2743200"/>
          </a:xfrm>
          <a:prstGeom prst="rect">
            <a:avLst/>
          </a:prstGeom>
          <a:solidFill>
            <a:srgbClr val="0078D4"/>
          </a:solidFill>
          <a:ln w="12700">
            <a:solidFill>
              <a:srgbClr val="0078D4"/>
            </a:solidFill>
            <a:prstDash val="solid"/>
          </a:ln>
        </p:spPr>
      </p:sp>
      <p:sp>
        <p:nvSpPr>
          <p:cNvPr id="15" name="Shape 13"/>
          <p:cNvSpPr/>
          <p:nvPr/>
        </p:nvSpPr>
        <p:spPr>
          <a:xfrm>
            <a:off x="6473952" y="1252728"/>
            <a:ext cx="393192" cy="393192"/>
          </a:xfrm>
          <a:prstGeom prst="ellipse">
            <a:avLst/>
          </a:prstGeom>
          <a:solidFill>
            <a:srgbClr val="0078D4"/>
          </a:solidFill>
          <a:ln w="12700">
            <a:solidFill>
              <a:srgbClr val="0078D4"/>
            </a:solidFill>
            <a:prstDash val="solid"/>
          </a:ln>
        </p:spPr>
      </p:sp>
      <p:sp>
        <p:nvSpPr>
          <p:cNvPr id="16" name="Text 14"/>
          <p:cNvSpPr/>
          <p:nvPr/>
        </p:nvSpPr>
        <p:spPr>
          <a:xfrm>
            <a:off x="6473952" y="1312164"/>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D2</a:t>
            </a:r>
            <a:endParaRPr lang="en-US" sz="800" dirty="0"/>
          </a:p>
        </p:txBody>
      </p:sp>
      <p:sp>
        <p:nvSpPr>
          <p:cNvPr id="17" name="Text 15"/>
          <p:cNvSpPr/>
          <p:nvPr/>
        </p:nvSpPr>
        <p:spPr>
          <a:xfrm>
            <a:off x="6967728" y="1225296"/>
            <a:ext cx="438912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D2 verified output</a:t>
            </a:r>
            <a:endParaRPr lang="en-US" sz="1250" dirty="0"/>
          </a:p>
        </p:txBody>
      </p:sp>
      <p:sp>
        <p:nvSpPr>
          <p:cNvPr id="18" name="Text 16"/>
          <p:cNvSpPr/>
          <p:nvPr/>
        </p:nvSpPr>
        <p:spPr>
          <a:xfrm>
            <a:off x="6967728" y="1554480"/>
            <a:ext cx="4389120" cy="2194560"/>
          </a:xfrm>
          <a:prstGeom prst="rect">
            <a:avLst/>
          </a:prstGeom>
          <a:noFill/>
          <a:ln/>
        </p:spPr>
        <p:txBody>
          <a:bodyPr wrap="square" lIns="635" tIns="635" rIns="635" bIns="635" rtlCol="0" anchor="ctr">
            <a:normAutofit/>
          </a:bodyPr>
          <a:lstStyle/>
          <a:p>
            <a:pPr marL="0" indent="0">
              <a:buNone/>
            </a:pPr>
            <a:r>
              <a:rPr lang="en-US" sz="1020" dirty="0">
                <a:solidFill>
                  <a:srgbClr val="3B4A5E"/>
                </a:solidFill>
                <a:latin typeface="Segoe UI" pitchFamily="34" charset="0"/>
                <a:ea typeface="Segoe UI" pitchFamily="34" charset="-122"/>
                <a:cs typeface="Segoe UI" pitchFamily="34" charset="-120"/>
              </a:rPr>
              <a:t>Six requests alternate Sweden Central / France Central. Circuit breaker remains ready for 429/5xx failover.</a:t>
            </a:r>
            <a:endParaRPr lang="en-US" sz="1020" dirty="0"/>
          </a:p>
        </p:txBody>
      </p:sp>
      <p:sp>
        <p:nvSpPr>
          <p:cNvPr id="19" name="Shape 17"/>
          <p:cNvSpPr/>
          <p:nvPr/>
        </p:nvSpPr>
        <p:spPr>
          <a:xfrm>
            <a:off x="1005840" y="4389120"/>
            <a:ext cx="10149840" cy="685800"/>
          </a:xfrm>
          <a:prstGeom prst="rect">
            <a:avLst/>
          </a:prstGeom>
          <a:solidFill>
            <a:srgbClr val="06152D"/>
          </a:solidFill>
          <a:ln w="12700">
            <a:solidFill>
              <a:srgbClr val="06152D"/>
            </a:solidFill>
            <a:prstDash val="solid"/>
          </a:ln>
        </p:spPr>
      </p:sp>
      <p:sp>
        <p:nvSpPr>
          <p:cNvPr id="20" name="Text 18"/>
          <p:cNvSpPr/>
          <p:nvPr/>
        </p:nvSpPr>
        <p:spPr>
          <a:xfrm>
            <a:off x="1234440" y="4599432"/>
            <a:ext cx="9692640" cy="219456"/>
          </a:xfrm>
          <a:prstGeom prst="rect">
            <a:avLst/>
          </a:prstGeom>
          <a:noFill/>
          <a:ln/>
        </p:spPr>
        <p:txBody>
          <a:bodyPr wrap="square" lIns="0" tIns="0" rIns="0" bIns="0" rtlCol="0" anchor="ctr">
            <a:normAutofit/>
          </a:bodyPr>
          <a:lstStyle/>
          <a:p>
            <a:pPr marL="0" indent="0">
              <a:buNone/>
            </a:pPr>
            <a:r>
              <a:rPr lang="en-US" sz="1000" dirty="0">
                <a:solidFill>
                  <a:srgbClr val="D7E7F6"/>
                </a:solidFill>
                <a:latin typeface="Consolas" pitchFamily="34" charset="0"/>
                <a:ea typeface="Consolas" pitchFamily="34" charset="-122"/>
                <a:cs typeface="Consolas" pitchFamily="34" charset="-120"/>
              </a:rPr>
              <a:t>D1: 200 OK · region=francecentral · prompt=44 · completion=51 · remaining=19905</a:t>
            </a:r>
            <a:endParaRPr lang="en-US" sz="1000" dirty="0"/>
          </a:p>
          <a:p>
            <a:pPr marL="0" indent="0">
              <a:buNone/>
            </a:pPr>
            <a:r>
              <a:rPr lang="en-US" sz="1000" dirty="0">
                <a:solidFill>
                  <a:srgbClr val="D7E7F6"/>
                </a:solidFill>
                <a:latin typeface="Consolas" pitchFamily="34" charset="0"/>
                <a:ea typeface="Consolas" pitchFamily="34" charset="-122"/>
                <a:cs typeface="Consolas" pitchFamily="34" charset="-120"/>
              </a:rPr>
              <a:t>D2: swedencentral → francecentral → swedencentral → francecentral → swedencentral → francecentral</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301752"/>
            <a:ext cx="3200400" cy="201168"/>
          </a:xfrm>
          <a:prstGeom prst="rect">
            <a:avLst/>
          </a:prstGeom>
          <a:noFill/>
          <a:ln/>
        </p:spPr>
        <p:txBody>
          <a:bodyPr wrap="square" lIns="0" tIns="0" rIns="0" bIns="0" rtlCol="0" anchor="ctr"/>
          <a:lstStyle/>
          <a:p>
            <a:pPr marL="0" indent="0">
              <a:buNone/>
            </a:pPr>
            <a:r>
              <a:rPr lang="en-US" sz="800" kern="0" spc="120" dirty="0">
                <a:solidFill>
                  <a:srgbClr val="00B7C3"/>
                </a:solidFill>
                <a:latin typeface="Segoe UI Semibold" pitchFamily="34" charset="0"/>
                <a:ea typeface="Segoe UI Semibold" pitchFamily="34" charset="-122"/>
                <a:cs typeface="Segoe UI Semibold" pitchFamily="34" charset="-120"/>
              </a:rPr>
              <a:t>IF LIVE DEMO FAILS</a:t>
            </a:r>
            <a:endParaRPr lang="en-US" sz="800" dirty="0"/>
          </a:p>
        </p:txBody>
      </p:sp>
      <p:sp>
        <p:nvSpPr>
          <p:cNvPr id="3" name="Text 1"/>
          <p:cNvSpPr/>
          <p:nvPr/>
        </p:nvSpPr>
        <p:spPr>
          <a:xfrm>
            <a:off x="457200" y="521208"/>
            <a:ext cx="7955280" cy="438912"/>
          </a:xfrm>
          <a:prstGeom prst="rect">
            <a:avLst/>
          </a:prstGeom>
          <a:noFill/>
          <a:ln/>
        </p:spPr>
        <p:txBody>
          <a:bodyPr wrap="square" lIns="0" tIns="0" rIns="0" bIns="0" rtlCol="0" anchor="ctr"/>
          <a:lstStyle/>
          <a:p>
            <a:pPr marL="0" indent="0">
              <a:buNone/>
            </a:pPr>
            <a:r>
              <a:rPr lang="en-US" sz="2500" dirty="0">
                <a:solidFill>
                  <a:srgbClr val="0B1E3F"/>
                </a:solidFill>
                <a:latin typeface="Segoe UI Semibold" pitchFamily="34" charset="0"/>
                <a:ea typeface="Segoe UI Semibold" pitchFamily="34" charset="-122"/>
                <a:cs typeface="Segoe UI Semibold" pitchFamily="34" charset="-120"/>
              </a:rPr>
              <a:t>Backup demo narrative: D3 token budgets per team</a:t>
            </a:r>
            <a:endParaRPr lang="en-US" sz="2500" dirty="0"/>
          </a:p>
        </p:txBody>
      </p:sp>
      <p:sp>
        <p:nvSpPr>
          <p:cNvPr id="4" name="Shape 2"/>
          <p:cNvSpPr/>
          <p:nvPr/>
        </p:nvSpPr>
        <p:spPr>
          <a:xfrm>
            <a:off x="10698480" y="118872"/>
            <a:ext cx="1051560" cy="1051560"/>
          </a:xfrm>
          <a:prstGeom prst="arc">
            <a:avLst/>
          </a:prstGeom>
          <a:solidFill>
            <a:srgbClr val="F5F7FA">
              <a:alpha val="0"/>
            </a:srgbClr>
          </a:solidFill>
          <a:ln w="38100">
            <a:solidFill>
              <a:srgbClr val="00B7C3">
                <a:alpha val="90000"/>
              </a:srgbClr>
            </a:solidFill>
            <a:prstDash val="solid"/>
          </a:ln>
        </p:spPr>
      </p:sp>
      <p:sp>
        <p:nvSpPr>
          <p:cNvPr id="5" name="Text 3"/>
          <p:cNvSpPr/>
          <p:nvPr/>
        </p:nvSpPr>
        <p:spPr>
          <a:xfrm>
            <a:off x="457200" y="6473952"/>
            <a:ext cx="7955280" cy="164592"/>
          </a:xfrm>
          <a:prstGeom prst="rect">
            <a:avLst/>
          </a:prstGeom>
          <a:noFill/>
          <a:ln/>
        </p:spPr>
        <p:txBody>
          <a:bodyPr wrap="square" lIns="0" tIns="0" rIns="0" bIns="0" rtlCol="0" anchor="ctr"/>
          <a:lstStyle/>
          <a:p>
            <a:pPr marL="0" indent="0">
              <a:buNone/>
            </a:pPr>
            <a:r>
              <a:rPr lang="en-US" sz="750" dirty="0">
                <a:solidFill>
                  <a:srgbClr val="8A97A8"/>
                </a:solidFill>
                <a:latin typeface="Segoe UI" pitchFamily="34" charset="0"/>
                <a:ea typeface="Segoe UI" pitchFamily="34" charset="-122"/>
                <a:cs typeface="Segoe UI" pitchFamily="34" charset="-120"/>
              </a:rPr>
              <a:t>Azure API Management AI Gateway — Oct 2026</a:t>
            </a:r>
            <a:endParaRPr lang="en-US" sz="750" dirty="0"/>
          </a:p>
        </p:txBody>
      </p:sp>
      <p:sp>
        <p:nvSpPr>
          <p:cNvPr id="6" name="Text 4"/>
          <p:cNvSpPr/>
          <p:nvPr/>
        </p:nvSpPr>
        <p:spPr>
          <a:xfrm>
            <a:off x="11430000" y="6446520"/>
            <a:ext cx="320040" cy="164592"/>
          </a:xfrm>
          <a:prstGeom prst="rect">
            <a:avLst/>
          </a:prstGeom>
          <a:noFill/>
          <a:ln/>
        </p:spPr>
        <p:txBody>
          <a:bodyPr wrap="square" lIns="0" tIns="0" rIns="0" bIns="0" rtlCol="0" anchor="ctr"/>
          <a:lstStyle/>
          <a:p>
            <a:pPr marL="0" indent="0" algn="r">
              <a:buNone/>
            </a:pPr>
            <a:r>
              <a:rPr lang="en-US" sz="800" dirty="0">
                <a:solidFill>
                  <a:srgbClr val="8A97A8"/>
                </a:solidFill>
                <a:latin typeface="Segoe UI Semibold" pitchFamily="34" charset="0"/>
                <a:ea typeface="Segoe UI Semibold" pitchFamily="34" charset="-122"/>
                <a:cs typeface="Segoe UI Semibold" pitchFamily="34" charset="-120"/>
              </a:rPr>
              <a:t>20</a:t>
            </a:r>
            <a:endParaRPr lang="en-US" sz="800" dirty="0"/>
          </a:p>
        </p:txBody>
      </p:sp>
      <p:sp>
        <p:nvSpPr>
          <p:cNvPr id="7" name="Shape 5"/>
          <p:cNvSpPr/>
          <p:nvPr/>
        </p:nvSpPr>
        <p:spPr>
          <a:xfrm>
            <a:off x="731520" y="1097280"/>
            <a:ext cx="3063240" cy="1170432"/>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8" name="Shape 6"/>
          <p:cNvSpPr/>
          <p:nvPr/>
        </p:nvSpPr>
        <p:spPr>
          <a:xfrm>
            <a:off x="731520" y="1097280"/>
            <a:ext cx="73152" cy="1170432"/>
          </a:xfrm>
          <a:prstGeom prst="rect">
            <a:avLst/>
          </a:prstGeom>
          <a:solidFill>
            <a:srgbClr val="00B7C3"/>
          </a:solidFill>
          <a:ln w="12700">
            <a:solidFill>
              <a:srgbClr val="00B7C3"/>
            </a:solidFill>
            <a:prstDash val="solid"/>
          </a:ln>
        </p:spPr>
      </p:sp>
      <p:sp>
        <p:nvSpPr>
          <p:cNvPr id="9" name="Shape 7"/>
          <p:cNvSpPr/>
          <p:nvPr/>
        </p:nvSpPr>
        <p:spPr>
          <a:xfrm>
            <a:off x="896112" y="1252728"/>
            <a:ext cx="393192" cy="393192"/>
          </a:xfrm>
          <a:prstGeom prst="ellipse">
            <a:avLst/>
          </a:prstGeom>
          <a:solidFill>
            <a:srgbClr val="00B7C3"/>
          </a:solidFill>
          <a:ln w="12700">
            <a:solidFill>
              <a:srgbClr val="00B7C3"/>
            </a:solidFill>
            <a:prstDash val="solid"/>
          </a:ln>
        </p:spPr>
      </p:sp>
      <p:sp>
        <p:nvSpPr>
          <p:cNvPr id="10" name="Text 8"/>
          <p:cNvSpPr/>
          <p:nvPr/>
        </p:nvSpPr>
        <p:spPr>
          <a:xfrm>
            <a:off x="896112" y="1312164"/>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G</a:t>
            </a:r>
            <a:endParaRPr lang="en-US" sz="800" dirty="0"/>
          </a:p>
        </p:txBody>
      </p:sp>
      <p:sp>
        <p:nvSpPr>
          <p:cNvPr id="11" name="Text 9"/>
          <p:cNvSpPr/>
          <p:nvPr/>
        </p:nvSpPr>
        <p:spPr>
          <a:xfrm>
            <a:off x="1389888" y="1225296"/>
            <a:ext cx="224028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Gold product</a:t>
            </a:r>
            <a:endParaRPr lang="en-US" sz="1250" dirty="0"/>
          </a:p>
        </p:txBody>
      </p:sp>
      <p:sp>
        <p:nvSpPr>
          <p:cNvPr id="12" name="Text 10"/>
          <p:cNvSpPr/>
          <p:nvPr/>
        </p:nvSpPr>
        <p:spPr>
          <a:xfrm>
            <a:off x="1389888" y="1554480"/>
            <a:ext cx="2240280" cy="621792"/>
          </a:xfrm>
          <a:prstGeom prst="rect">
            <a:avLst/>
          </a:prstGeom>
          <a:noFill/>
          <a:ln/>
        </p:spPr>
        <p:txBody>
          <a:bodyPr wrap="square" lIns="635" tIns="635" rIns="635" bIns="635" rtlCol="0" anchor="ctr">
            <a:normAutofit/>
          </a:bodyPr>
          <a:lstStyle/>
          <a:p>
            <a:pPr marL="0" indent="0">
              <a:buNone/>
            </a:pPr>
            <a:r>
              <a:rPr lang="en-US" sz="1040" dirty="0">
                <a:solidFill>
                  <a:srgbClr val="3B4A5E"/>
                </a:solidFill>
                <a:latin typeface="Segoe UI" pitchFamily="34" charset="0"/>
                <a:ea typeface="Segoe UI" pitchFamily="34" charset="-122"/>
                <a:cs typeface="Segoe UI" pitchFamily="34" charset="-120"/>
              </a:rPr>
              <a:t>20,000 tokens/min · 5M tokens/month · customer support copilot keeps running.</a:t>
            </a:r>
            <a:endParaRPr lang="en-US" sz="1040" dirty="0"/>
          </a:p>
        </p:txBody>
      </p:sp>
      <p:sp>
        <p:nvSpPr>
          <p:cNvPr id="13" name="Shape 11"/>
          <p:cNvSpPr/>
          <p:nvPr/>
        </p:nvSpPr>
        <p:spPr>
          <a:xfrm>
            <a:off x="4343400" y="1097280"/>
            <a:ext cx="3063240" cy="1170432"/>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14" name="Shape 12"/>
          <p:cNvSpPr/>
          <p:nvPr/>
        </p:nvSpPr>
        <p:spPr>
          <a:xfrm>
            <a:off x="4343400" y="1097280"/>
            <a:ext cx="73152" cy="1170432"/>
          </a:xfrm>
          <a:prstGeom prst="rect">
            <a:avLst/>
          </a:prstGeom>
          <a:solidFill>
            <a:srgbClr val="FFB900"/>
          </a:solidFill>
          <a:ln w="12700">
            <a:solidFill>
              <a:srgbClr val="FFB900"/>
            </a:solidFill>
            <a:prstDash val="solid"/>
          </a:ln>
        </p:spPr>
      </p:sp>
      <p:sp>
        <p:nvSpPr>
          <p:cNvPr id="15" name="Shape 13"/>
          <p:cNvSpPr/>
          <p:nvPr/>
        </p:nvSpPr>
        <p:spPr>
          <a:xfrm>
            <a:off x="4507992" y="1252728"/>
            <a:ext cx="393192" cy="393192"/>
          </a:xfrm>
          <a:prstGeom prst="ellipse">
            <a:avLst/>
          </a:prstGeom>
          <a:solidFill>
            <a:srgbClr val="FFB900"/>
          </a:solidFill>
          <a:ln w="12700">
            <a:solidFill>
              <a:srgbClr val="FFB900"/>
            </a:solidFill>
            <a:prstDash val="solid"/>
          </a:ln>
        </p:spPr>
      </p:sp>
      <p:sp>
        <p:nvSpPr>
          <p:cNvPr id="16" name="Text 14"/>
          <p:cNvSpPr/>
          <p:nvPr/>
        </p:nvSpPr>
        <p:spPr>
          <a:xfrm>
            <a:off x="4507992" y="1312164"/>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B</a:t>
            </a:r>
            <a:endParaRPr lang="en-US" sz="800" dirty="0"/>
          </a:p>
        </p:txBody>
      </p:sp>
      <p:sp>
        <p:nvSpPr>
          <p:cNvPr id="17" name="Text 15"/>
          <p:cNvSpPr/>
          <p:nvPr/>
        </p:nvSpPr>
        <p:spPr>
          <a:xfrm>
            <a:off x="5001768" y="1225296"/>
            <a:ext cx="224028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Bronze product</a:t>
            </a:r>
            <a:endParaRPr lang="en-US" sz="1250" dirty="0"/>
          </a:p>
        </p:txBody>
      </p:sp>
      <p:sp>
        <p:nvSpPr>
          <p:cNvPr id="18" name="Text 16"/>
          <p:cNvSpPr/>
          <p:nvPr/>
        </p:nvSpPr>
        <p:spPr>
          <a:xfrm>
            <a:off x="5001768" y="1554480"/>
            <a:ext cx="2240280" cy="621792"/>
          </a:xfrm>
          <a:prstGeom prst="rect">
            <a:avLst/>
          </a:prstGeom>
          <a:noFill/>
          <a:ln/>
        </p:spPr>
        <p:txBody>
          <a:bodyPr wrap="square" lIns="635" tIns="635" rIns="635" bIns="635" rtlCol="0" anchor="ctr">
            <a:normAutofit/>
          </a:bodyPr>
          <a:lstStyle/>
          <a:p>
            <a:pPr marL="0" indent="0">
              <a:buNone/>
            </a:pPr>
            <a:r>
              <a:rPr lang="en-US" sz="1040" dirty="0">
                <a:solidFill>
                  <a:srgbClr val="3B4A5E"/>
                </a:solidFill>
                <a:latin typeface="Segoe UI" pitchFamily="34" charset="0"/>
                <a:ea typeface="Segoe UI" pitchFamily="34" charset="-122"/>
                <a:cs typeface="Segoe UI" pitchFamily="34" charset="-120"/>
              </a:rPr>
              <a:t>300 tokens/min · 100K tokens/month · marketing sandbox is intentionally constrained.</a:t>
            </a:r>
            <a:endParaRPr lang="en-US" sz="1040" dirty="0"/>
          </a:p>
        </p:txBody>
      </p:sp>
      <p:sp>
        <p:nvSpPr>
          <p:cNvPr id="19" name="Shape 17"/>
          <p:cNvSpPr/>
          <p:nvPr/>
        </p:nvSpPr>
        <p:spPr>
          <a:xfrm>
            <a:off x="7955280" y="1097280"/>
            <a:ext cx="3063240" cy="1170432"/>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20" name="Shape 18"/>
          <p:cNvSpPr/>
          <p:nvPr/>
        </p:nvSpPr>
        <p:spPr>
          <a:xfrm>
            <a:off x="7955280" y="1097280"/>
            <a:ext cx="73152" cy="1170432"/>
          </a:xfrm>
          <a:prstGeom prst="rect">
            <a:avLst/>
          </a:prstGeom>
          <a:solidFill>
            <a:srgbClr val="D83B01"/>
          </a:solidFill>
          <a:ln w="12700">
            <a:solidFill>
              <a:srgbClr val="D83B01"/>
            </a:solidFill>
            <a:prstDash val="solid"/>
          </a:ln>
        </p:spPr>
      </p:sp>
      <p:sp>
        <p:nvSpPr>
          <p:cNvPr id="21" name="Shape 19"/>
          <p:cNvSpPr/>
          <p:nvPr/>
        </p:nvSpPr>
        <p:spPr>
          <a:xfrm>
            <a:off x="8119872" y="1252728"/>
            <a:ext cx="393192" cy="393192"/>
          </a:xfrm>
          <a:prstGeom prst="ellipse">
            <a:avLst/>
          </a:prstGeom>
          <a:solidFill>
            <a:srgbClr val="D83B01"/>
          </a:solidFill>
          <a:ln w="12700">
            <a:solidFill>
              <a:srgbClr val="D83B01"/>
            </a:solidFill>
            <a:prstDash val="solid"/>
          </a:ln>
        </p:spPr>
      </p:sp>
      <p:sp>
        <p:nvSpPr>
          <p:cNvPr id="22" name="Text 20"/>
          <p:cNvSpPr/>
          <p:nvPr/>
        </p:nvSpPr>
        <p:spPr>
          <a:xfrm>
            <a:off x="8119872" y="1312164"/>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429</a:t>
            </a:r>
            <a:endParaRPr lang="en-US" sz="800" dirty="0"/>
          </a:p>
        </p:txBody>
      </p:sp>
      <p:sp>
        <p:nvSpPr>
          <p:cNvPr id="23" name="Text 21"/>
          <p:cNvSpPr/>
          <p:nvPr/>
        </p:nvSpPr>
        <p:spPr>
          <a:xfrm>
            <a:off x="8613648" y="1225296"/>
            <a:ext cx="224028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Gateway result</a:t>
            </a:r>
            <a:endParaRPr lang="en-US" sz="1250" dirty="0"/>
          </a:p>
        </p:txBody>
      </p:sp>
      <p:sp>
        <p:nvSpPr>
          <p:cNvPr id="24" name="Text 22"/>
          <p:cNvSpPr/>
          <p:nvPr/>
        </p:nvSpPr>
        <p:spPr>
          <a:xfrm>
            <a:off x="8613648" y="1554480"/>
            <a:ext cx="2240280" cy="621792"/>
          </a:xfrm>
          <a:prstGeom prst="rect">
            <a:avLst/>
          </a:prstGeom>
          <a:noFill/>
          <a:ln/>
        </p:spPr>
        <p:txBody>
          <a:bodyPr wrap="square" lIns="635" tIns="635" rIns="635" bIns="635" rtlCol="0" anchor="ctr">
            <a:normAutofit/>
          </a:bodyPr>
          <a:lstStyle/>
          <a:p>
            <a:pPr marL="0" indent="0">
              <a:buNone/>
            </a:pPr>
            <a:r>
              <a:rPr lang="en-US" sz="1040" dirty="0">
                <a:solidFill>
                  <a:srgbClr val="3B4A5E"/>
                </a:solidFill>
                <a:latin typeface="Segoe UI" pitchFamily="34" charset="0"/>
                <a:ea typeface="Segoe UI" pitchFamily="34" charset="-122"/>
                <a:cs typeface="Segoe UI" pitchFamily="34" charset="-120"/>
              </a:rPr>
              <a:t>Bronze returns 200 five times, then 429 with Retry-After; Gold still returns 200.</a:t>
            </a:r>
            <a:endParaRPr lang="en-US" sz="1040" dirty="0"/>
          </a:p>
        </p:txBody>
      </p:sp>
      <p:sp>
        <p:nvSpPr>
          <p:cNvPr id="25" name="Shape 23"/>
          <p:cNvSpPr/>
          <p:nvPr/>
        </p:nvSpPr>
        <p:spPr>
          <a:xfrm>
            <a:off x="914400" y="2880360"/>
            <a:ext cx="10332720" cy="1417320"/>
          </a:xfrm>
          <a:prstGeom prst="rect">
            <a:avLst/>
          </a:prstGeom>
          <a:solidFill>
            <a:srgbClr val="06152D"/>
          </a:solidFill>
          <a:ln w="12700">
            <a:solidFill>
              <a:srgbClr val="06152D"/>
            </a:solidFill>
            <a:prstDash val="solid"/>
          </a:ln>
        </p:spPr>
      </p:sp>
      <p:sp>
        <p:nvSpPr>
          <p:cNvPr id="26" name="Text 24"/>
          <p:cNvSpPr/>
          <p:nvPr/>
        </p:nvSpPr>
        <p:spPr>
          <a:xfrm>
            <a:off x="1234440" y="3182112"/>
            <a:ext cx="9692640" cy="530352"/>
          </a:xfrm>
          <a:prstGeom prst="rect">
            <a:avLst/>
          </a:prstGeom>
          <a:noFill/>
          <a:ln/>
        </p:spPr>
        <p:txBody>
          <a:bodyPr wrap="square" lIns="0" tIns="0" rIns="0" bIns="0" rtlCol="0" anchor="ctr">
            <a:normAutofit/>
          </a:bodyPr>
          <a:lstStyle/>
          <a:p>
            <a:pPr marL="0" indent="0">
              <a:buNone/>
            </a:pPr>
            <a:r>
              <a:rPr lang="en-US" sz="1210" dirty="0">
                <a:solidFill>
                  <a:srgbClr val="D7E7F6"/>
                </a:solidFill>
                <a:latin typeface="Consolas" pitchFamily="34" charset="0"/>
                <a:ea typeface="Consolas" pitchFamily="34" charset="-122"/>
                <a:cs typeface="Consolas" pitchFamily="34" charset="-120"/>
              </a:rPr>
              <a:t>Bronze calls: 200 x5 · remaining tokens: 228, 162, 104, 52, 0</a:t>
            </a:r>
            <a:endParaRPr lang="en-US" sz="1210" dirty="0"/>
          </a:p>
          <a:p>
            <a:pPr marL="0" indent="0">
              <a:buNone/>
            </a:pPr>
            <a:r>
              <a:rPr lang="en-US" sz="1210" dirty="0">
                <a:solidFill>
                  <a:srgbClr val="D7E7F6"/>
                </a:solidFill>
                <a:latin typeface="Consolas" pitchFamily="34" charset="0"/>
                <a:ea typeface="Consolas" pitchFamily="34" charset="-122"/>
                <a:cs typeface="Consolas" pitchFamily="34" charset="-120"/>
              </a:rPr>
              <a:t>Then: HTTP/1.1 429 Too Many Requests · Retry-After returned</a:t>
            </a:r>
            <a:endParaRPr lang="en-US" sz="1210" dirty="0"/>
          </a:p>
          <a:p>
            <a:pPr marL="0" indent="0">
              <a:buNone/>
            </a:pPr>
            <a:r>
              <a:rPr lang="en-US" sz="1210" dirty="0">
                <a:solidFill>
                  <a:srgbClr val="D7E7F6"/>
                </a:solidFill>
                <a:latin typeface="Consolas" pitchFamily="34" charset="0"/>
                <a:ea typeface="Consolas" pitchFamily="34" charset="-122"/>
                <a:cs typeface="Consolas" pitchFamily="34" charset="-120"/>
              </a:rPr>
              <a:t>Gold call after Bronze throttle: HTTP 200</a:t>
            </a:r>
            <a:endParaRPr lang="en-US" sz="1210" dirty="0"/>
          </a:p>
        </p:txBody>
      </p:sp>
      <p:sp>
        <p:nvSpPr>
          <p:cNvPr id="27" name="Text 25"/>
          <p:cNvSpPr/>
          <p:nvPr/>
        </p:nvSpPr>
        <p:spPr>
          <a:xfrm>
            <a:off x="1097280" y="4892040"/>
            <a:ext cx="9784080" cy="274320"/>
          </a:xfrm>
          <a:prstGeom prst="rect">
            <a:avLst/>
          </a:prstGeom>
          <a:noFill/>
          <a:ln/>
        </p:spPr>
        <p:txBody>
          <a:bodyPr wrap="square" lIns="0" tIns="0" rIns="0" bIns="0" rtlCol="0" anchor="ctr"/>
          <a:lstStyle/>
          <a:p>
            <a:pPr marL="0" indent="0" algn="ctr">
              <a:buNone/>
            </a:pPr>
            <a:r>
              <a:rPr lang="en-US" sz="1400" dirty="0">
                <a:solidFill>
                  <a:srgbClr val="0B1E3F"/>
                </a:solidFill>
                <a:latin typeface="Segoe UI Semibold" pitchFamily="34" charset="0"/>
                <a:ea typeface="Segoe UI Semibold" pitchFamily="34" charset="-122"/>
                <a:cs typeface="Segoe UI Semibold" pitchFamily="34" charset="-120"/>
              </a:rPr>
              <a:t>The business policy is readable: teams get different budgets without changing model deployments.</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301752"/>
            <a:ext cx="3200400" cy="201168"/>
          </a:xfrm>
          <a:prstGeom prst="rect">
            <a:avLst/>
          </a:prstGeom>
          <a:noFill/>
          <a:ln/>
        </p:spPr>
        <p:txBody>
          <a:bodyPr wrap="square" lIns="0" tIns="0" rIns="0" bIns="0" rtlCol="0" anchor="ctr"/>
          <a:lstStyle/>
          <a:p>
            <a:pPr marL="0" indent="0">
              <a:buNone/>
            </a:pPr>
            <a:r>
              <a:rPr lang="en-US" sz="800" kern="0" spc="120" dirty="0">
                <a:solidFill>
                  <a:srgbClr val="00B7C3"/>
                </a:solidFill>
                <a:latin typeface="Segoe UI Semibold" pitchFamily="34" charset="0"/>
                <a:ea typeface="Segoe UI Semibold" pitchFamily="34" charset="-122"/>
                <a:cs typeface="Segoe UI Semibold" pitchFamily="34" charset="-120"/>
              </a:rPr>
              <a:t>IF LIVE DEMO FAILS</a:t>
            </a:r>
            <a:endParaRPr lang="en-US" sz="800" dirty="0"/>
          </a:p>
        </p:txBody>
      </p:sp>
      <p:sp>
        <p:nvSpPr>
          <p:cNvPr id="3" name="Text 1"/>
          <p:cNvSpPr/>
          <p:nvPr/>
        </p:nvSpPr>
        <p:spPr>
          <a:xfrm>
            <a:off x="457200" y="521208"/>
            <a:ext cx="7955280" cy="438912"/>
          </a:xfrm>
          <a:prstGeom prst="rect">
            <a:avLst/>
          </a:prstGeom>
          <a:noFill/>
          <a:ln/>
        </p:spPr>
        <p:txBody>
          <a:bodyPr wrap="square" lIns="0" tIns="0" rIns="0" bIns="0" rtlCol="0" anchor="ctr"/>
          <a:lstStyle/>
          <a:p>
            <a:pPr marL="0" indent="0">
              <a:buNone/>
            </a:pPr>
            <a:r>
              <a:rPr lang="en-US" sz="2500" dirty="0">
                <a:solidFill>
                  <a:srgbClr val="0B1E3F"/>
                </a:solidFill>
                <a:latin typeface="Segoe UI Semibold" pitchFamily="34" charset="0"/>
                <a:ea typeface="Segoe UI Semibold" pitchFamily="34" charset="-122"/>
                <a:cs typeface="Segoe UI Semibold" pitchFamily="34" charset="-120"/>
              </a:rPr>
              <a:t>Backup: D4 content safety blocks prompt attack</a:t>
            </a:r>
            <a:endParaRPr lang="en-US" sz="2500" dirty="0"/>
          </a:p>
        </p:txBody>
      </p:sp>
      <p:sp>
        <p:nvSpPr>
          <p:cNvPr id="4" name="Shape 2"/>
          <p:cNvSpPr/>
          <p:nvPr/>
        </p:nvSpPr>
        <p:spPr>
          <a:xfrm>
            <a:off x="10698480" y="118872"/>
            <a:ext cx="1051560" cy="1051560"/>
          </a:xfrm>
          <a:prstGeom prst="arc">
            <a:avLst/>
          </a:prstGeom>
          <a:solidFill>
            <a:srgbClr val="F5F7FA">
              <a:alpha val="0"/>
            </a:srgbClr>
          </a:solidFill>
          <a:ln w="38100">
            <a:solidFill>
              <a:srgbClr val="00B7C3">
                <a:alpha val="90000"/>
              </a:srgbClr>
            </a:solidFill>
            <a:prstDash val="solid"/>
          </a:ln>
        </p:spPr>
      </p:sp>
      <p:sp>
        <p:nvSpPr>
          <p:cNvPr id="5" name="Text 3"/>
          <p:cNvSpPr/>
          <p:nvPr/>
        </p:nvSpPr>
        <p:spPr>
          <a:xfrm>
            <a:off x="457200" y="6473952"/>
            <a:ext cx="7955280" cy="164592"/>
          </a:xfrm>
          <a:prstGeom prst="rect">
            <a:avLst/>
          </a:prstGeom>
          <a:noFill/>
          <a:ln/>
        </p:spPr>
        <p:txBody>
          <a:bodyPr wrap="square" lIns="0" tIns="0" rIns="0" bIns="0" rtlCol="0" anchor="ctr"/>
          <a:lstStyle/>
          <a:p>
            <a:pPr marL="0" indent="0">
              <a:buNone/>
            </a:pPr>
            <a:r>
              <a:rPr lang="en-US" sz="750" dirty="0">
                <a:solidFill>
                  <a:srgbClr val="8A97A8"/>
                </a:solidFill>
                <a:latin typeface="Segoe UI" pitchFamily="34" charset="0"/>
                <a:ea typeface="Segoe UI" pitchFamily="34" charset="-122"/>
                <a:cs typeface="Segoe UI" pitchFamily="34" charset="-120"/>
              </a:rPr>
              <a:t>Azure API Management AI Gateway — Oct 2026</a:t>
            </a:r>
            <a:endParaRPr lang="en-US" sz="750" dirty="0"/>
          </a:p>
        </p:txBody>
      </p:sp>
      <p:sp>
        <p:nvSpPr>
          <p:cNvPr id="6" name="Text 4"/>
          <p:cNvSpPr/>
          <p:nvPr/>
        </p:nvSpPr>
        <p:spPr>
          <a:xfrm>
            <a:off x="11430000" y="6446520"/>
            <a:ext cx="320040" cy="164592"/>
          </a:xfrm>
          <a:prstGeom prst="rect">
            <a:avLst/>
          </a:prstGeom>
          <a:noFill/>
          <a:ln/>
        </p:spPr>
        <p:txBody>
          <a:bodyPr wrap="square" lIns="0" tIns="0" rIns="0" bIns="0" rtlCol="0" anchor="ctr"/>
          <a:lstStyle/>
          <a:p>
            <a:pPr marL="0" indent="0" algn="r">
              <a:buNone/>
            </a:pPr>
            <a:r>
              <a:rPr lang="en-US" sz="800" dirty="0">
                <a:solidFill>
                  <a:srgbClr val="8A97A8"/>
                </a:solidFill>
                <a:latin typeface="Segoe UI Semibold" pitchFamily="34" charset="0"/>
                <a:ea typeface="Segoe UI Semibold" pitchFamily="34" charset="-122"/>
                <a:cs typeface="Segoe UI Semibold" pitchFamily="34" charset="-120"/>
              </a:rPr>
              <a:t>21</a:t>
            </a:r>
            <a:endParaRPr lang="en-US" sz="800" dirty="0"/>
          </a:p>
        </p:txBody>
      </p:sp>
      <p:sp>
        <p:nvSpPr>
          <p:cNvPr id="7" name="Shape 5"/>
          <p:cNvSpPr/>
          <p:nvPr/>
        </p:nvSpPr>
        <p:spPr>
          <a:xfrm>
            <a:off x="777240" y="1143000"/>
            <a:ext cx="4937760" cy="1417320"/>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8" name="Shape 6"/>
          <p:cNvSpPr/>
          <p:nvPr/>
        </p:nvSpPr>
        <p:spPr>
          <a:xfrm>
            <a:off x="777240" y="1143000"/>
            <a:ext cx="73152" cy="1417320"/>
          </a:xfrm>
          <a:prstGeom prst="rect">
            <a:avLst/>
          </a:prstGeom>
          <a:solidFill>
            <a:srgbClr val="00B7C3"/>
          </a:solidFill>
          <a:ln w="12700">
            <a:solidFill>
              <a:srgbClr val="00B7C3"/>
            </a:solidFill>
            <a:prstDash val="solid"/>
          </a:ln>
        </p:spPr>
      </p:sp>
      <p:sp>
        <p:nvSpPr>
          <p:cNvPr id="9" name="Shape 7"/>
          <p:cNvSpPr/>
          <p:nvPr/>
        </p:nvSpPr>
        <p:spPr>
          <a:xfrm>
            <a:off x="941832" y="1298448"/>
            <a:ext cx="393192" cy="393192"/>
          </a:xfrm>
          <a:prstGeom prst="ellipse">
            <a:avLst/>
          </a:prstGeom>
          <a:solidFill>
            <a:srgbClr val="00B7C3"/>
          </a:solidFill>
          <a:ln w="12700">
            <a:solidFill>
              <a:srgbClr val="00B7C3"/>
            </a:solidFill>
            <a:prstDash val="solid"/>
          </a:ln>
        </p:spPr>
      </p:sp>
      <p:sp>
        <p:nvSpPr>
          <p:cNvPr id="10" name="Text 8"/>
          <p:cNvSpPr/>
          <p:nvPr/>
        </p:nvSpPr>
        <p:spPr>
          <a:xfrm>
            <a:off x="941832" y="1357884"/>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OK</a:t>
            </a:r>
            <a:endParaRPr lang="en-US" sz="800" dirty="0"/>
          </a:p>
        </p:txBody>
      </p:sp>
      <p:sp>
        <p:nvSpPr>
          <p:cNvPr id="11" name="Text 9"/>
          <p:cNvSpPr/>
          <p:nvPr/>
        </p:nvSpPr>
        <p:spPr>
          <a:xfrm>
            <a:off x="1435608" y="1271016"/>
            <a:ext cx="411480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Benign prompt</a:t>
            </a:r>
            <a:endParaRPr lang="en-US" sz="1250" dirty="0"/>
          </a:p>
        </p:txBody>
      </p:sp>
      <p:sp>
        <p:nvSpPr>
          <p:cNvPr id="12" name="Text 10"/>
          <p:cNvSpPr/>
          <p:nvPr/>
        </p:nvSpPr>
        <p:spPr>
          <a:xfrm>
            <a:off x="1435608" y="1600200"/>
            <a:ext cx="4114800" cy="868680"/>
          </a:xfrm>
          <a:prstGeom prst="rect">
            <a:avLst/>
          </a:prstGeom>
          <a:noFill/>
          <a:ln/>
        </p:spPr>
        <p:txBody>
          <a:bodyPr wrap="square" lIns="635" tIns="635" rIns="635" bIns="635" rtlCol="0" anchor="ctr">
            <a:normAutofit/>
          </a:bodyPr>
          <a:lstStyle/>
          <a:p>
            <a:pPr marL="0" indent="0">
              <a:buNone/>
            </a:pPr>
            <a:r>
              <a:rPr lang="en-US" sz="1050" dirty="0">
                <a:solidFill>
                  <a:srgbClr val="3B4A5E"/>
                </a:solidFill>
                <a:latin typeface="Segoe UI" pitchFamily="34" charset="0"/>
                <a:ea typeface="Segoe UI" pitchFamily="34" charset="-122"/>
                <a:cs typeface="Segoe UI" pitchFamily="34" charset="-120"/>
              </a:rPr>
              <a:t>Verified HTTP 200; forwarded through APIM to gpt-5.4-nano.</a:t>
            </a:r>
            <a:endParaRPr lang="en-US" sz="1050" dirty="0"/>
          </a:p>
        </p:txBody>
      </p:sp>
      <p:sp>
        <p:nvSpPr>
          <p:cNvPr id="13" name="Shape 11"/>
          <p:cNvSpPr/>
          <p:nvPr/>
        </p:nvSpPr>
        <p:spPr>
          <a:xfrm>
            <a:off x="6446520" y="1143000"/>
            <a:ext cx="4937760" cy="1417320"/>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14" name="Shape 12"/>
          <p:cNvSpPr/>
          <p:nvPr/>
        </p:nvSpPr>
        <p:spPr>
          <a:xfrm>
            <a:off x="6446520" y="1143000"/>
            <a:ext cx="73152" cy="1417320"/>
          </a:xfrm>
          <a:prstGeom prst="rect">
            <a:avLst/>
          </a:prstGeom>
          <a:solidFill>
            <a:srgbClr val="D83B01"/>
          </a:solidFill>
          <a:ln w="12700">
            <a:solidFill>
              <a:srgbClr val="D83B01"/>
            </a:solidFill>
            <a:prstDash val="solid"/>
          </a:ln>
        </p:spPr>
      </p:sp>
      <p:sp>
        <p:nvSpPr>
          <p:cNvPr id="15" name="Shape 13"/>
          <p:cNvSpPr/>
          <p:nvPr/>
        </p:nvSpPr>
        <p:spPr>
          <a:xfrm>
            <a:off x="6611112" y="1298448"/>
            <a:ext cx="393192" cy="393192"/>
          </a:xfrm>
          <a:prstGeom prst="ellipse">
            <a:avLst/>
          </a:prstGeom>
          <a:solidFill>
            <a:srgbClr val="D83B01"/>
          </a:solidFill>
          <a:ln w="12700">
            <a:solidFill>
              <a:srgbClr val="D83B01"/>
            </a:solidFill>
            <a:prstDash val="solid"/>
          </a:ln>
        </p:spPr>
      </p:sp>
      <p:sp>
        <p:nvSpPr>
          <p:cNvPr id="16" name="Text 14"/>
          <p:cNvSpPr/>
          <p:nvPr/>
        </p:nvSpPr>
        <p:spPr>
          <a:xfrm>
            <a:off x="6611112" y="1357884"/>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403</a:t>
            </a:r>
            <a:endParaRPr lang="en-US" sz="800" dirty="0"/>
          </a:p>
        </p:txBody>
      </p:sp>
      <p:sp>
        <p:nvSpPr>
          <p:cNvPr id="17" name="Text 15"/>
          <p:cNvSpPr/>
          <p:nvPr/>
        </p:nvSpPr>
        <p:spPr>
          <a:xfrm>
            <a:off x="7104888" y="1271016"/>
            <a:ext cx="411480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Jailbreak prompt</a:t>
            </a:r>
            <a:endParaRPr lang="en-US" sz="1250" dirty="0"/>
          </a:p>
        </p:txBody>
      </p:sp>
      <p:sp>
        <p:nvSpPr>
          <p:cNvPr id="18" name="Text 16"/>
          <p:cNvSpPr/>
          <p:nvPr/>
        </p:nvSpPr>
        <p:spPr>
          <a:xfrm>
            <a:off x="7104888" y="1600200"/>
            <a:ext cx="4114800" cy="868680"/>
          </a:xfrm>
          <a:prstGeom prst="rect">
            <a:avLst/>
          </a:prstGeom>
          <a:noFill/>
          <a:ln/>
        </p:spPr>
        <p:txBody>
          <a:bodyPr wrap="square" lIns="635" tIns="635" rIns="635" bIns="635" rtlCol="0" anchor="ctr">
            <a:normAutofit/>
          </a:bodyPr>
          <a:lstStyle/>
          <a:p>
            <a:pPr marL="0" indent="0">
              <a:buNone/>
            </a:pPr>
            <a:r>
              <a:rPr lang="en-US" sz="1050" dirty="0">
                <a:solidFill>
                  <a:srgbClr val="3B4A5E"/>
                </a:solidFill>
                <a:latin typeface="Segoe UI" pitchFamily="34" charset="0"/>
                <a:ea typeface="Segoe UI" pitchFamily="34" charset="-122"/>
                <a:cs typeface="Segoe UI" pitchFamily="34" charset="-120"/>
              </a:rPr>
              <a:t>Verified HTTP 403 from llm-content-safety before the model call.</a:t>
            </a:r>
            <a:endParaRPr lang="en-US" sz="1050" dirty="0"/>
          </a:p>
        </p:txBody>
      </p:sp>
      <p:sp>
        <p:nvSpPr>
          <p:cNvPr id="19" name="Shape 17"/>
          <p:cNvSpPr/>
          <p:nvPr/>
        </p:nvSpPr>
        <p:spPr>
          <a:xfrm>
            <a:off x="1051560" y="3154680"/>
            <a:ext cx="10012680" cy="1097280"/>
          </a:xfrm>
          <a:prstGeom prst="rect">
            <a:avLst/>
          </a:prstGeom>
          <a:solidFill>
            <a:srgbClr val="06152D"/>
          </a:solidFill>
          <a:ln w="12700">
            <a:solidFill>
              <a:srgbClr val="06152D"/>
            </a:solidFill>
            <a:prstDash val="solid"/>
          </a:ln>
        </p:spPr>
      </p:sp>
      <p:sp>
        <p:nvSpPr>
          <p:cNvPr id="20" name="Text 18"/>
          <p:cNvSpPr/>
          <p:nvPr/>
        </p:nvSpPr>
        <p:spPr>
          <a:xfrm>
            <a:off x="1325880" y="3456432"/>
            <a:ext cx="9464040" cy="320040"/>
          </a:xfrm>
          <a:prstGeom prst="rect">
            <a:avLst/>
          </a:prstGeom>
          <a:noFill/>
          <a:ln/>
        </p:spPr>
        <p:txBody>
          <a:bodyPr wrap="square" lIns="0" tIns="0" rIns="0" bIns="0" rtlCol="0" anchor="ctr">
            <a:normAutofit/>
          </a:bodyPr>
          <a:lstStyle/>
          <a:p>
            <a:pPr marL="0" indent="0">
              <a:buNone/>
            </a:pPr>
            <a:r>
              <a:rPr lang="en-US" sz="1200" dirty="0">
                <a:solidFill>
                  <a:srgbClr val="D7E7F6"/>
                </a:solidFill>
                <a:latin typeface="Consolas" pitchFamily="34" charset="0"/>
                <a:ea typeface="Consolas" pitchFamily="34" charset="-122"/>
                <a:cs typeface="Consolas" pitchFamily="34" charset="-120"/>
              </a:rPr>
              <a:t>HTTP/1.1 403 Forbidden</a:t>
            </a:r>
            <a:endParaRPr lang="en-US" sz="1200" dirty="0"/>
          </a:p>
          <a:p>
            <a:pPr marL="0" indent="0">
              <a:buNone/>
            </a:pPr>
            <a:r>
              <a:rPr lang="en-US" sz="1200" dirty="0">
                <a:solidFill>
                  <a:srgbClr val="D7E7F6"/>
                </a:solidFill>
                <a:latin typeface="Consolas" pitchFamily="34" charset="0"/>
                <a:ea typeface="Consolas" pitchFamily="34" charset="-122"/>
                <a:cs typeface="Consolas" pitchFamily="34" charset="-120"/>
              </a:rPr>
              <a:t>{"statusCode":403,"message":"Request failed content safety check."}</a:t>
            </a:r>
            <a:endParaRPr lang="en-US" sz="1200" dirty="0"/>
          </a:p>
        </p:txBody>
      </p:sp>
      <p:sp>
        <p:nvSpPr>
          <p:cNvPr id="21" name="Text 19"/>
          <p:cNvSpPr/>
          <p:nvPr/>
        </p:nvSpPr>
        <p:spPr>
          <a:xfrm>
            <a:off x="1143000" y="4828032"/>
            <a:ext cx="9784080" cy="228600"/>
          </a:xfrm>
          <a:prstGeom prst="rect">
            <a:avLst/>
          </a:prstGeom>
          <a:noFill/>
          <a:ln/>
        </p:spPr>
        <p:txBody>
          <a:bodyPr wrap="square" lIns="0" tIns="0" rIns="0" bIns="0" rtlCol="0" anchor="ctr"/>
          <a:lstStyle/>
          <a:p>
            <a:pPr marL="0" indent="0" algn="ctr">
              <a:buNone/>
            </a:pPr>
            <a:r>
              <a:rPr lang="en-US" sz="1350" dirty="0">
                <a:solidFill>
                  <a:srgbClr val="0B1E3F"/>
                </a:solidFill>
                <a:latin typeface="Segoe UI Semibold" pitchFamily="34" charset="0"/>
                <a:ea typeface="Segoe UI Semibold" pitchFamily="34" charset="-122"/>
                <a:cs typeface="Segoe UI Semibold" pitchFamily="34" charset="-120"/>
              </a:rPr>
              <a:t>Safety is applied consistently to model prompts, MCP tool calls and A2A agent traffic.</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301752"/>
            <a:ext cx="3200400" cy="201168"/>
          </a:xfrm>
          <a:prstGeom prst="rect">
            <a:avLst/>
          </a:prstGeom>
          <a:noFill/>
          <a:ln/>
        </p:spPr>
        <p:txBody>
          <a:bodyPr wrap="square" lIns="0" tIns="0" rIns="0" bIns="0" rtlCol="0" anchor="ctr"/>
          <a:lstStyle/>
          <a:p>
            <a:pPr marL="0" indent="0">
              <a:buNone/>
            </a:pPr>
            <a:r>
              <a:rPr lang="en-US" sz="800" kern="0" spc="120" dirty="0">
                <a:solidFill>
                  <a:srgbClr val="00B7C3"/>
                </a:solidFill>
                <a:latin typeface="Segoe UI Semibold" pitchFamily="34" charset="0"/>
                <a:ea typeface="Segoe UI Semibold" pitchFamily="34" charset="-122"/>
                <a:cs typeface="Segoe UI Semibold" pitchFamily="34" charset="-120"/>
              </a:rPr>
              <a:t>IF LIVE DEMO FAILS</a:t>
            </a:r>
            <a:endParaRPr lang="en-US" sz="800" dirty="0"/>
          </a:p>
        </p:txBody>
      </p:sp>
      <p:sp>
        <p:nvSpPr>
          <p:cNvPr id="3" name="Text 1"/>
          <p:cNvSpPr/>
          <p:nvPr/>
        </p:nvSpPr>
        <p:spPr>
          <a:xfrm>
            <a:off x="457200" y="521208"/>
            <a:ext cx="7955280" cy="438912"/>
          </a:xfrm>
          <a:prstGeom prst="rect">
            <a:avLst/>
          </a:prstGeom>
          <a:noFill/>
          <a:ln/>
        </p:spPr>
        <p:txBody>
          <a:bodyPr wrap="square" lIns="0" tIns="0" rIns="0" bIns="0" rtlCol="0" anchor="ctr"/>
          <a:lstStyle/>
          <a:p>
            <a:pPr marL="0" indent="0">
              <a:buNone/>
            </a:pPr>
            <a:r>
              <a:rPr lang="en-US" sz="2500" dirty="0">
                <a:solidFill>
                  <a:srgbClr val="0B1E3F"/>
                </a:solidFill>
                <a:latin typeface="Segoe UI Semibold" pitchFamily="34" charset="0"/>
                <a:ea typeface="Segoe UI Semibold" pitchFamily="34" charset="-122"/>
                <a:cs typeface="Segoe UI Semibold" pitchFamily="34" charset="-120"/>
              </a:rPr>
              <a:t>Backup: D5 MCP tools + D6 agent</a:t>
            </a:r>
            <a:endParaRPr lang="en-US" sz="2500" dirty="0"/>
          </a:p>
        </p:txBody>
      </p:sp>
      <p:sp>
        <p:nvSpPr>
          <p:cNvPr id="4" name="Shape 2"/>
          <p:cNvSpPr/>
          <p:nvPr/>
        </p:nvSpPr>
        <p:spPr>
          <a:xfrm>
            <a:off x="10698480" y="118872"/>
            <a:ext cx="1051560" cy="1051560"/>
          </a:xfrm>
          <a:prstGeom prst="arc">
            <a:avLst/>
          </a:prstGeom>
          <a:solidFill>
            <a:srgbClr val="F5F7FA">
              <a:alpha val="0"/>
            </a:srgbClr>
          </a:solidFill>
          <a:ln w="38100">
            <a:solidFill>
              <a:srgbClr val="00B7C3">
                <a:alpha val="90000"/>
              </a:srgbClr>
            </a:solidFill>
            <a:prstDash val="solid"/>
          </a:ln>
        </p:spPr>
      </p:sp>
      <p:sp>
        <p:nvSpPr>
          <p:cNvPr id="5" name="Text 3"/>
          <p:cNvSpPr/>
          <p:nvPr/>
        </p:nvSpPr>
        <p:spPr>
          <a:xfrm>
            <a:off x="457200" y="6473952"/>
            <a:ext cx="7955280" cy="164592"/>
          </a:xfrm>
          <a:prstGeom prst="rect">
            <a:avLst/>
          </a:prstGeom>
          <a:noFill/>
          <a:ln/>
        </p:spPr>
        <p:txBody>
          <a:bodyPr wrap="square" lIns="0" tIns="0" rIns="0" bIns="0" rtlCol="0" anchor="ctr"/>
          <a:lstStyle/>
          <a:p>
            <a:pPr marL="0" indent="0">
              <a:buNone/>
            </a:pPr>
            <a:r>
              <a:rPr lang="en-US" sz="750" dirty="0">
                <a:solidFill>
                  <a:srgbClr val="8A97A8"/>
                </a:solidFill>
                <a:latin typeface="Segoe UI" pitchFamily="34" charset="0"/>
                <a:ea typeface="Segoe UI" pitchFamily="34" charset="-122"/>
                <a:cs typeface="Segoe UI" pitchFamily="34" charset="-120"/>
              </a:rPr>
              <a:t>Azure API Management AI Gateway — Oct 2026</a:t>
            </a:r>
            <a:endParaRPr lang="en-US" sz="750" dirty="0"/>
          </a:p>
        </p:txBody>
      </p:sp>
      <p:sp>
        <p:nvSpPr>
          <p:cNvPr id="6" name="Text 4"/>
          <p:cNvSpPr/>
          <p:nvPr/>
        </p:nvSpPr>
        <p:spPr>
          <a:xfrm>
            <a:off x="11430000" y="6446520"/>
            <a:ext cx="320040" cy="164592"/>
          </a:xfrm>
          <a:prstGeom prst="rect">
            <a:avLst/>
          </a:prstGeom>
          <a:noFill/>
          <a:ln/>
        </p:spPr>
        <p:txBody>
          <a:bodyPr wrap="square" lIns="0" tIns="0" rIns="0" bIns="0" rtlCol="0" anchor="ctr"/>
          <a:lstStyle/>
          <a:p>
            <a:pPr marL="0" indent="0" algn="r">
              <a:buNone/>
            </a:pPr>
            <a:r>
              <a:rPr lang="en-US" sz="800" dirty="0">
                <a:solidFill>
                  <a:srgbClr val="8A97A8"/>
                </a:solidFill>
                <a:latin typeface="Segoe UI Semibold" pitchFamily="34" charset="0"/>
                <a:ea typeface="Segoe UI Semibold" pitchFamily="34" charset="-122"/>
                <a:cs typeface="Segoe UI Semibold" pitchFamily="34" charset="-120"/>
              </a:rPr>
              <a:t>22</a:t>
            </a:r>
            <a:endParaRPr lang="en-US" sz="800" dirty="0"/>
          </a:p>
        </p:txBody>
      </p:sp>
      <p:sp>
        <p:nvSpPr>
          <p:cNvPr id="7" name="Shape 5"/>
          <p:cNvSpPr/>
          <p:nvPr/>
        </p:nvSpPr>
        <p:spPr>
          <a:xfrm>
            <a:off x="731520" y="1024128"/>
            <a:ext cx="5166360" cy="1143000"/>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8" name="Shape 6"/>
          <p:cNvSpPr/>
          <p:nvPr/>
        </p:nvSpPr>
        <p:spPr>
          <a:xfrm>
            <a:off x="731520" y="1024128"/>
            <a:ext cx="73152" cy="1143000"/>
          </a:xfrm>
          <a:prstGeom prst="rect">
            <a:avLst/>
          </a:prstGeom>
          <a:solidFill>
            <a:srgbClr val="00B7C3"/>
          </a:solidFill>
          <a:ln w="12700">
            <a:solidFill>
              <a:srgbClr val="00B7C3"/>
            </a:solidFill>
            <a:prstDash val="solid"/>
          </a:ln>
        </p:spPr>
      </p:sp>
      <p:sp>
        <p:nvSpPr>
          <p:cNvPr id="9" name="Shape 7"/>
          <p:cNvSpPr/>
          <p:nvPr/>
        </p:nvSpPr>
        <p:spPr>
          <a:xfrm>
            <a:off x="896112" y="1179576"/>
            <a:ext cx="393192" cy="393192"/>
          </a:xfrm>
          <a:prstGeom prst="ellipse">
            <a:avLst/>
          </a:prstGeom>
          <a:solidFill>
            <a:srgbClr val="00B7C3"/>
          </a:solidFill>
          <a:ln w="12700">
            <a:solidFill>
              <a:srgbClr val="00B7C3"/>
            </a:solidFill>
            <a:prstDash val="solid"/>
          </a:ln>
        </p:spPr>
      </p:sp>
      <p:sp>
        <p:nvSpPr>
          <p:cNvPr id="10" name="Text 8"/>
          <p:cNvSpPr/>
          <p:nvPr/>
        </p:nvSpPr>
        <p:spPr>
          <a:xfrm>
            <a:off x="896112" y="1239012"/>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D5</a:t>
            </a:r>
            <a:endParaRPr lang="en-US" sz="800" dirty="0"/>
          </a:p>
        </p:txBody>
      </p:sp>
      <p:sp>
        <p:nvSpPr>
          <p:cNvPr id="11" name="Text 9"/>
          <p:cNvSpPr/>
          <p:nvPr/>
        </p:nvSpPr>
        <p:spPr>
          <a:xfrm>
            <a:off x="1389888" y="1152144"/>
            <a:ext cx="434340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D5: tools/list</a:t>
            </a:r>
            <a:endParaRPr lang="en-US" sz="1250" dirty="0"/>
          </a:p>
        </p:txBody>
      </p:sp>
      <p:sp>
        <p:nvSpPr>
          <p:cNvPr id="12" name="Text 10"/>
          <p:cNvSpPr/>
          <p:nvPr/>
        </p:nvSpPr>
        <p:spPr>
          <a:xfrm>
            <a:off x="1389888" y="1481328"/>
            <a:ext cx="4343400" cy="594360"/>
          </a:xfrm>
          <a:prstGeom prst="rect">
            <a:avLst/>
          </a:prstGeom>
          <a:noFill/>
          <a:ln/>
        </p:spPr>
        <p:txBody>
          <a:bodyPr wrap="square" lIns="635" tIns="635" rIns="635" bIns="635" rtlCol="0" anchor="ctr">
            <a:normAutofit/>
          </a:bodyPr>
          <a:lstStyle/>
          <a:p>
            <a:pPr marL="0" indent="0">
              <a:buNone/>
            </a:pPr>
            <a:r>
              <a:rPr lang="en-US" sz="1040" dirty="0">
                <a:solidFill>
                  <a:srgbClr val="3B4A5E"/>
                </a:solidFill>
                <a:latin typeface="Segoe UI" pitchFamily="34" charset="0"/>
                <a:ea typeface="Segoe UI" pitchFamily="34" charset="-122"/>
                <a:cs typeface="Segoe UI" pitchFamily="34" charset="-120"/>
              </a:rPr>
              <a:t>Server name: Azure API Management. Tools: search-products and get-order-status.</a:t>
            </a:r>
            <a:endParaRPr lang="en-US" sz="1040" dirty="0"/>
          </a:p>
        </p:txBody>
      </p:sp>
      <p:sp>
        <p:nvSpPr>
          <p:cNvPr id="13" name="Shape 11"/>
          <p:cNvSpPr/>
          <p:nvPr/>
        </p:nvSpPr>
        <p:spPr>
          <a:xfrm>
            <a:off x="6309360" y="1024128"/>
            <a:ext cx="5166360" cy="1143000"/>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14" name="Shape 12"/>
          <p:cNvSpPr/>
          <p:nvPr/>
        </p:nvSpPr>
        <p:spPr>
          <a:xfrm>
            <a:off x="6309360" y="1024128"/>
            <a:ext cx="73152" cy="1143000"/>
          </a:xfrm>
          <a:prstGeom prst="rect">
            <a:avLst/>
          </a:prstGeom>
          <a:solidFill>
            <a:srgbClr val="0078D4"/>
          </a:solidFill>
          <a:ln w="12700">
            <a:solidFill>
              <a:srgbClr val="0078D4"/>
            </a:solidFill>
            <a:prstDash val="solid"/>
          </a:ln>
        </p:spPr>
      </p:sp>
      <p:sp>
        <p:nvSpPr>
          <p:cNvPr id="15" name="Shape 13"/>
          <p:cNvSpPr/>
          <p:nvPr/>
        </p:nvSpPr>
        <p:spPr>
          <a:xfrm>
            <a:off x="6473952" y="1179576"/>
            <a:ext cx="393192" cy="393192"/>
          </a:xfrm>
          <a:prstGeom prst="ellipse">
            <a:avLst/>
          </a:prstGeom>
          <a:solidFill>
            <a:srgbClr val="0078D4"/>
          </a:solidFill>
          <a:ln w="12700">
            <a:solidFill>
              <a:srgbClr val="0078D4"/>
            </a:solidFill>
            <a:prstDash val="solid"/>
          </a:ln>
        </p:spPr>
      </p:sp>
      <p:sp>
        <p:nvSpPr>
          <p:cNvPr id="16" name="Text 14"/>
          <p:cNvSpPr/>
          <p:nvPr/>
        </p:nvSpPr>
        <p:spPr>
          <a:xfrm>
            <a:off x="6473952" y="1239012"/>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D6</a:t>
            </a:r>
            <a:endParaRPr lang="en-US" sz="800" dirty="0"/>
          </a:p>
        </p:txBody>
      </p:sp>
      <p:sp>
        <p:nvSpPr>
          <p:cNvPr id="17" name="Text 15"/>
          <p:cNvSpPr/>
          <p:nvPr/>
        </p:nvSpPr>
        <p:spPr>
          <a:xfrm>
            <a:off x="6967728" y="1152144"/>
            <a:ext cx="434340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D6: model decides</a:t>
            </a:r>
            <a:endParaRPr lang="en-US" sz="1250" dirty="0"/>
          </a:p>
        </p:txBody>
      </p:sp>
      <p:sp>
        <p:nvSpPr>
          <p:cNvPr id="18" name="Text 16"/>
          <p:cNvSpPr/>
          <p:nvPr/>
        </p:nvSpPr>
        <p:spPr>
          <a:xfrm>
            <a:off x="6967728" y="1481328"/>
            <a:ext cx="4343400" cy="594360"/>
          </a:xfrm>
          <a:prstGeom prst="rect">
            <a:avLst/>
          </a:prstGeom>
          <a:noFill/>
          <a:ln/>
        </p:spPr>
        <p:txBody>
          <a:bodyPr wrap="square" lIns="635" tIns="635" rIns="635" bIns="635" rtlCol="0" anchor="ctr">
            <a:normAutofit/>
          </a:bodyPr>
          <a:lstStyle/>
          <a:p>
            <a:pPr marL="0" indent="0">
              <a:buNone/>
            </a:pPr>
            <a:r>
              <a:rPr lang="en-US" sz="1040" dirty="0">
                <a:solidFill>
                  <a:srgbClr val="3B4A5E"/>
                </a:solidFill>
                <a:latin typeface="Segoe UI" pitchFamily="34" charset="0"/>
                <a:ea typeface="Segoe UI" pitchFamily="34" charset="-122"/>
                <a:cs typeface="Segoe UI" pitchFamily="34" charset="-120"/>
              </a:rPr>
              <a:t>Agent called both MCP tools through the gateway and composed the answer.</a:t>
            </a:r>
            <a:endParaRPr lang="en-US" sz="1040" dirty="0"/>
          </a:p>
        </p:txBody>
      </p:sp>
      <p:sp>
        <p:nvSpPr>
          <p:cNvPr id="19" name="Shape 17"/>
          <p:cNvSpPr/>
          <p:nvPr/>
        </p:nvSpPr>
        <p:spPr>
          <a:xfrm>
            <a:off x="822960" y="2560320"/>
            <a:ext cx="5029200" cy="1828800"/>
          </a:xfrm>
          <a:prstGeom prst="rect">
            <a:avLst/>
          </a:prstGeom>
          <a:solidFill>
            <a:srgbClr val="06152D"/>
          </a:solidFill>
          <a:ln w="12700">
            <a:solidFill>
              <a:srgbClr val="06152D"/>
            </a:solidFill>
            <a:prstDash val="solid"/>
          </a:ln>
        </p:spPr>
      </p:sp>
      <p:sp>
        <p:nvSpPr>
          <p:cNvPr id="20" name="Text 18"/>
          <p:cNvSpPr/>
          <p:nvPr/>
        </p:nvSpPr>
        <p:spPr>
          <a:xfrm>
            <a:off x="1078992" y="2816352"/>
            <a:ext cx="4572000" cy="1051560"/>
          </a:xfrm>
          <a:prstGeom prst="rect">
            <a:avLst/>
          </a:prstGeom>
          <a:noFill/>
          <a:ln/>
        </p:spPr>
        <p:txBody>
          <a:bodyPr wrap="square" lIns="0" tIns="0" rIns="0" bIns="0" rtlCol="0" anchor="ctr">
            <a:normAutofit/>
          </a:bodyPr>
          <a:lstStyle/>
          <a:p>
            <a:pPr marL="0" indent="0">
              <a:buNone/>
            </a:pPr>
            <a:r>
              <a:rPr lang="en-US" sz="1010" dirty="0">
                <a:solidFill>
                  <a:srgbClr val="D7E7F6"/>
                </a:solidFill>
                <a:latin typeface="Consolas" pitchFamily="34" charset="0"/>
                <a:ea typeface="Consolas" pitchFamily="34" charset="-122"/>
                <a:cs typeface="Consolas" pitchFamily="34" charset="-120"/>
              </a:rPr>
              <a:t>server: "Azure API Management"</a:t>
            </a:r>
            <a:endParaRPr lang="en-US" sz="1010" dirty="0"/>
          </a:p>
          <a:p>
            <a:pPr marL="0" indent="0">
              <a:buNone/>
            </a:pPr>
            <a:r>
              <a:rPr lang="en-US" sz="1010" dirty="0">
                <a:solidFill>
                  <a:srgbClr val="D7E7F6"/>
                </a:solidFill>
                <a:latin typeface="Consolas" pitchFamily="34" charset="0"/>
                <a:ea typeface="Consolas" pitchFamily="34" charset="-122"/>
                <a:cs typeface="Consolas" pitchFamily="34" charset="-120"/>
              </a:rPr>
              <a:t>tools/list → ["search-products", "get-order-status"]</a:t>
            </a:r>
            <a:endParaRPr lang="en-US" sz="1010" dirty="0"/>
          </a:p>
          <a:p>
            <a:pPr marL="0" indent="0">
              <a:buNone/>
            </a:pPr>
            <a:r>
              <a:rPr lang="en-US" sz="1010" dirty="0">
                <a:solidFill>
                  <a:srgbClr val="D7E7F6"/>
                </a:solidFill>
                <a:latin typeface="Consolas" pitchFamily="34" charset="0"/>
                <a:ea typeface="Consolas" pitchFamily="34" charset="-122"/>
                <a:cs typeface="Consolas" pitchFamily="34" charset="-120"/>
              </a:rPr>
              <a:t>tools/call search-products {"category":"outdoor","maxPrice":100}</a:t>
            </a:r>
            <a:endParaRPr lang="en-US" sz="1010" dirty="0"/>
          </a:p>
        </p:txBody>
      </p:sp>
      <p:sp>
        <p:nvSpPr>
          <p:cNvPr id="21" name="Shape 19"/>
          <p:cNvSpPr/>
          <p:nvPr/>
        </p:nvSpPr>
        <p:spPr>
          <a:xfrm>
            <a:off x="6309360" y="2560320"/>
            <a:ext cx="5029200" cy="1828800"/>
          </a:xfrm>
          <a:prstGeom prst="rect">
            <a:avLst/>
          </a:prstGeom>
          <a:solidFill>
            <a:srgbClr val="06152D"/>
          </a:solidFill>
          <a:ln w="12700">
            <a:solidFill>
              <a:srgbClr val="06152D"/>
            </a:solidFill>
            <a:prstDash val="solid"/>
          </a:ln>
        </p:spPr>
      </p:sp>
      <p:sp>
        <p:nvSpPr>
          <p:cNvPr id="22" name="Text 20"/>
          <p:cNvSpPr/>
          <p:nvPr/>
        </p:nvSpPr>
        <p:spPr>
          <a:xfrm>
            <a:off x="6565392" y="2852928"/>
            <a:ext cx="4572000" cy="960120"/>
          </a:xfrm>
          <a:prstGeom prst="rect">
            <a:avLst/>
          </a:prstGeom>
          <a:noFill/>
          <a:ln/>
        </p:spPr>
        <p:txBody>
          <a:bodyPr wrap="square" lIns="0" tIns="0" rIns="0" bIns="0" rtlCol="0" anchor="ctr">
            <a:normAutofit/>
          </a:bodyPr>
          <a:lstStyle/>
          <a:p>
            <a:pPr marL="0" indent="0">
              <a:buNone/>
            </a:pPr>
            <a:r>
              <a:rPr lang="en-US" sz="1020" dirty="0">
                <a:solidFill>
                  <a:srgbClr val="D7E7F6"/>
                </a:solidFill>
                <a:latin typeface="Consolas" pitchFamily="34" charset="0"/>
                <a:ea typeface="Consolas" pitchFamily="34" charset="-122"/>
                <a:cs typeface="Consolas" pitchFamily="34" charset="-120"/>
              </a:rPr>
              <a:t>Agent answer:</a:t>
            </a:r>
            <a:endParaRPr lang="en-US" sz="1020" dirty="0"/>
          </a:p>
          <a:p>
            <a:pPr marL="0" indent="0">
              <a:buNone/>
            </a:pPr>
            <a:r>
              <a:rPr lang="en-US" sz="1020" dirty="0">
                <a:solidFill>
                  <a:srgbClr val="D7E7F6"/>
                </a:solidFill>
                <a:latin typeface="Consolas" pitchFamily="34" charset="0"/>
                <a:ea typeface="Consolas" pitchFamily="34" charset="-122"/>
                <a:cs typeface="Consolas" pitchFamily="34" charset="-120"/>
              </a:rPr>
              <a:t>"Trail backpack 30L (€89.9) and Headlamp 400lm (€34.5) are under 100 EUR.</a:t>
            </a:r>
            <a:endParaRPr lang="en-US" sz="1020" dirty="0"/>
          </a:p>
          <a:p>
            <a:pPr marL="0" indent="0">
              <a:buNone/>
            </a:pPr>
            <a:r>
              <a:rPr lang="en-US" sz="1020" dirty="0">
                <a:solidFill>
                  <a:srgbClr val="D7E7F6"/>
                </a:solidFill>
                <a:latin typeface="Consolas" pitchFamily="34" charset="0"/>
                <a:ea typeface="Consolas" pitchFamily="34" charset="-122"/>
                <a:cs typeface="Consolas" pitchFamily="34" charset="-120"/>
              </a:rPr>
              <a:t>ORD-1042 is Out for delivery with Zava Express."</a:t>
            </a:r>
            <a:endParaRPr lang="en-US" sz="1020" dirty="0"/>
          </a:p>
        </p:txBody>
      </p:sp>
      <p:sp>
        <p:nvSpPr>
          <p:cNvPr id="23" name="Text 21"/>
          <p:cNvSpPr/>
          <p:nvPr/>
        </p:nvSpPr>
        <p:spPr>
          <a:xfrm>
            <a:off x="1143000" y="4919472"/>
            <a:ext cx="9875520" cy="228600"/>
          </a:xfrm>
          <a:prstGeom prst="rect">
            <a:avLst/>
          </a:prstGeom>
          <a:noFill/>
          <a:ln/>
        </p:spPr>
        <p:txBody>
          <a:bodyPr wrap="square" lIns="0" tIns="0" rIns="0" bIns="0" rtlCol="0" anchor="ctr"/>
          <a:lstStyle/>
          <a:p>
            <a:pPr marL="0" indent="0" algn="ctr">
              <a:buNone/>
            </a:pPr>
            <a:r>
              <a:rPr lang="en-US" sz="1300" dirty="0">
                <a:solidFill>
                  <a:srgbClr val="0B1E3F"/>
                </a:solidFill>
                <a:latin typeface="Segoe UI Semibold" pitchFamily="34" charset="0"/>
                <a:ea typeface="Segoe UI Semibold" pitchFamily="34" charset="-122"/>
                <a:cs typeface="Segoe UI Semibold" pitchFamily="34" charset="-120"/>
              </a:rPr>
              <a:t>The same APIM policies protect tools and model calls, so agent autonomy stays governed.</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301752"/>
            <a:ext cx="3200400" cy="201168"/>
          </a:xfrm>
          <a:prstGeom prst="rect">
            <a:avLst/>
          </a:prstGeom>
          <a:noFill/>
          <a:ln/>
        </p:spPr>
        <p:txBody>
          <a:bodyPr wrap="square" lIns="0" tIns="0" rIns="0" bIns="0" rtlCol="0" anchor="ctr"/>
          <a:lstStyle/>
          <a:p>
            <a:pPr marL="0" indent="0">
              <a:buNone/>
            </a:pPr>
            <a:r>
              <a:rPr lang="en-US" sz="800" kern="0" spc="120" dirty="0">
                <a:solidFill>
                  <a:srgbClr val="00B7C3"/>
                </a:solidFill>
                <a:latin typeface="Segoe UI Semibold" pitchFamily="34" charset="0"/>
                <a:ea typeface="Segoe UI Semibold" pitchFamily="34" charset="-122"/>
                <a:cs typeface="Segoe UI Semibold" pitchFamily="34" charset="-120"/>
              </a:rPr>
              <a:t>IF LIVE DEMO FAILS</a:t>
            </a:r>
            <a:endParaRPr lang="en-US" sz="800" dirty="0"/>
          </a:p>
        </p:txBody>
      </p:sp>
      <p:sp>
        <p:nvSpPr>
          <p:cNvPr id="3" name="Text 1"/>
          <p:cNvSpPr/>
          <p:nvPr/>
        </p:nvSpPr>
        <p:spPr>
          <a:xfrm>
            <a:off x="457200" y="521208"/>
            <a:ext cx="7955280" cy="438912"/>
          </a:xfrm>
          <a:prstGeom prst="rect">
            <a:avLst/>
          </a:prstGeom>
          <a:noFill/>
          <a:ln/>
        </p:spPr>
        <p:txBody>
          <a:bodyPr wrap="square" lIns="0" tIns="0" rIns="0" bIns="0" rtlCol="0" anchor="ctr"/>
          <a:lstStyle/>
          <a:p>
            <a:pPr marL="0" indent="0">
              <a:buNone/>
            </a:pPr>
            <a:r>
              <a:rPr lang="en-US" sz="2500" dirty="0">
                <a:solidFill>
                  <a:srgbClr val="0B1E3F"/>
                </a:solidFill>
                <a:latin typeface="Segoe UI Semibold" pitchFamily="34" charset="0"/>
                <a:ea typeface="Segoe UI Semibold" pitchFamily="34" charset="-122"/>
                <a:cs typeface="Segoe UI Semibold" pitchFamily="34" charset="-120"/>
              </a:rPr>
              <a:t>Backup demo narrative: D7 observability + D8 CI/CD</a:t>
            </a:r>
            <a:endParaRPr lang="en-US" sz="2500" dirty="0"/>
          </a:p>
        </p:txBody>
      </p:sp>
      <p:sp>
        <p:nvSpPr>
          <p:cNvPr id="4" name="Shape 2"/>
          <p:cNvSpPr/>
          <p:nvPr/>
        </p:nvSpPr>
        <p:spPr>
          <a:xfrm>
            <a:off x="10698480" y="118872"/>
            <a:ext cx="1051560" cy="1051560"/>
          </a:xfrm>
          <a:prstGeom prst="arc">
            <a:avLst/>
          </a:prstGeom>
          <a:solidFill>
            <a:srgbClr val="F5F7FA">
              <a:alpha val="0"/>
            </a:srgbClr>
          </a:solidFill>
          <a:ln w="38100">
            <a:solidFill>
              <a:srgbClr val="00B7C3">
                <a:alpha val="90000"/>
              </a:srgbClr>
            </a:solidFill>
            <a:prstDash val="solid"/>
          </a:ln>
        </p:spPr>
      </p:sp>
      <p:sp>
        <p:nvSpPr>
          <p:cNvPr id="5" name="Text 3"/>
          <p:cNvSpPr/>
          <p:nvPr/>
        </p:nvSpPr>
        <p:spPr>
          <a:xfrm>
            <a:off x="457200" y="6473952"/>
            <a:ext cx="7955280" cy="164592"/>
          </a:xfrm>
          <a:prstGeom prst="rect">
            <a:avLst/>
          </a:prstGeom>
          <a:noFill/>
          <a:ln/>
        </p:spPr>
        <p:txBody>
          <a:bodyPr wrap="square" lIns="0" tIns="0" rIns="0" bIns="0" rtlCol="0" anchor="ctr"/>
          <a:lstStyle/>
          <a:p>
            <a:pPr marL="0" indent="0">
              <a:buNone/>
            </a:pPr>
            <a:r>
              <a:rPr lang="en-US" sz="750" dirty="0">
                <a:solidFill>
                  <a:srgbClr val="8A97A8"/>
                </a:solidFill>
                <a:latin typeface="Segoe UI" pitchFamily="34" charset="0"/>
                <a:ea typeface="Segoe UI" pitchFamily="34" charset="-122"/>
                <a:cs typeface="Segoe UI" pitchFamily="34" charset="-120"/>
              </a:rPr>
              <a:t>Azure API Management AI Gateway — Oct 2026</a:t>
            </a:r>
            <a:endParaRPr lang="en-US" sz="750" dirty="0"/>
          </a:p>
        </p:txBody>
      </p:sp>
      <p:sp>
        <p:nvSpPr>
          <p:cNvPr id="6" name="Text 4"/>
          <p:cNvSpPr/>
          <p:nvPr/>
        </p:nvSpPr>
        <p:spPr>
          <a:xfrm>
            <a:off x="11430000" y="6446520"/>
            <a:ext cx="320040" cy="164592"/>
          </a:xfrm>
          <a:prstGeom prst="rect">
            <a:avLst/>
          </a:prstGeom>
          <a:noFill/>
          <a:ln/>
        </p:spPr>
        <p:txBody>
          <a:bodyPr wrap="square" lIns="0" tIns="0" rIns="0" bIns="0" rtlCol="0" anchor="ctr"/>
          <a:lstStyle/>
          <a:p>
            <a:pPr marL="0" indent="0" algn="r">
              <a:buNone/>
            </a:pPr>
            <a:r>
              <a:rPr lang="en-US" sz="800" dirty="0">
                <a:solidFill>
                  <a:srgbClr val="8A97A8"/>
                </a:solidFill>
                <a:latin typeface="Segoe UI Semibold" pitchFamily="34" charset="0"/>
                <a:ea typeface="Segoe UI Semibold" pitchFamily="34" charset="-122"/>
                <a:cs typeface="Segoe UI Semibold" pitchFamily="34" charset="-120"/>
              </a:rPr>
              <a:t>23</a:t>
            </a:r>
            <a:endParaRPr lang="en-US" sz="800" dirty="0"/>
          </a:p>
        </p:txBody>
      </p:sp>
      <p:sp>
        <p:nvSpPr>
          <p:cNvPr id="7" name="Shape 5"/>
          <p:cNvSpPr/>
          <p:nvPr/>
        </p:nvSpPr>
        <p:spPr>
          <a:xfrm>
            <a:off x="731520" y="1051560"/>
            <a:ext cx="3108960" cy="1143000"/>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8" name="Shape 6"/>
          <p:cNvSpPr/>
          <p:nvPr/>
        </p:nvSpPr>
        <p:spPr>
          <a:xfrm>
            <a:off x="731520" y="1051560"/>
            <a:ext cx="73152" cy="1143000"/>
          </a:xfrm>
          <a:prstGeom prst="rect">
            <a:avLst/>
          </a:prstGeom>
          <a:solidFill>
            <a:srgbClr val="00B7C3"/>
          </a:solidFill>
          <a:ln w="12700">
            <a:solidFill>
              <a:srgbClr val="00B7C3"/>
            </a:solidFill>
            <a:prstDash val="solid"/>
          </a:ln>
        </p:spPr>
      </p:sp>
      <p:sp>
        <p:nvSpPr>
          <p:cNvPr id="9" name="Shape 7"/>
          <p:cNvSpPr/>
          <p:nvPr/>
        </p:nvSpPr>
        <p:spPr>
          <a:xfrm>
            <a:off x="896112" y="1207008"/>
            <a:ext cx="393192" cy="393192"/>
          </a:xfrm>
          <a:prstGeom prst="ellipse">
            <a:avLst/>
          </a:prstGeom>
          <a:solidFill>
            <a:srgbClr val="00B7C3"/>
          </a:solidFill>
          <a:ln w="12700">
            <a:solidFill>
              <a:srgbClr val="00B7C3"/>
            </a:solidFill>
            <a:prstDash val="solid"/>
          </a:ln>
        </p:spPr>
      </p:sp>
      <p:sp>
        <p:nvSpPr>
          <p:cNvPr id="10" name="Text 8"/>
          <p:cNvSpPr/>
          <p:nvPr/>
        </p:nvSpPr>
        <p:spPr>
          <a:xfrm>
            <a:off x="896112" y="1266444"/>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KQL</a:t>
            </a:r>
            <a:endParaRPr lang="en-US" sz="800" dirty="0"/>
          </a:p>
        </p:txBody>
      </p:sp>
      <p:sp>
        <p:nvSpPr>
          <p:cNvPr id="11" name="Text 9"/>
          <p:cNvSpPr/>
          <p:nvPr/>
        </p:nvSpPr>
        <p:spPr>
          <a:xfrm>
            <a:off x="1389888" y="1179576"/>
            <a:ext cx="228600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D7 token metrics</a:t>
            </a:r>
            <a:endParaRPr lang="en-US" sz="1250" dirty="0"/>
          </a:p>
        </p:txBody>
      </p:sp>
      <p:sp>
        <p:nvSpPr>
          <p:cNvPr id="12" name="Text 10"/>
          <p:cNvSpPr/>
          <p:nvPr/>
        </p:nvSpPr>
        <p:spPr>
          <a:xfrm>
            <a:off x="1389888" y="1508760"/>
            <a:ext cx="2286000" cy="594360"/>
          </a:xfrm>
          <a:prstGeom prst="rect">
            <a:avLst/>
          </a:prstGeom>
          <a:noFill/>
          <a:ln/>
        </p:spPr>
        <p:txBody>
          <a:bodyPr wrap="square" lIns="635" tIns="635" rIns="635" bIns="635" rtlCol="0" anchor="ctr">
            <a:normAutofit/>
          </a:bodyPr>
          <a:lstStyle/>
          <a:p>
            <a:pPr marL="0" indent="0">
              <a:buNone/>
            </a:pPr>
            <a:r>
              <a:rPr lang="en-US" sz="1040" dirty="0">
                <a:solidFill>
                  <a:srgbClr val="3B4A5E"/>
                </a:solidFill>
                <a:latin typeface="Segoe UI" pitchFamily="34" charset="0"/>
                <a:ea typeface="Segoe UI" pitchFamily="34" charset="-122"/>
                <a:cs typeface="Segoe UI" pitchFamily="34" charset="-120"/>
              </a:rPr>
              <a:t>AppMetrics shows token consumption by Product: Gold and Bronze.</a:t>
            </a:r>
            <a:endParaRPr lang="en-US" sz="1040" dirty="0"/>
          </a:p>
        </p:txBody>
      </p:sp>
      <p:sp>
        <p:nvSpPr>
          <p:cNvPr id="13" name="Shape 11"/>
          <p:cNvSpPr/>
          <p:nvPr/>
        </p:nvSpPr>
        <p:spPr>
          <a:xfrm>
            <a:off x="4526280" y="1051560"/>
            <a:ext cx="3108960" cy="1143000"/>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14" name="Shape 12"/>
          <p:cNvSpPr/>
          <p:nvPr/>
        </p:nvSpPr>
        <p:spPr>
          <a:xfrm>
            <a:off x="4526280" y="1051560"/>
            <a:ext cx="73152" cy="1143000"/>
          </a:xfrm>
          <a:prstGeom prst="rect">
            <a:avLst/>
          </a:prstGeom>
          <a:solidFill>
            <a:srgbClr val="0078D4"/>
          </a:solidFill>
          <a:ln w="12700">
            <a:solidFill>
              <a:srgbClr val="0078D4"/>
            </a:solidFill>
            <a:prstDash val="solid"/>
          </a:ln>
        </p:spPr>
      </p:sp>
      <p:sp>
        <p:nvSpPr>
          <p:cNvPr id="15" name="Shape 13"/>
          <p:cNvSpPr/>
          <p:nvPr/>
        </p:nvSpPr>
        <p:spPr>
          <a:xfrm>
            <a:off x="4690872" y="1207008"/>
            <a:ext cx="393192" cy="393192"/>
          </a:xfrm>
          <a:prstGeom prst="ellipse">
            <a:avLst/>
          </a:prstGeom>
          <a:solidFill>
            <a:srgbClr val="0078D4"/>
          </a:solidFill>
          <a:ln w="12700">
            <a:solidFill>
              <a:srgbClr val="0078D4"/>
            </a:solidFill>
            <a:prstDash val="solid"/>
          </a:ln>
        </p:spPr>
      </p:sp>
      <p:sp>
        <p:nvSpPr>
          <p:cNvPr id="16" name="Text 14"/>
          <p:cNvSpPr/>
          <p:nvPr/>
        </p:nvSpPr>
        <p:spPr>
          <a:xfrm>
            <a:off x="4690872" y="1266444"/>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LOG</a:t>
            </a:r>
            <a:endParaRPr lang="en-US" sz="800" dirty="0"/>
          </a:p>
        </p:txBody>
      </p:sp>
      <p:sp>
        <p:nvSpPr>
          <p:cNvPr id="17" name="Text 15"/>
          <p:cNvSpPr/>
          <p:nvPr/>
        </p:nvSpPr>
        <p:spPr>
          <a:xfrm>
            <a:off x="5184648" y="1179576"/>
            <a:ext cx="228600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D7 LLM logs</a:t>
            </a:r>
            <a:endParaRPr lang="en-US" sz="1250" dirty="0"/>
          </a:p>
        </p:txBody>
      </p:sp>
      <p:sp>
        <p:nvSpPr>
          <p:cNvPr id="18" name="Text 16"/>
          <p:cNvSpPr/>
          <p:nvPr/>
        </p:nvSpPr>
        <p:spPr>
          <a:xfrm>
            <a:off x="5184648" y="1508760"/>
            <a:ext cx="2286000" cy="594360"/>
          </a:xfrm>
          <a:prstGeom prst="rect">
            <a:avLst/>
          </a:prstGeom>
          <a:noFill/>
          <a:ln/>
        </p:spPr>
        <p:txBody>
          <a:bodyPr wrap="square" lIns="635" tIns="635" rIns="635" bIns="635" rtlCol="0" anchor="ctr">
            <a:normAutofit/>
          </a:bodyPr>
          <a:lstStyle/>
          <a:p>
            <a:pPr marL="0" indent="0">
              <a:buNone/>
            </a:pPr>
            <a:r>
              <a:rPr lang="en-US" sz="1040" dirty="0">
                <a:solidFill>
                  <a:srgbClr val="3B4A5E"/>
                </a:solidFill>
                <a:latin typeface="Segoe UI" pitchFamily="34" charset="0"/>
                <a:ea typeface="Segoe UI" pitchFamily="34" charset="-122"/>
                <a:cs typeface="Segoe UI" pitchFamily="34" charset="-120"/>
              </a:rPr>
              <a:t>ApiManagementGatewayLlmLog groups calls by DeploymentName: gpt-5.4-nano.</a:t>
            </a:r>
            <a:endParaRPr lang="en-US" sz="1040" dirty="0"/>
          </a:p>
        </p:txBody>
      </p:sp>
      <p:sp>
        <p:nvSpPr>
          <p:cNvPr id="19" name="Shape 17"/>
          <p:cNvSpPr/>
          <p:nvPr/>
        </p:nvSpPr>
        <p:spPr>
          <a:xfrm>
            <a:off x="8321040" y="1051560"/>
            <a:ext cx="3108960" cy="1143000"/>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20" name="Shape 18"/>
          <p:cNvSpPr/>
          <p:nvPr/>
        </p:nvSpPr>
        <p:spPr>
          <a:xfrm>
            <a:off x="8321040" y="1051560"/>
            <a:ext cx="73152" cy="1143000"/>
          </a:xfrm>
          <a:prstGeom prst="rect">
            <a:avLst/>
          </a:prstGeom>
          <a:solidFill>
            <a:srgbClr val="FFB900"/>
          </a:solidFill>
          <a:ln w="12700">
            <a:solidFill>
              <a:srgbClr val="FFB900"/>
            </a:solidFill>
            <a:prstDash val="solid"/>
          </a:ln>
        </p:spPr>
      </p:sp>
      <p:sp>
        <p:nvSpPr>
          <p:cNvPr id="21" name="Shape 19"/>
          <p:cNvSpPr/>
          <p:nvPr/>
        </p:nvSpPr>
        <p:spPr>
          <a:xfrm>
            <a:off x="8485632" y="1207008"/>
            <a:ext cx="393192" cy="393192"/>
          </a:xfrm>
          <a:prstGeom prst="ellipse">
            <a:avLst/>
          </a:prstGeom>
          <a:solidFill>
            <a:srgbClr val="FFB900"/>
          </a:solidFill>
          <a:ln w="12700">
            <a:solidFill>
              <a:srgbClr val="FFB900"/>
            </a:solidFill>
            <a:prstDash val="solid"/>
          </a:ln>
        </p:spPr>
      </p:sp>
      <p:sp>
        <p:nvSpPr>
          <p:cNvPr id="22" name="Text 20"/>
          <p:cNvSpPr/>
          <p:nvPr/>
        </p:nvSpPr>
        <p:spPr>
          <a:xfrm>
            <a:off x="8485632" y="1266444"/>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CI</a:t>
            </a:r>
            <a:endParaRPr lang="en-US" sz="800" dirty="0"/>
          </a:p>
        </p:txBody>
      </p:sp>
      <p:sp>
        <p:nvSpPr>
          <p:cNvPr id="23" name="Text 21"/>
          <p:cNvSpPr/>
          <p:nvPr/>
        </p:nvSpPr>
        <p:spPr>
          <a:xfrm>
            <a:off x="8979408" y="1179576"/>
            <a:ext cx="228600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D8 CI/CD</a:t>
            </a:r>
            <a:endParaRPr lang="en-US" sz="1250" dirty="0"/>
          </a:p>
        </p:txBody>
      </p:sp>
      <p:sp>
        <p:nvSpPr>
          <p:cNvPr id="24" name="Text 22"/>
          <p:cNvSpPr/>
          <p:nvPr/>
        </p:nvSpPr>
        <p:spPr>
          <a:xfrm>
            <a:off x="8979408" y="1508760"/>
            <a:ext cx="2286000" cy="594360"/>
          </a:xfrm>
          <a:prstGeom prst="rect">
            <a:avLst/>
          </a:prstGeom>
          <a:noFill/>
          <a:ln/>
        </p:spPr>
        <p:txBody>
          <a:bodyPr wrap="square" lIns="635" tIns="635" rIns="635" bIns="635" rtlCol="0" anchor="ctr">
            <a:normAutofit/>
          </a:bodyPr>
          <a:lstStyle/>
          <a:p>
            <a:pPr marL="0" indent="0">
              <a:buNone/>
            </a:pPr>
            <a:r>
              <a:rPr lang="en-US" sz="1040" dirty="0">
                <a:solidFill>
                  <a:srgbClr val="3B4A5E"/>
                </a:solidFill>
                <a:latin typeface="Segoe UI" pitchFamily="34" charset="0"/>
                <a:ea typeface="Segoe UI" pitchFamily="34" charset="-122"/>
                <a:cs typeface="Segoe UI" pitchFamily="34" charset="-120"/>
              </a:rPr>
              <a:t>GitHub Actions deploys Bicep, smoke-tests and runs demo scenarios.</a:t>
            </a:r>
            <a:endParaRPr lang="en-US" sz="1040" dirty="0"/>
          </a:p>
        </p:txBody>
      </p:sp>
      <p:sp>
        <p:nvSpPr>
          <p:cNvPr id="25" name="Shape 23"/>
          <p:cNvSpPr/>
          <p:nvPr/>
        </p:nvSpPr>
        <p:spPr>
          <a:xfrm>
            <a:off x="914400" y="2743200"/>
            <a:ext cx="10287000" cy="1234440"/>
          </a:xfrm>
          <a:prstGeom prst="rect">
            <a:avLst/>
          </a:prstGeom>
          <a:solidFill>
            <a:srgbClr val="06152D"/>
          </a:solidFill>
          <a:ln w="12700">
            <a:solidFill>
              <a:srgbClr val="06152D"/>
            </a:solidFill>
            <a:prstDash val="solid"/>
          </a:ln>
        </p:spPr>
      </p:sp>
      <p:sp>
        <p:nvSpPr>
          <p:cNvPr id="26" name="Text 24"/>
          <p:cNvSpPr/>
          <p:nvPr/>
        </p:nvSpPr>
        <p:spPr>
          <a:xfrm>
            <a:off x="1188720" y="3063240"/>
            <a:ext cx="9784080" cy="475488"/>
          </a:xfrm>
          <a:prstGeom prst="rect">
            <a:avLst/>
          </a:prstGeom>
          <a:noFill/>
          <a:ln/>
        </p:spPr>
        <p:txBody>
          <a:bodyPr wrap="square" lIns="0" tIns="0" rIns="0" bIns="0" rtlCol="0" anchor="ctr">
            <a:normAutofit/>
          </a:bodyPr>
          <a:lstStyle/>
          <a:p>
            <a:pPr marL="0" indent="0">
              <a:buNone/>
            </a:pPr>
            <a:r>
              <a:rPr lang="en-US" sz="1060" dirty="0">
                <a:solidFill>
                  <a:srgbClr val="D7E7F6"/>
                </a:solidFill>
                <a:latin typeface="Consolas" pitchFamily="34" charset="0"/>
                <a:ea typeface="Consolas" pitchFamily="34" charset="-122"/>
                <a:cs typeface="Consolas" pitchFamily="34" charset="-120"/>
              </a:rPr>
              <a:t>AppMetrics | summarize Tokens=sum(Sum) by Product   // Gold, Bronze</a:t>
            </a:r>
            <a:endParaRPr lang="en-US" sz="1060" dirty="0"/>
          </a:p>
          <a:p>
            <a:pPr marL="0" indent="0">
              <a:buNone/>
            </a:pPr>
            <a:r>
              <a:rPr lang="en-US" sz="1060" dirty="0">
                <a:solidFill>
                  <a:srgbClr val="D7E7F6"/>
                </a:solidFill>
                <a:latin typeface="Consolas" pitchFamily="34" charset="0"/>
                <a:ea typeface="Consolas" pitchFamily="34" charset="-122"/>
                <a:cs typeface="Consolas" pitchFamily="34" charset="-120"/>
              </a:rPr>
              <a:t>ApiManagementGatewayLlmLog | summarize Calls=count() by DeploymentName   // gpt-5.4-nano</a:t>
            </a:r>
            <a:endParaRPr lang="en-US" sz="1060" dirty="0"/>
          </a:p>
          <a:p>
            <a:pPr marL="0" indent="0">
              <a:buNone/>
            </a:pPr>
            <a:r>
              <a:rPr lang="en-US" sz="1060" dirty="0">
                <a:solidFill>
                  <a:srgbClr val="D7E7F6"/>
                </a:solidFill>
                <a:latin typeface="Consolas" pitchFamily="34" charset="0"/>
                <a:ea typeface="Consolas" pitchFamily="34" charset="-122"/>
                <a:cs typeface="Consolas" pitchFamily="34" charset="-120"/>
              </a:rPr>
              <a:t>.github/workflows/deploy.yml → deploy → smoke test → run demo</a:t>
            </a:r>
            <a:endParaRPr lang="en-US" sz="1060" dirty="0"/>
          </a:p>
        </p:txBody>
      </p:sp>
      <p:sp>
        <p:nvSpPr>
          <p:cNvPr id="27" name="Text 25"/>
          <p:cNvSpPr/>
          <p:nvPr/>
        </p:nvSpPr>
        <p:spPr>
          <a:xfrm>
            <a:off x="1188720" y="4791456"/>
            <a:ext cx="9692640" cy="219456"/>
          </a:xfrm>
          <a:prstGeom prst="rect">
            <a:avLst/>
          </a:prstGeom>
          <a:noFill/>
          <a:ln/>
        </p:spPr>
        <p:txBody>
          <a:bodyPr wrap="square" lIns="0" tIns="0" rIns="0" bIns="0" rtlCol="0" anchor="ctr"/>
          <a:lstStyle/>
          <a:p>
            <a:pPr marL="0" indent="0" algn="ctr">
              <a:buNone/>
            </a:pPr>
            <a:r>
              <a:rPr lang="en-US" sz="1300" dirty="0">
                <a:solidFill>
                  <a:srgbClr val="0B1E3F"/>
                </a:solidFill>
                <a:latin typeface="Segoe UI Semibold" pitchFamily="34" charset="0"/>
                <a:ea typeface="Segoe UI Semibold" pitchFamily="34" charset="-122"/>
                <a:cs typeface="Segoe UI Semibold" pitchFamily="34" charset="-120"/>
              </a:rPr>
              <a:t>Observability and deployment evidence turn the demo into an operational pattern.</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1E3F"/>
        </a:solidFill>
        <a:effectLst/>
      </p:bgPr>
    </p:bg>
    <p:spTree>
      <p:nvGrpSpPr>
        <p:cNvPr id="1" name=""/>
        <p:cNvGrpSpPr/>
        <p:nvPr/>
      </p:nvGrpSpPr>
      <p:grpSpPr>
        <a:xfrm>
          <a:off x="0" y="0"/>
          <a:ext cx="0" cy="0"/>
          <a:chOff x="0" y="0"/>
          <a:chExt cx="0" cy="0"/>
        </a:xfrm>
      </p:grpSpPr>
      <p:sp>
        <p:nvSpPr>
          <p:cNvPr id="2" name="Shape 0"/>
          <p:cNvSpPr/>
          <p:nvPr/>
        </p:nvSpPr>
        <p:spPr>
          <a:xfrm>
            <a:off x="7955280" y="1508760"/>
            <a:ext cx="164592" cy="4480560"/>
          </a:xfrm>
          <a:prstGeom prst="rect">
            <a:avLst/>
          </a:prstGeom>
          <a:solidFill>
            <a:srgbClr val="00B7C3">
              <a:alpha val="85000"/>
            </a:srgbClr>
          </a:solidFill>
          <a:ln w="12700">
            <a:solidFill>
              <a:srgbClr val="00B7C3">
                <a:alpha val="85000"/>
              </a:srgbClr>
            </a:solidFill>
            <a:prstDash val="solid"/>
          </a:ln>
        </p:spPr>
      </p:sp>
      <p:sp>
        <p:nvSpPr>
          <p:cNvPr id="3" name="Shape 1"/>
          <p:cNvSpPr/>
          <p:nvPr/>
        </p:nvSpPr>
        <p:spPr>
          <a:xfrm>
            <a:off x="10808208" y="1508760"/>
            <a:ext cx="164592" cy="4480560"/>
          </a:xfrm>
          <a:prstGeom prst="rect">
            <a:avLst/>
          </a:prstGeom>
          <a:solidFill>
            <a:srgbClr val="00B7C3">
              <a:alpha val="85000"/>
            </a:srgbClr>
          </a:solidFill>
          <a:ln w="12700">
            <a:solidFill>
              <a:srgbClr val="00B7C3">
                <a:alpha val="85000"/>
              </a:srgbClr>
            </a:solidFill>
            <a:prstDash val="solid"/>
          </a:ln>
        </p:spPr>
      </p:sp>
      <p:sp>
        <p:nvSpPr>
          <p:cNvPr id="4" name="Shape 2"/>
          <p:cNvSpPr/>
          <p:nvPr/>
        </p:nvSpPr>
        <p:spPr>
          <a:xfrm>
            <a:off x="7964424" y="914400"/>
            <a:ext cx="2999232" cy="1234440"/>
          </a:xfrm>
          <a:prstGeom prst="arc">
            <a:avLst/>
          </a:prstGeom>
          <a:solidFill>
            <a:srgbClr val="00B7C3">
              <a:alpha val="0"/>
            </a:srgbClr>
          </a:solidFill>
          <a:ln w="88900">
            <a:solidFill>
              <a:srgbClr val="00B7C3">
                <a:alpha val="85000"/>
              </a:srgbClr>
            </a:solidFill>
            <a:prstDash val="solid"/>
          </a:ln>
        </p:spPr>
      </p:sp>
      <p:sp>
        <p:nvSpPr>
          <p:cNvPr id="5" name="Shape 3"/>
          <p:cNvSpPr/>
          <p:nvPr/>
        </p:nvSpPr>
        <p:spPr>
          <a:xfrm>
            <a:off x="685800" y="749808"/>
            <a:ext cx="658368" cy="658368"/>
          </a:xfrm>
          <a:prstGeom prst="ellipse">
            <a:avLst/>
          </a:prstGeom>
          <a:solidFill>
            <a:srgbClr val="00B7C3"/>
          </a:solidFill>
          <a:ln w="12700">
            <a:solidFill>
              <a:srgbClr val="00B7C3"/>
            </a:solidFill>
            <a:prstDash val="solid"/>
          </a:ln>
        </p:spPr>
      </p:sp>
      <p:sp>
        <p:nvSpPr>
          <p:cNvPr id="6" name="Text 4"/>
          <p:cNvSpPr/>
          <p:nvPr/>
        </p:nvSpPr>
        <p:spPr>
          <a:xfrm>
            <a:off x="685800" y="905256"/>
            <a:ext cx="658368" cy="201168"/>
          </a:xfrm>
          <a:prstGeom prst="rect">
            <a:avLst/>
          </a:prstGeom>
          <a:noFill/>
          <a:ln/>
        </p:spPr>
        <p:txBody>
          <a:bodyPr wrap="square" lIns="0" tIns="0" rIns="0" bIns="0" rtlCol="0" anchor="ctr"/>
          <a:lstStyle/>
          <a:p>
            <a:pPr marL="0" indent="0" algn="ctr">
              <a:buNone/>
            </a:pPr>
            <a:r>
              <a:rPr lang="en-US" sz="1700" dirty="0">
                <a:solidFill>
                  <a:srgbClr val="0B1E3F"/>
                </a:solidFill>
                <a:latin typeface="Segoe UI Semibold" pitchFamily="34" charset="0"/>
                <a:ea typeface="Segoe UI Semibold" pitchFamily="34" charset="-122"/>
                <a:cs typeface="Segoe UI Semibold" pitchFamily="34" charset="-120"/>
              </a:rPr>
              <a:t>06</a:t>
            </a:r>
            <a:endParaRPr lang="en-US" sz="1700" dirty="0"/>
          </a:p>
        </p:txBody>
      </p:sp>
      <p:sp>
        <p:nvSpPr>
          <p:cNvPr id="7" name="Text 5"/>
          <p:cNvSpPr/>
          <p:nvPr/>
        </p:nvSpPr>
        <p:spPr>
          <a:xfrm>
            <a:off x="685800" y="1691640"/>
            <a:ext cx="3840480" cy="237744"/>
          </a:xfrm>
          <a:prstGeom prst="rect">
            <a:avLst/>
          </a:prstGeom>
          <a:noFill/>
          <a:ln/>
        </p:spPr>
        <p:txBody>
          <a:bodyPr wrap="square" lIns="0" tIns="0" rIns="0" bIns="0" rtlCol="0" anchor="ctr"/>
          <a:lstStyle/>
          <a:p>
            <a:pPr marL="0" indent="0">
              <a:buNone/>
            </a:pPr>
            <a:r>
              <a:rPr lang="en-US" sz="1000" kern="0" spc="160" dirty="0">
                <a:solidFill>
                  <a:srgbClr val="00B7C3"/>
                </a:solidFill>
                <a:latin typeface="Segoe UI Semibold" pitchFamily="34" charset="0"/>
                <a:ea typeface="Segoe UI Semibold" pitchFamily="34" charset="-122"/>
                <a:cs typeface="Segoe UI Semibold" pitchFamily="34" charset="-120"/>
              </a:rPr>
              <a:t>SECTION 6</a:t>
            </a:r>
            <a:endParaRPr lang="en-US" sz="1000" dirty="0"/>
          </a:p>
        </p:txBody>
      </p:sp>
      <p:sp>
        <p:nvSpPr>
          <p:cNvPr id="8" name="Text 6"/>
          <p:cNvSpPr/>
          <p:nvPr/>
        </p:nvSpPr>
        <p:spPr>
          <a:xfrm>
            <a:off x="658368" y="2057400"/>
            <a:ext cx="6858000" cy="1097280"/>
          </a:xfrm>
          <a:prstGeom prst="rect">
            <a:avLst/>
          </a:prstGeom>
          <a:noFill/>
          <a:ln/>
        </p:spPr>
        <p:txBody>
          <a:bodyPr wrap="square" lIns="0" tIns="0" rIns="0" bIns="0" rtlCol="0" anchor="ctr">
            <a:normAutofit/>
          </a:bodyPr>
          <a:lstStyle/>
          <a:p>
            <a:pPr marL="0" indent="0">
              <a:buNone/>
            </a:pPr>
            <a:r>
              <a:rPr lang="en-US" sz="3800" dirty="0">
                <a:solidFill>
                  <a:srgbClr val="FFFFFF"/>
                </a:solidFill>
                <a:latin typeface="Segoe UI Semibold" pitchFamily="34" charset="0"/>
                <a:ea typeface="Segoe UI Semibold" pitchFamily="34" charset="-122"/>
                <a:cs typeface="Segoe UI Semibold" pitchFamily="34" charset="-120"/>
              </a:rPr>
              <a:t>Pricing, limits and choosing a tier</a:t>
            </a:r>
            <a:endParaRPr lang="en-US" sz="3800" dirty="0"/>
          </a:p>
        </p:txBody>
      </p:sp>
      <p:sp>
        <p:nvSpPr>
          <p:cNvPr id="9" name="Shape 7"/>
          <p:cNvSpPr/>
          <p:nvPr/>
        </p:nvSpPr>
        <p:spPr>
          <a:xfrm>
            <a:off x="685800" y="3767328"/>
            <a:ext cx="1417320" cy="411480"/>
          </a:xfrm>
          <a:prstGeom prst="roundRect">
            <a:avLst>
              <a:gd name="adj" fmla="val 15556"/>
            </a:avLst>
          </a:prstGeom>
          <a:solidFill>
            <a:srgbClr val="FFB900"/>
          </a:solidFill>
          <a:ln w="12700">
            <a:solidFill>
              <a:srgbClr val="FFB900"/>
            </a:solidFill>
            <a:prstDash val="solid"/>
          </a:ln>
        </p:spPr>
      </p:sp>
      <p:sp>
        <p:nvSpPr>
          <p:cNvPr id="10" name="Text 8"/>
          <p:cNvSpPr/>
          <p:nvPr/>
        </p:nvSpPr>
        <p:spPr>
          <a:xfrm>
            <a:off x="685800" y="3886200"/>
            <a:ext cx="1417320" cy="128016"/>
          </a:xfrm>
          <a:prstGeom prst="rect">
            <a:avLst/>
          </a:prstGeom>
          <a:noFill/>
          <a:ln/>
        </p:spPr>
        <p:txBody>
          <a:bodyPr wrap="square" lIns="0" tIns="0" rIns="0" bIns="0" rtlCol="0" anchor="ctr"/>
          <a:lstStyle/>
          <a:p>
            <a:pPr marL="0" indent="0" algn="ctr">
              <a:buNone/>
            </a:pPr>
            <a:r>
              <a:rPr lang="en-US" sz="1000" dirty="0">
                <a:solidFill>
                  <a:srgbClr val="0B1E3F"/>
                </a:solidFill>
                <a:latin typeface="Segoe UI Semibold" pitchFamily="34" charset="0"/>
                <a:ea typeface="Segoe UI Semibold" pitchFamily="34" charset="-122"/>
                <a:cs typeface="Segoe UI Semibold" pitchFamily="34" charset="-120"/>
              </a:rPr>
              <a:t>65–75 · 10 min</a:t>
            </a:r>
            <a:endParaRPr lang="en-US" sz="1000" dirty="0"/>
          </a:p>
        </p:txBody>
      </p:sp>
      <p:sp>
        <p:nvSpPr>
          <p:cNvPr id="11" name="Text 9"/>
          <p:cNvSpPr/>
          <p:nvPr/>
        </p:nvSpPr>
        <p:spPr>
          <a:xfrm>
            <a:off x="685800" y="6355080"/>
            <a:ext cx="2834640" cy="164592"/>
          </a:xfrm>
          <a:prstGeom prst="rect">
            <a:avLst/>
          </a:prstGeom>
          <a:noFill/>
          <a:ln/>
        </p:spPr>
        <p:txBody>
          <a:bodyPr wrap="square" lIns="0" tIns="0" rIns="0" bIns="0" rtlCol="0" anchor="ctr"/>
          <a:lstStyle/>
          <a:p>
            <a:pPr marL="0" indent="0">
              <a:buNone/>
            </a:pPr>
            <a:r>
              <a:rPr lang="en-US" sz="800" dirty="0">
                <a:solidFill>
                  <a:srgbClr val="AFC3DA"/>
                </a:solidFill>
                <a:latin typeface="Segoe UI" pitchFamily="34" charset="0"/>
                <a:ea typeface="Segoe UI" pitchFamily="34" charset="-122"/>
                <a:cs typeface="Segoe UI" pitchFamily="34" charset="-120"/>
              </a:rPr>
              <a:t>90-minute technical session</a:t>
            </a:r>
            <a:endParaRPr lang="en-US" sz="800" dirty="0"/>
          </a:p>
        </p:txBody>
      </p:sp>
      <p:sp>
        <p:nvSpPr>
          <p:cNvPr id="12" name="Text 10"/>
          <p:cNvSpPr/>
          <p:nvPr/>
        </p:nvSpPr>
        <p:spPr>
          <a:xfrm>
            <a:off x="11292840" y="6355080"/>
            <a:ext cx="365760" cy="164592"/>
          </a:xfrm>
          <a:prstGeom prst="rect">
            <a:avLst/>
          </a:prstGeom>
          <a:noFill/>
          <a:ln/>
        </p:spPr>
        <p:txBody>
          <a:bodyPr wrap="square" lIns="0" tIns="0" rIns="0" bIns="0" rtlCol="0" anchor="ctr"/>
          <a:lstStyle/>
          <a:p>
            <a:pPr marL="0" indent="0" algn="r">
              <a:buNone/>
            </a:pPr>
            <a:r>
              <a:rPr lang="en-US" sz="800" dirty="0">
                <a:solidFill>
                  <a:srgbClr val="AFC3DA"/>
                </a:solidFill>
                <a:latin typeface="Segoe UI Semibold" pitchFamily="34" charset="0"/>
                <a:ea typeface="Segoe UI Semibold" pitchFamily="34" charset="-122"/>
                <a:cs typeface="Segoe UI Semibold" pitchFamily="34" charset="-120"/>
              </a:rPr>
              <a:t>24</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301752"/>
            <a:ext cx="3200400" cy="201168"/>
          </a:xfrm>
          <a:prstGeom prst="rect">
            <a:avLst/>
          </a:prstGeom>
          <a:noFill/>
          <a:ln/>
        </p:spPr>
        <p:txBody>
          <a:bodyPr wrap="square" lIns="0" tIns="0" rIns="0" bIns="0" rtlCol="0" anchor="ctr"/>
          <a:lstStyle/>
          <a:p>
            <a:pPr marL="0" indent="0">
              <a:buNone/>
            </a:pPr>
            <a:r>
              <a:rPr lang="en-US" sz="800" kern="0" spc="120" dirty="0">
                <a:solidFill>
                  <a:srgbClr val="00B7C3"/>
                </a:solidFill>
                <a:latin typeface="Segoe UI Semibold" pitchFamily="34" charset="0"/>
                <a:ea typeface="Segoe UI Semibold" pitchFamily="34" charset="-122"/>
                <a:cs typeface="Segoe UI Semibold" pitchFamily="34" charset="-120"/>
              </a:rPr>
              <a:t>PRICING, LIMITS &amp; TIERING</a:t>
            </a:r>
            <a:endParaRPr lang="en-US" sz="800" dirty="0"/>
          </a:p>
        </p:txBody>
      </p:sp>
      <p:sp>
        <p:nvSpPr>
          <p:cNvPr id="3" name="Text 1"/>
          <p:cNvSpPr/>
          <p:nvPr/>
        </p:nvSpPr>
        <p:spPr>
          <a:xfrm>
            <a:off x="457200" y="521208"/>
            <a:ext cx="7955280" cy="438912"/>
          </a:xfrm>
          <a:prstGeom prst="rect">
            <a:avLst/>
          </a:prstGeom>
          <a:noFill/>
          <a:ln/>
        </p:spPr>
        <p:txBody>
          <a:bodyPr wrap="square" lIns="0" tIns="0" rIns="0" bIns="0" rtlCol="0" anchor="ctr"/>
          <a:lstStyle/>
          <a:p>
            <a:pPr marL="0" indent="0">
              <a:buNone/>
            </a:pPr>
            <a:r>
              <a:rPr lang="en-US" sz="2500" dirty="0">
                <a:solidFill>
                  <a:srgbClr val="0B1E3F"/>
                </a:solidFill>
                <a:latin typeface="Segoe UI Semibold" pitchFamily="34" charset="0"/>
                <a:ea typeface="Segoe UI Semibold" pitchFamily="34" charset="-122"/>
                <a:cs typeface="Segoe UI Semibold" pitchFamily="34" charset="-120"/>
              </a:rPr>
              <a:t>Benefits: controls mapped to outcomes</a:t>
            </a:r>
            <a:endParaRPr lang="en-US" sz="2500" dirty="0"/>
          </a:p>
        </p:txBody>
      </p:sp>
      <p:sp>
        <p:nvSpPr>
          <p:cNvPr id="4" name="Shape 2"/>
          <p:cNvSpPr/>
          <p:nvPr/>
        </p:nvSpPr>
        <p:spPr>
          <a:xfrm>
            <a:off x="10698480" y="118872"/>
            <a:ext cx="1051560" cy="1051560"/>
          </a:xfrm>
          <a:prstGeom prst="arc">
            <a:avLst/>
          </a:prstGeom>
          <a:solidFill>
            <a:srgbClr val="F5F7FA">
              <a:alpha val="0"/>
            </a:srgbClr>
          </a:solidFill>
          <a:ln w="38100">
            <a:solidFill>
              <a:srgbClr val="00B7C3">
                <a:alpha val="90000"/>
              </a:srgbClr>
            </a:solidFill>
            <a:prstDash val="solid"/>
          </a:ln>
        </p:spPr>
      </p:sp>
      <p:sp>
        <p:nvSpPr>
          <p:cNvPr id="5" name="Text 3"/>
          <p:cNvSpPr/>
          <p:nvPr/>
        </p:nvSpPr>
        <p:spPr>
          <a:xfrm>
            <a:off x="457200" y="6473952"/>
            <a:ext cx="7955280" cy="164592"/>
          </a:xfrm>
          <a:prstGeom prst="rect">
            <a:avLst/>
          </a:prstGeom>
          <a:noFill/>
          <a:ln/>
        </p:spPr>
        <p:txBody>
          <a:bodyPr wrap="square" lIns="0" tIns="0" rIns="0" bIns="0" rtlCol="0" anchor="ctr"/>
          <a:lstStyle/>
          <a:p>
            <a:pPr marL="0" indent="0">
              <a:buNone/>
            </a:pPr>
            <a:r>
              <a:rPr lang="en-US" sz="750" dirty="0">
                <a:solidFill>
                  <a:srgbClr val="8A97A8"/>
                </a:solidFill>
                <a:latin typeface="Segoe UI" pitchFamily="34" charset="0"/>
                <a:ea typeface="Segoe UI" pitchFamily="34" charset="-122"/>
                <a:cs typeface="Segoe UI" pitchFamily="34" charset="-120"/>
              </a:rPr>
              <a:t>Azure API Management AI Gateway — Oct 2026</a:t>
            </a:r>
            <a:endParaRPr lang="en-US" sz="750" dirty="0"/>
          </a:p>
        </p:txBody>
      </p:sp>
      <p:sp>
        <p:nvSpPr>
          <p:cNvPr id="6" name="Text 4"/>
          <p:cNvSpPr/>
          <p:nvPr/>
        </p:nvSpPr>
        <p:spPr>
          <a:xfrm>
            <a:off x="11430000" y="6446520"/>
            <a:ext cx="320040" cy="164592"/>
          </a:xfrm>
          <a:prstGeom prst="rect">
            <a:avLst/>
          </a:prstGeom>
          <a:noFill/>
          <a:ln/>
        </p:spPr>
        <p:txBody>
          <a:bodyPr wrap="square" lIns="0" tIns="0" rIns="0" bIns="0" rtlCol="0" anchor="ctr"/>
          <a:lstStyle/>
          <a:p>
            <a:pPr marL="0" indent="0" algn="r">
              <a:buNone/>
            </a:pPr>
            <a:r>
              <a:rPr lang="en-US" sz="800" dirty="0">
                <a:solidFill>
                  <a:srgbClr val="8A97A8"/>
                </a:solidFill>
                <a:latin typeface="Segoe UI Semibold" pitchFamily="34" charset="0"/>
                <a:ea typeface="Segoe UI Semibold" pitchFamily="34" charset="-122"/>
                <a:cs typeface="Segoe UI Semibold" pitchFamily="34" charset="-120"/>
              </a:rPr>
              <a:t>25</a:t>
            </a:r>
            <a:endParaRPr lang="en-US" sz="800" dirty="0"/>
          </a:p>
        </p:txBody>
      </p:sp>
      <p:sp>
        <p:nvSpPr>
          <p:cNvPr id="7" name="Shape 5"/>
          <p:cNvSpPr/>
          <p:nvPr/>
        </p:nvSpPr>
        <p:spPr>
          <a:xfrm>
            <a:off x="658368" y="1078992"/>
            <a:ext cx="3337560" cy="1252728"/>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8" name="Shape 6"/>
          <p:cNvSpPr/>
          <p:nvPr/>
        </p:nvSpPr>
        <p:spPr>
          <a:xfrm>
            <a:off x="658368" y="1078992"/>
            <a:ext cx="73152" cy="1252728"/>
          </a:xfrm>
          <a:prstGeom prst="rect">
            <a:avLst/>
          </a:prstGeom>
          <a:solidFill>
            <a:srgbClr val="00B7C3"/>
          </a:solidFill>
          <a:ln w="12700">
            <a:solidFill>
              <a:srgbClr val="00B7C3"/>
            </a:solidFill>
            <a:prstDash val="solid"/>
          </a:ln>
        </p:spPr>
      </p:sp>
      <p:sp>
        <p:nvSpPr>
          <p:cNvPr id="9" name="Shape 7"/>
          <p:cNvSpPr/>
          <p:nvPr/>
        </p:nvSpPr>
        <p:spPr>
          <a:xfrm>
            <a:off x="822960" y="1234440"/>
            <a:ext cx="393192" cy="393192"/>
          </a:xfrm>
          <a:prstGeom prst="ellipse">
            <a:avLst/>
          </a:prstGeom>
          <a:solidFill>
            <a:srgbClr val="00B7C3"/>
          </a:solidFill>
          <a:ln w="12700">
            <a:solidFill>
              <a:srgbClr val="00B7C3"/>
            </a:solidFill>
            <a:prstDash val="solid"/>
          </a:ln>
        </p:spPr>
      </p:sp>
      <p:sp>
        <p:nvSpPr>
          <p:cNvPr id="10" name="Text 8"/>
          <p:cNvSpPr/>
          <p:nvPr/>
        </p:nvSpPr>
        <p:spPr>
          <a:xfrm>
            <a:off x="822960" y="1293876"/>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1</a:t>
            </a:r>
            <a:endParaRPr lang="en-US" sz="800" dirty="0"/>
          </a:p>
        </p:txBody>
      </p:sp>
      <p:sp>
        <p:nvSpPr>
          <p:cNvPr id="11" name="Text 9"/>
          <p:cNvSpPr/>
          <p:nvPr/>
        </p:nvSpPr>
        <p:spPr>
          <a:xfrm>
            <a:off x="1316736" y="1207008"/>
            <a:ext cx="251460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Governance</a:t>
            </a:r>
            <a:endParaRPr lang="en-US" sz="1250" dirty="0"/>
          </a:p>
        </p:txBody>
      </p:sp>
      <p:sp>
        <p:nvSpPr>
          <p:cNvPr id="12" name="Text 10"/>
          <p:cNvSpPr/>
          <p:nvPr/>
        </p:nvSpPr>
        <p:spPr>
          <a:xfrm>
            <a:off x="1316736" y="1536192"/>
            <a:ext cx="2514600" cy="704088"/>
          </a:xfrm>
          <a:prstGeom prst="rect">
            <a:avLst/>
          </a:prstGeom>
          <a:noFill/>
          <a:ln/>
        </p:spPr>
        <p:txBody>
          <a:bodyPr wrap="square" lIns="635" tIns="635" rIns="635" bIns="635" rtlCol="0" anchor="ctr">
            <a:normAutofit/>
          </a:bodyPr>
          <a:lstStyle/>
          <a:p>
            <a:pPr marL="0" indent="0">
              <a:buNone/>
            </a:pPr>
            <a:r>
              <a:rPr lang="en-US" sz="890" dirty="0">
                <a:solidFill>
                  <a:srgbClr val="3B4A5E"/>
                </a:solidFill>
                <a:latin typeface="Segoe UI" pitchFamily="34" charset="0"/>
                <a:ea typeface="Segoe UI" pitchFamily="34" charset="-122"/>
                <a:cs typeface="Segoe UI" pitchFamily="34" charset="-120"/>
              </a:rPr>
              <a:t>One policy baseline for models, MCP tools and agents.</a:t>
            </a:r>
            <a:endParaRPr lang="en-US" sz="890" dirty="0"/>
          </a:p>
          <a:p>
            <a:pPr marL="0" indent="0">
              <a:buNone/>
            </a:pPr>
            <a:r>
              <a:rPr lang="en-US" sz="890" dirty="0">
                <a:solidFill>
                  <a:srgbClr val="3B4A5E"/>
                </a:solidFill>
                <a:latin typeface="Segoe UI" pitchFamily="34" charset="0"/>
                <a:ea typeface="Segoe UI" pitchFamily="34" charset="-122"/>
                <a:cs typeface="Segoe UI" pitchFamily="34" charset="-120"/>
              </a:rPr>
              <a:t>Outcome: Fewer exceptions</a:t>
            </a:r>
            <a:endParaRPr lang="en-US" sz="890" dirty="0"/>
          </a:p>
        </p:txBody>
      </p:sp>
      <p:sp>
        <p:nvSpPr>
          <p:cNvPr id="13" name="Shape 11"/>
          <p:cNvSpPr/>
          <p:nvPr/>
        </p:nvSpPr>
        <p:spPr>
          <a:xfrm>
            <a:off x="4407408" y="1078992"/>
            <a:ext cx="3337560" cy="1252728"/>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14" name="Shape 12"/>
          <p:cNvSpPr/>
          <p:nvPr/>
        </p:nvSpPr>
        <p:spPr>
          <a:xfrm>
            <a:off x="4407408" y="1078992"/>
            <a:ext cx="73152" cy="1252728"/>
          </a:xfrm>
          <a:prstGeom prst="rect">
            <a:avLst/>
          </a:prstGeom>
          <a:solidFill>
            <a:srgbClr val="0078D4"/>
          </a:solidFill>
          <a:ln w="12700">
            <a:solidFill>
              <a:srgbClr val="0078D4"/>
            </a:solidFill>
            <a:prstDash val="solid"/>
          </a:ln>
        </p:spPr>
      </p:sp>
      <p:sp>
        <p:nvSpPr>
          <p:cNvPr id="15" name="Shape 13"/>
          <p:cNvSpPr/>
          <p:nvPr/>
        </p:nvSpPr>
        <p:spPr>
          <a:xfrm>
            <a:off x="4572000" y="1234440"/>
            <a:ext cx="393192" cy="393192"/>
          </a:xfrm>
          <a:prstGeom prst="ellipse">
            <a:avLst/>
          </a:prstGeom>
          <a:solidFill>
            <a:srgbClr val="0078D4"/>
          </a:solidFill>
          <a:ln w="12700">
            <a:solidFill>
              <a:srgbClr val="0078D4"/>
            </a:solidFill>
            <a:prstDash val="solid"/>
          </a:ln>
        </p:spPr>
      </p:sp>
      <p:sp>
        <p:nvSpPr>
          <p:cNvPr id="16" name="Text 14"/>
          <p:cNvSpPr/>
          <p:nvPr/>
        </p:nvSpPr>
        <p:spPr>
          <a:xfrm>
            <a:off x="4572000" y="1293876"/>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2</a:t>
            </a:r>
            <a:endParaRPr lang="en-US" sz="800" dirty="0"/>
          </a:p>
        </p:txBody>
      </p:sp>
      <p:sp>
        <p:nvSpPr>
          <p:cNvPr id="17" name="Text 15"/>
          <p:cNvSpPr/>
          <p:nvPr/>
        </p:nvSpPr>
        <p:spPr>
          <a:xfrm>
            <a:off x="5065776" y="1207008"/>
            <a:ext cx="251460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Cost control / chargeback</a:t>
            </a:r>
            <a:endParaRPr lang="en-US" sz="1250" dirty="0"/>
          </a:p>
        </p:txBody>
      </p:sp>
      <p:sp>
        <p:nvSpPr>
          <p:cNvPr id="18" name="Text 16"/>
          <p:cNvSpPr/>
          <p:nvPr/>
        </p:nvSpPr>
        <p:spPr>
          <a:xfrm>
            <a:off x="5065776" y="1536192"/>
            <a:ext cx="2514600" cy="704088"/>
          </a:xfrm>
          <a:prstGeom prst="rect">
            <a:avLst/>
          </a:prstGeom>
          <a:noFill/>
          <a:ln/>
        </p:spPr>
        <p:txBody>
          <a:bodyPr wrap="square" lIns="635" tIns="635" rIns="635" bIns="635" rtlCol="0" anchor="ctr">
            <a:normAutofit/>
          </a:bodyPr>
          <a:lstStyle/>
          <a:p>
            <a:pPr marL="0" indent="0">
              <a:buNone/>
            </a:pPr>
            <a:r>
              <a:rPr lang="en-US" sz="890" dirty="0">
                <a:solidFill>
                  <a:srgbClr val="3B4A5E"/>
                </a:solidFill>
                <a:latin typeface="Segoe UI" pitchFamily="34" charset="0"/>
                <a:ea typeface="Segoe UI" pitchFamily="34" charset="-122"/>
                <a:cs typeface="Segoe UI" pitchFamily="34" charset="-120"/>
              </a:rPr>
              <a:t>Token budgets, semantic caching and FinOps dashboards.</a:t>
            </a:r>
            <a:endParaRPr lang="en-US" sz="890" dirty="0"/>
          </a:p>
          <a:p>
            <a:pPr marL="0" indent="0">
              <a:buNone/>
            </a:pPr>
            <a:r>
              <a:rPr lang="en-US" sz="890" dirty="0">
                <a:solidFill>
                  <a:srgbClr val="3B4A5E"/>
                </a:solidFill>
                <a:latin typeface="Segoe UI" pitchFamily="34" charset="0"/>
                <a:ea typeface="Segoe UI" pitchFamily="34" charset="-122"/>
                <a:cs typeface="Segoe UI" pitchFamily="34" charset="-120"/>
              </a:rPr>
              <a:t>Outcome: Accountable spend</a:t>
            </a:r>
            <a:endParaRPr lang="en-US" sz="890" dirty="0"/>
          </a:p>
        </p:txBody>
      </p:sp>
      <p:sp>
        <p:nvSpPr>
          <p:cNvPr id="19" name="Shape 17"/>
          <p:cNvSpPr/>
          <p:nvPr/>
        </p:nvSpPr>
        <p:spPr>
          <a:xfrm>
            <a:off x="8156448" y="1078992"/>
            <a:ext cx="3337560" cy="1252728"/>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20" name="Shape 18"/>
          <p:cNvSpPr/>
          <p:nvPr/>
        </p:nvSpPr>
        <p:spPr>
          <a:xfrm>
            <a:off x="8156448" y="1078992"/>
            <a:ext cx="73152" cy="1252728"/>
          </a:xfrm>
          <a:prstGeom prst="rect">
            <a:avLst/>
          </a:prstGeom>
          <a:solidFill>
            <a:srgbClr val="FFB900"/>
          </a:solidFill>
          <a:ln w="12700">
            <a:solidFill>
              <a:srgbClr val="FFB900"/>
            </a:solidFill>
            <a:prstDash val="solid"/>
          </a:ln>
        </p:spPr>
      </p:sp>
      <p:sp>
        <p:nvSpPr>
          <p:cNvPr id="21" name="Shape 19"/>
          <p:cNvSpPr/>
          <p:nvPr/>
        </p:nvSpPr>
        <p:spPr>
          <a:xfrm>
            <a:off x="8321040" y="1234440"/>
            <a:ext cx="393192" cy="393192"/>
          </a:xfrm>
          <a:prstGeom prst="ellipse">
            <a:avLst/>
          </a:prstGeom>
          <a:solidFill>
            <a:srgbClr val="FFB900"/>
          </a:solidFill>
          <a:ln w="12700">
            <a:solidFill>
              <a:srgbClr val="FFB900"/>
            </a:solidFill>
            <a:prstDash val="solid"/>
          </a:ln>
        </p:spPr>
      </p:sp>
      <p:sp>
        <p:nvSpPr>
          <p:cNvPr id="22" name="Text 20"/>
          <p:cNvSpPr/>
          <p:nvPr/>
        </p:nvSpPr>
        <p:spPr>
          <a:xfrm>
            <a:off x="8321040" y="1293876"/>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3</a:t>
            </a:r>
            <a:endParaRPr lang="en-US" sz="800" dirty="0"/>
          </a:p>
        </p:txBody>
      </p:sp>
      <p:sp>
        <p:nvSpPr>
          <p:cNvPr id="23" name="Text 21"/>
          <p:cNvSpPr/>
          <p:nvPr/>
        </p:nvSpPr>
        <p:spPr>
          <a:xfrm>
            <a:off x="8814816" y="1207008"/>
            <a:ext cx="251460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Resiliency</a:t>
            </a:r>
            <a:endParaRPr lang="en-US" sz="1250" dirty="0"/>
          </a:p>
        </p:txBody>
      </p:sp>
      <p:sp>
        <p:nvSpPr>
          <p:cNvPr id="24" name="Text 22"/>
          <p:cNvSpPr/>
          <p:nvPr/>
        </p:nvSpPr>
        <p:spPr>
          <a:xfrm>
            <a:off x="8814816" y="1536192"/>
            <a:ext cx="2514600" cy="704088"/>
          </a:xfrm>
          <a:prstGeom prst="rect">
            <a:avLst/>
          </a:prstGeom>
          <a:noFill/>
          <a:ln/>
        </p:spPr>
        <p:txBody>
          <a:bodyPr wrap="square" lIns="635" tIns="635" rIns="635" bIns="635" rtlCol="0" anchor="ctr">
            <a:normAutofit/>
          </a:bodyPr>
          <a:lstStyle/>
          <a:p>
            <a:pPr marL="0" indent="0">
              <a:buNone/>
            </a:pPr>
            <a:r>
              <a:rPr lang="en-US" sz="890" dirty="0">
                <a:solidFill>
                  <a:srgbClr val="3B4A5E"/>
                </a:solidFill>
                <a:latin typeface="Segoe UI" pitchFamily="34" charset="0"/>
                <a:ea typeface="Segoe UI" pitchFamily="34" charset="-122"/>
                <a:cs typeface="Segoe UI" pitchFamily="34" charset="-120"/>
              </a:rPr>
              <a:t>Backend pools, circuit breaker and retry absorb 429/5xx.</a:t>
            </a:r>
            <a:endParaRPr lang="en-US" sz="890" dirty="0"/>
          </a:p>
          <a:p>
            <a:pPr marL="0" indent="0">
              <a:buNone/>
            </a:pPr>
            <a:r>
              <a:rPr lang="en-US" sz="890" dirty="0">
                <a:solidFill>
                  <a:srgbClr val="3B4A5E"/>
                </a:solidFill>
                <a:latin typeface="Segoe UI" pitchFamily="34" charset="0"/>
                <a:ea typeface="Segoe UI" pitchFamily="34" charset="-122"/>
                <a:cs typeface="Segoe UI" pitchFamily="34" charset="-120"/>
              </a:rPr>
              <a:t>Outcome: Higher availability</a:t>
            </a:r>
            <a:endParaRPr lang="en-US" sz="890" dirty="0"/>
          </a:p>
        </p:txBody>
      </p:sp>
      <p:sp>
        <p:nvSpPr>
          <p:cNvPr id="25" name="Shape 23"/>
          <p:cNvSpPr/>
          <p:nvPr/>
        </p:nvSpPr>
        <p:spPr>
          <a:xfrm>
            <a:off x="658368" y="2953512"/>
            <a:ext cx="3337560" cy="1252728"/>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26" name="Shape 24"/>
          <p:cNvSpPr/>
          <p:nvPr/>
        </p:nvSpPr>
        <p:spPr>
          <a:xfrm>
            <a:off x="658368" y="2953512"/>
            <a:ext cx="73152" cy="1252728"/>
          </a:xfrm>
          <a:prstGeom prst="rect">
            <a:avLst/>
          </a:prstGeom>
          <a:solidFill>
            <a:srgbClr val="00B7C3"/>
          </a:solidFill>
          <a:ln w="12700">
            <a:solidFill>
              <a:srgbClr val="00B7C3"/>
            </a:solidFill>
            <a:prstDash val="solid"/>
          </a:ln>
        </p:spPr>
      </p:sp>
      <p:sp>
        <p:nvSpPr>
          <p:cNvPr id="27" name="Shape 25"/>
          <p:cNvSpPr/>
          <p:nvPr/>
        </p:nvSpPr>
        <p:spPr>
          <a:xfrm>
            <a:off x="822960" y="3108960"/>
            <a:ext cx="393192" cy="393192"/>
          </a:xfrm>
          <a:prstGeom prst="ellipse">
            <a:avLst/>
          </a:prstGeom>
          <a:solidFill>
            <a:srgbClr val="00B7C3"/>
          </a:solidFill>
          <a:ln w="12700">
            <a:solidFill>
              <a:srgbClr val="00B7C3"/>
            </a:solidFill>
            <a:prstDash val="solid"/>
          </a:ln>
        </p:spPr>
      </p:sp>
      <p:sp>
        <p:nvSpPr>
          <p:cNvPr id="28" name="Text 26"/>
          <p:cNvSpPr/>
          <p:nvPr/>
        </p:nvSpPr>
        <p:spPr>
          <a:xfrm>
            <a:off x="822960" y="3168396"/>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4</a:t>
            </a:r>
            <a:endParaRPr lang="en-US" sz="800" dirty="0"/>
          </a:p>
        </p:txBody>
      </p:sp>
      <p:sp>
        <p:nvSpPr>
          <p:cNvPr id="29" name="Text 27"/>
          <p:cNvSpPr/>
          <p:nvPr/>
        </p:nvSpPr>
        <p:spPr>
          <a:xfrm>
            <a:off x="1316736" y="3081528"/>
            <a:ext cx="251460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Security</a:t>
            </a:r>
            <a:endParaRPr lang="en-US" sz="1250" dirty="0"/>
          </a:p>
        </p:txBody>
      </p:sp>
      <p:sp>
        <p:nvSpPr>
          <p:cNvPr id="30" name="Text 28"/>
          <p:cNvSpPr/>
          <p:nvPr/>
        </p:nvSpPr>
        <p:spPr>
          <a:xfrm>
            <a:off x="1316736" y="3410712"/>
            <a:ext cx="2514600" cy="704088"/>
          </a:xfrm>
          <a:prstGeom prst="rect">
            <a:avLst/>
          </a:prstGeom>
          <a:noFill/>
          <a:ln/>
        </p:spPr>
        <p:txBody>
          <a:bodyPr wrap="square" lIns="635" tIns="635" rIns="635" bIns="635" rtlCol="0" anchor="ctr">
            <a:normAutofit/>
          </a:bodyPr>
          <a:lstStyle/>
          <a:p>
            <a:pPr marL="0" indent="0">
              <a:buNone/>
            </a:pPr>
            <a:r>
              <a:rPr lang="en-US" sz="890" dirty="0">
                <a:solidFill>
                  <a:srgbClr val="3B4A5E"/>
                </a:solidFill>
                <a:latin typeface="Segoe UI" pitchFamily="34" charset="0"/>
                <a:ea typeface="Segoe UI" pitchFamily="34" charset="-122"/>
                <a:cs typeface="Segoe UI" pitchFamily="34" charset="-120"/>
              </a:rPr>
              <a:t>Managed identity, OAuth/JWT and content safety remove sprawl.</a:t>
            </a:r>
            <a:endParaRPr lang="en-US" sz="890" dirty="0"/>
          </a:p>
          <a:p>
            <a:pPr marL="0" indent="0">
              <a:buNone/>
            </a:pPr>
            <a:r>
              <a:rPr lang="en-US" sz="890" dirty="0">
                <a:solidFill>
                  <a:srgbClr val="3B4A5E"/>
                </a:solidFill>
                <a:latin typeface="Segoe UI" pitchFamily="34" charset="0"/>
                <a:ea typeface="Segoe UI" pitchFamily="34" charset="-122"/>
                <a:cs typeface="Segoe UI" pitchFamily="34" charset="-120"/>
              </a:rPr>
              <a:t>Outcome: Reduced risk</a:t>
            </a:r>
            <a:endParaRPr lang="en-US" sz="890" dirty="0"/>
          </a:p>
        </p:txBody>
      </p:sp>
      <p:sp>
        <p:nvSpPr>
          <p:cNvPr id="31" name="Shape 29"/>
          <p:cNvSpPr/>
          <p:nvPr/>
        </p:nvSpPr>
        <p:spPr>
          <a:xfrm>
            <a:off x="4407408" y="2953512"/>
            <a:ext cx="3337560" cy="1252728"/>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32" name="Shape 30"/>
          <p:cNvSpPr/>
          <p:nvPr/>
        </p:nvSpPr>
        <p:spPr>
          <a:xfrm>
            <a:off x="4407408" y="2953512"/>
            <a:ext cx="73152" cy="1252728"/>
          </a:xfrm>
          <a:prstGeom prst="rect">
            <a:avLst/>
          </a:prstGeom>
          <a:solidFill>
            <a:srgbClr val="0078D4"/>
          </a:solidFill>
          <a:ln w="12700">
            <a:solidFill>
              <a:srgbClr val="0078D4"/>
            </a:solidFill>
            <a:prstDash val="solid"/>
          </a:ln>
        </p:spPr>
      </p:sp>
      <p:sp>
        <p:nvSpPr>
          <p:cNvPr id="33" name="Shape 31"/>
          <p:cNvSpPr/>
          <p:nvPr/>
        </p:nvSpPr>
        <p:spPr>
          <a:xfrm>
            <a:off x="4572000" y="3108960"/>
            <a:ext cx="393192" cy="393192"/>
          </a:xfrm>
          <a:prstGeom prst="ellipse">
            <a:avLst/>
          </a:prstGeom>
          <a:solidFill>
            <a:srgbClr val="0078D4"/>
          </a:solidFill>
          <a:ln w="12700">
            <a:solidFill>
              <a:srgbClr val="0078D4"/>
            </a:solidFill>
            <a:prstDash val="solid"/>
          </a:ln>
        </p:spPr>
      </p:sp>
      <p:sp>
        <p:nvSpPr>
          <p:cNvPr id="34" name="Text 32"/>
          <p:cNvSpPr/>
          <p:nvPr/>
        </p:nvSpPr>
        <p:spPr>
          <a:xfrm>
            <a:off x="4572000" y="3168396"/>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5</a:t>
            </a:r>
            <a:endParaRPr lang="en-US" sz="800" dirty="0"/>
          </a:p>
        </p:txBody>
      </p:sp>
      <p:sp>
        <p:nvSpPr>
          <p:cNvPr id="35" name="Text 33"/>
          <p:cNvSpPr/>
          <p:nvPr/>
        </p:nvSpPr>
        <p:spPr>
          <a:xfrm>
            <a:off x="5065776" y="3081528"/>
            <a:ext cx="251460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Observability</a:t>
            </a:r>
            <a:endParaRPr lang="en-US" sz="1250" dirty="0"/>
          </a:p>
        </p:txBody>
      </p:sp>
      <p:sp>
        <p:nvSpPr>
          <p:cNvPr id="36" name="Text 34"/>
          <p:cNvSpPr/>
          <p:nvPr/>
        </p:nvSpPr>
        <p:spPr>
          <a:xfrm>
            <a:off x="5065776" y="3410712"/>
            <a:ext cx="2514600" cy="704088"/>
          </a:xfrm>
          <a:prstGeom prst="rect">
            <a:avLst/>
          </a:prstGeom>
          <a:noFill/>
          <a:ln/>
        </p:spPr>
        <p:txBody>
          <a:bodyPr wrap="square" lIns="635" tIns="635" rIns="635" bIns="635" rtlCol="0" anchor="ctr">
            <a:normAutofit/>
          </a:bodyPr>
          <a:lstStyle/>
          <a:p>
            <a:pPr marL="0" indent="0">
              <a:buNone/>
            </a:pPr>
            <a:r>
              <a:rPr lang="en-US" sz="890" dirty="0">
                <a:solidFill>
                  <a:srgbClr val="3B4A5E"/>
                </a:solidFill>
                <a:latin typeface="Segoe UI" pitchFamily="34" charset="0"/>
                <a:ea typeface="Segoe UI" pitchFamily="34" charset="-122"/>
                <a:cs typeface="Segoe UI" pitchFamily="34" charset="-120"/>
              </a:rPr>
              <a:t>Token metrics and LLM logs explain usage and behavior.</a:t>
            </a:r>
            <a:endParaRPr lang="en-US" sz="890" dirty="0"/>
          </a:p>
          <a:p>
            <a:pPr marL="0" indent="0">
              <a:buNone/>
            </a:pPr>
            <a:r>
              <a:rPr lang="en-US" sz="890" dirty="0">
                <a:solidFill>
                  <a:srgbClr val="3B4A5E"/>
                </a:solidFill>
                <a:latin typeface="Segoe UI" pitchFamily="34" charset="0"/>
                <a:ea typeface="Segoe UI" pitchFamily="34" charset="-122"/>
                <a:cs typeface="Segoe UI" pitchFamily="34" charset="-120"/>
              </a:rPr>
              <a:t>Outcome: Better decisions</a:t>
            </a:r>
            <a:endParaRPr lang="en-US" sz="890" dirty="0"/>
          </a:p>
        </p:txBody>
      </p:sp>
      <p:sp>
        <p:nvSpPr>
          <p:cNvPr id="37" name="Shape 35"/>
          <p:cNvSpPr/>
          <p:nvPr/>
        </p:nvSpPr>
        <p:spPr>
          <a:xfrm>
            <a:off x="8156448" y="2953512"/>
            <a:ext cx="3337560" cy="1252728"/>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38" name="Shape 36"/>
          <p:cNvSpPr/>
          <p:nvPr/>
        </p:nvSpPr>
        <p:spPr>
          <a:xfrm>
            <a:off x="8156448" y="2953512"/>
            <a:ext cx="73152" cy="1252728"/>
          </a:xfrm>
          <a:prstGeom prst="rect">
            <a:avLst/>
          </a:prstGeom>
          <a:solidFill>
            <a:srgbClr val="FFB900"/>
          </a:solidFill>
          <a:ln w="12700">
            <a:solidFill>
              <a:srgbClr val="FFB900"/>
            </a:solidFill>
            <a:prstDash val="solid"/>
          </a:ln>
        </p:spPr>
      </p:sp>
      <p:sp>
        <p:nvSpPr>
          <p:cNvPr id="39" name="Shape 37"/>
          <p:cNvSpPr/>
          <p:nvPr/>
        </p:nvSpPr>
        <p:spPr>
          <a:xfrm>
            <a:off x="8321040" y="3108960"/>
            <a:ext cx="393192" cy="393192"/>
          </a:xfrm>
          <a:prstGeom prst="ellipse">
            <a:avLst/>
          </a:prstGeom>
          <a:solidFill>
            <a:srgbClr val="FFB900"/>
          </a:solidFill>
          <a:ln w="12700">
            <a:solidFill>
              <a:srgbClr val="FFB900"/>
            </a:solidFill>
            <a:prstDash val="solid"/>
          </a:ln>
        </p:spPr>
      </p:sp>
      <p:sp>
        <p:nvSpPr>
          <p:cNvPr id="40" name="Text 38"/>
          <p:cNvSpPr/>
          <p:nvPr/>
        </p:nvSpPr>
        <p:spPr>
          <a:xfrm>
            <a:off x="8321040" y="3168396"/>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6</a:t>
            </a:r>
            <a:endParaRPr lang="en-US" sz="800" dirty="0"/>
          </a:p>
        </p:txBody>
      </p:sp>
      <p:sp>
        <p:nvSpPr>
          <p:cNvPr id="41" name="Text 39"/>
          <p:cNvSpPr/>
          <p:nvPr/>
        </p:nvSpPr>
        <p:spPr>
          <a:xfrm>
            <a:off x="8814816" y="3081528"/>
            <a:ext cx="251460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Developer self-service</a:t>
            </a:r>
            <a:endParaRPr lang="en-US" sz="1250" dirty="0"/>
          </a:p>
        </p:txBody>
      </p:sp>
      <p:sp>
        <p:nvSpPr>
          <p:cNvPr id="42" name="Text 40"/>
          <p:cNvSpPr/>
          <p:nvPr/>
        </p:nvSpPr>
        <p:spPr>
          <a:xfrm>
            <a:off x="8814816" y="3410712"/>
            <a:ext cx="2514600" cy="704088"/>
          </a:xfrm>
          <a:prstGeom prst="rect">
            <a:avLst/>
          </a:prstGeom>
          <a:noFill/>
          <a:ln/>
        </p:spPr>
        <p:txBody>
          <a:bodyPr wrap="square" lIns="635" tIns="635" rIns="635" bIns="635" rtlCol="0" anchor="ctr">
            <a:normAutofit/>
          </a:bodyPr>
          <a:lstStyle/>
          <a:p>
            <a:pPr marL="0" indent="0">
              <a:buNone/>
            </a:pPr>
            <a:r>
              <a:rPr lang="en-US" sz="890" dirty="0">
                <a:solidFill>
                  <a:srgbClr val="3B4A5E"/>
                </a:solidFill>
                <a:latin typeface="Segoe UI" pitchFamily="34" charset="0"/>
                <a:ea typeface="Segoe UI" pitchFamily="34" charset="-122"/>
                <a:cs typeface="Segoe UI" pitchFamily="34" charset="-120"/>
              </a:rPr>
              <a:t>Products, subscriptions, portal and API Center.</a:t>
            </a:r>
            <a:endParaRPr lang="en-US" sz="890" dirty="0"/>
          </a:p>
          <a:p>
            <a:pPr marL="0" indent="0">
              <a:buNone/>
            </a:pPr>
            <a:r>
              <a:rPr lang="en-US" sz="890" dirty="0">
                <a:solidFill>
                  <a:srgbClr val="3B4A5E"/>
                </a:solidFill>
                <a:latin typeface="Segoe UI" pitchFamily="34" charset="0"/>
                <a:ea typeface="Segoe UI" pitchFamily="34" charset="-122"/>
                <a:cs typeface="Segoe UI" pitchFamily="34" charset="-120"/>
              </a:rPr>
              <a:t>Outcome: Faster delivery</a:t>
            </a:r>
            <a:endParaRPr lang="en-US" sz="890" dirty="0"/>
          </a:p>
        </p:txBody>
      </p:sp>
      <p:sp>
        <p:nvSpPr>
          <p:cNvPr id="43" name="Text 41"/>
          <p:cNvSpPr/>
          <p:nvPr/>
        </p:nvSpPr>
        <p:spPr>
          <a:xfrm>
            <a:off x="2194560" y="5257800"/>
            <a:ext cx="7772400" cy="320040"/>
          </a:xfrm>
          <a:prstGeom prst="rect">
            <a:avLst/>
          </a:prstGeom>
          <a:noFill/>
          <a:ln/>
        </p:spPr>
        <p:txBody>
          <a:bodyPr wrap="square" lIns="0" tIns="0" rIns="0" bIns="0" rtlCol="0" anchor="ctr"/>
          <a:lstStyle/>
          <a:p>
            <a:pPr marL="0" indent="0" algn="ctr">
              <a:buNone/>
            </a:pPr>
            <a:r>
              <a:rPr lang="en-US" sz="1700" dirty="0">
                <a:solidFill>
                  <a:srgbClr val="0B1E3F"/>
                </a:solidFill>
                <a:latin typeface="Segoe UI Semibold" pitchFamily="34" charset="0"/>
                <a:ea typeface="Segoe UI Semibold" pitchFamily="34" charset="-122"/>
                <a:cs typeface="Segoe UI Semibold" pitchFamily="34" charset="-120"/>
              </a:rPr>
              <a:t>The gateway is an operating model, not just a network hop.</a:t>
            </a:r>
            <a:endParaRPr lang="en-US" sz="1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301752"/>
            <a:ext cx="3200400" cy="201168"/>
          </a:xfrm>
          <a:prstGeom prst="rect">
            <a:avLst/>
          </a:prstGeom>
          <a:noFill/>
          <a:ln/>
        </p:spPr>
        <p:txBody>
          <a:bodyPr wrap="square" lIns="0" tIns="0" rIns="0" bIns="0" rtlCol="0" anchor="ctr"/>
          <a:lstStyle/>
          <a:p>
            <a:pPr marL="0" indent="0">
              <a:buNone/>
            </a:pPr>
            <a:r>
              <a:rPr lang="en-US" sz="800" kern="0" spc="120" dirty="0">
                <a:solidFill>
                  <a:srgbClr val="00B7C3"/>
                </a:solidFill>
                <a:latin typeface="Segoe UI Semibold" pitchFamily="34" charset="0"/>
                <a:ea typeface="Segoe UI Semibold" pitchFamily="34" charset="-122"/>
                <a:cs typeface="Segoe UI Semibold" pitchFamily="34" charset="-120"/>
              </a:rPr>
              <a:t>VERIFY IN CALCULATOR</a:t>
            </a:r>
            <a:endParaRPr lang="en-US" sz="800" dirty="0"/>
          </a:p>
        </p:txBody>
      </p:sp>
      <p:sp>
        <p:nvSpPr>
          <p:cNvPr id="3" name="Text 1"/>
          <p:cNvSpPr/>
          <p:nvPr/>
        </p:nvSpPr>
        <p:spPr>
          <a:xfrm>
            <a:off x="457200" y="521208"/>
            <a:ext cx="7955280" cy="438912"/>
          </a:xfrm>
          <a:prstGeom prst="rect">
            <a:avLst/>
          </a:prstGeom>
          <a:noFill/>
          <a:ln/>
        </p:spPr>
        <p:txBody>
          <a:bodyPr wrap="square" lIns="0" tIns="0" rIns="0" bIns="0" rtlCol="0" anchor="ctr"/>
          <a:lstStyle/>
          <a:p>
            <a:pPr marL="0" indent="0">
              <a:buNone/>
            </a:pPr>
            <a:r>
              <a:rPr lang="en-US" sz="2500" dirty="0">
                <a:solidFill>
                  <a:srgbClr val="0B1E3F"/>
                </a:solidFill>
                <a:latin typeface="Segoe UI Semibold" pitchFamily="34" charset="0"/>
                <a:ea typeface="Segoe UI Semibold" pitchFamily="34" charset="-122"/>
                <a:cs typeface="Segoe UI Semibold" pitchFamily="34" charset="-120"/>
              </a:rPr>
              <a:t>Pricing snapshot: list price, US East, Oct 2026</a:t>
            </a:r>
            <a:endParaRPr lang="en-US" sz="2500" dirty="0"/>
          </a:p>
        </p:txBody>
      </p:sp>
      <p:sp>
        <p:nvSpPr>
          <p:cNvPr id="4" name="Shape 2"/>
          <p:cNvSpPr/>
          <p:nvPr/>
        </p:nvSpPr>
        <p:spPr>
          <a:xfrm>
            <a:off x="10698480" y="118872"/>
            <a:ext cx="1051560" cy="1051560"/>
          </a:xfrm>
          <a:prstGeom prst="arc">
            <a:avLst/>
          </a:prstGeom>
          <a:solidFill>
            <a:srgbClr val="F5F7FA">
              <a:alpha val="0"/>
            </a:srgbClr>
          </a:solidFill>
          <a:ln w="38100">
            <a:solidFill>
              <a:srgbClr val="00B7C3">
                <a:alpha val="90000"/>
              </a:srgbClr>
            </a:solidFill>
            <a:prstDash val="solid"/>
          </a:ln>
        </p:spPr>
      </p:sp>
      <p:sp>
        <p:nvSpPr>
          <p:cNvPr id="5" name="Text 3"/>
          <p:cNvSpPr/>
          <p:nvPr/>
        </p:nvSpPr>
        <p:spPr>
          <a:xfrm>
            <a:off x="457200" y="6473952"/>
            <a:ext cx="7955280" cy="164592"/>
          </a:xfrm>
          <a:prstGeom prst="rect">
            <a:avLst/>
          </a:prstGeom>
          <a:noFill/>
          <a:ln/>
        </p:spPr>
        <p:txBody>
          <a:bodyPr wrap="square" lIns="0" tIns="0" rIns="0" bIns="0" rtlCol="0" anchor="ctr"/>
          <a:lstStyle/>
          <a:p>
            <a:pPr marL="0" indent="0">
              <a:buNone/>
            </a:pPr>
            <a:r>
              <a:rPr lang="en-US" sz="750" dirty="0">
                <a:solidFill>
                  <a:srgbClr val="8A97A8"/>
                </a:solidFill>
                <a:latin typeface="Segoe UI" pitchFamily="34" charset="0"/>
                <a:ea typeface="Segoe UI" pitchFamily="34" charset="-122"/>
                <a:cs typeface="Segoe UI" pitchFamily="34" charset="-120"/>
              </a:rPr>
              <a:t>Azure API Management AI Gateway — Oct 2026</a:t>
            </a:r>
            <a:endParaRPr lang="en-US" sz="750" dirty="0"/>
          </a:p>
        </p:txBody>
      </p:sp>
      <p:sp>
        <p:nvSpPr>
          <p:cNvPr id="6" name="Text 4"/>
          <p:cNvSpPr/>
          <p:nvPr/>
        </p:nvSpPr>
        <p:spPr>
          <a:xfrm>
            <a:off x="11430000" y="6446520"/>
            <a:ext cx="320040" cy="164592"/>
          </a:xfrm>
          <a:prstGeom prst="rect">
            <a:avLst/>
          </a:prstGeom>
          <a:noFill/>
          <a:ln/>
        </p:spPr>
        <p:txBody>
          <a:bodyPr wrap="square" lIns="0" tIns="0" rIns="0" bIns="0" rtlCol="0" anchor="ctr"/>
          <a:lstStyle/>
          <a:p>
            <a:pPr marL="0" indent="0" algn="r">
              <a:buNone/>
            </a:pPr>
            <a:r>
              <a:rPr lang="en-US" sz="800" dirty="0">
                <a:solidFill>
                  <a:srgbClr val="8A97A8"/>
                </a:solidFill>
                <a:latin typeface="Segoe UI Semibold" pitchFamily="34" charset="0"/>
                <a:ea typeface="Segoe UI Semibold" pitchFamily="34" charset="-122"/>
                <a:cs typeface="Segoe UI Semibold" pitchFamily="34" charset="-120"/>
              </a:rPr>
              <a:t>26</a:t>
            </a:r>
            <a:endParaRPr lang="en-US" sz="800" dirty="0"/>
          </a:p>
        </p:txBody>
      </p:sp>
      <p:sp>
        <p:nvSpPr>
          <p:cNvPr id="7" name="Shape 5"/>
          <p:cNvSpPr/>
          <p:nvPr/>
        </p:nvSpPr>
        <p:spPr>
          <a:xfrm>
            <a:off x="594360" y="1078992"/>
            <a:ext cx="1508760" cy="566928"/>
          </a:xfrm>
          <a:prstGeom prst="rect">
            <a:avLst/>
          </a:prstGeom>
          <a:solidFill>
            <a:srgbClr val="0B1E3F"/>
          </a:solidFill>
          <a:ln w="7620">
            <a:solidFill>
              <a:srgbClr val="D8E2EC"/>
            </a:solidFill>
            <a:prstDash val="solid"/>
          </a:ln>
        </p:spPr>
      </p:sp>
      <p:sp>
        <p:nvSpPr>
          <p:cNvPr id="8" name="Text 6"/>
          <p:cNvSpPr/>
          <p:nvPr/>
        </p:nvSpPr>
        <p:spPr>
          <a:xfrm>
            <a:off x="667512" y="1188720"/>
            <a:ext cx="1362456" cy="256032"/>
          </a:xfrm>
          <a:prstGeom prst="rect">
            <a:avLst/>
          </a:prstGeom>
          <a:noFill/>
          <a:ln/>
        </p:spPr>
        <p:txBody>
          <a:bodyPr wrap="square" lIns="0" tIns="0" rIns="0" bIns="0" rtlCol="0" anchor="ctr">
            <a:normAutofit/>
          </a:bodyPr>
          <a:lstStyle/>
          <a:p>
            <a:pPr marL="0" indent="0">
              <a:buNone/>
            </a:pPr>
            <a:r>
              <a:rPr lang="en-US" sz="850" b="1" dirty="0">
                <a:solidFill>
                  <a:srgbClr val="FFFFFF"/>
                </a:solidFill>
                <a:latin typeface="Segoe UI Semibold" pitchFamily="34" charset="0"/>
                <a:ea typeface="Segoe UI Semibold" pitchFamily="34" charset="-122"/>
                <a:cs typeface="Segoe UI Semibold" pitchFamily="34" charset="-120"/>
              </a:rPr>
              <a:t>Tier</a:t>
            </a:r>
            <a:endParaRPr lang="en-US" sz="850" dirty="0"/>
          </a:p>
        </p:txBody>
      </p:sp>
      <p:sp>
        <p:nvSpPr>
          <p:cNvPr id="9" name="Shape 7"/>
          <p:cNvSpPr/>
          <p:nvPr/>
        </p:nvSpPr>
        <p:spPr>
          <a:xfrm>
            <a:off x="2103120" y="1078992"/>
            <a:ext cx="2468880" cy="566928"/>
          </a:xfrm>
          <a:prstGeom prst="rect">
            <a:avLst/>
          </a:prstGeom>
          <a:solidFill>
            <a:srgbClr val="0B1E3F"/>
          </a:solidFill>
          <a:ln w="7620">
            <a:solidFill>
              <a:srgbClr val="D8E2EC"/>
            </a:solidFill>
            <a:prstDash val="solid"/>
          </a:ln>
        </p:spPr>
      </p:sp>
      <p:sp>
        <p:nvSpPr>
          <p:cNvPr id="10" name="Text 8"/>
          <p:cNvSpPr/>
          <p:nvPr/>
        </p:nvSpPr>
        <p:spPr>
          <a:xfrm>
            <a:off x="2176272" y="1188720"/>
            <a:ext cx="2322576" cy="256032"/>
          </a:xfrm>
          <a:prstGeom prst="rect">
            <a:avLst/>
          </a:prstGeom>
          <a:noFill/>
          <a:ln/>
        </p:spPr>
        <p:txBody>
          <a:bodyPr wrap="square" lIns="0" tIns="0" rIns="0" bIns="0" rtlCol="0" anchor="ctr">
            <a:normAutofit/>
          </a:bodyPr>
          <a:lstStyle/>
          <a:p>
            <a:pPr marL="0" indent="0">
              <a:buNone/>
            </a:pPr>
            <a:r>
              <a:rPr lang="en-US" sz="850" b="1" dirty="0">
                <a:solidFill>
                  <a:srgbClr val="FFFFFF"/>
                </a:solidFill>
                <a:latin typeface="Segoe UI Semibold" pitchFamily="34" charset="0"/>
                <a:ea typeface="Segoe UI Semibold" pitchFamily="34" charset="-122"/>
                <a:cs typeface="Segoe UI Semibold" pitchFamily="34" charset="-120"/>
              </a:rPr>
              <a:t>Approx. price</a:t>
            </a:r>
            <a:endParaRPr lang="en-US" sz="850" dirty="0"/>
          </a:p>
        </p:txBody>
      </p:sp>
      <p:sp>
        <p:nvSpPr>
          <p:cNvPr id="11" name="Shape 9"/>
          <p:cNvSpPr/>
          <p:nvPr/>
        </p:nvSpPr>
        <p:spPr>
          <a:xfrm>
            <a:off x="4572000" y="1078992"/>
            <a:ext cx="3794760" cy="566928"/>
          </a:xfrm>
          <a:prstGeom prst="rect">
            <a:avLst/>
          </a:prstGeom>
          <a:solidFill>
            <a:srgbClr val="0B1E3F"/>
          </a:solidFill>
          <a:ln w="7620">
            <a:solidFill>
              <a:srgbClr val="D8E2EC"/>
            </a:solidFill>
            <a:prstDash val="solid"/>
          </a:ln>
        </p:spPr>
      </p:sp>
      <p:sp>
        <p:nvSpPr>
          <p:cNvPr id="12" name="Text 10"/>
          <p:cNvSpPr/>
          <p:nvPr/>
        </p:nvSpPr>
        <p:spPr>
          <a:xfrm>
            <a:off x="4645152" y="1188720"/>
            <a:ext cx="3648456" cy="256032"/>
          </a:xfrm>
          <a:prstGeom prst="rect">
            <a:avLst/>
          </a:prstGeom>
          <a:noFill/>
          <a:ln/>
        </p:spPr>
        <p:txBody>
          <a:bodyPr wrap="square" lIns="0" tIns="0" rIns="0" bIns="0" rtlCol="0" anchor="ctr">
            <a:normAutofit/>
          </a:bodyPr>
          <a:lstStyle/>
          <a:p>
            <a:pPr marL="0" indent="0">
              <a:buNone/>
            </a:pPr>
            <a:r>
              <a:rPr lang="en-US" sz="850" b="1" dirty="0">
                <a:solidFill>
                  <a:srgbClr val="FFFFFF"/>
                </a:solidFill>
                <a:latin typeface="Segoe UI Semibold" pitchFamily="34" charset="0"/>
                <a:ea typeface="Segoe UI Semibold" pitchFamily="34" charset="-122"/>
                <a:cs typeface="Segoe UI Semibold" pitchFamily="34" charset="-120"/>
              </a:rPr>
              <a:t>Included calls / notes</a:t>
            </a:r>
            <a:endParaRPr lang="en-US" sz="850" dirty="0"/>
          </a:p>
        </p:txBody>
      </p:sp>
      <p:sp>
        <p:nvSpPr>
          <p:cNvPr id="13" name="Shape 11"/>
          <p:cNvSpPr/>
          <p:nvPr/>
        </p:nvSpPr>
        <p:spPr>
          <a:xfrm>
            <a:off x="8366760" y="1078992"/>
            <a:ext cx="3246120" cy="566928"/>
          </a:xfrm>
          <a:prstGeom prst="rect">
            <a:avLst/>
          </a:prstGeom>
          <a:solidFill>
            <a:srgbClr val="0B1E3F"/>
          </a:solidFill>
          <a:ln w="7620">
            <a:solidFill>
              <a:srgbClr val="D8E2EC"/>
            </a:solidFill>
            <a:prstDash val="solid"/>
          </a:ln>
        </p:spPr>
      </p:sp>
      <p:sp>
        <p:nvSpPr>
          <p:cNvPr id="14" name="Text 12"/>
          <p:cNvSpPr/>
          <p:nvPr/>
        </p:nvSpPr>
        <p:spPr>
          <a:xfrm>
            <a:off x="8439912" y="1188720"/>
            <a:ext cx="3099816" cy="256032"/>
          </a:xfrm>
          <a:prstGeom prst="rect">
            <a:avLst/>
          </a:prstGeom>
          <a:noFill/>
          <a:ln/>
        </p:spPr>
        <p:txBody>
          <a:bodyPr wrap="square" lIns="0" tIns="0" rIns="0" bIns="0" rtlCol="0" anchor="ctr">
            <a:normAutofit/>
          </a:bodyPr>
          <a:lstStyle/>
          <a:p>
            <a:pPr marL="0" indent="0">
              <a:buNone/>
            </a:pPr>
            <a:r>
              <a:rPr lang="en-US" sz="850" b="1" dirty="0">
                <a:solidFill>
                  <a:srgbClr val="FFFFFF"/>
                </a:solidFill>
                <a:latin typeface="Segoe UI Semibold" pitchFamily="34" charset="0"/>
                <a:ea typeface="Segoe UI Semibold" pitchFamily="34" charset="-122"/>
                <a:cs typeface="Segoe UI Semibold" pitchFamily="34" charset="-120"/>
              </a:rPr>
              <a:t>AI gateway fit</a:t>
            </a:r>
            <a:endParaRPr lang="en-US" sz="850" dirty="0"/>
          </a:p>
        </p:txBody>
      </p:sp>
      <p:sp>
        <p:nvSpPr>
          <p:cNvPr id="15" name="Shape 13"/>
          <p:cNvSpPr/>
          <p:nvPr/>
        </p:nvSpPr>
        <p:spPr>
          <a:xfrm>
            <a:off x="594360" y="1645920"/>
            <a:ext cx="1508760" cy="566928"/>
          </a:xfrm>
          <a:prstGeom prst="rect">
            <a:avLst/>
          </a:prstGeom>
          <a:solidFill>
            <a:srgbClr val="FFFFFF"/>
          </a:solidFill>
          <a:ln w="7620">
            <a:solidFill>
              <a:srgbClr val="D8E2EC"/>
            </a:solidFill>
            <a:prstDash val="solid"/>
          </a:ln>
        </p:spPr>
      </p:sp>
      <p:sp>
        <p:nvSpPr>
          <p:cNvPr id="16" name="Text 14"/>
          <p:cNvSpPr/>
          <p:nvPr/>
        </p:nvSpPr>
        <p:spPr>
          <a:xfrm>
            <a:off x="667512" y="1755648"/>
            <a:ext cx="1362456" cy="256032"/>
          </a:xfrm>
          <a:prstGeom prst="rect">
            <a:avLst/>
          </a:prstGeom>
          <a:noFill/>
          <a:ln/>
        </p:spPr>
        <p:txBody>
          <a:bodyPr wrap="square" lIns="0" tIns="0" rIns="0" bIns="0" rtlCol="0" anchor="ctr">
            <a:normAutofit/>
          </a:bodyPr>
          <a:lstStyle/>
          <a:p>
            <a:pPr marL="0" indent="0">
              <a:buNone/>
            </a:pPr>
            <a:r>
              <a:rPr lang="en-US" sz="750" dirty="0">
                <a:solidFill>
                  <a:srgbClr val="3B4A5E"/>
                </a:solidFill>
                <a:latin typeface="Segoe UI" pitchFamily="34" charset="0"/>
                <a:ea typeface="Segoe UI" pitchFamily="34" charset="-122"/>
                <a:cs typeface="Segoe UI" pitchFamily="34" charset="-120"/>
              </a:rPr>
              <a:t>Consumption</a:t>
            </a:r>
            <a:endParaRPr lang="en-US" sz="750" dirty="0"/>
          </a:p>
        </p:txBody>
      </p:sp>
      <p:sp>
        <p:nvSpPr>
          <p:cNvPr id="17" name="Shape 15"/>
          <p:cNvSpPr/>
          <p:nvPr/>
        </p:nvSpPr>
        <p:spPr>
          <a:xfrm>
            <a:off x="2103120" y="1645920"/>
            <a:ext cx="2468880" cy="566928"/>
          </a:xfrm>
          <a:prstGeom prst="rect">
            <a:avLst/>
          </a:prstGeom>
          <a:solidFill>
            <a:srgbClr val="FFFFFF"/>
          </a:solidFill>
          <a:ln w="7620">
            <a:solidFill>
              <a:srgbClr val="D8E2EC"/>
            </a:solidFill>
            <a:prstDash val="solid"/>
          </a:ln>
        </p:spPr>
      </p:sp>
      <p:sp>
        <p:nvSpPr>
          <p:cNvPr id="18" name="Text 16"/>
          <p:cNvSpPr/>
          <p:nvPr/>
        </p:nvSpPr>
        <p:spPr>
          <a:xfrm>
            <a:off x="2176272" y="1755648"/>
            <a:ext cx="2322576" cy="256032"/>
          </a:xfrm>
          <a:prstGeom prst="rect">
            <a:avLst/>
          </a:prstGeom>
          <a:noFill/>
          <a:ln/>
        </p:spPr>
        <p:txBody>
          <a:bodyPr wrap="square" lIns="0" tIns="0" rIns="0" bIns="0" rtlCol="0" anchor="ctr">
            <a:normAutofit/>
          </a:bodyPr>
          <a:lstStyle/>
          <a:p>
            <a:pPr marL="0" indent="0">
              <a:buNone/>
            </a:pPr>
            <a:r>
              <a:rPr lang="en-US" sz="750" dirty="0">
                <a:solidFill>
                  <a:srgbClr val="3B4A5E"/>
                </a:solidFill>
                <a:latin typeface="Segoe UI" pitchFamily="34" charset="0"/>
                <a:ea typeface="Segoe UI" pitchFamily="34" charset="-122"/>
                <a:cs typeface="Segoe UI" pitchFamily="34" charset="-120"/>
              </a:rPr>
              <a:t>$0 base; ~1M free; $3.50/M overage</a:t>
            </a:r>
            <a:endParaRPr lang="en-US" sz="750" dirty="0"/>
          </a:p>
        </p:txBody>
      </p:sp>
      <p:sp>
        <p:nvSpPr>
          <p:cNvPr id="19" name="Shape 17"/>
          <p:cNvSpPr/>
          <p:nvPr/>
        </p:nvSpPr>
        <p:spPr>
          <a:xfrm>
            <a:off x="4572000" y="1645920"/>
            <a:ext cx="3794760" cy="566928"/>
          </a:xfrm>
          <a:prstGeom prst="rect">
            <a:avLst/>
          </a:prstGeom>
          <a:solidFill>
            <a:srgbClr val="FFFFFF"/>
          </a:solidFill>
          <a:ln w="7620">
            <a:solidFill>
              <a:srgbClr val="D8E2EC"/>
            </a:solidFill>
            <a:prstDash val="solid"/>
          </a:ln>
        </p:spPr>
      </p:sp>
      <p:sp>
        <p:nvSpPr>
          <p:cNvPr id="20" name="Text 18"/>
          <p:cNvSpPr/>
          <p:nvPr/>
        </p:nvSpPr>
        <p:spPr>
          <a:xfrm>
            <a:off x="4645152" y="1755648"/>
            <a:ext cx="3648456" cy="256032"/>
          </a:xfrm>
          <a:prstGeom prst="rect">
            <a:avLst/>
          </a:prstGeom>
          <a:noFill/>
          <a:ln/>
        </p:spPr>
        <p:txBody>
          <a:bodyPr wrap="square" lIns="0" tIns="0" rIns="0" bIns="0" rtlCol="0" anchor="ctr">
            <a:normAutofit/>
          </a:bodyPr>
          <a:lstStyle/>
          <a:p>
            <a:pPr marL="0" indent="0">
              <a:buNone/>
            </a:pPr>
            <a:r>
              <a:rPr lang="en-US" sz="750" dirty="0">
                <a:solidFill>
                  <a:srgbClr val="3B4A5E"/>
                </a:solidFill>
                <a:latin typeface="Segoe UI" pitchFamily="34" charset="0"/>
                <a:ea typeface="Segoe UI" pitchFamily="34" charset="-122"/>
                <a:cs typeface="Segoe UI" pitchFamily="34" charset="-120"/>
              </a:rPr>
              <a:t>No MCP, no circuit breaker</a:t>
            </a:r>
            <a:endParaRPr lang="en-US" sz="750" dirty="0"/>
          </a:p>
        </p:txBody>
      </p:sp>
      <p:sp>
        <p:nvSpPr>
          <p:cNvPr id="21" name="Shape 19"/>
          <p:cNvSpPr/>
          <p:nvPr/>
        </p:nvSpPr>
        <p:spPr>
          <a:xfrm>
            <a:off x="8366760" y="1645920"/>
            <a:ext cx="3246120" cy="566928"/>
          </a:xfrm>
          <a:prstGeom prst="rect">
            <a:avLst/>
          </a:prstGeom>
          <a:solidFill>
            <a:srgbClr val="FFFFFF"/>
          </a:solidFill>
          <a:ln w="7620">
            <a:solidFill>
              <a:srgbClr val="D8E2EC"/>
            </a:solidFill>
            <a:prstDash val="solid"/>
          </a:ln>
        </p:spPr>
      </p:sp>
      <p:sp>
        <p:nvSpPr>
          <p:cNvPr id="22" name="Text 20"/>
          <p:cNvSpPr/>
          <p:nvPr/>
        </p:nvSpPr>
        <p:spPr>
          <a:xfrm>
            <a:off x="8439912" y="1755648"/>
            <a:ext cx="3099816" cy="256032"/>
          </a:xfrm>
          <a:prstGeom prst="rect">
            <a:avLst/>
          </a:prstGeom>
          <a:noFill/>
          <a:ln/>
        </p:spPr>
        <p:txBody>
          <a:bodyPr wrap="square" lIns="0" tIns="0" rIns="0" bIns="0" rtlCol="0" anchor="ctr">
            <a:normAutofit/>
          </a:bodyPr>
          <a:lstStyle/>
          <a:p>
            <a:pPr marL="0" indent="0">
              <a:buNone/>
            </a:pPr>
            <a:r>
              <a:rPr lang="en-US" sz="750" dirty="0">
                <a:solidFill>
                  <a:srgbClr val="3B4A5E"/>
                </a:solidFill>
                <a:latin typeface="Segoe UI" pitchFamily="34" charset="0"/>
                <a:ea typeface="Segoe UI" pitchFamily="34" charset="-122"/>
                <a:cs typeface="Segoe UI" pitchFamily="34" charset="-120"/>
              </a:rPr>
              <a:t>Only simple model proxy</a:t>
            </a:r>
            <a:endParaRPr lang="en-US" sz="750" dirty="0"/>
          </a:p>
        </p:txBody>
      </p:sp>
      <p:sp>
        <p:nvSpPr>
          <p:cNvPr id="23" name="Shape 21"/>
          <p:cNvSpPr/>
          <p:nvPr/>
        </p:nvSpPr>
        <p:spPr>
          <a:xfrm>
            <a:off x="594360" y="2212848"/>
            <a:ext cx="1508760" cy="566928"/>
          </a:xfrm>
          <a:prstGeom prst="rect">
            <a:avLst/>
          </a:prstGeom>
          <a:solidFill>
            <a:srgbClr val="FFFFFF"/>
          </a:solidFill>
          <a:ln w="7620">
            <a:solidFill>
              <a:srgbClr val="D8E2EC"/>
            </a:solidFill>
            <a:prstDash val="solid"/>
          </a:ln>
        </p:spPr>
      </p:sp>
      <p:sp>
        <p:nvSpPr>
          <p:cNvPr id="24" name="Text 22"/>
          <p:cNvSpPr/>
          <p:nvPr/>
        </p:nvSpPr>
        <p:spPr>
          <a:xfrm>
            <a:off x="667512" y="2322576"/>
            <a:ext cx="1362456" cy="256032"/>
          </a:xfrm>
          <a:prstGeom prst="rect">
            <a:avLst/>
          </a:prstGeom>
          <a:noFill/>
          <a:ln/>
        </p:spPr>
        <p:txBody>
          <a:bodyPr wrap="square" lIns="0" tIns="0" rIns="0" bIns="0" rtlCol="0" anchor="ctr">
            <a:normAutofit/>
          </a:bodyPr>
          <a:lstStyle/>
          <a:p>
            <a:pPr marL="0" indent="0">
              <a:buNone/>
            </a:pPr>
            <a:r>
              <a:rPr lang="en-US" sz="750" dirty="0">
                <a:solidFill>
                  <a:srgbClr val="3B4A5E"/>
                </a:solidFill>
                <a:latin typeface="Segoe UI" pitchFamily="34" charset="0"/>
                <a:ea typeface="Segoe UI" pitchFamily="34" charset="-122"/>
                <a:cs typeface="Segoe UI" pitchFamily="34" charset="-120"/>
              </a:rPr>
              <a:t>Developer</a:t>
            </a:r>
            <a:endParaRPr lang="en-US" sz="750" dirty="0"/>
          </a:p>
        </p:txBody>
      </p:sp>
      <p:sp>
        <p:nvSpPr>
          <p:cNvPr id="25" name="Shape 23"/>
          <p:cNvSpPr/>
          <p:nvPr/>
        </p:nvSpPr>
        <p:spPr>
          <a:xfrm>
            <a:off x="2103120" y="2212848"/>
            <a:ext cx="2468880" cy="566928"/>
          </a:xfrm>
          <a:prstGeom prst="rect">
            <a:avLst/>
          </a:prstGeom>
          <a:solidFill>
            <a:srgbClr val="FFFFFF"/>
          </a:solidFill>
          <a:ln w="7620">
            <a:solidFill>
              <a:srgbClr val="D8E2EC"/>
            </a:solidFill>
            <a:prstDash val="solid"/>
          </a:ln>
        </p:spPr>
      </p:sp>
      <p:sp>
        <p:nvSpPr>
          <p:cNvPr id="26" name="Text 24"/>
          <p:cNvSpPr/>
          <p:nvPr/>
        </p:nvSpPr>
        <p:spPr>
          <a:xfrm>
            <a:off x="2176272" y="2322576"/>
            <a:ext cx="2322576" cy="256032"/>
          </a:xfrm>
          <a:prstGeom prst="rect">
            <a:avLst/>
          </a:prstGeom>
          <a:noFill/>
          <a:ln/>
        </p:spPr>
        <p:txBody>
          <a:bodyPr wrap="square" lIns="0" tIns="0" rIns="0" bIns="0" rtlCol="0" anchor="ctr">
            <a:normAutofit/>
          </a:bodyPr>
          <a:lstStyle/>
          <a:p>
            <a:pPr marL="0" indent="0">
              <a:buNone/>
            </a:pPr>
            <a:r>
              <a:rPr lang="en-US" sz="750" dirty="0">
                <a:solidFill>
                  <a:srgbClr val="3B4A5E"/>
                </a:solidFill>
                <a:latin typeface="Segoe UI" pitchFamily="34" charset="0"/>
                <a:ea typeface="Segoe UI" pitchFamily="34" charset="-122"/>
                <a:cs typeface="Segoe UI" pitchFamily="34" charset="-120"/>
              </a:rPr>
              <a:t>≈ $48/mo</a:t>
            </a:r>
            <a:endParaRPr lang="en-US" sz="750" dirty="0"/>
          </a:p>
        </p:txBody>
      </p:sp>
      <p:sp>
        <p:nvSpPr>
          <p:cNvPr id="27" name="Shape 25"/>
          <p:cNvSpPr/>
          <p:nvPr/>
        </p:nvSpPr>
        <p:spPr>
          <a:xfrm>
            <a:off x="4572000" y="2212848"/>
            <a:ext cx="3794760" cy="566928"/>
          </a:xfrm>
          <a:prstGeom prst="rect">
            <a:avLst/>
          </a:prstGeom>
          <a:solidFill>
            <a:srgbClr val="FFFFFF"/>
          </a:solidFill>
          <a:ln w="7620">
            <a:solidFill>
              <a:srgbClr val="D8E2EC"/>
            </a:solidFill>
            <a:prstDash val="solid"/>
          </a:ln>
        </p:spPr>
      </p:sp>
      <p:sp>
        <p:nvSpPr>
          <p:cNvPr id="28" name="Text 26"/>
          <p:cNvSpPr/>
          <p:nvPr/>
        </p:nvSpPr>
        <p:spPr>
          <a:xfrm>
            <a:off x="4645152" y="2322576"/>
            <a:ext cx="3648456" cy="256032"/>
          </a:xfrm>
          <a:prstGeom prst="rect">
            <a:avLst/>
          </a:prstGeom>
          <a:noFill/>
          <a:ln/>
        </p:spPr>
        <p:txBody>
          <a:bodyPr wrap="square" lIns="0" tIns="0" rIns="0" bIns="0" rtlCol="0" anchor="ctr">
            <a:normAutofit/>
          </a:bodyPr>
          <a:lstStyle/>
          <a:p>
            <a:pPr marL="0" indent="0">
              <a:buNone/>
            </a:pPr>
            <a:r>
              <a:rPr lang="en-US" sz="750" dirty="0">
                <a:solidFill>
                  <a:srgbClr val="3B4A5E"/>
                </a:solidFill>
                <a:latin typeface="Segoe UI" pitchFamily="34" charset="0"/>
                <a:ea typeface="Segoe UI" pitchFamily="34" charset="-122"/>
                <a:cs typeface="Segoe UI" pitchFamily="34" charset="-120"/>
              </a:rPr>
              <a:t>No SLA; classic slower deploy</a:t>
            </a:r>
            <a:endParaRPr lang="en-US" sz="750" dirty="0"/>
          </a:p>
        </p:txBody>
      </p:sp>
      <p:sp>
        <p:nvSpPr>
          <p:cNvPr id="29" name="Shape 27"/>
          <p:cNvSpPr/>
          <p:nvPr/>
        </p:nvSpPr>
        <p:spPr>
          <a:xfrm>
            <a:off x="8366760" y="2212848"/>
            <a:ext cx="3246120" cy="566928"/>
          </a:xfrm>
          <a:prstGeom prst="rect">
            <a:avLst/>
          </a:prstGeom>
          <a:solidFill>
            <a:srgbClr val="FFFFFF"/>
          </a:solidFill>
          <a:ln w="7620">
            <a:solidFill>
              <a:srgbClr val="D8E2EC"/>
            </a:solidFill>
            <a:prstDash val="solid"/>
          </a:ln>
        </p:spPr>
      </p:sp>
      <p:sp>
        <p:nvSpPr>
          <p:cNvPr id="30" name="Text 28"/>
          <p:cNvSpPr/>
          <p:nvPr/>
        </p:nvSpPr>
        <p:spPr>
          <a:xfrm>
            <a:off x="8439912" y="2322576"/>
            <a:ext cx="3099816" cy="256032"/>
          </a:xfrm>
          <a:prstGeom prst="rect">
            <a:avLst/>
          </a:prstGeom>
          <a:noFill/>
          <a:ln/>
        </p:spPr>
        <p:txBody>
          <a:bodyPr wrap="square" lIns="0" tIns="0" rIns="0" bIns="0" rtlCol="0" anchor="ctr">
            <a:normAutofit/>
          </a:bodyPr>
          <a:lstStyle/>
          <a:p>
            <a:pPr marL="0" indent="0">
              <a:buNone/>
            </a:pPr>
            <a:r>
              <a:rPr lang="en-US" sz="750" dirty="0">
                <a:solidFill>
                  <a:srgbClr val="3B4A5E"/>
                </a:solidFill>
                <a:latin typeface="Segoe UI" pitchFamily="34" charset="0"/>
                <a:ea typeface="Segoe UI" pitchFamily="34" charset="-122"/>
                <a:cs typeface="Segoe UI" pitchFamily="34" charset="-120"/>
              </a:rPr>
              <a:t>Lab fallback</a:t>
            </a:r>
            <a:endParaRPr lang="en-US" sz="750" dirty="0"/>
          </a:p>
        </p:txBody>
      </p:sp>
      <p:sp>
        <p:nvSpPr>
          <p:cNvPr id="31" name="Shape 29"/>
          <p:cNvSpPr/>
          <p:nvPr/>
        </p:nvSpPr>
        <p:spPr>
          <a:xfrm>
            <a:off x="594360" y="2779776"/>
            <a:ext cx="1508760" cy="566928"/>
          </a:xfrm>
          <a:prstGeom prst="rect">
            <a:avLst/>
          </a:prstGeom>
          <a:solidFill>
            <a:srgbClr val="D9F7FA"/>
          </a:solidFill>
          <a:ln w="7620">
            <a:solidFill>
              <a:srgbClr val="D8E2EC"/>
            </a:solidFill>
            <a:prstDash val="solid"/>
          </a:ln>
        </p:spPr>
      </p:sp>
      <p:sp>
        <p:nvSpPr>
          <p:cNvPr id="32" name="Text 30"/>
          <p:cNvSpPr/>
          <p:nvPr/>
        </p:nvSpPr>
        <p:spPr>
          <a:xfrm>
            <a:off x="667512" y="2889504"/>
            <a:ext cx="1362456" cy="256032"/>
          </a:xfrm>
          <a:prstGeom prst="rect">
            <a:avLst/>
          </a:prstGeom>
          <a:noFill/>
          <a:ln/>
        </p:spPr>
        <p:txBody>
          <a:bodyPr wrap="square" lIns="0" tIns="0" rIns="0" bIns="0" rtlCol="0" anchor="ctr">
            <a:normAutofit/>
          </a:bodyPr>
          <a:lstStyle/>
          <a:p>
            <a:pPr marL="0" indent="0">
              <a:buNone/>
            </a:pPr>
            <a:r>
              <a:rPr lang="en-US" sz="750" dirty="0">
                <a:solidFill>
                  <a:srgbClr val="3B4A5E"/>
                </a:solidFill>
                <a:latin typeface="Segoe UI" pitchFamily="34" charset="0"/>
                <a:ea typeface="Segoe UI" pitchFamily="34" charset="-122"/>
                <a:cs typeface="Segoe UI" pitchFamily="34" charset="-120"/>
              </a:rPr>
              <a:t>Basic / Basic v2</a:t>
            </a:r>
            <a:endParaRPr lang="en-US" sz="750" dirty="0"/>
          </a:p>
        </p:txBody>
      </p:sp>
      <p:sp>
        <p:nvSpPr>
          <p:cNvPr id="33" name="Shape 31"/>
          <p:cNvSpPr/>
          <p:nvPr/>
        </p:nvSpPr>
        <p:spPr>
          <a:xfrm>
            <a:off x="2103120" y="2779776"/>
            <a:ext cx="2468880" cy="566928"/>
          </a:xfrm>
          <a:prstGeom prst="rect">
            <a:avLst/>
          </a:prstGeom>
          <a:solidFill>
            <a:srgbClr val="D9F7FA"/>
          </a:solidFill>
          <a:ln w="7620">
            <a:solidFill>
              <a:srgbClr val="D8E2EC"/>
            </a:solidFill>
            <a:prstDash val="solid"/>
          </a:ln>
        </p:spPr>
      </p:sp>
      <p:sp>
        <p:nvSpPr>
          <p:cNvPr id="34" name="Text 32"/>
          <p:cNvSpPr/>
          <p:nvPr/>
        </p:nvSpPr>
        <p:spPr>
          <a:xfrm>
            <a:off x="2176272" y="2889504"/>
            <a:ext cx="2322576" cy="256032"/>
          </a:xfrm>
          <a:prstGeom prst="rect">
            <a:avLst/>
          </a:prstGeom>
          <a:noFill/>
          <a:ln/>
        </p:spPr>
        <p:txBody>
          <a:bodyPr wrap="square" lIns="0" tIns="0" rIns="0" bIns="0" rtlCol="0" anchor="ctr">
            <a:normAutofit/>
          </a:bodyPr>
          <a:lstStyle/>
          <a:p>
            <a:pPr marL="0" indent="0">
              <a:buNone/>
            </a:pPr>
            <a:r>
              <a:rPr lang="en-US" sz="750" dirty="0">
                <a:solidFill>
                  <a:srgbClr val="3B4A5E"/>
                </a:solidFill>
                <a:latin typeface="Segoe UI" pitchFamily="34" charset="0"/>
                <a:ea typeface="Segoe UI" pitchFamily="34" charset="-122"/>
                <a:cs typeface="Segoe UI" pitchFamily="34" charset="-120"/>
              </a:rPr>
              <a:t>≈ $147 / $150/mo</a:t>
            </a:r>
            <a:endParaRPr lang="en-US" sz="750" dirty="0"/>
          </a:p>
        </p:txBody>
      </p:sp>
      <p:sp>
        <p:nvSpPr>
          <p:cNvPr id="35" name="Shape 33"/>
          <p:cNvSpPr/>
          <p:nvPr/>
        </p:nvSpPr>
        <p:spPr>
          <a:xfrm>
            <a:off x="4572000" y="2779776"/>
            <a:ext cx="3794760" cy="566928"/>
          </a:xfrm>
          <a:prstGeom prst="rect">
            <a:avLst/>
          </a:prstGeom>
          <a:solidFill>
            <a:srgbClr val="D9F7FA"/>
          </a:solidFill>
          <a:ln w="7620">
            <a:solidFill>
              <a:srgbClr val="D8E2EC"/>
            </a:solidFill>
            <a:prstDash val="solid"/>
          </a:ln>
        </p:spPr>
      </p:sp>
      <p:sp>
        <p:nvSpPr>
          <p:cNvPr id="36" name="Text 34"/>
          <p:cNvSpPr/>
          <p:nvPr/>
        </p:nvSpPr>
        <p:spPr>
          <a:xfrm>
            <a:off x="4645152" y="2889504"/>
            <a:ext cx="3648456" cy="256032"/>
          </a:xfrm>
          <a:prstGeom prst="rect">
            <a:avLst/>
          </a:prstGeom>
          <a:noFill/>
          <a:ln/>
        </p:spPr>
        <p:txBody>
          <a:bodyPr wrap="square" lIns="0" tIns="0" rIns="0" bIns="0" rtlCol="0" anchor="ctr">
            <a:normAutofit/>
          </a:bodyPr>
          <a:lstStyle/>
          <a:p>
            <a:pPr marL="0" indent="0">
              <a:buNone/>
            </a:pPr>
            <a:r>
              <a:rPr lang="en-US" sz="750" dirty="0">
                <a:solidFill>
                  <a:srgbClr val="3B4A5E"/>
                </a:solidFill>
                <a:latin typeface="Segoe UI" pitchFamily="34" charset="0"/>
                <a:ea typeface="Segoe UI" pitchFamily="34" charset="-122"/>
                <a:cs typeface="Segoe UI" pitchFamily="34" charset="-120"/>
              </a:rPr>
              <a:t>Basic v2 includes 10M calls/unit; $3/M overage</a:t>
            </a:r>
            <a:endParaRPr lang="en-US" sz="750" dirty="0"/>
          </a:p>
        </p:txBody>
      </p:sp>
      <p:sp>
        <p:nvSpPr>
          <p:cNvPr id="37" name="Shape 35"/>
          <p:cNvSpPr/>
          <p:nvPr/>
        </p:nvSpPr>
        <p:spPr>
          <a:xfrm>
            <a:off x="8366760" y="2779776"/>
            <a:ext cx="3246120" cy="566928"/>
          </a:xfrm>
          <a:prstGeom prst="rect">
            <a:avLst/>
          </a:prstGeom>
          <a:solidFill>
            <a:srgbClr val="D9F7FA"/>
          </a:solidFill>
          <a:ln w="7620">
            <a:solidFill>
              <a:srgbClr val="D8E2EC"/>
            </a:solidFill>
            <a:prstDash val="solid"/>
          </a:ln>
        </p:spPr>
      </p:sp>
      <p:sp>
        <p:nvSpPr>
          <p:cNvPr id="38" name="Text 36"/>
          <p:cNvSpPr/>
          <p:nvPr/>
        </p:nvSpPr>
        <p:spPr>
          <a:xfrm>
            <a:off x="8439912" y="2889504"/>
            <a:ext cx="3099816" cy="256032"/>
          </a:xfrm>
          <a:prstGeom prst="rect">
            <a:avLst/>
          </a:prstGeom>
          <a:noFill/>
          <a:ln/>
        </p:spPr>
        <p:txBody>
          <a:bodyPr wrap="square" lIns="0" tIns="0" rIns="0" bIns="0" rtlCol="0" anchor="ctr">
            <a:normAutofit/>
          </a:bodyPr>
          <a:lstStyle/>
          <a:p>
            <a:pPr marL="0" indent="0">
              <a:buNone/>
            </a:pPr>
            <a:r>
              <a:rPr lang="en-US" sz="750" dirty="0">
                <a:solidFill>
                  <a:srgbClr val="3B4A5E"/>
                </a:solidFill>
                <a:latin typeface="Segoe UI" pitchFamily="34" charset="0"/>
                <a:ea typeface="Segoe UI" pitchFamily="34" charset="-122"/>
                <a:cs typeface="Segoe UI" pitchFamily="34" charset="-120"/>
              </a:rPr>
              <a:t>Demo sweet spot</a:t>
            </a:r>
            <a:endParaRPr lang="en-US" sz="750" dirty="0"/>
          </a:p>
        </p:txBody>
      </p:sp>
      <p:sp>
        <p:nvSpPr>
          <p:cNvPr id="39" name="Shape 37"/>
          <p:cNvSpPr/>
          <p:nvPr/>
        </p:nvSpPr>
        <p:spPr>
          <a:xfrm>
            <a:off x="594360" y="3346704"/>
            <a:ext cx="1508760" cy="566928"/>
          </a:xfrm>
          <a:prstGeom prst="rect">
            <a:avLst/>
          </a:prstGeom>
          <a:solidFill>
            <a:srgbClr val="FFFFFF"/>
          </a:solidFill>
          <a:ln w="7620">
            <a:solidFill>
              <a:srgbClr val="D8E2EC"/>
            </a:solidFill>
            <a:prstDash val="solid"/>
          </a:ln>
        </p:spPr>
      </p:sp>
      <p:sp>
        <p:nvSpPr>
          <p:cNvPr id="40" name="Text 38"/>
          <p:cNvSpPr/>
          <p:nvPr/>
        </p:nvSpPr>
        <p:spPr>
          <a:xfrm>
            <a:off x="667512" y="3456432"/>
            <a:ext cx="1362456" cy="256032"/>
          </a:xfrm>
          <a:prstGeom prst="rect">
            <a:avLst/>
          </a:prstGeom>
          <a:noFill/>
          <a:ln/>
        </p:spPr>
        <p:txBody>
          <a:bodyPr wrap="square" lIns="0" tIns="0" rIns="0" bIns="0" rtlCol="0" anchor="ctr">
            <a:normAutofit/>
          </a:bodyPr>
          <a:lstStyle/>
          <a:p>
            <a:pPr marL="0" indent="0">
              <a:buNone/>
            </a:pPr>
            <a:r>
              <a:rPr lang="en-US" sz="750" dirty="0">
                <a:solidFill>
                  <a:srgbClr val="3B4A5E"/>
                </a:solidFill>
                <a:latin typeface="Segoe UI" pitchFamily="34" charset="0"/>
                <a:ea typeface="Segoe UI" pitchFamily="34" charset="-122"/>
                <a:cs typeface="Segoe UI" pitchFamily="34" charset="-120"/>
              </a:rPr>
              <a:t>Standard / Standard v2</a:t>
            </a:r>
            <a:endParaRPr lang="en-US" sz="750" dirty="0"/>
          </a:p>
        </p:txBody>
      </p:sp>
      <p:sp>
        <p:nvSpPr>
          <p:cNvPr id="41" name="Shape 39"/>
          <p:cNvSpPr/>
          <p:nvPr/>
        </p:nvSpPr>
        <p:spPr>
          <a:xfrm>
            <a:off x="2103120" y="3346704"/>
            <a:ext cx="2468880" cy="566928"/>
          </a:xfrm>
          <a:prstGeom prst="rect">
            <a:avLst/>
          </a:prstGeom>
          <a:solidFill>
            <a:srgbClr val="FFFFFF"/>
          </a:solidFill>
          <a:ln w="7620">
            <a:solidFill>
              <a:srgbClr val="D8E2EC"/>
            </a:solidFill>
            <a:prstDash val="solid"/>
          </a:ln>
        </p:spPr>
      </p:sp>
      <p:sp>
        <p:nvSpPr>
          <p:cNvPr id="42" name="Text 40"/>
          <p:cNvSpPr/>
          <p:nvPr/>
        </p:nvSpPr>
        <p:spPr>
          <a:xfrm>
            <a:off x="2176272" y="3456432"/>
            <a:ext cx="2322576" cy="256032"/>
          </a:xfrm>
          <a:prstGeom prst="rect">
            <a:avLst/>
          </a:prstGeom>
          <a:noFill/>
          <a:ln/>
        </p:spPr>
        <p:txBody>
          <a:bodyPr wrap="square" lIns="0" tIns="0" rIns="0" bIns="0" rtlCol="0" anchor="ctr">
            <a:normAutofit/>
          </a:bodyPr>
          <a:lstStyle/>
          <a:p>
            <a:pPr marL="0" indent="0">
              <a:buNone/>
            </a:pPr>
            <a:r>
              <a:rPr lang="en-US" sz="750" dirty="0">
                <a:solidFill>
                  <a:srgbClr val="3B4A5E"/>
                </a:solidFill>
                <a:latin typeface="Segoe UI" pitchFamily="34" charset="0"/>
                <a:ea typeface="Segoe UI" pitchFamily="34" charset="-122"/>
                <a:cs typeface="Segoe UI" pitchFamily="34" charset="-120"/>
              </a:rPr>
              <a:t>≈ $687 / $700/mo</a:t>
            </a:r>
            <a:endParaRPr lang="en-US" sz="750" dirty="0"/>
          </a:p>
        </p:txBody>
      </p:sp>
      <p:sp>
        <p:nvSpPr>
          <p:cNvPr id="43" name="Shape 41"/>
          <p:cNvSpPr/>
          <p:nvPr/>
        </p:nvSpPr>
        <p:spPr>
          <a:xfrm>
            <a:off x="4572000" y="3346704"/>
            <a:ext cx="3794760" cy="566928"/>
          </a:xfrm>
          <a:prstGeom prst="rect">
            <a:avLst/>
          </a:prstGeom>
          <a:solidFill>
            <a:srgbClr val="FFFFFF"/>
          </a:solidFill>
          <a:ln w="7620">
            <a:solidFill>
              <a:srgbClr val="D8E2EC"/>
            </a:solidFill>
            <a:prstDash val="solid"/>
          </a:ln>
        </p:spPr>
      </p:sp>
      <p:sp>
        <p:nvSpPr>
          <p:cNvPr id="44" name="Text 42"/>
          <p:cNvSpPr/>
          <p:nvPr/>
        </p:nvSpPr>
        <p:spPr>
          <a:xfrm>
            <a:off x="4645152" y="3456432"/>
            <a:ext cx="3648456" cy="256032"/>
          </a:xfrm>
          <a:prstGeom prst="rect">
            <a:avLst/>
          </a:prstGeom>
          <a:noFill/>
          <a:ln/>
        </p:spPr>
        <p:txBody>
          <a:bodyPr wrap="square" lIns="0" tIns="0" rIns="0" bIns="0" rtlCol="0" anchor="ctr">
            <a:normAutofit/>
          </a:bodyPr>
          <a:lstStyle/>
          <a:p>
            <a:pPr marL="0" indent="0">
              <a:buNone/>
            </a:pPr>
            <a:r>
              <a:rPr lang="en-US" sz="750" dirty="0">
                <a:solidFill>
                  <a:srgbClr val="3B4A5E"/>
                </a:solidFill>
                <a:latin typeface="Segoe UI" pitchFamily="34" charset="0"/>
                <a:ea typeface="Segoe UI" pitchFamily="34" charset="-122"/>
                <a:cs typeface="Segoe UI" pitchFamily="34" charset="-120"/>
              </a:rPr>
              <a:t>Standard v2 includes 50M calls; VNet integration</a:t>
            </a:r>
            <a:endParaRPr lang="en-US" sz="750" dirty="0"/>
          </a:p>
        </p:txBody>
      </p:sp>
      <p:sp>
        <p:nvSpPr>
          <p:cNvPr id="45" name="Shape 43"/>
          <p:cNvSpPr/>
          <p:nvPr/>
        </p:nvSpPr>
        <p:spPr>
          <a:xfrm>
            <a:off x="8366760" y="3346704"/>
            <a:ext cx="3246120" cy="566928"/>
          </a:xfrm>
          <a:prstGeom prst="rect">
            <a:avLst/>
          </a:prstGeom>
          <a:solidFill>
            <a:srgbClr val="FFFFFF"/>
          </a:solidFill>
          <a:ln w="7620">
            <a:solidFill>
              <a:srgbClr val="D8E2EC"/>
            </a:solidFill>
            <a:prstDash val="solid"/>
          </a:ln>
        </p:spPr>
      </p:sp>
      <p:sp>
        <p:nvSpPr>
          <p:cNvPr id="46" name="Text 44"/>
          <p:cNvSpPr/>
          <p:nvPr/>
        </p:nvSpPr>
        <p:spPr>
          <a:xfrm>
            <a:off x="8439912" y="3456432"/>
            <a:ext cx="3099816" cy="256032"/>
          </a:xfrm>
          <a:prstGeom prst="rect">
            <a:avLst/>
          </a:prstGeom>
          <a:noFill/>
          <a:ln/>
        </p:spPr>
        <p:txBody>
          <a:bodyPr wrap="square" lIns="0" tIns="0" rIns="0" bIns="0" rtlCol="0" anchor="ctr">
            <a:normAutofit/>
          </a:bodyPr>
          <a:lstStyle/>
          <a:p>
            <a:pPr marL="0" indent="0">
              <a:buNone/>
            </a:pPr>
            <a:r>
              <a:rPr lang="en-US" sz="750" dirty="0">
                <a:solidFill>
                  <a:srgbClr val="3B4A5E"/>
                </a:solidFill>
                <a:latin typeface="Segoe UI" pitchFamily="34" charset="0"/>
                <a:ea typeface="Segoe UI" pitchFamily="34" charset="-122"/>
                <a:cs typeface="Segoe UI" pitchFamily="34" charset="-120"/>
              </a:rPr>
              <a:t>Production with isolated backends</a:t>
            </a:r>
            <a:endParaRPr lang="en-US" sz="750" dirty="0"/>
          </a:p>
        </p:txBody>
      </p:sp>
      <p:sp>
        <p:nvSpPr>
          <p:cNvPr id="47" name="Shape 45"/>
          <p:cNvSpPr/>
          <p:nvPr/>
        </p:nvSpPr>
        <p:spPr>
          <a:xfrm>
            <a:off x="594360" y="3913632"/>
            <a:ext cx="1508760" cy="566928"/>
          </a:xfrm>
          <a:prstGeom prst="rect">
            <a:avLst/>
          </a:prstGeom>
          <a:solidFill>
            <a:srgbClr val="FFFFFF"/>
          </a:solidFill>
          <a:ln w="7620">
            <a:solidFill>
              <a:srgbClr val="D8E2EC"/>
            </a:solidFill>
            <a:prstDash val="solid"/>
          </a:ln>
        </p:spPr>
      </p:sp>
      <p:sp>
        <p:nvSpPr>
          <p:cNvPr id="48" name="Text 46"/>
          <p:cNvSpPr/>
          <p:nvPr/>
        </p:nvSpPr>
        <p:spPr>
          <a:xfrm>
            <a:off x="667512" y="4023360"/>
            <a:ext cx="1362456" cy="256032"/>
          </a:xfrm>
          <a:prstGeom prst="rect">
            <a:avLst/>
          </a:prstGeom>
          <a:noFill/>
          <a:ln/>
        </p:spPr>
        <p:txBody>
          <a:bodyPr wrap="square" lIns="0" tIns="0" rIns="0" bIns="0" rtlCol="0" anchor="ctr">
            <a:normAutofit/>
          </a:bodyPr>
          <a:lstStyle/>
          <a:p>
            <a:pPr marL="0" indent="0">
              <a:buNone/>
            </a:pPr>
            <a:r>
              <a:rPr lang="en-US" sz="750" dirty="0">
                <a:solidFill>
                  <a:srgbClr val="3B4A5E"/>
                </a:solidFill>
                <a:latin typeface="Segoe UI" pitchFamily="34" charset="0"/>
                <a:ea typeface="Segoe UI" pitchFamily="34" charset="-122"/>
                <a:cs typeface="Segoe UI" pitchFamily="34" charset="-120"/>
              </a:rPr>
              <a:t>Premium / Premium v2</a:t>
            </a:r>
            <a:endParaRPr lang="en-US" sz="750" dirty="0"/>
          </a:p>
        </p:txBody>
      </p:sp>
      <p:sp>
        <p:nvSpPr>
          <p:cNvPr id="49" name="Shape 47"/>
          <p:cNvSpPr/>
          <p:nvPr/>
        </p:nvSpPr>
        <p:spPr>
          <a:xfrm>
            <a:off x="2103120" y="3913632"/>
            <a:ext cx="2468880" cy="566928"/>
          </a:xfrm>
          <a:prstGeom prst="rect">
            <a:avLst/>
          </a:prstGeom>
          <a:solidFill>
            <a:srgbClr val="FFFFFF"/>
          </a:solidFill>
          <a:ln w="7620">
            <a:solidFill>
              <a:srgbClr val="D8E2EC"/>
            </a:solidFill>
            <a:prstDash val="solid"/>
          </a:ln>
        </p:spPr>
      </p:sp>
      <p:sp>
        <p:nvSpPr>
          <p:cNvPr id="50" name="Text 48"/>
          <p:cNvSpPr/>
          <p:nvPr/>
        </p:nvSpPr>
        <p:spPr>
          <a:xfrm>
            <a:off x="2176272" y="4023360"/>
            <a:ext cx="2322576" cy="256032"/>
          </a:xfrm>
          <a:prstGeom prst="rect">
            <a:avLst/>
          </a:prstGeom>
          <a:noFill/>
          <a:ln/>
        </p:spPr>
        <p:txBody>
          <a:bodyPr wrap="square" lIns="0" tIns="0" rIns="0" bIns="0" rtlCol="0" anchor="ctr">
            <a:normAutofit/>
          </a:bodyPr>
          <a:lstStyle/>
          <a:p>
            <a:pPr marL="0" indent="0">
              <a:buNone/>
            </a:pPr>
            <a:r>
              <a:rPr lang="en-US" sz="750" dirty="0">
                <a:solidFill>
                  <a:srgbClr val="3B4A5E"/>
                </a:solidFill>
                <a:latin typeface="Segoe UI" pitchFamily="34" charset="0"/>
                <a:ea typeface="Segoe UI" pitchFamily="34" charset="-122"/>
                <a:cs typeface="Segoe UI" pitchFamily="34" charset="-120"/>
              </a:rPr>
              <a:t>≈ $2,795 / $2,800/unit/mo</a:t>
            </a:r>
            <a:endParaRPr lang="en-US" sz="750" dirty="0"/>
          </a:p>
        </p:txBody>
      </p:sp>
      <p:sp>
        <p:nvSpPr>
          <p:cNvPr id="51" name="Shape 49"/>
          <p:cNvSpPr/>
          <p:nvPr/>
        </p:nvSpPr>
        <p:spPr>
          <a:xfrm>
            <a:off x="4572000" y="3913632"/>
            <a:ext cx="3794760" cy="566928"/>
          </a:xfrm>
          <a:prstGeom prst="rect">
            <a:avLst/>
          </a:prstGeom>
          <a:solidFill>
            <a:srgbClr val="FFFFFF"/>
          </a:solidFill>
          <a:ln w="7620">
            <a:solidFill>
              <a:srgbClr val="D8E2EC"/>
            </a:solidFill>
            <a:prstDash val="solid"/>
          </a:ln>
        </p:spPr>
      </p:sp>
      <p:sp>
        <p:nvSpPr>
          <p:cNvPr id="52" name="Text 50"/>
          <p:cNvSpPr/>
          <p:nvPr/>
        </p:nvSpPr>
        <p:spPr>
          <a:xfrm>
            <a:off x="4645152" y="4023360"/>
            <a:ext cx="3648456" cy="256032"/>
          </a:xfrm>
          <a:prstGeom prst="rect">
            <a:avLst/>
          </a:prstGeom>
          <a:noFill/>
          <a:ln/>
        </p:spPr>
        <p:txBody>
          <a:bodyPr wrap="square" lIns="0" tIns="0" rIns="0" bIns="0" rtlCol="0" anchor="ctr">
            <a:normAutofit/>
          </a:bodyPr>
          <a:lstStyle/>
          <a:p>
            <a:pPr marL="0" indent="0">
              <a:buNone/>
            </a:pPr>
            <a:r>
              <a:rPr lang="en-US" sz="750" dirty="0">
                <a:solidFill>
                  <a:srgbClr val="3B4A5E"/>
                </a:solidFill>
                <a:latin typeface="Segoe UI" pitchFamily="34" charset="0"/>
                <a:ea typeface="Segoe UI" pitchFamily="34" charset="-122"/>
                <a:cs typeface="Segoe UI" pitchFamily="34" charset="-120"/>
              </a:rPr>
              <a:t>Premium v2 AZ + VNet injection + 30 units</a:t>
            </a:r>
            <a:endParaRPr lang="en-US" sz="750" dirty="0"/>
          </a:p>
        </p:txBody>
      </p:sp>
      <p:sp>
        <p:nvSpPr>
          <p:cNvPr id="53" name="Shape 51"/>
          <p:cNvSpPr/>
          <p:nvPr/>
        </p:nvSpPr>
        <p:spPr>
          <a:xfrm>
            <a:off x="8366760" y="3913632"/>
            <a:ext cx="3246120" cy="566928"/>
          </a:xfrm>
          <a:prstGeom prst="rect">
            <a:avLst/>
          </a:prstGeom>
          <a:solidFill>
            <a:srgbClr val="FFFFFF"/>
          </a:solidFill>
          <a:ln w="7620">
            <a:solidFill>
              <a:srgbClr val="D8E2EC"/>
            </a:solidFill>
            <a:prstDash val="solid"/>
          </a:ln>
        </p:spPr>
      </p:sp>
      <p:sp>
        <p:nvSpPr>
          <p:cNvPr id="54" name="Text 52"/>
          <p:cNvSpPr/>
          <p:nvPr/>
        </p:nvSpPr>
        <p:spPr>
          <a:xfrm>
            <a:off x="8439912" y="4023360"/>
            <a:ext cx="3099816" cy="256032"/>
          </a:xfrm>
          <a:prstGeom prst="rect">
            <a:avLst/>
          </a:prstGeom>
          <a:noFill/>
          <a:ln/>
        </p:spPr>
        <p:txBody>
          <a:bodyPr wrap="square" lIns="0" tIns="0" rIns="0" bIns="0" rtlCol="0" anchor="ctr">
            <a:normAutofit/>
          </a:bodyPr>
          <a:lstStyle/>
          <a:p>
            <a:pPr marL="0" indent="0">
              <a:buNone/>
            </a:pPr>
            <a:r>
              <a:rPr lang="en-US" sz="750" dirty="0">
                <a:solidFill>
                  <a:srgbClr val="3B4A5E"/>
                </a:solidFill>
                <a:latin typeface="Segoe UI" pitchFamily="34" charset="0"/>
                <a:ea typeface="Segoe UI" pitchFamily="34" charset="-122"/>
                <a:cs typeface="Segoe UI" pitchFamily="34" charset="-120"/>
              </a:rPr>
              <a:t>High scale / isolation</a:t>
            </a:r>
            <a:endParaRPr lang="en-US" sz="750" dirty="0"/>
          </a:p>
        </p:txBody>
      </p:sp>
      <p:sp>
        <p:nvSpPr>
          <p:cNvPr id="55" name="Shape 53"/>
          <p:cNvSpPr/>
          <p:nvPr/>
        </p:nvSpPr>
        <p:spPr>
          <a:xfrm>
            <a:off x="786384" y="5440680"/>
            <a:ext cx="10652760" cy="411480"/>
          </a:xfrm>
          <a:prstGeom prst="roundRect">
            <a:avLst>
              <a:gd name="adj" fmla="val 13333"/>
            </a:avLst>
          </a:prstGeom>
          <a:solidFill>
            <a:srgbClr val="FFF3CF"/>
          </a:solidFill>
          <a:ln w="12700">
            <a:solidFill>
              <a:srgbClr val="FFF3CF"/>
            </a:solidFill>
            <a:prstDash val="solid"/>
          </a:ln>
        </p:spPr>
      </p:sp>
      <p:sp>
        <p:nvSpPr>
          <p:cNvPr id="56" name="Text 54"/>
          <p:cNvSpPr/>
          <p:nvPr/>
        </p:nvSpPr>
        <p:spPr>
          <a:xfrm>
            <a:off x="960120" y="5577840"/>
            <a:ext cx="10287000" cy="118872"/>
          </a:xfrm>
          <a:prstGeom prst="rect">
            <a:avLst/>
          </a:prstGeom>
          <a:noFill/>
          <a:ln/>
        </p:spPr>
        <p:txBody>
          <a:bodyPr wrap="square" lIns="0" tIns="0" rIns="0" bIns="0" rtlCol="0" anchor="ctr">
            <a:normAutofit/>
          </a:bodyPr>
          <a:lstStyle/>
          <a:p>
            <a:pPr marL="0" indent="0" algn="ctr">
              <a:buNone/>
            </a:pPr>
            <a:r>
              <a:rPr lang="en-US" sz="860" dirty="0">
                <a:solidFill>
                  <a:srgbClr val="0B1E3F"/>
                </a:solidFill>
                <a:latin typeface="Segoe UI Semibold" pitchFamily="34" charset="0"/>
                <a:ea typeface="Segoe UI Semibold" pitchFamily="34" charset="-122"/>
                <a:cs typeface="Segoe UI Semibold" pitchFamily="34" charset="-120"/>
              </a:rPr>
              <a:t>List price, US East, Oct 2026 — verify in Azure pricing calculator. Model tokens are billed separately by Microsoft Foundry; APIM gateway does not add token cost.</a:t>
            </a:r>
            <a:endParaRPr lang="en-US" sz="86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301752"/>
            <a:ext cx="3200400" cy="201168"/>
          </a:xfrm>
          <a:prstGeom prst="rect">
            <a:avLst/>
          </a:prstGeom>
          <a:noFill/>
          <a:ln/>
        </p:spPr>
        <p:txBody>
          <a:bodyPr wrap="square" lIns="0" tIns="0" rIns="0" bIns="0" rtlCol="0" anchor="ctr"/>
          <a:lstStyle/>
          <a:p>
            <a:pPr marL="0" indent="0">
              <a:buNone/>
            </a:pPr>
            <a:r>
              <a:rPr lang="en-US" sz="800" kern="0" spc="120" dirty="0">
                <a:solidFill>
                  <a:srgbClr val="00B7C3"/>
                </a:solidFill>
                <a:latin typeface="Segoe UI Semibold" pitchFamily="34" charset="0"/>
                <a:ea typeface="Segoe UI Semibold" pitchFamily="34" charset="-122"/>
                <a:cs typeface="Segoe UI Semibold" pitchFamily="34" charset="-120"/>
              </a:rPr>
              <a:t>PRICING, LIMITS &amp; TIERING</a:t>
            </a:r>
            <a:endParaRPr lang="en-US" sz="800" dirty="0"/>
          </a:p>
        </p:txBody>
      </p:sp>
      <p:sp>
        <p:nvSpPr>
          <p:cNvPr id="3" name="Text 1"/>
          <p:cNvSpPr/>
          <p:nvPr/>
        </p:nvSpPr>
        <p:spPr>
          <a:xfrm>
            <a:off x="457200" y="521208"/>
            <a:ext cx="7955280" cy="438912"/>
          </a:xfrm>
          <a:prstGeom prst="rect">
            <a:avLst/>
          </a:prstGeom>
          <a:noFill/>
          <a:ln/>
        </p:spPr>
        <p:txBody>
          <a:bodyPr wrap="square" lIns="0" tIns="0" rIns="0" bIns="0" rtlCol="0" anchor="ctr"/>
          <a:lstStyle/>
          <a:p>
            <a:pPr marL="0" indent="0">
              <a:buNone/>
            </a:pPr>
            <a:r>
              <a:rPr lang="en-US" sz="2500" dirty="0">
                <a:solidFill>
                  <a:srgbClr val="0B1E3F"/>
                </a:solidFill>
                <a:latin typeface="Segoe UI Semibold" pitchFamily="34" charset="0"/>
                <a:ea typeface="Segoe UI Semibold" pitchFamily="34" charset="-122"/>
                <a:cs typeface="Segoe UI Semibold" pitchFamily="34" charset="-120"/>
              </a:rPr>
              <a:t>Limits to design around</a:t>
            </a:r>
            <a:endParaRPr lang="en-US" sz="2500" dirty="0"/>
          </a:p>
        </p:txBody>
      </p:sp>
      <p:sp>
        <p:nvSpPr>
          <p:cNvPr id="4" name="Shape 2"/>
          <p:cNvSpPr/>
          <p:nvPr/>
        </p:nvSpPr>
        <p:spPr>
          <a:xfrm>
            <a:off x="10698480" y="118872"/>
            <a:ext cx="1051560" cy="1051560"/>
          </a:xfrm>
          <a:prstGeom prst="arc">
            <a:avLst/>
          </a:prstGeom>
          <a:solidFill>
            <a:srgbClr val="F5F7FA">
              <a:alpha val="0"/>
            </a:srgbClr>
          </a:solidFill>
          <a:ln w="38100">
            <a:solidFill>
              <a:srgbClr val="00B7C3">
                <a:alpha val="90000"/>
              </a:srgbClr>
            </a:solidFill>
            <a:prstDash val="solid"/>
          </a:ln>
        </p:spPr>
      </p:sp>
      <p:sp>
        <p:nvSpPr>
          <p:cNvPr id="5" name="Text 3"/>
          <p:cNvSpPr/>
          <p:nvPr/>
        </p:nvSpPr>
        <p:spPr>
          <a:xfrm>
            <a:off x="457200" y="6473952"/>
            <a:ext cx="7955280" cy="164592"/>
          </a:xfrm>
          <a:prstGeom prst="rect">
            <a:avLst/>
          </a:prstGeom>
          <a:noFill/>
          <a:ln/>
        </p:spPr>
        <p:txBody>
          <a:bodyPr wrap="square" lIns="0" tIns="0" rIns="0" bIns="0" rtlCol="0" anchor="ctr"/>
          <a:lstStyle/>
          <a:p>
            <a:pPr marL="0" indent="0">
              <a:buNone/>
            </a:pPr>
            <a:r>
              <a:rPr lang="en-US" sz="750" dirty="0">
                <a:solidFill>
                  <a:srgbClr val="8A97A8"/>
                </a:solidFill>
                <a:latin typeface="Segoe UI" pitchFamily="34" charset="0"/>
                <a:ea typeface="Segoe UI" pitchFamily="34" charset="-122"/>
                <a:cs typeface="Segoe UI" pitchFamily="34" charset="-120"/>
              </a:rPr>
              <a:t>Azure API Management AI Gateway — Oct 2026</a:t>
            </a:r>
            <a:endParaRPr lang="en-US" sz="750" dirty="0"/>
          </a:p>
        </p:txBody>
      </p:sp>
      <p:sp>
        <p:nvSpPr>
          <p:cNvPr id="6" name="Text 4"/>
          <p:cNvSpPr/>
          <p:nvPr/>
        </p:nvSpPr>
        <p:spPr>
          <a:xfrm>
            <a:off x="11430000" y="6446520"/>
            <a:ext cx="320040" cy="164592"/>
          </a:xfrm>
          <a:prstGeom prst="rect">
            <a:avLst/>
          </a:prstGeom>
          <a:noFill/>
          <a:ln/>
        </p:spPr>
        <p:txBody>
          <a:bodyPr wrap="square" lIns="0" tIns="0" rIns="0" bIns="0" rtlCol="0" anchor="ctr"/>
          <a:lstStyle/>
          <a:p>
            <a:pPr marL="0" indent="0" algn="r">
              <a:buNone/>
            </a:pPr>
            <a:r>
              <a:rPr lang="en-US" sz="800" dirty="0">
                <a:solidFill>
                  <a:srgbClr val="8A97A8"/>
                </a:solidFill>
                <a:latin typeface="Segoe UI Semibold" pitchFamily="34" charset="0"/>
                <a:ea typeface="Segoe UI Semibold" pitchFamily="34" charset="-122"/>
                <a:cs typeface="Segoe UI Semibold" pitchFamily="34" charset="-120"/>
              </a:rPr>
              <a:t>27</a:t>
            </a:r>
            <a:endParaRPr lang="en-US" sz="800" dirty="0"/>
          </a:p>
        </p:txBody>
      </p:sp>
      <p:sp>
        <p:nvSpPr>
          <p:cNvPr id="7" name="Shape 5"/>
          <p:cNvSpPr/>
          <p:nvPr/>
        </p:nvSpPr>
        <p:spPr>
          <a:xfrm>
            <a:off x="658368" y="1097280"/>
            <a:ext cx="2514600" cy="1261872"/>
          </a:xfrm>
          <a:prstGeom prst="rect">
            <a:avLst/>
          </a:prstGeom>
          <a:solidFill>
            <a:srgbClr val="FFFFFF"/>
          </a:solidFill>
          <a:ln w="10160">
            <a:solidFill>
              <a:srgbClr val="D8E2EC"/>
            </a:solidFill>
            <a:prstDash val="solid"/>
          </a:ln>
        </p:spPr>
      </p:sp>
      <p:sp>
        <p:nvSpPr>
          <p:cNvPr id="8" name="Shape 6"/>
          <p:cNvSpPr/>
          <p:nvPr/>
        </p:nvSpPr>
        <p:spPr>
          <a:xfrm>
            <a:off x="658368" y="1097280"/>
            <a:ext cx="73152" cy="1261872"/>
          </a:xfrm>
          <a:prstGeom prst="rect">
            <a:avLst/>
          </a:prstGeom>
          <a:solidFill>
            <a:srgbClr val="00B7C3"/>
          </a:solidFill>
          <a:ln w="12700">
            <a:solidFill>
              <a:srgbClr val="00B7C3"/>
            </a:solidFill>
            <a:prstDash val="solid"/>
          </a:ln>
        </p:spPr>
      </p:sp>
      <p:sp>
        <p:nvSpPr>
          <p:cNvPr id="9" name="Text 7"/>
          <p:cNvSpPr/>
          <p:nvPr/>
        </p:nvSpPr>
        <p:spPr>
          <a:xfrm>
            <a:off x="841248" y="1234440"/>
            <a:ext cx="2194560" cy="256032"/>
          </a:xfrm>
          <a:prstGeom prst="rect">
            <a:avLst/>
          </a:prstGeom>
          <a:noFill/>
          <a:ln/>
        </p:spPr>
        <p:txBody>
          <a:bodyPr wrap="square" lIns="0" tIns="0" rIns="0" bIns="0" rtlCol="0" anchor="ctr">
            <a:normAutofit/>
          </a:bodyPr>
          <a:lstStyle/>
          <a:p>
            <a:pPr marL="0" indent="0">
              <a:buNone/>
            </a:pPr>
            <a:r>
              <a:rPr lang="en-US" sz="1120" dirty="0">
                <a:solidFill>
                  <a:srgbClr val="0B1E3F"/>
                </a:solidFill>
                <a:latin typeface="Segoe UI Semibold" pitchFamily="34" charset="0"/>
                <a:ea typeface="Segoe UI Semibold" pitchFamily="34" charset="-122"/>
                <a:cs typeface="Segoe UI Semibold" pitchFamily="34" charset="-120"/>
              </a:rPr>
              <a:t>Scale units</a:t>
            </a:r>
            <a:endParaRPr lang="en-US" sz="1120" dirty="0"/>
          </a:p>
        </p:txBody>
      </p:sp>
      <p:sp>
        <p:nvSpPr>
          <p:cNvPr id="10" name="Text 8"/>
          <p:cNvSpPr/>
          <p:nvPr/>
        </p:nvSpPr>
        <p:spPr>
          <a:xfrm>
            <a:off x="841248" y="1554480"/>
            <a:ext cx="2194560" cy="713232"/>
          </a:xfrm>
          <a:prstGeom prst="rect">
            <a:avLst/>
          </a:prstGeom>
          <a:noFill/>
          <a:ln/>
        </p:spPr>
        <p:txBody>
          <a:bodyPr wrap="square" lIns="635" tIns="635" rIns="635" bIns="635" rtlCol="0" anchor="ctr">
            <a:normAutofit/>
          </a:bodyPr>
          <a:lstStyle/>
          <a:p>
            <a:pPr marL="0" indent="0">
              <a:buNone/>
            </a:pPr>
            <a:r>
              <a:rPr lang="en-US" sz="820" dirty="0">
                <a:solidFill>
                  <a:srgbClr val="3B4A5E"/>
                </a:solidFill>
                <a:latin typeface="Segoe UI" pitchFamily="34" charset="0"/>
                <a:ea typeface="Segoe UI" pitchFamily="34" charset="-122"/>
                <a:cs typeface="Segoe UI" pitchFamily="34" charset="-120"/>
              </a:rPr>
              <a:t>Basic v2/Standard v2 up to 10; Premium v2 up to 30.</a:t>
            </a:r>
            <a:endParaRPr lang="en-US" sz="820" dirty="0"/>
          </a:p>
        </p:txBody>
      </p:sp>
      <p:sp>
        <p:nvSpPr>
          <p:cNvPr id="11" name="Shape 9"/>
          <p:cNvSpPr/>
          <p:nvPr/>
        </p:nvSpPr>
        <p:spPr>
          <a:xfrm>
            <a:off x="3520440" y="1097280"/>
            <a:ext cx="2514600" cy="1261872"/>
          </a:xfrm>
          <a:prstGeom prst="rect">
            <a:avLst/>
          </a:prstGeom>
          <a:solidFill>
            <a:srgbClr val="FFFFFF"/>
          </a:solidFill>
          <a:ln w="10160">
            <a:solidFill>
              <a:srgbClr val="D8E2EC"/>
            </a:solidFill>
            <a:prstDash val="solid"/>
          </a:ln>
        </p:spPr>
      </p:sp>
      <p:sp>
        <p:nvSpPr>
          <p:cNvPr id="12" name="Shape 10"/>
          <p:cNvSpPr/>
          <p:nvPr/>
        </p:nvSpPr>
        <p:spPr>
          <a:xfrm>
            <a:off x="3520440" y="1097280"/>
            <a:ext cx="73152" cy="1261872"/>
          </a:xfrm>
          <a:prstGeom prst="rect">
            <a:avLst/>
          </a:prstGeom>
          <a:solidFill>
            <a:srgbClr val="00B7C3"/>
          </a:solidFill>
          <a:ln w="12700">
            <a:solidFill>
              <a:srgbClr val="00B7C3"/>
            </a:solidFill>
            <a:prstDash val="solid"/>
          </a:ln>
        </p:spPr>
      </p:sp>
      <p:sp>
        <p:nvSpPr>
          <p:cNvPr id="13" name="Text 11"/>
          <p:cNvSpPr/>
          <p:nvPr/>
        </p:nvSpPr>
        <p:spPr>
          <a:xfrm>
            <a:off x="3703320" y="1234440"/>
            <a:ext cx="2194560" cy="256032"/>
          </a:xfrm>
          <a:prstGeom prst="rect">
            <a:avLst/>
          </a:prstGeom>
          <a:noFill/>
          <a:ln/>
        </p:spPr>
        <p:txBody>
          <a:bodyPr wrap="square" lIns="0" tIns="0" rIns="0" bIns="0" rtlCol="0" anchor="ctr">
            <a:normAutofit/>
          </a:bodyPr>
          <a:lstStyle/>
          <a:p>
            <a:pPr marL="0" indent="0">
              <a:buNone/>
            </a:pPr>
            <a:r>
              <a:rPr lang="en-US" sz="1120" dirty="0">
                <a:solidFill>
                  <a:srgbClr val="0B1E3F"/>
                </a:solidFill>
                <a:latin typeface="Segoe UI Semibold" pitchFamily="34" charset="0"/>
                <a:ea typeface="Segoe UI Semibold" pitchFamily="34" charset="-122"/>
                <a:cs typeface="Segoe UI Semibold" pitchFamily="34" charset="-120"/>
              </a:rPr>
              <a:t>Policy size</a:t>
            </a:r>
            <a:endParaRPr lang="en-US" sz="1120" dirty="0"/>
          </a:p>
        </p:txBody>
      </p:sp>
      <p:sp>
        <p:nvSpPr>
          <p:cNvPr id="14" name="Text 12"/>
          <p:cNvSpPr/>
          <p:nvPr/>
        </p:nvSpPr>
        <p:spPr>
          <a:xfrm>
            <a:off x="3703320" y="1554480"/>
            <a:ext cx="2194560" cy="713232"/>
          </a:xfrm>
          <a:prstGeom prst="rect">
            <a:avLst/>
          </a:prstGeom>
          <a:noFill/>
          <a:ln/>
        </p:spPr>
        <p:txBody>
          <a:bodyPr wrap="square" lIns="635" tIns="635" rIns="635" bIns="635" rtlCol="0" anchor="ctr">
            <a:normAutofit/>
          </a:bodyPr>
          <a:lstStyle/>
          <a:p>
            <a:pPr marL="0" indent="0">
              <a:buNone/>
            </a:pPr>
            <a:r>
              <a:rPr lang="en-US" sz="820" dirty="0">
                <a:solidFill>
                  <a:srgbClr val="3B4A5E"/>
                </a:solidFill>
                <a:latin typeface="Segoe UI" pitchFamily="34" charset="0"/>
                <a:ea typeface="Segoe UI" pitchFamily="34" charset="-122"/>
                <a:cs typeface="Segoe UI" pitchFamily="34" charset="-120"/>
              </a:rPr>
              <a:t>512 KiB policy document; Consumption is 16 KiB.</a:t>
            </a:r>
            <a:endParaRPr lang="en-US" sz="820" dirty="0"/>
          </a:p>
        </p:txBody>
      </p:sp>
      <p:sp>
        <p:nvSpPr>
          <p:cNvPr id="15" name="Shape 13"/>
          <p:cNvSpPr/>
          <p:nvPr/>
        </p:nvSpPr>
        <p:spPr>
          <a:xfrm>
            <a:off x="6382512" y="1097280"/>
            <a:ext cx="2514600" cy="1261872"/>
          </a:xfrm>
          <a:prstGeom prst="rect">
            <a:avLst/>
          </a:prstGeom>
          <a:solidFill>
            <a:srgbClr val="FFFFFF"/>
          </a:solidFill>
          <a:ln w="10160">
            <a:solidFill>
              <a:srgbClr val="D8E2EC"/>
            </a:solidFill>
            <a:prstDash val="solid"/>
          </a:ln>
        </p:spPr>
      </p:sp>
      <p:sp>
        <p:nvSpPr>
          <p:cNvPr id="16" name="Shape 14"/>
          <p:cNvSpPr/>
          <p:nvPr/>
        </p:nvSpPr>
        <p:spPr>
          <a:xfrm>
            <a:off x="6382512" y="1097280"/>
            <a:ext cx="73152" cy="1261872"/>
          </a:xfrm>
          <a:prstGeom prst="rect">
            <a:avLst/>
          </a:prstGeom>
          <a:solidFill>
            <a:srgbClr val="00B7C3"/>
          </a:solidFill>
          <a:ln w="12700">
            <a:solidFill>
              <a:srgbClr val="00B7C3"/>
            </a:solidFill>
            <a:prstDash val="solid"/>
          </a:ln>
        </p:spPr>
      </p:sp>
      <p:sp>
        <p:nvSpPr>
          <p:cNvPr id="17" name="Text 15"/>
          <p:cNvSpPr/>
          <p:nvPr/>
        </p:nvSpPr>
        <p:spPr>
          <a:xfrm>
            <a:off x="6565392" y="1234440"/>
            <a:ext cx="2194560" cy="256032"/>
          </a:xfrm>
          <a:prstGeom prst="rect">
            <a:avLst/>
          </a:prstGeom>
          <a:noFill/>
          <a:ln/>
        </p:spPr>
        <p:txBody>
          <a:bodyPr wrap="square" lIns="0" tIns="0" rIns="0" bIns="0" rtlCol="0" anchor="ctr">
            <a:normAutofit/>
          </a:bodyPr>
          <a:lstStyle/>
          <a:p>
            <a:pPr marL="0" indent="0">
              <a:buNone/>
            </a:pPr>
            <a:r>
              <a:rPr lang="en-US" sz="1120" dirty="0">
                <a:solidFill>
                  <a:srgbClr val="0B1E3F"/>
                </a:solidFill>
                <a:latin typeface="Segoe UI Semibold" pitchFamily="34" charset="0"/>
                <a:ea typeface="Segoe UI Semibold" pitchFamily="34" charset="-122"/>
                <a:cs typeface="Segoe UI Semibold" pitchFamily="34" charset="-120"/>
              </a:rPr>
              <a:t>Payload &amp; URL</a:t>
            </a:r>
            <a:endParaRPr lang="en-US" sz="1120" dirty="0"/>
          </a:p>
        </p:txBody>
      </p:sp>
      <p:sp>
        <p:nvSpPr>
          <p:cNvPr id="18" name="Text 16"/>
          <p:cNvSpPr/>
          <p:nvPr/>
        </p:nvSpPr>
        <p:spPr>
          <a:xfrm>
            <a:off x="6565392" y="1554480"/>
            <a:ext cx="2194560" cy="713232"/>
          </a:xfrm>
          <a:prstGeom prst="rect">
            <a:avLst/>
          </a:prstGeom>
          <a:noFill/>
          <a:ln/>
        </p:spPr>
        <p:txBody>
          <a:bodyPr wrap="square" lIns="635" tIns="635" rIns="635" bIns="635" rtlCol="0" anchor="ctr">
            <a:normAutofit/>
          </a:bodyPr>
          <a:lstStyle/>
          <a:p>
            <a:pPr marL="0" indent="0">
              <a:buNone/>
            </a:pPr>
            <a:r>
              <a:rPr lang="en-US" sz="820" dirty="0">
                <a:solidFill>
                  <a:srgbClr val="3B4A5E"/>
                </a:solidFill>
                <a:latin typeface="Segoe UI" pitchFamily="34" charset="0"/>
                <a:ea typeface="Segoe UI" pitchFamily="34" charset="-122"/>
                <a:cs typeface="Segoe UI" pitchFamily="34" charset="-120"/>
              </a:rPr>
              <a:t>v2 buffered payload 2 MiB; request URL 16 KB.</a:t>
            </a:r>
            <a:endParaRPr lang="en-US" sz="820" dirty="0"/>
          </a:p>
        </p:txBody>
      </p:sp>
      <p:sp>
        <p:nvSpPr>
          <p:cNvPr id="19" name="Shape 17"/>
          <p:cNvSpPr/>
          <p:nvPr/>
        </p:nvSpPr>
        <p:spPr>
          <a:xfrm>
            <a:off x="9244584" y="1097280"/>
            <a:ext cx="2514600" cy="1261872"/>
          </a:xfrm>
          <a:prstGeom prst="rect">
            <a:avLst/>
          </a:prstGeom>
          <a:solidFill>
            <a:srgbClr val="FFFFFF"/>
          </a:solidFill>
          <a:ln w="10160">
            <a:solidFill>
              <a:srgbClr val="D8E2EC"/>
            </a:solidFill>
            <a:prstDash val="solid"/>
          </a:ln>
        </p:spPr>
      </p:sp>
      <p:sp>
        <p:nvSpPr>
          <p:cNvPr id="20" name="Shape 18"/>
          <p:cNvSpPr/>
          <p:nvPr/>
        </p:nvSpPr>
        <p:spPr>
          <a:xfrm>
            <a:off x="9244584" y="1097280"/>
            <a:ext cx="73152" cy="1261872"/>
          </a:xfrm>
          <a:prstGeom prst="rect">
            <a:avLst/>
          </a:prstGeom>
          <a:solidFill>
            <a:srgbClr val="00B7C3"/>
          </a:solidFill>
          <a:ln w="12700">
            <a:solidFill>
              <a:srgbClr val="00B7C3"/>
            </a:solidFill>
            <a:prstDash val="solid"/>
          </a:ln>
        </p:spPr>
      </p:sp>
      <p:sp>
        <p:nvSpPr>
          <p:cNvPr id="21" name="Text 19"/>
          <p:cNvSpPr/>
          <p:nvPr/>
        </p:nvSpPr>
        <p:spPr>
          <a:xfrm>
            <a:off x="9427464" y="1234440"/>
            <a:ext cx="2194560" cy="256032"/>
          </a:xfrm>
          <a:prstGeom prst="rect">
            <a:avLst/>
          </a:prstGeom>
          <a:noFill/>
          <a:ln/>
        </p:spPr>
        <p:txBody>
          <a:bodyPr wrap="square" lIns="0" tIns="0" rIns="0" bIns="0" rtlCol="0" anchor="ctr">
            <a:normAutofit/>
          </a:bodyPr>
          <a:lstStyle/>
          <a:p>
            <a:pPr marL="0" indent="0">
              <a:buNone/>
            </a:pPr>
            <a:r>
              <a:rPr lang="en-US" sz="1120" dirty="0">
                <a:solidFill>
                  <a:srgbClr val="0B1E3F"/>
                </a:solidFill>
                <a:latin typeface="Segoe UI Semibold" pitchFamily="34" charset="0"/>
                <a:ea typeface="Segoe UI Semibold" pitchFamily="34" charset="-122"/>
                <a:cs typeface="Segoe UI Semibold" pitchFamily="34" charset="-120"/>
              </a:rPr>
              <a:t>Products / subscriptions</a:t>
            </a:r>
            <a:endParaRPr lang="en-US" sz="1120" dirty="0"/>
          </a:p>
        </p:txBody>
      </p:sp>
      <p:sp>
        <p:nvSpPr>
          <p:cNvPr id="22" name="Text 20"/>
          <p:cNvSpPr/>
          <p:nvPr/>
        </p:nvSpPr>
        <p:spPr>
          <a:xfrm>
            <a:off x="9427464" y="1554480"/>
            <a:ext cx="2194560" cy="713232"/>
          </a:xfrm>
          <a:prstGeom prst="rect">
            <a:avLst/>
          </a:prstGeom>
          <a:noFill/>
          <a:ln/>
        </p:spPr>
        <p:txBody>
          <a:bodyPr wrap="square" lIns="635" tIns="635" rIns="635" bIns="635" rtlCol="0" anchor="ctr">
            <a:normAutofit/>
          </a:bodyPr>
          <a:lstStyle/>
          <a:p>
            <a:pPr marL="0" indent="0">
              <a:buNone/>
            </a:pPr>
            <a:r>
              <a:rPr lang="en-US" sz="820" dirty="0">
                <a:solidFill>
                  <a:srgbClr val="3B4A5E"/>
                </a:solidFill>
                <a:latin typeface="Segoe UI" pitchFamily="34" charset="0"/>
                <a:ea typeface="Segoe UI" pitchFamily="34" charset="-122"/>
                <a:cs typeface="Segoe UI" pitchFamily="34" charset="-120"/>
              </a:rPr>
              <a:t>Basic 200 products &amp; 15K subscriptions; Standard 500 &amp; 25K; Premium 2,000 &amp; 75K.</a:t>
            </a:r>
            <a:endParaRPr lang="en-US" sz="820" dirty="0"/>
          </a:p>
        </p:txBody>
      </p:sp>
      <p:sp>
        <p:nvSpPr>
          <p:cNvPr id="23" name="Shape 21"/>
          <p:cNvSpPr/>
          <p:nvPr/>
        </p:nvSpPr>
        <p:spPr>
          <a:xfrm>
            <a:off x="658368" y="2971800"/>
            <a:ext cx="2514600" cy="1261872"/>
          </a:xfrm>
          <a:prstGeom prst="rect">
            <a:avLst/>
          </a:prstGeom>
          <a:solidFill>
            <a:srgbClr val="FFFFFF"/>
          </a:solidFill>
          <a:ln w="10160">
            <a:solidFill>
              <a:srgbClr val="D8E2EC"/>
            </a:solidFill>
            <a:prstDash val="solid"/>
          </a:ln>
        </p:spPr>
      </p:sp>
      <p:sp>
        <p:nvSpPr>
          <p:cNvPr id="24" name="Shape 22"/>
          <p:cNvSpPr/>
          <p:nvPr/>
        </p:nvSpPr>
        <p:spPr>
          <a:xfrm>
            <a:off x="658368" y="2971800"/>
            <a:ext cx="73152" cy="1261872"/>
          </a:xfrm>
          <a:prstGeom prst="rect">
            <a:avLst/>
          </a:prstGeom>
          <a:solidFill>
            <a:srgbClr val="FFB900"/>
          </a:solidFill>
          <a:ln w="12700">
            <a:solidFill>
              <a:srgbClr val="FFB900"/>
            </a:solidFill>
            <a:prstDash val="solid"/>
          </a:ln>
        </p:spPr>
      </p:sp>
      <p:sp>
        <p:nvSpPr>
          <p:cNvPr id="25" name="Text 23"/>
          <p:cNvSpPr/>
          <p:nvPr/>
        </p:nvSpPr>
        <p:spPr>
          <a:xfrm>
            <a:off x="841248" y="3108960"/>
            <a:ext cx="2194560" cy="256032"/>
          </a:xfrm>
          <a:prstGeom prst="rect">
            <a:avLst/>
          </a:prstGeom>
          <a:noFill/>
          <a:ln/>
        </p:spPr>
        <p:txBody>
          <a:bodyPr wrap="square" lIns="0" tIns="0" rIns="0" bIns="0" rtlCol="0" anchor="ctr">
            <a:normAutofit/>
          </a:bodyPr>
          <a:lstStyle/>
          <a:p>
            <a:pPr marL="0" indent="0">
              <a:buNone/>
            </a:pPr>
            <a:r>
              <a:rPr lang="en-US" sz="1120" dirty="0">
                <a:solidFill>
                  <a:srgbClr val="0B1E3F"/>
                </a:solidFill>
                <a:latin typeface="Segoe UI Semibold" pitchFamily="34" charset="0"/>
                <a:ea typeface="Segoe UI Semibold" pitchFamily="34" charset="-122"/>
                <a:cs typeface="Segoe UI Semibold" pitchFamily="34" charset="-120"/>
              </a:rPr>
              <a:t>Backend pool</a:t>
            </a:r>
            <a:endParaRPr lang="en-US" sz="1120" dirty="0"/>
          </a:p>
        </p:txBody>
      </p:sp>
      <p:sp>
        <p:nvSpPr>
          <p:cNvPr id="26" name="Text 24"/>
          <p:cNvSpPr/>
          <p:nvPr/>
        </p:nvSpPr>
        <p:spPr>
          <a:xfrm>
            <a:off x="841248" y="3429000"/>
            <a:ext cx="2194560" cy="713232"/>
          </a:xfrm>
          <a:prstGeom prst="rect">
            <a:avLst/>
          </a:prstGeom>
          <a:noFill/>
          <a:ln/>
        </p:spPr>
        <p:txBody>
          <a:bodyPr wrap="square" lIns="635" tIns="635" rIns="635" bIns="635" rtlCol="0" anchor="ctr">
            <a:normAutofit/>
          </a:bodyPr>
          <a:lstStyle/>
          <a:p>
            <a:pPr marL="0" indent="0">
              <a:buNone/>
            </a:pPr>
            <a:r>
              <a:rPr lang="en-US" sz="820" dirty="0">
                <a:solidFill>
                  <a:srgbClr val="3B4A5E"/>
                </a:solidFill>
                <a:latin typeface="Segoe UI" pitchFamily="34" charset="0"/>
                <a:ea typeface="Segoe UI" pitchFamily="34" charset="-122"/>
                <a:cs typeface="Segoe UI" pitchFamily="34" charset="-120"/>
              </a:rPr>
              <a:t>Up to 30 backends; one circuit-breaker rule per backend; not in Consumption.</a:t>
            </a:r>
            <a:endParaRPr lang="en-US" sz="820" dirty="0"/>
          </a:p>
        </p:txBody>
      </p:sp>
      <p:sp>
        <p:nvSpPr>
          <p:cNvPr id="27" name="Shape 25"/>
          <p:cNvSpPr/>
          <p:nvPr/>
        </p:nvSpPr>
        <p:spPr>
          <a:xfrm>
            <a:off x="3520440" y="2971800"/>
            <a:ext cx="2514600" cy="1261872"/>
          </a:xfrm>
          <a:prstGeom prst="rect">
            <a:avLst/>
          </a:prstGeom>
          <a:solidFill>
            <a:srgbClr val="FFFFFF"/>
          </a:solidFill>
          <a:ln w="10160">
            <a:solidFill>
              <a:srgbClr val="D8E2EC"/>
            </a:solidFill>
            <a:prstDash val="solid"/>
          </a:ln>
        </p:spPr>
      </p:sp>
      <p:sp>
        <p:nvSpPr>
          <p:cNvPr id="28" name="Shape 26"/>
          <p:cNvSpPr/>
          <p:nvPr/>
        </p:nvSpPr>
        <p:spPr>
          <a:xfrm>
            <a:off x="3520440" y="2971800"/>
            <a:ext cx="73152" cy="1261872"/>
          </a:xfrm>
          <a:prstGeom prst="rect">
            <a:avLst/>
          </a:prstGeom>
          <a:solidFill>
            <a:srgbClr val="00B7C3"/>
          </a:solidFill>
          <a:ln w="12700">
            <a:solidFill>
              <a:srgbClr val="00B7C3"/>
            </a:solidFill>
            <a:prstDash val="solid"/>
          </a:ln>
        </p:spPr>
      </p:sp>
      <p:sp>
        <p:nvSpPr>
          <p:cNvPr id="29" name="Text 27"/>
          <p:cNvSpPr/>
          <p:nvPr/>
        </p:nvSpPr>
        <p:spPr>
          <a:xfrm>
            <a:off x="3703320" y="3108960"/>
            <a:ext cx="2194560" cy="256032"/>
          </a:xfrm>
          <a:prstGeom prst="rect">
            <a:avLst/>
          </a:prstGeom>
          <a:noFill/>
          <a:ln/>
        </p:spPr>
        <p:txBody>
          <a:bodyPr wrap="square" lIns="0" tIns="0" rIns="0" bIns="0" rtlCol="0" anchor="ctr">
            <a:normAutofit/>
          </a:bodyPr>
          <a:lstStyle/>
          <a:p>
            <a:pPr marL="0" indent="0">
              <a:buNone/>
            </a:pPr>
            <a:r>
              <a:rPr lang="en-US" sz="1120" dirty="0">
                <a:solidFill>
                  <a:srgbClr val="0B1E3F"/>
                </a:solidFill>
                <a:latin typeface="Segoe UI Semibold" pitchFamily="34" charset="0"/>
                <a:ea typeface="Segoe UI Semibold" pitchFamily="34" charset="-122"/>
                <a:cs typeface="Segoe UI Semibold" pitchFamily="34" charset="-120"/>
              </a:rPr>
              <a:t>MCP specifics</a:t>
            </a:r>
            <a:endParaRPr lang="en-US" sz="1120" dirty="0"/>
          </a:p>
        </p:txBody>
      </p:sp>
      <p:sp>
        <p:nvSpPr>
          <p:cNvPr id="30" name="Text 28"/>
          <p:cNvSpPr/>
          <p:nvPr/>
        </p:nvSpPr>
        <p:spPr>
          <a:xfrm>
            <a:off x="3703320" y="3429000"/>
            <a:ext cx="2194560" cy="713232"/>
          </a:xfrm>
          <a:prstGeom prst="rect">
            <a:avLst/>
          </a:prstGeom>
          <a:noFill/>
          <a:ln/>
        </p:spPr>
        <p:txBody>
          <a:bodyPr wrap="square" lIns="635" tIns="635" rIns="635" bIns="635" rtlCol="0" anchor="ctr">
            <a:normAutofit/>
          </a:bodyPr>
          <a:lstStyle/>
          <a:p>
            <a:pPr marL="0" indent="0">
              <a:buNone/>
            </a:pPr>
            <a:r>
              <a:rPr lang="en-US" sz="820" dirty="0">
                <a:solidFill>
                  <a:srgbClr val="3B4A5E"/>
                </a:solidFill>
                <a:latin typeface="Segoe UI" pitchFamily="34" charset="0"/>
                <a:ea typeface="Segoe UI" pitchFamily="34" charset="-122"/>
                <a:cs typeface="Segoe UI" pitchFamily="34" charset="-120"/>
              </a:rPr>
              <a:t>Tools only; not in workspaces; not Consumption; do not read context.Response.Body in MCP policies.</a:t>
            </a:r>
            <a:endParaRPr lang="en-US" sz="820" dirty="0"/>
          </a:p>
        </p:txBody>
      </p:sp>
      <p:sp>
        <p:nvSpPr>
          <p:cNvPr id="31" name="Shape 29"/>
          <p:cNvSpPr/>
          <p:nvPr/>
        </p:nvSpPr>
        <p:spPr>
          <a:xfrm>
            <a:off x="6382512" y="2971800"/>
            <a:ext cx="2514600" cy="1261872"/>
          </a:xfrm>
          <a:prstGeom prst="rect">
            <a:avLst/>
          </a:prstGeom>
          <a:solidFill>
            <a:srgbClr val="FFFFFF"/>
          </a:solidFill>
          <a:ln w="10160">
            <a:solidFill>
              <a:srgbClr val="D8E2EC"/>
            </a:solidFill>
            <a:prstDash val="solid"/>
          </a:ln>
        </p:spPr>
      </p:sp>
      <p:sp>
        <p:nvSpPr>
          <p:cNvPr id="32" name="Shape 30"/>
          <p:cNvSpPr/>
          <p:nvPr/>
        </p:nvSpPr>
        <p:spPr>
          <a:xfrm>
            <a:off x="6382512" y="2971800"/>
            <a:ext cx="73152" cy="1261872"/>
          </a:xfrm>
          <a:prstGeom prst="rect">
            <a:avLst/>
          </a:prstGeom>
          <a:solidFill>
            <a:srgbClr val="00B7C3"/>
          </a:solidFill>
          <a:ln w="12700">
            <a:solidFill>
              <a:srgbClr val="00B7C3"/>
            </a:solidFill>
            <a:prstDash val="solid"/>
          </a:ln>
        </p:spPr>
      </p:sp>
      <p:sp>
        <p:nvSpPr>
          <p:cNvPr id="33" name="Text 31"/>
          <p:cNvSpPr/>
          <p:nvPr/>
        </p:nvSpPr>
        <p:spPr>
          <a:xfrm>
            <a:off x="6565392" y="3108960"/>
            <a:ext cx="2194560" cy="256032"/>
          </a:xfrm>
          <a:prstGeom prst="rect">
            <a:avLst/>
          </a:prstGeom>
          <a:noFill/>
          <a:ln/>
        </p:spPr>
        <p:txBody>
          <a:bodyPr wrap="square" lIns="0" tIns="0" rIns="0" bIns="0" rtlCol="0" anchor="ctr">
            <a:normAutofit/>
          </a:bodyPr>
          <a:lstStyle/>
          <a:p>
            <a:pPr marL="0" indent="0">
              <a:buNone/>
            </a:pPr>
            <a:r>
              <a:rPr lang="en-US" sz="1120" dirty="0">
                <a:solidFill>
                  <a:srgbClr val="0B1E3F"/>
                </a:solidFill>
                <a:latin typeface="Segoe UI Semibold" pitchFamily="34" charset="0"/>
                <a:ea typeface="Segoe UI Semibold" pitchFamily="34" charset="-122"/>
                <a:cs typeface="Segoe UI Semibold" pitchFamily="34" charset="-120"/>
              </a:rPr>
              <a:t>Self-hosted gateway</a:t>
            </a:r>
            <a:endParaRPr lang="en-US" sz="1120" dirty="0"/>
          </a:p>
        </p:txBody>
      </p:sp>
      <p:sp>
        <p:nvSpPr>
          <p:cNvPr id="34" name="Text 32"/>
          <p:cNvSpPr/>
          <p:nvPr/>
        </p:nvSpPr>
        <p:spPr>
          <a:xfrm>
            <a:off x="6565392" y="3429000"/>
            <a:ext cx="2194560" cy="713232"/>
          </a:xfrm>
          <a:prstGeom prst="rect">
            <a:avLst/>
          </a:prstGeom>
          <a:noFill/>
          <a:ln/>
        </p:spPr>
        <p:txBody>
          <a:bodyPr wrap="square" lIns="635" tIns="635" rIns="635" bIns="635" rtlCol="0" anchor="ctr">
            <a:normAutofit/>
          </a:bodyPr>
          <a:lstStyle/>
          <a:p>
            <a:pPr marL="0" indent="0">
              <a:buNone/>
            </a:pPr>
            <a:r>
              <a:rPr lang="en-US" sz="820" dirty="0">
                <a:solidFill>
                  <a:srgbClr val="3B4A5E"/>
                </a:solidFill>
                <a:latin typeface="Segoe UI" pitchFamily="34" charset="0"/>
                <a:ea typeface="Segoe UI" pitchFamily="34" charset="-122"/>
                <a:cs typeface="Segoe UI" pitchFamily="34" charset="-120"/>
              </a:rPr>
              <a:t>Developer and Premium classic only; not v2.</a:t>
            </a:r>
            <a:endParaRPr lang="en-US" sz="820" dirty="0"/>
          </a:p>
        </p:txBody>
      </p:sp>
      <p:sp>
        <p:nvSpPr>
          <p:cNvPr id="35" name="Shape 33"/>
          <p:cNvSpPr/>
          <p:nvPr/>
        </p:nvSpPr>
        <p:spPr>
          <a:xfrm>
            <a:off x="9244584" y="2971800"/>
            <a:ext cx="2514600" cy="1261872"/>
          </a:xfrm>
          <a:prstGeom prst="rect">
            <a:avLst/>
          </a:prstGeom>
          <a:solidFill>
            <a:srgbClr val="FFFFFF"/>
          </a:solidFill>
          <a:ln w="10160">
            <a:solidFill>
              <a:srgbClr val="D8E2EC"/>
            </a:solidFill>
            <a:prstDash val="solid"/>
          </a:ln>
        </p:spPr>
      </p:sp>
      <p:sp>
        <p:nvSpPr>
          <p:cNvPr id="36" name="Shape 34"/>
          <p:cNvSpPr/>
          <p:nvPr/>
        </p:nvSpPr>
        <p:spPr>
          <a:xfrm>
            <a:off x="9244584" y="2971800"/>
            <a:ext cx="73152" cy="1261872"/>
          </a:xfrm>
          <a:prstGeom prst="rect">
            <a:avLst/>
          </a:prstGeom>
          <a:solidFill>
            <a:srgbClr val="00B7C3"/>
          </a:solidFill>
          <a:ln w="12700">
            <a:solidFill>
              <a:srgbClr val="00B7C3"/>
            </a:solidFill>
            <a:prstDash val="solid"/>
          </a:ln>
        </p:spPr>
      </p:sp>
      <p:sp>
        <p:nvSpPr>
          <p:cNvPr id="37" name="Text 35"/>
          <p:cNvSpPr/>
          <p:nvPr/>
        </p:nvSpPr>
        <p:spPr>
          <a:xfrm>
            <a:off x="9427464" y="3108960"/>
            <a:ext cx="2194560" cy="256032"/>
          </a:xfrm>
          <a:prstGeom prst="rect">
            <a:avLst/>
          </a:prstGeom>
          <a:noFill/>
          <a:ln/>
        </p:spPr>
        <p:txBody>
          <a:bodyPr wrap="square" lIns="0" tIns="0" rIns="0" bIns="0" rtlCol="0" anchor="ctr">
            <a:normAutofit/>
          </a:bodyPr>
          <a:lstStyle/>
          <a:p>
            <a:pPr marL="0" indent="0">
              <a:buNone/>
            </a:pPr>
            <a:r>
              <a:rPr lang="en-US" sz="1120" dirty="0">
                <a:solidFill>
                  <a:srgbClr val="0B1E3F"/>
                </a:solidFill>
                <a:latin typeface="Segoe UI Semibold" pitchFamily="34" charset="0"/>
                <a:ea typeface="Segoe UI Semibold" pitchFamily="34" charset="-122"/>
                <a:cs typeface="Segoe UI Semibold" pitchFamily="34" charset="-120"/>
              </a:rPr>
              <a:t>Token limits</a:t>
            </a:r>
            <a:endParaRPr lang="en-US" sz="1120" dirty="0"/>
          </a:p>
        </p:txBody>
      </p:sp>
      <p:sp>
        <p:nvSpPr>
          <p:cNvPr id="38" name="Text 36"/>
          <p:cNvSpPr/>
          <p:nvPr/>
        </p:nvSpPr>
        <p:spPr>
          <a:xfrm>
            <a:off x="9427464" y="3429000"/>
            <a:ext cx="2194560" cy="713232"/>
          </a:xfrm>
          <a:prstGeom prst="rect">
            <a:avLst/>
          </a:prstGeom>
          <a:noFill/>
          <a:ln/>
        </p:spPr>
        <p:txBody>
          <a:bodyPr wrap="square" lIns="635" tIns="635" rIns="635" bIns="635" rtlCol="0" anchor="ctr">
            <a:normAutofit/>
          </a:bodyPr>
          <a:lstStyle/>
          <a:p>
            <a:pPr marL="0" indent="0">
              <a:buNone/>
            </a:pPr>
            <a:r>
              <a:rPr lang="en-US" sz="820" dirty="0">
                <a:solidFill>
                  <a:srgbClr val="3B4A5E"/>
                </a:solidFill>
                <a:latin typeface="Segoe UI" pitchFamily="34" charset="0"/>
                <a:ea typeface="Segoe UI" pitchFamily="34" charset="-122"/>
                <a:cs typeface="Segoe UI" pitchFamily="34" charset="-120"/>
              </a:rPr>
              <a:t>Per gateway, not aggregated across regions.</a:t>
            </a:r>
            <a:endParaRPr lang="en-US" sz="820" dirty="0"/>
          </a:p>
        </p:txBody>
      </p:sp>
      <p:sp>
        <p:nvSpPr>
          <p:cNvPr id="39" name="Shape 37"/>
          <p:cNvSpPr/>
          <p:nvPr/>
        </p:nvSpPr>
        <p:spPr>
          <a:xfrm>
            <a:off x="1874520" y="5175504"/>
            <a:ext cx="310896" cy="256032"/>
          </a:xfrm>
          <a:prstGeom prst="triangle">
            <a:avLst/>
          </a:prstGeom>
          <a:solidFill>
            <a:srgbClr val="FFB900"/>
          </a:solidFill>
          <a:ln w="12700">
            <a:solidFill>
              <a:srgbClr val="FFB900"/>
            </a:solidFill>
            <a:prstDash val="solid"/>
          </a:ln>
        </p:spPr>
      </p:sp>
      <p:sp>
        <p:nvSpPr>
          <p:cNvPr id="40" name="Text 38"/>
          <p:cNvSpPr/>
          <p:nvPr/>
        </p:nvSpPr>
        <p:spPr>
          <a:xfrm>
            <a:off x="2304288" y="5230368"/>
            <a:ext cx="7955280" cy="201168"/>
          </a:xfrm>
          <a:prstGeom prst="rect">
            <a:avLst/>
          </a:prstGeom>
          <a:noFill/>
          <a:ln/>
        </p:spPr>
        <p:txBody>
          <a:bodyPr wrap="square" lIns="0" tIns="0" rIns="0" bIns="0" rtlCol="0" anchor="ctr"/>
          <a:lstStyle/>
          <a:p>
            <a:pPr marL="0" indent="0" algn="l">
              <a:buNone/>
            </a:pPr>
            <a:r>
              <a:rPr lang="en-US" sz="1220" dirty="0">
                <a:solidFill>
                  <a:srgbClr val="0B1E3F"/>
                </a:solidFill>
                <a:latin typeface="Segoe UI Semibold" pitchFamily="34" charset="0"/>
                <a:ea typeface="Segoe UI Semibold" pitchFamily="34" charset="-122"/>
                <a:cs typeface="Segoe UI Semibold" pitchFamily="34" charset="-120"/>
              </a:rPr>
              <a:t>Design implication: choose the SKU for features and limits first; then optimize cost.</a:t>
            </a:r>
            <a:endParaRPr lang="en-US" sz="122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301752"/>
            <a:ext cx="3200400" cy="201168"/>
          </a:xfrm>
          <a:prstGeom prst="rect">
            <a:avLst/>
          </a:prstGeom>
          <a:noFill/>
          <a:ln/>
        </p:spPr>
        <p:txBody>
          <a:bodyPr wrap="square" lIns="0" tIns="0" rIns="0" bIns="0" rtlCol="0" anchor="ctr"/>
          <a:lstStyle/>
          <a:p>
            <a:pPr marL="0" indent="0">
              <a:buNone/>
            </a:pPr>
            <a:r>
              <a:rPr lang="en-US" sz="800" kern="0" spc="120" dirty="0">
                <a:solidFill>
                  <a:srgbClr val="00B7C3"/>
                </a:solidFill>
                <a:latin typeface="Segoe UI Semibold" pitchFamily="34" charset="0"/>
                <a:ea typeface="Segoe UI Semibold" pitchFamily="34" charset="-122"/>
                <a:cs typeface="Segoe UI Semibold" pitchFamily="34" charset="-120"/>
              </a:rPr>
              <a:t>DECISION GUIDE</a:t>
            </a:r>
            <a:endParaRPr lang="en-US" sz="800" dirty="0"/>
          </a:p>
        </p:txBody>
      </p:sp>
      <p:sp>
        <p:nvSpPr>
          <p:cNvPr id="3" name="Text 1"/>
          <p:cNvSpPr/>
          <p:nvPr/>
        </p:nvSpPr>
        <p:spPr>
          <a:xfrm>
            <a:off x="457200" y="521208"/>
            <a:ext cx="7955280" cy="438912"/>
          </a:xfrm>
          <a:prstGeom prst="rect">
            <a:avLst/>
          </a:prstGeom>
          <a:noFill/>
          <a:ln/>
        </p:spPr>
        <p:txBody>
          <a:bodyPr wrap="square" lIns="0" tIns="0" rIns="0" bIns="0" rtlCol="0" anchor="ctr"/>
          <a:lstStyle/>
          <a:p>
            <a:pPr marL="0" indent="0">
              <a:buNone/>
            </a:pPr>
            <a:r>
              <a:rPr lang="en-US" sz="2500" dirty="0">
                <a:solidFill>
                  <a:srgbClr val="0B1E3F"/>
                </a:solidFill>
                <a:latin typeface="Segoe UI Semibold" pitchFamily="34" charset="0"/>
                <a:ea typeface="Segoe UI Semibold" pitchFamily="34" charset="-122"/>
                <a:cs typeface="Segoe UI Semibold" pitchFamily="34" charset="-120"/>
              </a:rPr>
              <a:t>Choosing a tier for AI gateway scenarios</a:t>
            </a:r>
            <a:endParaRPr lang="en-US" sz="2500" dirty="0"/>
          </a:p>
        </p:txBody>
      </p:sp>
      <p:sp>
        <p:nvSpPr>
          <p:cNvPr id="4" name="Shape 2"/>
          <p:cNvSpPr/>
          <p:nvPr/>
        </p:nvSpPr>
        <p:spPr>
          <a:xfrm>
            <a:off x="10698480" y="118872"/>
            <a:ext cx="1051560" cy="1051560"/>
          </a:xfrm>
          <a:prstGeom prst="arc">
            <a:avLst/>
          </a:prstGeom>
          <a:solidFill>
            <a:srgbClr val="F5F7FA">
              <a:alpha val="0"/>
            </a:srgbClr>
          </a:solidFill>
          <a:ln w="38100">
            <a:solidFill>
              <a:srgbClr val="00B7C3">
                <a:alpha val="90000"/>
              </a:srgbClr>
            </a:solidFill>
            <a:prstDash val="solid"/>
          </a:ln>
        </p:spPr>
      </p:sp>
      <p:sp>
        <p:nvSpPr>
          <p:cNvPr id="5" name="Text 3"/>
          <p:cNvSpPr/>
          <p:nvPr/>
        </p:nvSpPr>
        <p:spPr>
          <a:xfrm>
            <a:off x="457200" y="6473952"/>
            <a:ext cx="7955280" cy="164592"/>
          </a:xfrm>
          <a:prstGeom prst="rect">
            <a:avLst/>
          </a:prstGeom>
          <a:noFill/>
          <a:ln/>
        </p:spPr>
        <p:txBody>
          <a:bodyPr wrap="square" lIns="0" tIns="0" rIns="0" bIns="0" rtlCol="0" anchor="ctr"/>
          <a:lstStyle/>
          <a:p>
            <a:pPr marL="0" indent="0">
              <a:buNone/>
            </a:pPr>
            <a:r>
              <a:rPr lang="en-US" sz="750" dirty="0">
                <a:solidFill>
                  <a:srgbClr val="8A97A8"/>
                </a:solidFill>
                <a:latin typeface="Segoe UI" pitchFamily="34" charset="0"/>
                <a:ea typeface="Segoe UI" pitchFamily="34" charset="-122"/>
                <a:cs typeface="Segoe UI" pitchFamily="34" charset="-120"/>
              </a:rPr>
              <a:t>Azure API Management AI Gateway — Oct 2026</a:t>
            </a:r>
            <a:endParaRPr lang="en-US" sz="750" dirty="0"/>
          </a:p>
        </p:txBody>
      </p:sp>
      <p:sp>
        <p:nvSpPr>
          <p:cNvPr id="6" name="Text 4"/>
          <p:cNvSpPr/>
          <p:nvPr/>
        </p:nvSpPr>
        <p:spPr>
          <a:xfrm>
            <a:off x="11430000" y="6446520"/>
            <a:ext cx="320040" cy="164592"/>
          </a:xfrm>
          <a:prstGeom prst="rect">
            <a:avLst/>
          </a:prstGeom>
          <a:noFill/>
          <a:ln/>
        </p:spPr>
        <p:txBody>
          <a:bodyPr wrap="square" lIns="0" tIns="0" rIns="0" bIns="0" rtlCol="0" anchor="ctr"/>
          <a:lstStyle/>
          <a:p>
            <a:pPr marL="0" indent="0" algn="r">
              <a:buNone/>
            </a:pPr>
            <a:r>
              <a:rPr lang="en-US" sz="800" dirty="0">
                <a:solidFill>
                  <a:srgbClr val="8A97A8"/>
                </a:solidFill>
                <a:latin typeface="Segoe UI Semibold" pitchFamily="34" charset="0"/>
                <a:ea typeface="Segoe UI Semibold" pitchFamily="34" charset="-122"/>
                <a:cs typeface="Segoe UI Semibold" pitchFamily="34" charset="-120"/>
              </a:rPr>
              <a:t>28</a:t>
            </a:r>
            <a:endParaRPr lang="en-US" sz="800" dirty="0"/>
          </a:p>
        </p:txBody>
      </p:sp>
      <p:sp>
        <p:nvSpPr>
          <p:cNvPr id="7" name="Shape 5"/>
          <p:cNvSpPr/>
          <p:nvPr/>
        </p:nvSpPr>
        <p:spPr>
          <a:xfrm>
            <a:off x="658368" y="1143000"/>
            <a:ext cx="2514600" cy="3703320"/>
          </a:xfrm>
          <a:prstGeom prst="rect">
            <a:avLst/>
          </a:prstGeom>
          <a:solidFill>
            <a:srgbClr val="FFFFFF"/>
          </a:solidFill>
          <a:ln w="10160">
            <a:solidFill>
              <a:srgbClr val="D8E2EC"/>
            </a:solidFill>
            <a:prstDash val="solid"/>
          </a:ln>
          <a:effectLst>
            <a:outerShdw blurRad="38100" dist="12700" dir="2700000" algn="bl" rotWithShape="0">
              <a:srgbClr val="000000">
                <a:alpha val="6000"/>
              </a:srgbClr>
            </a:outerShdw>
          </a:effectLst>
        </p:spPr>
      </p:sp>
      <p:sp>
        <p:nvSpPr>
          <p:cNvPr id="8" name="Text 6"/>
          <p:cNvSpPr/>
          <p:nvPr/>
        </p:nvSpPr>
        <p:spPr>
          <a:xfrm>
            <a:off x="822960" y="1389888"/>
            <a:ext cx="2194560" cy="256032"/>
          </a:xfrm>
          <a:prstGeom prst="rect">
            <a:avLst/>
          </a:prstGeom>
          <a:noFill/>
          <a:ln/>
        </p:spPr>
        <p:txBody>
          <a:bodyPr wrap="square" lIns="0" tIns="0" rIns="0" bIns="0" rtlCol="0" anchor="ctr"/>
          <a:lstStyle/>
          <a:p>
            <a:pPr marL="0" indent="0" algn="ctr">
              <a:buNone/>
            </a:pPr>
            <a:r>
              <a:rPr lang="en-US" sz="1500" dirty="0">
                <a:solidFill>
                  <a:srgbClr val="0B1E3F"/>
                </a:solidFill>
                <a:latin typeface="Segoe UI Semibold" pitchFamily="34" charset="0"/>
                <a:ea typeface="Segoe UI Semibold" pitchFamily="34" charset="-122"/>
                <a:cs typeface="Segoe UI Semibold" pitchFamily="34" charset="-120"/>
              </a:rPr>
              <a:t>Consumption</a:t>
            </a:r>
            <a:endParaRPr lang="en-US" sz="1500" dirty="0"/>
          </a:p>
        </p:txBody>
      </p:sp>
      <p:sp>
        <p:nvSpPr>
          <p:cNvPr id="9" name="Shape 7"/>
          <p:cNvSpPr/>
          <p:nvPr/>
        </p:nvSpPr>
        <p:spPr>
          <a:xfrm>
            <a:off x="978408" y="1920240"/>
            <a:ext cx="749808" cy="246888"/>
          </a:xfrm>
          <a:prstGeom prst="roundRect">
            <a:avLst>
              <a:gd name="adj" fmla="val 18519"/>
            </a:avLst>
          </a:prstGeom>
          <a:solidFill>
            <a:srgbClr val="E5F1FB"/>
          </a:solidFill>
          <a:ln w="12700">
            <a:solidFill>
              <a:srgbClr val="E5F1FB"/>
            </a:solidFill>
            <a:prstDash val="solid"/>
          </a:ln>
        </p:spPr>
      </p:sp>
      <p:sp>
        <p:nvSpPr>
          <p:cNvPr id="10" name="Text 8"/>
          <p:cNvSpPr/>
          <p:nvPr/>
        </p:nvSpPr>
        <p:spPr>
          <a:xfrm>
            <a:off x="1033272" y="1970532"/>
            <a:ext cx="640080" cy="100584"/>
          </a:xfrm>
          <a:prstGeom prst="rect">
            <a:avLst/>
          </a:prstGeom>
          <a:noFill/>
          <a:ln/>
        </p:spPr>
        <p:txBody>
          <a:bodyPr wrap="square" lIns="0" tIns="0" rIns="0" bIns="0" rtlCol="0" anchor="ctr">
            <a:normAutofit/>
          </a:bodyPr>
          <a:lstStyle/>
          <a:p>
            <a:pPr marL="0" indent="0" algn="ctr">
              <a:buNone/>
            </a:pPr>
            <a:r>
              <a:rPr lang="en-US" sz="750" dirty="0">
                <a:solidFill>
                  <a:srgbClr val="0B1E3F"/>
                </a:solidFill>
                <a:latin typeface="Segoe UI Semibold" pitchFamily="34" charset="0"/>
                <a:ea typeface="Segoe UI Semibold" pitchFamily="34" charset="-122"/>
                <a:cs typeface="Segoe UI Semibold" pitchFamily="34" charset="-120"/>
              </a:rPr>
              <a:t>Use when</a:t>
            </a:r>
            <a:endParaRPr lang="en-US" sz="750" dirty="0"/>
          </a:p>
        </p:txBody>
      </p:sp>
      <p:sp>
        <p:nvSpPr>
          <p:cNvPr id="11" name="Text 9"/>
          <p:cNvSpPr/>
          <p:nvPr/>
        </p:nvSpPr>
        <p:spPr>
          <a:xfrm>
            <a:off x="886968" y="2267712"/>
            <a:ext cx="2057400" cy="749808"/>
          </a:xfrm>
          <a:prstGeom prst="rect">
            <a:avLst/>
          </a:prstGeom>
          <a:noFill/>
          <a:ln/>
        </p:spPr>
        <p:txBody>
          <a:bodyPr wrap="square" lIns="381" tIns="381" rIns="381" bIns="381" rtlCol="0" anchor="ctr">
            <a:normAutofit/>
          </a:bodyPr>
          <a:lstStyle/>
          <a:p>
            <a:pPr marL="0" indent="0" algn="ctr">
              <a:buNone/>
            </a:pPr>
            <a:r>
              <a:rPr lang="en-US" sz="930" dirty="0">
                <a:solidFill>
                  <a:srgbClr val="3B4A5E"/>
                </a:solidFill>
                <a:latin typeface="Segoe UI" pitchFamily="34" charset="0"/>
                <a:ea typeface="Segoe UI" pitchFamily="34" charset="-122"/>
                <a:cs typeface="Segoe UI" pitchFamily="34" charset="-120"/>
              </a:rPr>
              <a:t>simple serverless proxy; no MCP or circuit breaker</a:t>
            </a:r>
            <a:endParaRPr lang="en-US" sz="930" dirty="0"/>
          </a:p>
        </p:txBody>
      </p:sp>
      <p:sp>
        <p:nvSpPr>
          <p:cNvPr id="12" name="Shape 10"/>
          <p:cNvSpPr/>
          <p:nvPr/>
        </p:nvSpPr>
        <p:spPr>
          <a:xfrm>
            <a:off x="978408" y="3310128"/>
            <a:ext cx="749808" cy="246888"/>
          </a:xfrm>
          <a:prstGeom prst="roundRect">
            <a:avLst>
              <a:gd name="adj" fmla="val 18519"/>
            </a:avLst>
          </a:prstGeom>
          <a:solidFill>
            <a:srgbClr val="FFF3CF"/>
          </a:solidFill>
          <a:ln w="12700">
            <a:solidFill>
              <a:srgbClr val="FFF3CF"/>
            </a:solidFill>
            <a:prstDash val="solid"/>
          </a:ln>
        </p:spPr>
      </p:sp>
      <p:sp>
        <p:nvSpPr>
          <p:cNvPr id="13" name="Text 11"/>
          <p:cNvSpPr/>
          <p:nvPr/>
        </p:nvSpPr>
        <p:spPr>
          <a:xfrm>
            <a:off x="1033272" y="3360420"/>
            <a:ext cx="640080" cy="100584"/>
          </a:xfrm>
          <a:prstGeom prst="rect">
            <a:avLst/>
          </a:prstGeom>
          <a:noFill/>
          <a:ln/>
        </p:spPr>
        <p:txBody>
          <a:bodyPr wrap="square" lIns="0" tIns="0" rIns="0" bIns="0" rtlCol="0" anchor="ctr">
            <a:normAutofit/>
          </a:bodyPr>
          <a:lstStyle/>
          <a:p>
            <a:pPr marL="0" indent="0" algn="ctr">
              <a:buNone/>
            </a:pPr>
            <a:r>
              <a:rPr lang="en-US" sz="750" dirty="0">
                <a:solidFill>
                  <a:srgbClr val="0B1E3F"/>
                </a:solidFill>
                <a:latin typeface="Segoe UI Semibold" pitchFamily="34" charset="0"/>
                <a:ea typeface="Segoe UI Semibold" pitchFamily="34" charset="-122"/>
                <a:cs typeface="Segoe UI Semibold" pitchFamily="34" charset="-120"/>
              </a:rPr>
              <a:t>Avoid for</a:t>
            </a:r>
            <a:endParaRPr lang="en-US" sz="750" dirty="0"/>
          </a:p>
        </p:txBody>
      </p:sp>
      <p:sp>
        <p:nvSpPr>
          <p:cNvPr id="14" name="Text 12"/>
          <p:cNvSpPr/>
          <p:nvPr/>
        </p:nvSpPr>
        <p:spPr>
          <a:xfrm>
            <a:off x="886968" y="3657600"/>
            <a:ext cx="2057400" cy="713232"/>
          </a:xfrm>
          <a:prstGeom prst="rect">
            <a:avLst/>
          </a:prstGeom>
          <a:noFill/>
          <a:ln/>
        </p:spPr>
        <p:txBody>
          <a:bodyPr wrap="square" lIns="381" tIns="381" rIns="381" bIns="381" rtlCol="0" anchor="ctr">
            <a:normAutofit/>
          </a:bodyPr>
          <a:lstStyle/>
          <a:p>
            <a:pPr marL="0" indent="0" algn="ctr">
              <a:buNone/>
            </a:pPr>
            <a:r>
              <a:rPr lang="en-US" sz="880" dirty="0">
                <a:solidFill>
                  <a:srgbClr val="3B4A5E"/>
                </a:solidFill>
                <a:latin typeface="Segoe UI" pitchFamily="34" charset="0"/>
                <a:ea typeface="Segoe UI" pitchFamily="34" charset="-122"/>
                <a:cs typeface="Segoe UI" pitchFamily="34" charset="-120"/>
              </a:rPr>
              <a:t>this demo and most agent/tool gateway scenarios</a:t>
            </a:r>
            <a:endParaRPr lang="en-US" sz="880" dirty="0"/>
          </a:p>
        </p:txBody>
      </p:sp>
      <p:sp>
        <p:nvSpPr>
          <p:cNvPr id="15" name="Shape 13"/>
          <p:cNvSpPr/>
          <p:nvPr/>
        </p:nvSpPr>
        <p:spPr>
          <a:xfrm>
            <a:off x="3538728" y="1143000"/>
            <a:ext cx="2514600" cy="3703320"/>
          </a:xfrm>
          <a:prstGeom prst="rect">
            <a:avLst/>
          </a:prstGeom>
          <a:solidFill>
            <a:srgbClr val="D9F7FA"/>
          </a:solidFill>
          <a:ln w="19050">
            <a:solidFill>
              <a:srgbClr val="00B7C3"/>
            </a:solidFill>
            <a:prstDash val="solid"/>
          </a:ln>
          <a:effectLst>
            <a:outerShdw blurRad="38100" dist="12700" dir="2700000" algn="bl" rotWithShape="0">
              <a:srgbClr val="000000">
                <a:alpha val="6000"/>
              </a:srgbClr>
            </a:outerShdw>
          </a:effectLst>
        </p:spPr>
      </p:sp>
      <p:sp>
        <p:nvSpPr>
          <p:cNvPr id="16" name="Text 14"/>
          <p:cNvSpPr/>
          <p:nvPr/>
        </p:nvSpPr>
        <p:spPr>
          <a:xfrm>
            <a:off x="3703320" y="1389888"/>
            <a:ext cx="2194560" cy="256032"/>
          </a:xfrm>
          <a:prstGeom prst="rect">
            <a:avLst/>
          </a:prstGeom>
          <a:noFill/>
          <a:ln/>
        </p:spPr>
        <p:txBody>
          <a:bodyPr wrap="square" lIns="0" tIns="0" rIns="0" bIns="0" rtlCol="0" anchor="ctr"/>
          <a:lstStyle/>
          <a:p>
            <a:pPr marL="0" indent="0" algn="ctr">
              <a:buNone/>
            </a:pPr>
            <a:r>
              <a:rPr lang="en-US" sz="1500" dirty="0">
                <a:solidFill>
                  <a:srgbClr val="0B1E3F"/>
                </a:solidFill>
                <a:latin typeface="Segoe UI Semibold" pitchFamily="34" charset="0"/>
                <a:ea typeface="Segoe UI Semibold" pitchFamily="34" charset="-122"/>
                <a:cs typeface="Segoe UI Semibold" pitchFamily="34" charset="-120"/>
              </a:rPr>
              <a:t>Basic v2</a:t>
            </a:r>
            <a:endParaRPr lang="en-US" sz="1500" dirty="0"/>
          </a:p>
        </p:txBody>
      </p:sp>
      <p:sp>
        <p:nvSpPr>
          <p:cNvPr id="17" name="Shape 15"/>
          <p:cNvSpPr/>
          <p:nvPr/>
        </p:nvSpPr>
        <p:spPr>
          <a:xfrm>
            <a:off x="3858768" y="1920240"/>
            <a:ext cx="749808" cy="246888"/>
          </a:xfrm>
          <a:prstGeom prst="roundRect">
            <a:avLst>
              <a:gd name="adj" fmla="val 18519"/>
            </a:avLst>
          </a:prstGeom>
          <a:solidFill>
            <a:srgbClr val="E5F1FB"/>
          </a:solidFill>
          <a:ln w="12700">
            <a:solidFill>
              <a:srgbClr val="E5F1FB"/>
            </a:solidFill>
            <a:prstDash val="solid"/>
          </a:ln>
        </p:spPr>
      </p:sp>
      <p:sp>
        <p:nvSpPr>
          <p:cNvPr id="18" name="Text 16"/>
          <p:cNvSpPr/>
          <p:nvPr/>
        </p:nvSpPr>
        <p:spPr>
          <a:xfrm>
            <a:off x="3913632" y="1970532"/>
            <a:ext cx="640080" cy="100584"/>
          </a:xfrm>
          <a:prstGeom prst="rect">
            <a:avLst/>
          </a:prstGeom>
          <a:noFill/>
          <a:ln/>
        </p:spPr>
        <p:txBody>
          <a:bodyPr wrap="square" lIns="0" tIns="0" rIns="0" bIns="0" rtlCol="0" anchor="ctr">
            <a:normAutofit/>
          </a:bodyPr>
          <a:lstStyle/>
          <a:p>
            <a:pPr marL="0" indent="0" algn="ctr">
              <a:buNone/>
            </a:pPr>
            <a:r>
              <a:rPr lang="en-US" sz="750" dirty="0">
                <a:solidFill>
                  <a:srgbClr val="0B1E3F"/>
                </a:solidFill>
                <a:latin typeface="Segoe UI Semibold" pitchFamily="34" charset="0"/>
                <a:ea typeface="Segoe UI Semibold" pitchFamily="34" charset="-122"/>
                <a:cs typeface="Segoe UI Semibold" pitchFamily="34" charset="-120"/>
              </a:rPr>
              <a:t>Use when</a:t>
            </a:r>
            <a:endParaRPr lang="en-US" sz="750" dirty="0"/>
          </a:p>
        </p:txBody>
      </p:sp>
      <p:sp>
        <p:nvSpPr>
          <p:cNvPr id="19" name="Text 17"/>
          <p:cNvSpPr/>
          <p:nvPr/>
        </p:nvSpPr>
        <p:spPr>
          <a:xfrm>
            <a:off x="3767328" y="2267712"/>
            <a:ext cx="2057400" cy="749808"/>
          </a:xfrm>
          <a:prstGeom prst="rect">
            <a:avLst/>
          </a:prstGeom>
          <a:noFill/>
          <a:ln/>
        </p:spPr>
        <p:txBody>
          <a:bodyPr wrap="square" lIns="381" tIns="381" rIns="381" bIns="381" rtlCol="0" anchor="ctr">
            <a:normAutofit/>
          </a:bodyPr>
          <a:lstStyle/>
          <a:p>
            <a:pPr marL="0" indent="0" algn="ctr">
              <a:buNone/>
            </a:pPr>
            <a:r>
              <a:rPr lang="en-US" sz="930" dirty="0">
                <a:solidFill>
                  <a:srgbClr val="3B4A5E"/>
                </a:solidFill>
                <a:latin typeface="Segoe UI" pitchFamily="34" charset="0"/>
                <a:ea typeface="Segoe UI" pitchFamily="34" charset="-122"/>
                <a:cs typeface="Segoe UI" pitchFamily="34" charset="-120"/>
              </a:rPr>
              <a:t>fast production-ready demo or entry gateway; supports MCP, policies and circuit breaker</a:t>
            </a:r>
            <a:endParaRPr lang="en-US" sz="930" dirty="0"/>
          </a:p>
        </p:txBody>
      </p:sp>
      <p:sp>
        <p:nvSpPr>
          <p:cNvPr id="20" name="Shape 18"/>
          <p:cNvSpPr/>
          <p:nvPr/>
        </p:nvSpPr>
        <p:spPr>
          <a:xfrm>
            <a:off x="3858768" y="3310128"/>
            <a:ext cx="749808" cy="246888"/>
          </a:xfrm>
          <a:prstGeom prst="roundRect">
            <a:avLst>
              <a:gd name="adj" fmla="val 18519"/>
            </a:avLst>
          </a:prstGeom>
          <a:solidFill>
            <a:srgbClr val="FFF3CF"/>
          </a:solidFill>
          <a:ln w="12700">
            <a:solidFill>
              <a:srgbClr val="FFF3CF"/>
            </a:solidFill>
            <a:prstDash val="solid"/>
          </a:ln>
        </p:spPr>
      </p:sp>
      <p:sp>
        <p:nvSpPr>
          <p:cNvPr id="21" name="Text 19"/>
          <p:cNvSpPr/>
          <p:nvPr/>
        </p:nvSpPr>
        <p:spPr>
          <a:xfrm>
            <a:off x="3913632" y="3360420"/>
            <a:ext cx="640080" cy="100584"/>
          </a:xfrm>
          <a:prstGeom prst="rect">
            <a:avLst/>
          </a:prstGeom>
          <a:noFill/>
          <a:ln/>
        </p:spPr>
        <p:txBody>
          <a:bodyPr wrap="square" lIns="0" tIns="0" rIns="0" bIns="0" rtlCol="0" anchor="ctr">
            <a:normAutofit/>
          </a:bodyPr>
          <a:lstStyle/>
          <a:p>
            <a:pPr marL="0" indent="0" algn="ctr">
              <a:buNone/>
            </a:pPr>
            <a:r>
              <a:rPr lang="en-US" sz="750" dirty="0">
                <a:solidFill>
                  <a:srgbClr val="0B1E3F"/>
                </a:solidFill>
                <a:latin typeface="Segoe UI Semibold" pitchFamily="34" charset="0"/>
                <a:ea typeface="Segoe UI Semibold" pitchFamily="34" charset="-122"/>
                <a:cs typeface="Segoe UI Semibold" pitchFamily="34" charset="-120"/>
              </a:rPr>
              <a:t>Avoid for</a:t>
            </a:r>
            <a:endParaRPr lang="en-US" sz="750" dirty="0"/>
          </a:p>
        </p:txBody>
      </p:sp>
      <p:sp>
        <p:nvSpPr>
          <p:cNvPr id="22" name="Text 20"/>
          <p:cNvSpPr/>
          <p:nvPr/>
        </p:nvSpPr>
        <p:spPr>
          <a:xfrm>
            <a:off x="3767328" y="3657600"/>
            <a:ext cx="2057400" cy="713232"/>
          </a:xfrm>
          <a:prstGeom prst="rect">
            <a:avLst/>
          </a:prstGeom>
          <a:noFill/>
          <a:ln/>
        </p:spPr>
        <p:txBody>
          <a:bodyPr wrap="square" lIns="381" tIns="381" rIns="381" bIns="381" rtlCol="0" anchor="ctr">
            <a:normAutofit/>
          </a:bodyPr>
          <a:lstStyle/>
          <a:p>
            <a:pPr marL="0" indent="0" algn="ctr">
              <a:buNone/>
            </a:pPr>
            <a:r>
              <a:rPr lang="en-US" sz="880" dirty="0">
                <a:solidFill>
                  <a:srgbClr val="3B4A5E"/>
                </a:solidFill>
                <a:latin typeface="Segoe UI" pitchFamily="34" charset="0"/>
                <a:ea typeface="Segoe UI" pitchFamily="34" charset="-122"/>
                <a:cs typeface="Segoe UI" pitchFamily="34" charset="-120"/>
              </a:rPr>
              <a:t>VNet integration or high isolation</a:t>
            </a:r>
            <a:endParaRPr lang="en-US" sz="880" dirty="0"/>
          </a:p>
        </p:txBody>
      </p:sp>
      <p:sp>
        <p:nvSpPr>
          <p:cNvPr id="23" name="Shape 21"/>
          <p:cNvSpPr/>
          <p:nvPr/>
        </p:nvSpPr>
        <p:spPr>
          <a:xfrm>
            <a:off x="6419088" y="1143000"/>
            <a:ext cx="2514600" cy="3703320"/>
          </a:xfrm>
          <a:prstGeom prst="rect">
            <a:avLst/>
          </a:prstGeom>
          <a:solidFill>
            <a:srgbClr val="FFFFFF"/>
          </a:solidFill>
          <a:ln w="10160">
            <a:solidFill>
              <a:srgbClr val="D8E2EC"/>
            </a:solidFill>
            <a:prstDash val="solid"/>
          </a:ln>
          <a:effectLst>
            <a:outerShdw blurRad="38100" dist="12700" dir="2700000" algn="bl" rotWithShape="0">
              <a:srgbClr val="000000">
                <a:alpha val="6000"/>
              </a:srgbClr>
            </a:outerShdw>
          </a:effectLst>
        </p:spPr>
      </p:sp>
      <p:sp>
        <p:nvSpPr>
          <p:cNvPr id="24" name="Text 22"/>
          <p:cNvSpPr/>
          <p:nvPr/>
        </p:nvSpPr>
        <p:spPr>
          <a:xfrm>
            <a:off x="6583680" y="1389888"/>
            <a:ext cx="2194560" cy="256032"/>
          </a:xfrm>
          <a:prstGeom prst="rect">
            <a:avLst/>
          </a:prstGeom>
          <a:noFill/>
          <a:ln/>
        </p:spPr>
        <p:txBody>
          <a:bodyPr wrap="square" lIns="0" tIns="0" rIns="0" bIns="0" rtlCol="0" anchor="ctr"/>
          <a:lstStyle/>
          <a:p>
            <a:pPr marL="0" indent="0" algn="ctr">
              <a:buNone/>
            </a:pPr>
            <a:r>
              <a:rPr lang="en-US" sz="1500" dirty="0">
                <a:solidFill>
                  <a:srgbClr val="0B1E3F"/>
                </a:solidFill>
                <a:latin typeface="Segoe UI Semibold" pitchFamily="34" charset="0"/>
                <a:ea typeface="Segoe UI Semibold" pitchFamily="34" charset="-122"/>
                <a:cs typeface="Segoe UI Semibold" pitchFamily="34" charset="-120"/>
              </a:rPr>
              <a:t>Standard v2</a:t>
            </a:r>
            <a:endParaRPr lang="en-US" sz="1500" dirty="0"/>
          </a:p>
        </p:txBody>
      </p:sp>
      <p:sp>
        <p:nvSpPr>
          <p:cNvPr id="25" name="Shape 23"/>
          <p:cNvSpPr/>
          <p:nvPr/>
        </p:nvSpPr>
        <p:spPr>
          <a:xfrm>
            <a:off x="6739128" y="1920240"/>
            <a:ext cx="749808" cy="246888"/>
          </a:xfrm>
          <a:prstGeom prst="roundRect">
            <a:avLst>
              <a:gd name="adj" fmla="val 18519"/>
            </a:avLst>
          </a:prstGeom>
          <a:solidFill>
            <a:srgbClr val="E5F1FB"/>
          </a:solidFill>
          <a:ln w="12700">
            <a:solidFill>
              <a:srgbClr val="E5F1FB"/>
            </a:solidFill>
            <a:prstDash val="solid"/>
          </a:ln>
        </p:spPr>
      </p:sp>
      <p:sp>
        <p:nvSpPr>
          <p:cNvPr id="26" name="Text 24"/>
          <p:cNvSpPr/>
          <p:nvPr/>
        </p:nvSpPr>
        <p:spPr>
          <a:xfrm>
            <a:off x="6793992" y="1970532"/>
            <a:ext cx="640080" cy="100584"/>
          </a:xfrm>
          <a:prstGeom prst="rect">
            <a:avLst/>
          </a:prstGeom>
          <a:noFill/>
          <a:ln/>
        </p:spPr>
        <p:txBody>
          <a:bodyPr wrap="square" lIns="0" tIns="0" rIns="0" bIns="0" rtlCol="0" anchor="ctr">
            <a:normAutofit/>
          </a:bodyPr>
          <a:lstStyle/>
          <a:p>
            <a:pPr marL="0" indent="0" algn="ctr">
              <a:buNone/>
            </a:pPr>
            <a:r>
              <a:rPr lang="en-US" sz="750" dirty="0">
                <a:solidFill>
                  <a:srgbClr val="0B1E3F"/>
                </a:solidFill>
                <a:latin typeface="Segoe UI Semibold" pitchFamily="34" charset="0"/>
                <a:ea typeface="Segoe UI Semibold" pitchFamily="34" charset="-122"/>
                <a:cs typeface="Segoe UI Semibold" pitchFamily="34" charset="-120"/>
              </a:rPr>
              <a:t>Use when</a:t>
            </a:r>
            <a:endParaRPr lang="en-US" sz="750" dirty="0"/>
          </a:p>
        </p:txBody>
      </p:sp>
      <p:sp>
        <p:nvSpPr>
          <p:cNvPr id="27" name="Text 25"/>
          <p:cNvSpPr/>
          <p:nvPr/>
        </p:nvSpPr>
        <p:spPr>
          <a:xfrm>
            <a:off x="6647688" y="2267712"/>
            <a:ext cx="2057400" cy="749808"/>
          </a:xfrm>
          <a:prstGeom prst="rect">
            <a:avLst/>
          </a:prstGeom>
          <a:noFill/>
          <a:ln/>
        </p:spPr>
        <p:txBody>
          <a:bodyPr wrap="square" lIns="381" tIns="381" rIns="381" bIns="381" rtlCol="0" anchor="ctr">
            <a:normAutofit/>
          </a:bodyPr>
          <a:lstStyle/>
          <a:p>
            <a:pPr marL="0" indent="0" algn="ctr">
              <a:buNone/>
            </a:pPr>
            <a:r>
              <a:rPr lang="en-US" sz="930" dirty="0">
                <a:solidFill>
                  <a:srgbClr val="3B4A5E"/>
                </a:solidFill>
                <a:latin typeface="Segoe UI" pitchFamily="34" charset="0"/>
                <a:ea typeface="Segoe UI" pitchFamily="34" charset="-122"/>
                <a:cs typeface="Segoe UI" pitchFamily="34" charset="-120"/>
              </a:rPr>
              <a:t>production gateway with outbound VNet integration and higher included calls</a:t>
            </a:r>
            <a:endParaRPr lang="en-US" sz="930" dirty="0"/>
          </a:p>
        </p:txBody>
      </p:sp>
      <p:sp>
        <p:nvSpPr>
          <p:cNvPr id="28" name="Shape 26"/>
          <p:cNvSpPr/>
          <p:nvPr/>
        </p:nvSpPr>
        <p:spPr>
          <a:xfrm>
            <a:off x="6739128" y="3310128"/>
            <a:ext cx="749808" cy="246888"/>
          </a:xfrm>
          <a:prstGeom prst="roundRect">
            <a:avLst>
              <a:gd name="adj" fmla="val 18519"/>
            </a:avLst>
          </a:prstGeom>
          <a:solidFill>
            <a:srgbClr val="FFF3CF"/>
          </a:solidFill>
          <a:ln w="12700">
            <a:solidFill>
              <a:srgbClr val="FFF3CF"/>
            </a:solidFill>
            <a:prstDash val="solid"/>
          </a:ln>
        </p:spPr>
      </p:sp>
      <p:sp>
        <p:nvSpPr>
          <p:cNvPr id="29" name="Text 27"/>
          <p:cNvSpPr/>
          <p:nvPr/>
        </p:nvSpPr>
        <p:spPr>
          <a:xfrm>
            <a:off x="6793992" y="3360420"/>
            <a:ext cx="640080" cy="100584"/>
          </a:xfrm>
          <a:prstGeom prst="rect">
            <a:avLst/>
          </a:prstGeom>
          <a:noFill/>
          <a:ln/>
        </p:spPr>
        <p:txBody>
          <a:bodyPr wrap="square" lIns="0" tIns="0" rIns="0" bIns="0" rtlCol="0" anchor="ctr">
            <a:normAutofit/>
          </a:bodyPr>
          <a:lstStyle/>
          <a:p>
            <a:pPr marL="0" indent="0" algn="ctr">
              <a:buNone/>
            </a:pPr>
            <a:r>
              <a:rPr lang="en-US" sz="750" dirty="0">
                <a:solidFill>
                  <a:srgbClr val="0B1E3F"/>
                </a:solidFill>
                <a:latin typeface="Segoe UI Semibold" pitchFamily="34" charset="0"/>
                <a:ea typeface="Segoe UI Semibold" pitchFamily="34" charset="-122"/>
                <a:cs typeface="Segoe UI Semibold" pitchFamily="34" charset="-120"/>
              </a:rPr>
              <a:t>Avoid for</a:t>
            </a:r>
            <a:endParaRPr lang="en-US" sz="750" dirty="0"/>
          </a:p>
        </p:txBody>
      </p:sp>
      <p:sp>
        <p:nvSpPr>
          <p:cNvPr id="30" name="Text 28"/>
          <p:cNvSpPr/>
          <p:nvPr/>
        </p:nvSpPr>
        <p:spPr>
          <a:xfrm>
            <a:off x="6647688" y="3657600"/>
            <a:ext cx="2057400" cy="713232"/>
          </a:xfrm>
          <a:prstGeom prst="rect">
            <a:avLst/>
          </a:prstGeom>
          <a:noFill/>
          <a:ln/>
        </p:spPr>
        <p:txBody>
          <a:bodyPr wrap="square" lIns="381" tIns="381" rIns="381" bIns="381" rtlCol="0" anchor="ctr">
            <a:normAutofit/>
          </a:bodyPr>
          <a:lstStyle/>
          <a:p>
            <a:pPr marL="0" indent="0" algn="ctr">
              <a:buNone/>
            </a:pPr>
            <a:r>
              <a:rPr lang="en-US" sz="880" dirty="0">
                <a:solidFill>
                  <a:srgbClr val="3B4A5E"/>
                </a:solidFill>
                <a:latin typeface="Segoe UI" pitchFamily="34" charset="0"/>
                <a:ea typeface="Segoe UI" pitchFamily="34" charset="-122"/>
                <a:cs typeface="Segoe UI" pitchFamily="34" charset="-120"/>
              </a:rPr>
              <a:t>full VNet injection or 30-unit scale</a:t>
            </a:r>
            <a:endParaRPr lang="en-US" sz="880" dirty="0"/>
          </a:p>
        </p:txBody>
      </p:sp>
      <p:sp>
        <p:nvSpPr>
          <p:cNvPr id="31" name="Shape 29"/>
          <p:cNvSpPr/>
          <p:nvPr/>
        </p:nvSpPr>
        <p:spPr>
          <a:xfrm>
            <a:off x="9299448" y="1143000"/>
            <a:ext cx="2514600" cy="3703320"/>
          </a:xfrm>
          <a:prstGeom prst="rect">
            <a:avLst/>
          </a:prstGeom>
          <a:solidFill>
            <a:srgbClr val="FFFFFF"/>
          </a:solidFill>
          <a:ln w="10160">
            <a:solidFill>
              <a:srgbClr val="D8E2EC"/>
            </a:solidFill>
            <a:prstDash val="solid"/>
          </a:ln>
          <a:effectLst>
            <a:outerShdw blurRad="38100" dist="12700" dir="2700000" algn="bl" rotWithShape="0">
              <a:srgbClr val="000000">
                <a:alpha val="6000"/>
              </a:srgbClr>
            </a:outerShdw>
          </a:effectLst>
        </p:spPr>
      </p:sp>
      <p:sp>
        <p:nvSpPr>
          <p:cNvPr id="32" name="Text 30"/>
          <p:cNvSpPr/>
          <p:nvPr/>
        </p:nvSpPr>
        <p:spPr>
          <a:xfrm>
            <a:off x="9464040" y="1389888"/>
            <a:ext cx="2194560" cy="256032"/>
          </a:xfrm>
          <a:prstGeom prst="rect">
            <a:avLst/>
          </a:prstGeom>
          <a:noFill/>
          <a:ln/>
        </p:spPr>
        <p:txBody>
          <a:bodyPr wrap="square" lIns="0" tIns="0" rIns="0" bIns="0" rtlCol="0" anchor="ctr"/>
          <a:lstStyle/>
          <a:p>
            <a:pPr marL="0" indent="0" algn="ctr">
              <a:buNone/>
            </a:pPr>
            <a:r>
              <a:rPr lang="en-US" sz="1500" dirty="0">
                <a:solidFill>
                  <a:srgbClr val="0B1E3F"/>
                </a:solidFill>
                <a:latin typeface="Segoe UI Semibold" pitchFamily="34" charset="0"/>
                <a:ea typeface="Segoe UI Semibold" pitchFamily="34" charset="-122"/>
                <a:cs typeface="Segoe UI Semibold" pitchFamily="34" charset="-120"/>
              </a:rPr>
              <a:t>Premium v2</a:t>
            </a:r>
            <a:endParaRPr lang="en-US" sz="1500" dirty="0"/>
          </a:p>
        </p:txBody>
      </p:sp>
      <p:sp>
        <p:nvSpPr>
          <p:cNvPr id="33" name="Shape 31"/>
          <p:cNvSpPr/>
          <p:nvPr/>
        </p:nvSpPr>
        <p:spPr>
          <a:xfrm>
            <a:off x="9619488" y="1920240"/>
            <a:ext cx="749808" cy="246888"/>
          </a:xfrm>
          <a:prstGeom prst="roundRect">
            <a:avLst>
              <a:gd name="adj" fmla="val 18519"/>
            </a:avLst>
          </a:prstGeom>
          <a:solidFill>
            <a:srgbClr val="E5F1FB"/>
          </a:solidFill>
          <a:ln w="12700">
            <a:solidFill>
              <a:srgbClr val="E5F1FB"/>
            </a:solidFill>
            <a:prstDash val="solid"/>
          </a:ln>
        </p:spPr>
      </p:sp>
      <p:sp>
        <p:nvSpPr>
          <p:cNvPr id="34" name="Text 32"/>
          <p:cNvSpPr/>
          <p:nvPr/>
        </p:nvSpPr>
        <p:spPr>
          <a:xfrm>
            <a:off x="9674352" y="1970532"/>
            <a:ext cx="640080" cy="100584"/>
          </a:xfrm>
          <a:prstGeom prst="rect">
            <a:avLst/>
          </a:prstGeom>
          <a:noFill/>
          <a:ln/>
        </p:spPr>
        <p:txBody>
          <a:bodyPr wrap="square" lIns="0" tIns="0" rIns="0" bIns="0" rtlCol="0" anchor="ctr">
            <a:normAutofit/>
          </a:bodyPr>
          <a:lstStyle/>
          <a:p>
            <a:pPr marL="0" indent="0" algn="ctr">
              <a:buNone/>
            </a:pPr>
            <a:r>
              <a:rPr lang="en-US" sz="750" dirty="0">
                <a:solidFill>
                  <a:srgbClr val="0B1E3F"/>
                </a:solidFill>
                <a:latin typeface="Segoe UI Semibold" pitchFamily="34" charset="0"/>
                <a:ea typeface="Segoe UI Semibold" pitchFamily="34" charset="-122"/>
                <a:cs typeface="Segoe UI Semibold" pitchFamily="34" charset="-120"/>
              </a:rPr>
              <a:t>Use when</a:t>
            </a:r>
            <a:endParaRPr lang="en-US" sz="750" dirty="0"/>
          </a:p>
        </p:txBody>
      </p:sp>
      <p:sp>
        <p:nvSpPr>
          <p:cNvPr id="35" name="Text 33"/>
          <p:cNvSpPr/>
          <p:nvPr/>
        </p:nvSpPr>
        <p:spPr>
          <a:xfrm>
            <a:off x="9528048" y="2267712"/>
            <a:ext cx="2057400" cy="749808"/>
          </a:xfrm>
          <a:prstGeom prst="rect">
            <a:avLst/>
          </a:prstGeom>
          <a:noFill/>
          <a:ln/>
        </p:spPr>
        <p:txBody>
          <a:bodyPr wrap="square" lIns="381" tIns="381" rIns="381" bIns="381" rtlCol="0" anchor="ctr">
            <a:normAutofit/>
          </a:bodyPr>
          <a:lstStyle/>
          <a:p>
            <a:pPr marL="0" indent="0" algn="ctr">
              <a:buNone/>
            </a:pPr>
            <a:r>
              <a:rPr lang="en-US" sz="930" dirty="0">
                <a:solidFill>
                  <a:srgbClr val="3B4A5E"/>
                </a:solidFill>
                <a:latin typeface="Segoe UI" pitchFamily="34" charset="0"/>
                <a:ea typeface="Segoe UI" pitchFamily="34" charset="-122"/>
                <a:cs typeface="Segoe UI" pitchFamily="34" charset="-120"/>
              </a:rPr>
              <a:t>availability zones, VNet injection and highest v2 scale are required</a:t>
            </a:r>
            <a:endParaRPr lang="en-US" sz="930" dirty="0"/>
          </a:p>
        </p:txBody>
      </p:sp>
      <p:sp>
        <p:nvSpPr>
          <p:cNvPr id="36" name="Shape 34"/>
          <p:cNvSpPr/>
          <p:nvPr/>
        </p:nvSpPr>
        <p:spPr>
          <a:xfrm>
            <a:off x="9619488" y="3310128"/>
            <a:ext cx="749808" cy="246888"/>
          </a:xfrm>
          <a:prstGeom prst="roundRect">
            <a:avLst>
              <a:gd name="adj" fmla="val 18519"/>
            </a:avLst>
          </a:prstGeom>
          <a:solidFill>
            <a:srgbClr val="FFF3CF"/>
          </a:solidFill>
          <a:ln w="12700">
            <a:solidFill>
              <a:srgbClr val="FFF3CF"/>
            </a:solidFill>
            <a:prstDash val="solid"/>
          </a:ln>
        </p:spPr>
      </p:sp>
      <p:sp>
        <p:nvSpPr>
          <p:cNvPr id="37" name="Text 35"/>
          <p:cNvSpPr/>
          <p:nvPr/>
        </p:nvSpPr>
        <p:spPr>
          <a:xfrm>
            <a:off x="9674352" y="3360420"/>
            <a:ext cx="640080" cy="100584"/>
          </a:xfrm>
          <a:prstGeom prst="rect">
            <a:avLst/>
          </a:prstGeom>
          <a:noFill/>
          <a:ln/>
        </p:spPr>
        <p:txBody>
          <a:bodyPr wrap="square" lIns="0" tIns="0" rIns="0" bIns="0" rtlCol="0" anchor="ctr">
            <a:normAutofit/>
          </a:bodyPr>
          <a:lstStyle/>
          <a:p>
            <a:pPr marL="0" indent="0" algn="ctr">
              <a:buNone/>
            </a:pPr>
            <a:r>
              <a:rPr lang="en-US" sz="750" dirty="0">
                <a:solidFill>
                  <a:srgbClr val="0B1E3F"/>
                </a:solidFill>
                <a:latin typeface="Segoe UI Semibold" pitchFamily="34" charset="0"/>
                <a:ea typeface="Segoe UI Semibold" pitchFamily="34" charset="-122"/>
                <a:cs typeface="Segoe UI Semibold" pitchFamily="34" charset="-120"/>
              </a:rPr>
              <a:t>Avoid for</a:t>
            </a:r>
            <a:endParaRPr lang="en-US" sz="750" dirty="0"/>
          </a:p>
        </p:txBody>
      </p:sp>
      <p:sp>
        <p:nvSpPr>
          <p:cNvPr id="38" name="Text 36"/>
          <p:cNvSpPr/>
          <p:nvPr/>
        </p:nvSpPr>
        <p:spPr>
          <a:xfrm>
            <a:off x="9528048" y="3657600"/>
            <a:ext cx="2057400" cy="713232"/>
          </a:xfrm>
          <a:prstGeom prst="rect">
            <a:avLst/>
          </a:prstGeom>
          <a:noFill/>
          <a:ln/>
        </p:spPr>
        <p:txBody>
          <a:bodyPr wrap="square" lIns="381" tIns="381" rIns="381" bIns="381" rtlCol="0" anchor="ctr">
            <a:normAutofit/>
          </a:bodyPr>
          <a:lstStyle/>
          <a:p>
            <a:pPr marL="0" indent="0" algn="ctr">
              <a:buNone/>
            </a:pPr>
            <a:r>
              <a:rPr lang="en-US" sz="880" dirty="0">
                <a:solidFill>
                  <a:srgbClr val="3B4A5E"/>
                </a:solidFill>
                <a:latin typeface="Segoe UI" pitchFamily="34" charset="0"/>
                <a:ea typeface="Segoe UI" pitchFamily="34" charset="-122"/>
                <a:cs typeface="Segoe UI" pitchFamily="34" charset="-120"/>
              </a:rPr>
              <a:t>self-hosted gateway, which needs Developer or Premium classic</a:t>
            </a:r>
            <a:endParaRPr lang="en-US" sz="880" dirty="0"/>
          </a:p>
        </p:txBody>
      </p:sp>
      <p:sp>
        <p:nvSpPr>
          <p:cNvPr id="39" name="Text 37"/>
          <p:cNvSpPr/>
          <p:nvPr/>
        </p:nvSpPr>
        <p:spPr>
          <a:xfrm>
            <a:off x="1737360" y="5349240"/>
            <a:ext cx="8778240" cy="228600"/>
          </a:xfrm>
          <a:prstGeom prst="rect">
            <a:avLst/>
          </a:prstGeom>
          <a:noFill/>
          <a:ln/>
        </p:spPr>
        <p:txBody>
          <a:bodyPr wrap="square" lIns="0" tIns="0" rIns="0" bIns="0" rtlCol="0" anchor="ctr"/>
          <a:lstStyle/>
          <a:p>
            <a:pPr marL="0" indent="0" algn="ctr">
              <a:buNone/>
            </a:pPr>
            <a:r>
              <a:rPr lang="en-US" sz="1300" dirty="0">
                <a:solidFill>
                  <a:srgbClr val="0B1E3F"/>
                </a:solidFill>
                <a:latin typeface="Segoe UI Semibold" pitchFamily="34" charset="0"/>
                <a:ea typeface="Segoe UI Semibold" pitchFamily="34" charset="-122"/>
                <a:cs typeface="Segoe UI Semibold" pitchFamily="34" charset="-120"/>
              </a:rPr>
              <a:t>For this repo: Basic v2 is the cheapest SKU that supports the full demo feature set.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1E3F"/>
        </a:solidFill>
        <a:effectLst/>
      </p:bgPr>
    </p:bg>
    <p:spTree>
      <p:nvGrpSpPr>
        <p:cNvPr id="1" name=""/>
        <p:cNvGrpSpPr/>
        <p:nvPr/>
      </p:nvGrpSpPr>
      <p:grpSpPr>
        <a:xfrm>
          <a:off x="0" y="0"/>
          <a:ext cx="0" cy="0"/>
          <a:chOff x="0" y="0"/>
          <a:chExt cx="0" cy="0"/>
        </a:xfrm>
      </p:grpSpPr>
      <p:sp>
        <p:nvSpPr>
          <p:cNvPr id="2" name="Shape 0"/>
          <p:cNvSpPr/>
          <p:nvPr/>
        </p:nvSpPr>
        <p:spPr>
          <a:xfrm>
            <a:off x="7955280" y="1508760"/>
            <a:ext cx="164592" cy="4480560"/>
          </a:xfrm>
          <a:prstGeom prst="rect">
            <a:avLst/>
          </a:prstGeom>
          <a:solidFill>
            <a:srgbClr val="00B7C3">
              <a:alpha val="85000"/>
            </a:srgbClr>
          </a:solidFill>
          <a:ln w="12700">
            <a:solidFill>
              <a:srgbClr val="00B7C3">
                <a:alpha val="85000"/>
              </a:srgbClr>
            </a:solidFill>
            <a:prstDash val="solid"/>
          </a:ln>
        </p:spPr>
      </p:sp>
      <p:sp>
        <p:nvSpPr>
          <p:cNvPr id="3" name="Shape 1"/>
          <p:cNvSpPr/>
          <p:nvPr/>
        </p:nvSpPr>
        <p:spPr>
          <a:xfrm>
            <a:off x="10808208" y="1508760"/>
            <a:ext cx="164592" cy="4480560"/>
          </a:xfrm>
          <a:prstGeom prst="rect">
            <a:avLst/>
          </a:prstGeom>
          <a:solidFill>
            <a:srgbClr val="00B7C3">
              <a:alpha val="85000"/>
            </a:srgbClr>
          </a:solidFill>
          <a:ln w="12700">
            <a:solidFill>
              <a:srgbClr val="00B7C3">
                <a:alpha val="85000"/>
              </a:srgbClr>
            </a:solidFill>
            <a:prstDash val="solid"/>
          </a:ln>
        </p:spPr>
      </p:sp>
      <p:sp>
        <p:nvSpPr>
          <p:cNvPr id="4" name="Shape 2"/>
          <p:cNvSpPr/>
          <p:nvPr/>
        </p:nvSpPr>
        <p:spPr>
          <a:xfrm>
            <a:off x="7964424" y="914400"/>
            <a:ext cx="2999232" cy="1234440"/>
          </a:xfrm>
          <a:prstGeom prst="arc">
            <a:avLst/>
          </a:prstGeom>
          <a:solidFill>
            <a:srgbClr val="00B7C3">
              <a:alpha val="0"/>
            </a:srgbClr>
          </a:solidFill>
          <a:ln w="88900">
            <a:solidFill>
              <a:srgbClr val="00B7C3">
                <a:alpha val="85000"/>
              </a:srgbClr>
            </a:solidFill>
            <a:prstDash val="solid"/>
          </a:ln>
        </p:spPr>
      </p:sp>
      <p:sp>
        <p:nvSpPr>
          <p:cNvPr id="5" name="Shape 3"/>
          <p:cNvSpPr/>
          <p:nvPr/>
        </p:nvSpPr>
        <p:spPr>
          <a:xfrm>
            <a:off x="685800" y="749808"/>
            <a:ext cx="658368" cy="658368"/>
          </a:xfrm>
          <a:prstGeom prst="ellipse">
            <a:avLst/>
          </a:prstGeom>
          <a:solidFill>
            <a:srgbClr val="00B7C3"/>
          </a:solidFill>
          <a:ln w="12700">
            <a:solidFill>
              <a:srgbClr val="00B7C3"/>
            </a:solidFill>
            <a:prstDash val="solid"/>
          </a:ln>
        </p:spPr>
      </p:sp>
      <p:sp>
        <p:nvSpPr>
          <p:cNvPr id="6" name="Text 4"/>
          <p:cNvSpPr/>
          <p:nvPr/>
        </p:nvSpPr>
        <p:spPr>
          <a:xfrm>
            <a:off x="685800" y="905256"/>
            <a:ext cx="658368" cy="201168"/>
          </a:xfrm>
          <a:prstGeom prst="rect">
            <a:avLst/>
          </a:prstGeom>
          <a:noFill/>
          <a:ln/>
        </p:spPr>
        <p:txBody>
          <a:bodyPr wrap="square" lIns="0" tIns="0" rIns="0" bIns="0" rtlCol="0" anchor="ctr"/>
          <a:lstStyle/>
          <a:p>
            <a:pPr marL="0" indent="0" algn="ctr">
              <a:buNone/>
            </a:pPr>
            <a:r>
              <a:rPr lang="en-US" sz="1700" dirty="0">
                <a:solidFill>
                  <a:srgbClr val="0B1E3F"/>
                </a:solidFill>
                <a:latin typeface="Segoe UI Semibold" pitchFamily="34" charset="0"/>
                <a:ea typeface="Segoe UI Semibold" pitchFamily="34" charset="-122"/>
                <a:cs typeface="Segoe UI Semibold" pitchFamily="34" charset="-120"/>
              </a:rPr>
              <a:t>07</a:t>
            </a:r>
            <a:endParaRPr lang="en-US" sz="1700" dirty="0"/>
          </a:p>
        </p:txBody>
      </p:sp>
      <p:sp>
        <p:nvSpPr>
          <p:cNvPr id="7" name="Text 5"/>
          <p:cNvSpPr/>
          <p:nvPr/>
        </p:nvSpPr>
        <p:spPr>
          <a:xfrm>
            <a:off x="685800" y="1691640"/>
            <a:ext cx="3840480" cy="237744"/>
          </a:xfrm>
          <a:prstGeom prst="rect">
            <a:avLst/>
          </a:prstGeom>
          <a:noFill/>
          <a:ln/>
        </p:spPr>
        <p:txBody>
          <a:bodyPr wrap="square" lIns="0" tIns="0" rIns="0" bIns="0" rtlCol="0" anchor="ctr"/>
          <a:lstStyle/>
          <a:p>
            <a:pPr marL="0" indent="0">
              <a:buNone/>
            </a:pPr>
            <a:r>
              <a:rPr lang="en-US" sz="1000" kern="0" spc="160" dirty="0">
                <a:solidFill>
                  <a:srgbClr val="00B7C3"/>
                </a:solidFill>
                <a:latin typeface="Segoe UI Semibold" pitchFamily="34" charset="0"/>
                <a:ea typeface="Segoe UI Semibold" pitchFamily="34" charset="-122"/>
                <a:cs typeface="Segoe UI Semibold" pitchFamily="34" charset="-120"/>
              </a:rPr>
              <a:t>SECTION 7</a:t>
            </a:r>
            <a:endParaRPr lang="en-US" sz="1000" dirty="0"/>
          </a:p>
        </p:txBody>
      </p:sp>
      <p:sp>
        <p:nvSpPr>
          <p:cNvPr id="8" name="Text 6"/>
          <p:cNvSpPr/>
          <p:nvPr/>
        </p:nvSpPr>
        <p:spPr>
          <a:xfrm>
            <a:off x="658368" y="2057400"/>
            <a:ext cx="6858000" cy="1097280"/>
          </a:xfrm>
          <a:prstGeom prst="rect">
            <a:avLst/>
          </a:prstGeom>
          <a:noFill/>
          <a:ln/>
        </p:spPr>
        <p:txBody>
          <a:bodyPr wrap="square" lIns="0" tIns="0" rIns="0" bIns="0" rtlCol="0" anchor="ctr">
            <a:normAutofit/>
          </a:bodyPr>
          <a:lstStyle/>
          <a:p>
            <a:pPr marL="0" indent="0">
              <a:buNone/>
            </a:pPr>
            <a:r>
              <a:rPr lang="en-US" sz="3800" dirty="0">
                <a:solidFill>
                  <a:srgbClr val="FFFFFF"/>
                </a:solidFill>
                <a:latin typeface="Segoe UI Semibold" pitchFamily="34" charset="0"/>
                <a:ea typeface="Segoe UI Semibold" pitchFamily="34" charset="-122"/>
                <a:cs typeface="Segoe UI Semibold" pitchFamily="34" charset="-120"/>
              </a:rPr>
              <a:t>Patterns, reference architecture and labs</a:t>
            </a:r>
            <a:endParaRPr lang="en-US" sz="3800" dirty="0"/>
          </a:p>
        </p:txBody>
      </p:sp>
      <p:sp>
        <p:nvSpPr>
          <p:cNvPr id="9" name="Shape 7"/>
          <p:cNvSpPr/>
          <p:nvPr/>
        </p:nvSpPr>
        <p:spPr>
          <a:xfrm>
            <a:off x="685800" y="3767328"/>
            <a:ext cx="1417320" cy="411480"/>
          </a:xfrm>
          <a:prstGeom prst="roundRect">
            <a:avLst>
              <a:gd name="adj" fmla="val 15556"/>
            </a:avLst>
          </a:prstGeom>
          <a:solidFill>
            <a:srgbClr val="FFB900"/>
          </a:solidFill>
          <a:ln w="12700">
            <a:solidFill>
              <a:srgbClr val="FFB900"/>
            </a:solidFill>
            <a:prstDash val="solid"/>
          </a:ln>
        </p:spPr>
      </p:sp>
      <p:sp>
        <p:nvSpPr>
          <p:cNvPr id="10" name="Text 8"/>
          <p:cNvSpPr/>
          <p:nvPr/>
        </p:nvSpPr>
        <p:spPr>
          <a:xfrm>
            <a:off x="685800" y="3886200"/>
            <a:ext cx="1417320" cy="128016"/>
          </a:xfrm>
          <a:prstGeom prst="rect">
            <a:avLst/>
          </a:prstGeom>
          <a:noFill/>
          <a:ln/>
        </p:spPr>
        <p:txBody>
          <a:bodyPr wrap="square" lIns="0" tIns="0" rIns="0" bIns="0" rtlCol="0" anchor="ctr"/>
          <a:lstStyle/>
          <a:p>
            <a:pPr marL="0" indent="0" algn="ctr">
              <a:buNone/>
            </a:pPr>
            <a:r>
              <a:rPr lang="en-US" sz="1000" dirty="0">
                <a:solidFill>
                  <a:srgbClr val="0B1E3F"/>
                </a:solidFill>
                <a:latin typeface="Segoe UI Semibold" pitchFamily="34" charset="0"/>
                <a:ea typeface="Segoe UI Semibold" pitchFamily="34" charset="-122"/>
                <a:cs typeface="Segoe UI Semibold" pitchFamily="34" charset="-120"/>
              </a:rPr>
              <a:t>75–82 · 7 min</a:t>
            </a:r>
            <a:endParaRPr lang="en-US" sz="1000" dirty="0"/>
          </a:p>
        </p:txBody>
      </p:sp>
      <p:sp>
        <p:nvSpPr>
          <p:cNvPr id="11" name="Text 9"/>
          <p:cNvSpPr/>
          <p:nvPr/>
        </p:nvSpPr>
        <p:spPr>
          <a:xfrm>
            <a:off x="685800" y="6355080"/>
            <a:ext cx="2834640" cy="164592"/>
          </a:xfrm>
          <a:prstGeom prst="rect">
            <a:avLst/>
          </a:prstGeom>
          <a:noFill/>
          <a:ln/>
        </p:spPr>
        <p:txBody>
          <a:bodyPr wrap="square" lIns="0" tIns="0" rIns="0" bIns="0" rtlCol="0" anchor="ctr"/>
          <a:lstStyle/>
          <a:p>
            <a:pPr marL="0" indent="0">
              <a:buNone/>
            </a:pPr>
            <a:r>
              <a:rPr lang="en-US" sz="800" dirty="0">
                <a:solidFill>
                  <a:srgbClr val="AFC3DA"/>
                </a:solidFill>
                <a:latin typeface="Segoe UI" pitchFamily="34" charset="0"/>
                <a:ea typeface="Segoe UI" pitchFamily="34" charset="-122"/>
                <a:cs typeface="Segoe UI" pitchFamily="34" charset="-120"/>
              </a:rPr>
              <a:t>90-minute technical session</a:t>
            </a:r>
            <a:endParaRPr lang="en-US" sz="800" dirty="0"/>
          </a:p>
        </p:txBody>
      </p:sp>
      <p:sp>
        <p:nvSpPr>
          <p:cNvPr id="12" name="Text 10"/>
          <p:cNvSpPr/>
          <p:nvPr/>
        </p:nvSpPr>
        <p:spPr>
          <a:xfrm>
            <a:off x="11292840" y="6355080"/>
            <a:ext cx="365760" cy="164592"/>
          </a:xfrm>
          <a:prstGeom prst="rect">
            <a:avLst/>
          </a:prstGeom>
          <a:noFill/>
          <a:ln/>
        </p:spPr>
        <p:txBody>
          <a:bodyPr wrap="square" lIns="0" tIns="0" rIns="0" bIns="0" rtlCol="0" anchor="ctr"/>
          <a:lstStyle/>
          <a:p>
            <a:pPr marL="0" indent="0" algn="r">
              <a:buNone/>
            </a:pPr>
            <a:r>
              <a:rPr lang="en-US" sz="800" dirty="0">
                <a:solidFill>
                  <a:srgbClr val="AFC3DA"/>
                </a:solidFill>
                <a:latin typeface="Segoe UI Semibold" pitchFamily="34" charset="0"/>
                <a:ea typeface="Segoe UI Semibold" pitchFamily="34" charset="-122"/>
                <a:cs typeface="Segoe UI Semibold" pitchFamily="34" charset="-120"/>
              </a:rPr>
              <a:t>29</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301752"/>
            <a:ext cx="3200400" cy="201168"/>
          </a:xfrm>
          <a:prstGeom prst="rect">
            <a:avLst/>
          </a:prstGeom>
          <a:noFill/>
          <a:ln/>
        </p:spPr>
        <p:txBody>
          <a:bodyPr wrap="square" lIns="0" tIns="0" rIns="0" bIns="0" rtlCol="0" anchor="ctr"/>
          <a:lstStyle/>
          <a:p>
            <a:pPr marL="0" indent="0">
              <a:buNone/>
            </a:pPr>
            <a:r>
              <a:rPr lang="en-US" sz="800" kern="0" spc="120" dirty="0">
                <a:solidFill>
                  <a:srgbClr val="00B7C3"/>
                </a:solidFill>
                <a:latin typeface="Segoe UI Semibold" pitchFamily="34" charset="0"/>
                <a:ea typeface="Segoe UI Semibold" pitchFamily="34" charset="-122"/>
                <a:cs typeface="Segoe UI Semibold" pitchFamily="34" charset="-120"/>
              </a:rPr>
              <a:t>PATTERNS &amp; LABS</a:t>
            </a:r>
            <a:endParaRPr lang="en-US" sz="800" dirty="0"/>
          </a:p>
        </p:txBody>
      </p:sp>
      <p:sp>
        <p:nvSpPr>
          <p:cNvPr id="3" name="Text 1"/>
          <p:cNvSpPr/>
          <p:nvPr/>
        </p:nvSpPr>
        <p:spPr>
          <a:xfrm>
            <a:off x="457200" y="521208"/>
            <a:ext cx="7955280" cy="438912"/>
          </a:xfrm>
          <a:prstGeom prst="rect">
            <a:avLst/>
          </a:prstGeom>
          <a:noFill/>
          <a:ln/>
        </p:spPr>
        <p:txBody>
          <a:bodyPr wrap="square" lIns="0" tIns="0" rIns="0" bIns="0" rtlCol="0" anchor="ctr"/>
          <a:lstStyle/>
          <a:p>
            <a:pPr marL="0" indent="0">
              <a:buNone/>
            </a:pPr>
            <a:r>
              <a:rPr lang="en-US" sz="2500" dirty="0">
                <a:solidFill>
                  <a:srgbClr val="0B1E3F"/>
                </a:solidFill>
                <a:latin typeface="Segoe UI Semibold" pitchFamily="34" charset="0"/>
                <a:ea typeface="Segoe UI Semibold" pitchFamily="34" charset="-122"/>
                <a:cs typeface="Segoe UI Semibold" pitchFamily="34" charset="-120"/>
              </a:rPr>
              <a:t>Adoption path: crawl, walk, run — backed by 50+ labs</a:t>
            </a:r>
            <a:endParaRPr lang="en-US" sz="2500" dirty="0"/>
          </a:p>
        </p:txBody>
      </p:sp>
      <p:sp>
        <p:nvSpPr>
          <p:cNvPr id="4" name="Shape 2"/>
          <p:cNvSpPr/>
          <p:nvPr/>
        </p:nvSpPr>
        <p:spPr>
          <a:xfrm>
            <a:off x="10698480" y="118872"/>
            <a:ext cx="1051560" cy="1051560"/>
          </a:xfrm>
          <a:prstGeom prst="arc">
            <a:avLst/>
          </a:prstGeom>
          <a:solidFill>
            <a:srgbClr val="F5F7FA">
              <a:alpha val="0"/>
            </a:srgbClr>
          </a:solidFill>
          <a:ln w="38100">
            <a:solidFill>
              <a:srgbClr val="00B7C3">
                <a:alpha val="90000"/>
              </a:srgbClr>
            </a:solidFill>
            <a:prstDash val="solid"/>
          </a:ln>
        </p:spPr>
      </p:sp>
      <p:sp>
        <p:nvSpPr>
          <p:cNvPr id="5" name="Text 3"/>
          <p:cNvSpPr/>
          <p:nvPr/>
        </p:nvSpPr>
        <p:spPr>
          <a:xfrm>
            <a:off x="457200" y="6473952"/>
            <a:ext cx="7955280" cy="164592"/>
          </a:xfrm>
          <a:prstGeom prst="rect">
            <a:avLst/>
          </a:prstGeom>
          <a:noFill/>
          <a:ln/>
        </p:spPr>
        <p:txBody>
          <a:bodyPr wrap="square" lIns="0" tIns="0" rIns="0" bIns="0" rtlCol="0" anchor="ctr"/>
          <a:lstStyle/>
          <a:p>
            <a:pPr marL="0" indent="0">
              <a:buNone/>
            </a:pPr>
            <a:r>
              <a:rPr lang="en-US" sz="750" dirty="0">
                <a:solidFill>
                  <a:srgbClr val="8A97A8"/>
                </a:solidFill>
                <a:latin typeface="Segoe UI" pitchFamily="34" charset="0"/>
                <a:ea typeface="Segoe UI" pitchFamily="34" charset="-122"/>
                <a:cs typeface="Segoe UI" pitchFamily="34" charset="-120"/>
              </a:rPr>
              <a:t>Azure API Management AI Gateway — Oct 2026</a:t>
            </a:r>
            <a:endParaRPr lang="en-US" sz="750" dirty="0"/>
          </a:p>
        </p:txBody>
      </p:sp>
      <p:sp>
        <p:nvSpPr>
          <p:cNvPr id="6" name="Text 4"/>
          <p:cNvSpPr/>
          <p:nvPr/>
        </p:nvSpPr>
        <p:spPr>
          <a:xfrm>
            <a:off x="11430000" y="6446520"/>
            <a:ext cx="320040" cy="164592"/>
          </a:xfrm>
          <a:prstGeom prst="rect">
            <a:avLst/>
          </a:prstGeom>
          <a:noFill/>
          <a:ln/>
        </p:spPr>
        <p:txBody>
          <a:bodyPr wrap="square" lIns="0" tIns="0" rIns="0" bIns="0" rtlCol="0" anchor="ctr"/>
          <a:lstStyle/>
          <a:p>
            <a:pPr marL="0" indent="0" algn="r">
              <a:buNone/>
            </a:pPr>
            <a:r>
              <a:rPr lang="en-US" sz="800" dirty="0">
                <a:solidFill>
                  <a:srgbClr val="8A97A8"/>
                </a:solidFill>
                <a:latin typeface="Segoe UI Semibold" pitchFamily="34" charset="0"/>
                <a:ea typeface="Segoe UI Semibold" pitchFamily="34" charset="-122"/>
                <a:cs typeface="Segoe UI Semibold" pitchFamily="34" charset="-120"/>
              </a:rPr>
              <a:t>30</a:t>
            </a:r>
            <a:endParaRPr lang="en-US" sz="800" dirty="0"/>
          </a:p>
        </p:txBody>
      </p:sp>
      <p:sp>
        <p:nvSpPr>
          <p:cNvPr id="7" name="Shape 5"/>
          <p:cNvSpPr/>
          <p:nvPr/>
        </p:nvSpPr>
        <p:spPr>
          <a:xfrm>
            <a:off x="749808" y="1143000"/>
            <a:ext cx="3154680" cy="960120"/>
          </a:xfrm>
          <a:prstGeom prst="chevron">
            <a:avLst/>
          </a:prstGeom>
          <a:solidFill>
            <a:srgbClr val="00B7C3"/>
          </a:solidFill>
          <a:ln w="12700">
            <a:solidFill>
              <a:srgbClr val="00B7C3"/>
            </a:solidFill>
            <a:prstDash val="solid"/>
          </a:ln>
        </p:spPr>
      </p:sp>
      <p:sp>
        <p:nvSpPr>
          <p:cNvPr id="8" name="Text 6"/>
          <p:cNvSpPr/>
          <p:nvPr/>
        </p:nvSpPr>
        <p:spPr>
          <a:xfrm>
            <a:off x="1042416" y="1481328"/>
            <a:ext cx="2468880" cy="182880"/>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Crawl</a:t>
            </a:r>
            <a:endParaRPr lang="en-US" sz="1500" dirty="0"/>
          </a:p>
        </p:txBody>
      </p:sp>
      <p:sp>
        <p:nvSpPr>
          <p:cNvPr id="9" name="Text 7"/>
          <p:cNvSpPr/>
          <p:nvPr/>
        </p:nvSpPr>
        <p:spPr>
          <a:xfrm>
            <a:off x="886968" y="2423160"/>
            <a:ext cx="2971800" cy="749808"/>
          </a:xfrm>
          <a:prstGeom prst="rect">
            <a:avLst/>
          </a:prstGeom>
          <a:noFill/>
          <a:ln/>
        </p:spPr>
        <p:txBody>
          <a:bodyPr wrap="square" lIns="508" tIns="508" rIns="508" bIns="508" rtlCol="0" anchor="ctr">
            <a:normAutofit/>
          </a:bodyPr>
          <a:lstStyle/>
          <a:p>
            <a:pPr marL="0" indent="0" algn="ctr">
              <a:buNone/>
            </a:pPr>
            <a:r>
              <a:rPr lang="en-US" sz="950" dirty="0">
                <a:solidFill>
                  <a:srgbClr val="3B4A5E"/>
                </a:solidFill>
                <a:latin typeface="Segoe UI" pitchFamily="34" charset="0"/>
                <a:ea typeface="Segoe UI" pitchFamily="34" charset="-122"/>
                <a:cs typeface="Segoe UI" pitchFamily="34" charset="-120"/>
              </a:rPr>
              <a:t>Put one inference API behind APIM; use managed identity, subscription keys and basic token metrics.</a:t>
            </a:r>
            <a:endParaRPr lang="en-US" sz="950" dirty="0"/>
          </a:p>
        </p:txBody>
      </p:sp>
      <p:sp>
        <p:nvSpPr>
          <p:cNvPr id="10" name="Shape 8"/>
          <p:cNvSpPr/>
          <p:nvPr/>
        </p:nvSpPr>
        <p:spPr>
          <a:xfrm>
            <a:off x="4517136" y="1143000"/>
            <a:ext cx="3154680" cy="960120"/>
          </a:xfrm>
          <a:prstGeom prst="chevron">
            <a:avLst/>
          </a:prstGeom>
          <a:solidFill>
            <a:srgbClr val="0078D4"/>
          </a:solidFill>
          <a:ln w="12700">
            <a:solidFill>
              <a:srgbClr val="0078D4"/>
            </a:solidFill>
            <a:prstDash val="solid"/>
          </a:ln>
        </p:spPr>
      </p:sp>
      <p:sp>
        <p:nvSpPr>
          <p:cNvPr id="11" name="Text 9"/>
          <p:cNvSpPr/>
          <p:nvPr/>
        </p:nvSpPr>
        <p:spPr>
          <a:xfrm>
            <a:off x="4809744" y="1481328"/>
            <a:ext cx="2468880" cy="182880"/>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Walk</a:t>
            </a:r>
            <a:endParaRPr lang="en-US" sz="1500" dirty="0"/>
          </a:p>
        </p:txBody>
      </p:sp>
      <p:sp>
        <p:nvSpPr>
          <p:cNvPr id="12" name="Text 10"/>
          <p:cNvSpPr/>
          <p:nvPr/>
        </p:nvSpPr>
        <p:spPr>
          <a:xfrm>
            <a:off x="4654296" y="2423160"/>
            <a:ext cx="2971800" cy="749808"/>
          </a:xfrm>
          <a:prstGeom prst="rect">
            <a:avLst/>
          </a:prstGeom>
          <a:noFill/>
          <a:ln/>
        </p:spPr>
        <p:txBody>
          <a:bodyPr wrap="square" lIns="508" tIns="508" rIns="508" bIns="508" rtlCol="0" anchor="ctr">
            <a:normAutofit/>
          </a:bodyPr>
          <a:lstStyle/>
          <a:p>
            <a:pPr marL="0" indent="0" algn="ctr">
              <a:buNone/>
            </a:pPr>
            <a:r>
              <a:rPr lang="en-US" sz="950" dirty="0">
                <a:solidFill>
                  <a:srgbClr val="3B4A5E"/>
                </a:solidFill>
                <a:latin typeface="Segoe UI" pitchFamily="34" charset="0"/>
                <a:ea typeface="Segoe UI" pitchFamily="34" charset="-122"/>
                <a:cs typeface="Segoe UI" pitchFamily="34" charset="-120"/>
              </a:rPr>
              <a:t>Add token budgets, content safety, backend pools, circuit breakers and product-level chargeback.</a:t>
            </a:r>
            <a:endParaRPr lang="en-US" sz="950" dirty="0"/>
          </a:p>
        </p:txBody>
      </p:sp>
      <p:sp>
        <p:nvSpPr>
          <p:cNvPr id="13" name="Shape 11"/>
          <p:cNvSpPr/>
          <p:nvPr/>
        </p:nvSpPr>
        <p:spPr>
          <a:xfrm>
            <a:off x="8284464" y="1143000"/>
            <a:ext cx="3154680" cy="960120"/>
          </a:xfrm>
          <a:prstGeom prst="chevron">
            <a:avLst/>
          </a:prstGeom>
          <a:solidFill>
            <a:srgbClr val="FFB900"/>
          </a:solidFill>
          <a:ln w="12700">
            <a:solidFill>
              <a:srgbClr val="FFB900"/>
            </a:solidFill>
            <a:prstDash val="solid"/>
          </a:ln>
        </p:spPr>
      </p:sp>
      <p:sp>
        <p:nvSpPr>
          <p:cNvPr id="14" name="Text 12"/>
          <p:cNvSpPr/>
          <p:nvPr/>
        </p:nvSpPr>
        <p:spPr>
          <a:xfrm>
            <a:off x="8577072" y="1481328"/>
            <a:ext cx="2468880" cy="182880"/>
          </a:xfrm>
          <a:prstGeom prst="rect">
            <a:avLst/>
          </a:prstGeom>
          <a:noFill/>
          <a:ln/>
        </p:spPr>
        <p:txBody>
          <a:bodyPr wrap="square" lIns="0" tIns="0" rIns="0" bIns="0" rtlCol="0" anchor="ctr"/>
          <a:lstStyle/>
          <a:p>
            <a:pPr marL="0" indent="0" algn="ctr">
              <a:buNone/>
            </a:pPr>
            <a:r>
              <a:rPr lang="en-US" sz="1500" dirty="0">
                <a:solidFill>
                  <a:srgbClr val="0B1E3F"/>
                </a:solidFill>
                <a:latin typeface="Segoe UI Semibold" pitchFamily="34" charset="0"/>
                <a:ea typeface="Segoe UI Semibold" pitchFamily="34" charset="-122"/>
                <a:cs typeface="Segoe UI Semibold" pitchFamily="34" charset="-120"/>
              </a:rPr>
              <a:t>Run</a:t>
            </a:r>
            <a:endParaRPr lang="en-US" sz="1500" dirty="0"/>
          </a:p>
        </p:txBody>
      </p:sp>
      <p:sp>
        <p:nvSpPr>
          <p:cNvPr id="15" name="Text 13"/>
          <p:cNvSpPr/>
          <p:nvPr/>
        </p:nvSpPr>
        <p:spPr>
          <a:xfrm>
            <a:off x="8421624" y="2423160"/>
            <a:ext cx="2971800" cy="749808"/>
          </a:xfrm>
          <a:prstGeom prst="rect">
            <a:avLst/>
          </a:prstGeom>
          <a:noFill/>
          <a:ln/>
        </p:spPr>
        <p:txBody>
          <a:bodyPr wrap="square" lIns="508" tIns="508" rIns="508" bIns="508" rtlCol="0" anchor="ctr">
            <a:normAutofit/>
          </a:bodyPr>
          <a:lstStyle/>
          <a:p>
            <a:pPr marL="0" indent="0" algn="ctr">
              <a:buNone/>
            </a:pPr>
            <a:r>
              <a:rPr lang="en-US" sz="950" dirty="0">
                <a:solidFill>
                  <a:srgbClr val="3B4A5E"/>
                </a:solidFill>
                <a:latin typeface="Segoe UI" pitchFamily="34" charset="0"/>
                <a:ea typeface="Segoe UI" pitchFamily="34" charset="-122"/>
                <a:cs typeface="Segoe UI" pitchFamily="34" charset="-120"/>
              </a:rPr>
              <a:t>Register MCP servers and agents, API Center discovery, semantic caching and FinOps dashboards.</a:t>
            </a:r>
            <a:endParaRPr lang="en-US" sz="950" dirty="0"/>
          </a:p>
        </p:txBody>
      </p:sp>
      <p:sp>
        <p:nvSpPr>
          <p:cNvPr id="16" name="Shape 14"/>
          <p:cNvSpPr/>
          <p:nvPr/>
        </p:nvSpPr>
        <p:spPr>
          <a:xfrm>
            <a:off x="914400" y="3886200"/>
            <a:ext cx="10378440" cy="1234440"/>
          </a:xfrm>
          <a:prstGeom prst="roundRect">
            <a:avLst>
              <a:gd name="adj" fmla="val 5185"/>
            </a:avLst>
          </a:prstGeom>
          <a:solidFill>
            <a:srgbClr val="FFFFFF"/>
          </a:solidFill>
          <a:ln w="12700">
            <a:solidFill>
              <a:srgbClr val="D8E2EC"/>
            </a:solidFill>
            <a:prstDash val="solid"/>
          </a:ln>
          <a:effectLst>
            <a:outerShdw blurRad="38100" dist="12700" dir="2700000" algn="bl" rotWithShape="0">
              <a:srgbClr val="000000">
                <a:alpha val="6000"/>
              </a:srgbClr>
            </a:outerShdw>
          </a:effectLst>
        </p:spPr>
      </p:sp>
      <p:sp>
        <p:nvSpPr>
          <p:cNvPr id="17" name="Text 15"/>
          <p:cNvSpPr/>
          <p:nvPr/>
        </p:nvSpPr>
        <p:spPr>
          <a:xfrm>
            <a:off x="1188720" y="4160520"/>
            <a:ext cx="2194560" cy="164592"/>
          </a:xfrm>
          <a:prstGeom prst="rect">
            <a:avLst/>
          </a:prstGeom>
          <a:noFill/>
          <a:ln/>
        </p:spPr>
        <p:txBody>
          <a:bodyPr wrap="square" lIns="0" tIns="0" rIns="0" bIns="0" rtlCol="0" anchor="ctr"/>
          <a:lstStyle/>
          <a:p>
            <a:pPr marL="0" indent="0">
              <a:buNone/>
            </a:pPr>
            <a:r>
              <a:rPr lang="en-US" sz="1150" dirty="0">
                <a:solidFill>
                  <a:srgbClr val="0B1E3F"/>
                </a:solidFill>
                <a:latin typeface="Segoe UI Semibold" pitchFamily="34" charset="0"/>
                <a:ea typeface="Segoe UI Semibold" pitchFamily="34" charset="-122"/>
                <a:cs typeface="Segoe UI Semibold" pitchFamily="34" charset="-120"/>
              </a:rPr>
              <a:t>AI-Gateway labs to try next</a:t>
            </a:r>
            <a:endParaRPr lang="en-US" sz="1150" dirty="0"/>
          </a:p>
        </p:txBody>
      </p:sp>
      <p:sp>
        <p:nvSpPr>
          <p:cNvPr id="18" name="Shape 16"/>
          <p:cNvSpPr/>
          <p:nvPr/>
        </p:nvSpPr>
        <p:spPr>
          <a:xfrm>
            <a:off x="3520440" y="4096512"/>
            <a:ext cx="1664208" cy="246888"/>
          </a:xfrm>
          <a:prstGeom prst="roundRect">
            <a:avLst>
              <a:gd name="adj" fmla="val 18519"/>
            </a:avLst>
          </a:prstGeom>
          <a:solidFill>
            <a:srgbClr val="D9F7FA"/>
          </a:solidFill>
          <a:ln w="12700">
            <a:solidFill>
              <a:srgbClr val="D9F7FA"/>
            </a:solidFill>
            <a:prstDash val="solid"/>
          </a:ln>
        </p:spPr>
      </p:sp>
      <p:sp>
        <p:nvSpPr>
          <p:cNvPr id="19" name="Text 17"/>
          <p:cNvSpPr/>
          <p:nvPr/>
        </p:nvSpPr>
        <p:spPr>
          <a:xfrm>
            <a:off x="3575304" y="4146804"/>
            <a:ext cx="1554480" cy="100584"/>
          </a:xfrm>
          <a:prstGeom prst="rect">
            <a:avLst/>
          </a:prstGeom>
          <a:noFill/>
          <a:ln/>
        </p:spPr>
        <p:txBody>
          <a:bodyPr wrap="square" lIns="0" tIns="0" rIns="0" bIns="0" rtlCol="0" anchor="ctr">
            <a:normAutofit/>
          </a:bodyPr>
          <a:lstStyle/>
          <a:p>
            <a:pPr marL="0" indent="0" algn="ctr">
              <a:buNone/>
            </a:pPr>
            <a:r>
              <a:rPr lang="en-US" sz="750" dirty="0">
                <a:solidFill>
                  <a:srgbClr val="0B1E3F"/>
                </a:solidFill>
                <a:latin typeface="Segoe UI Semibold" pitchFamily="34" charset="0"/>
                <a:ea typeface="Segoe UI Semibold" pitchFamily="34" charset="-122"/>
                <a:cs typeface="Segoe UI Semibold" pitchFamily="34" charset="-120"/>
              </a:rPr>
              <a:t>backend-pool-load-balancing</a:t>
            </a:r>
            <a:endParaRPr lang="en-US" sz="750" dirty="0"/>
          </a:p>
        </p:txBody>
      </p:sp>
      <p:sp>
        <p:nvSpPr>
          <p:cNvPr id="20" name="Shape 18"/>
          <p:cNvSpPr/>
          <p:nvPr/>
        </p:nvSpPr>
        <p:spPr>
          <a:xfrm>
            <a:off x="5394960" y="4096512"/>
            <a:ext cx="1664208" cy="246888"/>
          </a:xfrm>
          <a:prstGeom prst="roundRect">
            <a:avLst>
              <a:gd name="adj" fmla="val 18519"/>
            </a:avLst>
          </a:prstGeom>
          <a:solidFill>
            <a:srgbClr val="E5F1FB"/>
          </a:solidFill>
          <a:ln w="12700">
            <a:solidFill>
              <a:srgbClr val="E5F1FB"/>
            </a:solidFill>
            <a:prstDash val="solid"/>
          </a:ln>
        </p:spPr>
      </p:sp>
      <p:sp>
        <p:nvSpPr>
          <p:cNvPr id="21" name="Text 19"/>
          <p:cNvSpPr/>
          <p:nvPr/>
        </p:nvSpPr>
        <p:spPr>
          <a:xfrm>
            <a:off x="5449824" y="4146804"/>
            <a:ext cx="1554480" cy="100584"/>
          </a:xfrm>
          <a:prstGeom prst="rect">
            <a:avLst/>
          </a:prstGeom>
          <a:noFill/>
          <a:ln/>
        </p:spPr>
        <p:txBody>
          <a:bodyPr wrap="square" lIns="0" tIns="0" rIns="0" bIns="0" rtlCol="0" anchor="ctr">
            <a:normAutofit/>
          </a:bodyPr>
          <a:lstStyle/>
          <a:p>
            <a:pPr marL="0" indent="0" algn="ctr">
              <a:buNone/>
            </a:pPr>
            <a:r>
              <a:rPr lang="en-US" sz="750" dirty="0">
                <a:solidFill>
                  <a:srgbClr val="0B1E3F"/>
                </a:solidFill>
                <a:latin typeface="Segoe UI Semibold" pitchFamily="34" charset="0"/>
                <a:ea typeface="Segoe UI Semibold" pitchFamily="34" charset="-122"/>
                <a:cs typeface="Segoe UI Semibold" pitchFamily="34" charset="-120"/>
              </a:rPr>
              <a:t>token-rate-limiting</a:t>
            </a:r>
            <a:endParaRPr lang="en-US" sz="750" dirty="0"/>
          </a:p>
        </p:txBody>
      </p:sp>
      <p:sp>
        <p:nvSpPr>
          <p:cNvPr id="22" name="Shape 20"/>
          <p:cNvSpPr/>
          <p:nvPr/>
        </p:nvSpPr>
        <p:spPr>
          <a:xfrm>
            <a:off x="7269480" y="4096512"/>
            <a:ext cx="1664208" cy="246888"/>
          </a:xfrm>
          <a:prstGeom prst="roundRect">
            <a:avLst>
              <a:gd name="adj" fmla="val 18519"/>
            </a:avLst>
          </a:prstGeom>
          <a:solidFill>
            <a:srgbClr val="D9F7FA"/>
          </a:solidFill>
          <a:ln w="12700">
            <a:solidFill>
              <a:srgbClr val="D9F7FA"/>
            </a:solidFill>
            <a:prstDash val="solid"/>
          </a:ln>
        </p:spPr>
      </p:sp>
      <p:sp>
        <p:nvSpPr>
          <p:cNvPr id="23" name="Text 21"/>
          <p:cNvSpPr/>
          <p:nvPr/>
        </p:nvSpPr>
        <p:spPr>
          <a:xfrm>
            <a:off x="7324344" y="4146804"/>
            <a:ext cx="1554480" cy="100584"/>
          </a:xfrm>
          <a:prstGeom prst="rect">
            <a:avLst/>
          </a:prstGeom>
          <a:noFill/>
          <a:ln/>
        </p:spPr>
        <p:txBody>
          <a:bodyPr wrap="square" lIns="0" tIns="0" rIns="0" bIns="0" rtlCol="0" anchor="ctr">
            <a:normAutofit/>
          </a:bodyPr>
          <a:lstStyle/>
          <a:p>
            <a:pPr marL="0" indent="0" algn="ctr">
              <a:buNone/>
            </a:pPr>
            <a:r>
              <a:rPr lang="en-US" sz="750" dirty="0">
                <a:solidFill>
                  <a:srgbClr val="0B1E3F"/>
                </a:solidFill>
                <a:latin typeface="Segoe UI Semibold" pitchFamily="34" charset="0"/>
                <a:ea typeface="Segoe UI Semibold" pitchFamily="34" charset="-122"/>
                <a:cs typeface="Segoe UI Semibold" pitchFamily="34" charset="-120"/>
              </a:rPr>
              <a:t>content-safety</a:t>
            </a:r>
            <a:endParaRPr lang="en-US" sz="750" dirty="0"/>
          </a:p>
        </p:txBody>
      </p:sp>
      <p:sp>
        <p:nvSpPr>
          <p:cNvPr id="24" name="Shape 22"/>
          <p:cNvSpPr/>
          <p:nvPr/>
        </p:nvSpPr>
        <p:spPr>
          <a:xfrm>
            <a:off x="9144000" y="4096512"/>
            <a:ext cx="1664208" cy="246888"/>
          </a:xfrm>
          <a:prstGeom prst="roundRect">
            <a:avLst>
              <a:gd name="adj" fmla="val 18519"/>
            </a:avLst>
          </a:prstGeom>
          <a:solidFill>
            <a:srgbClr val="E5F1FB"/>
          </a:solidFill>
          <a:ln w="12700">
            <a:solidFill>
              <a:srgbClr val="E5F1FB"/>
            </a:solidFill>
            <a:prstDash val="solid"/>
          </a:ln>
        </p:spPr>
      </p:sp>
      <p:sp>
        <p:nvSpPr>
          <p:cNvPr id="25" name="Text 23"/>
          <p:cNvSpPr/>
          <p:nvPr/>
        </p:nvSpPr>
        <p:spPr>
          <a:xfrm>
            <a:off x="9198864" y="4146804"/>
            <a:ext cx="1554480" cy="100584"/>
          </a:xfrm>
          <a:prstGeom prst="rect">
            <a:avLst/>
          </a:prstGeom>
          <a:noFill/>
          <a:ln/>
        </p:spPr>
        <p:txBody>
          <a:bodyPr wrap="square" lIns="0" tIns="0" rIns="0" bIns="0" rtlCol="0" anchor="ctr">
            <a:normAutofit/>
          </a:bodyPr>
          <a:lstStyle/>
          <a:p>
            <a:pPr marL="0" indent="0" algn="ctr">
              <a:buNone/>
            </a:pPr>
            <a:r>
              <a:rPr lang="en-US" sz="750" dirty="0">
                <a:solidFill>
                  <a:srgbClr val="0B1E3F"/>
                </a:solidFill>
                <a:latin typeface="Segoe UI Semibold" pitchFamily="34" charset="0"/>
                <a:ea typeface="Segoe UI Semibold" pitchFamily="34" charset="-122"/>
                <a:cs typeface="Segoe UI Semibold" pitchFamily="34" charset="-120"/>
              </a:rPr>
              <a:t>mcp-from-api</a:t>
            </a:r>
            <a:endParaRPr lang="en-US" sz="750" dirty="0"/>
          </a:p>
        </p:txBody>
      </p:sp>
      <p:sp>
        <p:nvSpPr>
          <p:cNvPr id="26" name="Shape 24"/>
          <p:cNvSpPr/>
          <p:nvPr/>
        </p:nvSpPr>
        <p:spPr>
          <a:xfrm>
            <a:off x="3520440" y="4507992"/>
            <a:ext cx="1664208" cy="246888"/>
          </a:xfrm>
          <a:prstGeom prst="roundRect">
            <a:avLst>
              <a:gd name="adj" fmla="val 18519"/>
            </a:avLst>
          </a:prstGeom>
          <a:solidFill>
            <a:srgbClr val="D9F7FA"/>
          </a:solidFill>
          <a:ln w="12700">
            <a:solidFill>
              <a:srgbClr val="D9F7FA"/>
            </a:solidFill>
            <a:prstDash val="solid"/>
          </a:ln>
        </p:spPr>
      </p:sp>
      <p:sp>
        <p:nvSpPr>
          <p:cNvPr id="27" name="Text 25"/>
          <p:cNvSpPr/>
          <p:nvPr/>
        </p:nvSpPr>
        <p:spPr>
          <a:xfrm>
            <a:off x="3575304" y="4558284"/>
            <a:ext cx="1554480" cy="100584"/>
          </a:xfrm>
          <a:prstGeom prst="rect">
            <a:avLst/>
          </a:prstGeom>
          <a:noFill/>
          <a:ln/>
        </p:spPr>
        <p:txBody>
          <a:bodyPr wrap="square" lIns="0" tIns="0" rIns="0" bIns="0" rtlCol="0" anchor="ctr">
            <a:normAutofit/>
          </a:bodyPr>
          <a:lstStyle/>
          <a:p>
            <a:pPr marL="0" indent="0" algn="ctr">
              <a:buNone/>
            </a:pPr>
            <a:r>
              <a:rPr lang="en-US" sz="750" dirty="0">
                <a:solidFill>
                  <a:srgbClr val="0B1E3F"/>
                </a:solidFill>
                <a:latin typeface="Segoe UI Semibold" pitchFamily="34" charset="0"/>
                <a:ea typeface="Segoe UI Semibold" pitchFamily="34" charset="-122"/>
                <a:cs typeface="Segoe UI Semibold" pitchFamily="34" charset="-120"/>
              </a:rPr>
              <a:t>semantic-caching</a:t>
            </a:r>
            <a:endParaRPr lang="en-US" sz="750" dirty="0"/>
          </a:p>
        </p:txBody>
      </p:sp>
      <p:sp>
        <p:nvSpPr>
          <p:cNvPr id="28" name="Shape 26"/>
          <p:cNvSpPr/>
          <p:nvPr/>
        </p:nvSpPr>
        <p:spPr>
          <a:xfrm>
            <a:off x="5394960" y="4507992"/>
            <a:ext cx="1664208" cy="246888"/>
          </a:xfrm>
          <a:prstGeom prst="roundRect">
            <a:avLst>
              <a:gd name="adj" fmla="val 18519"/>
            </a:avLst>
          </a:prstGeom>
          <a:solidFill>
            <a:srgbClr val="E5F1FB"/>
          </a:solidFill>
          <a:ln w="12700">
            <a:solidFill>
              <a:srgbClr val="E5F1FB"/>
            </a:solidFill>
            <a:prstDash val="solid"/>
          </a:ln>
        </p:spPr>
      </p:sp>
      <p:sp>
        <p:nvSpPr>
          <p:cNvPr id="29" name="Text 27"/>
          <p:cNvSpPr/>
          <p:nvPr/>
        </p:nvSpPr>
        <p:spPr>
          <a:xfrm>
            <a:off x="5449824" y="4558284"/>
            <a:ext cx="1554480" cy="100584"/>
          </a:xfrm>
          <a:prstGeom prst="rect">
            <a:avLst/>
          </a:prstGeom>
          <a:noFill/>
          <a:ln/>
        </p:spPr>
        <p:txBody>
          <a:bodyPr wrap="square" lIns="0" tIns="0" rIns="0" bIns="0" rtlCol="0" anchor="ctr">
            <a:normAutofit/>
          </a:bodyPr>
          <a:lstStyle/>
          <a:p>
            <a:pPr marL="0" indent="0" algn="ctr">
              <a:buNone/>
            </a:pPr>
            <a:r>
              <a:rPr lang="en-US" sz="750" dirty="0">
                <a:solidFill>
                  <a:srgbClr val="0B1E3F"/>
                </a:solidFill>
                <a:latin typeface="Segoe UI Semibold" pitchFamily="34" charset="0"/>
                <a:ea typeface="Segoe UI Semibold" pitchFamily="34" charset="-122"/>
                <a:cs typeface="Segoe UI Semibold" pitchFamily="34" charset="-120"/>
              </a:rPr>
              <a:t>finops-framework</a:t>
            </a:r>
            <a:endParaRPr lang="en-US" sz="750" dirty="0"/>
          </a:p>
        </p:txBody>
      </p:sp>
      <p:sp>
        <p:nvSpPr>
          <p:cNvPr id="30" name="Shape 28"/>
          <p:cNvSpPr/>
          <p:nvPr/>
        </p:nvSpPr>
        <p:spPr>
          <a:xfrm>
            <a:off x="7269480" y="4507992"/>
            <a:ext cx="1664208" cy="246888"/>
          </a:xfrm>
          <a:prstGeom prst="roundRect">
            <a:avLst>
              <a:gd name="adj" fmla="val 18519"/>
            </a:avLst>
          </a:prstGeom>
          <a:solidFill>
            <a:srgbClr val="D9F7FA"/>
          </a:solidFill>
          <a:ln w="12700">
            <a:solidFill>
              <a:srgbClr val="D9F7FA"/>
            </a:solidFill>
            <a:prstDash val="solid"/>
          </a:ln>
        </p:spPr>
      </p:sp>
      <p:sp>
        <p:nvSpPr>
          <p:cNvPr id="31" name="Text 29"/>
          <p:cNvSpPr/>
          <p:nvPr/>
        </p:nvSpPr>
        <p:spPr>
          <a:xfrm>
            <a:off x="7324344" y="4558284"/>
            <a:ext cx="1554480" cy="100584"/>
          </a:xfrm>
          <a:prstGeom prst="rect">
            <a:avLst/>
          </a:prstGeom>
          <a:noFill/>
          <a:ln/>
        </p:spPr>
        <p:txBody>
          <a:bodyPr wrap="square" lIns="0" tIns="0" rIns="0" bIns="0" rtlCol="0" anchor="ctr">
            <a:normAutofit/>
          </a:bodyPr>
          <a:lstStyle/>
          <a:p>
            <a:pPr marL="0" indent="0" algn="ctr">
              <a:buNone/>
            </a:pPr>
            <a:r>
              <a:rPr lang="en-US" sz="750" dirty="0">
                <a:solidFill>
                  <a:srgbClr val="0B1E3F"/>
                </a:solidFill>
                <a:latin typeface="Segoe UI Semibold" pitchFamily="34" charset="0"/>
                <a:ea typeface="Segoe UI Semibold" pitchFamily="34" charset="-122"/>
                <a:cs typeface="Segoe UI Semibold" pitchFamily="34" charset="-120"/>
              </a:rPr>
              <a:t>zero-to-production</a:t>
            </a:r>
            <a:endParaRPr lang="en-US" sz="7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1E3F"/>
        </a:solidFill>
        <a:effectLst/>
      </p:bgPr>
    </p:bg>
    <p:spTree>
      <p:nvGrpSpPr>
        <p:cNvPr id="1" name=""/>
        <p:cNvGrpSpPr/>
        <p:nvPr/>
      </p:nvGrpSpPr>
      <p:grpSpPr>
        <a:xfrm>
          <a:off x="0" y="0"/>
          <a:ext cx="0" cy="0"/>
          <a:chOff x="0" y="0"/>
          <a:chExt cx="0" cy="0"/>
        </a:xfrm>
      </p:grpSpPr>
      <p:sp>
        <p:nvSpPr>
          <p:cNvPr id="2" name="Shape 0"/>
          <p:cNvSpPr/>
          <p:nvPr/>
        </p:nvSpPr>
        <p:spPr>
          <a:xfrm>
            <a:off x="7955280" y="1508760"/>
            <a:ext cx="164592" cy="4480560"/>
          </a:xfrm>
          <a:prstGeom prst="rect">
            <a:avLst/>
          </a:prstGeom>
          <a:solidFill>
            <a:srgbClr val="00B7C3">
              <a:alpha val="85000"/>
            </a:srgbClr>
          </a:solidFill>
          <a:ln w="12700">
            <a:solidFill>
              <a:srgbClr val="00B7C3">
                <a:alpha val="85000"/>
              </a:srgbClr>
            </a:solidFill>
            <a:prstDash val="solid"/>
          </a:ln>
        </p:spPr>
      </p:sp>
      <p:sp>
        <p:nvSpPr>
          <p:cNvPr id="3" name="Shape 1"/>
          <p:cNvSpPr/>
          <p:nvPr/>
        </p:nvSpPr>
        <p:spPr>
          <a:xfrm>
            <a:off x="10808208" y="1508760"/>
            <a:ext cx="164592" cy="4480560"/>
          </a:xfrm>
          <a:prstGeom prst="rect">
            <a:avLst/>
          </a:prstGeom>
          <a:solidFill>
            <a:srgbClr val="00B7C3">
              <a:alpha val="85000"/>
            </a:srgbClr>
          </a:solidFill>
          <a:ln w="12700">
            <a:solidFill>
              <a:srgbClr val="00B7C3">
                <a:alpha val="85000"/>
              </a:srgbClr>
            </a:solidFill>
            <a:prstDash val="solid"/>
          </a:ln>
        </p:spPr>
      </p:sp>
      <p:sp>
        <p:nvSpPr>
          <p:cNvPr id="4" name="Shape 2"/>
          <p:cNvSpPr/>
          <p:nvPr/>
        </p:nvSpPr>
        <p:spPr>
          <a:xfrm>
            <a:off x="7964424" y="914400"/>
            <a:ext cx="2999232" cy="1234440"/>
          </a:xfrm>
          <a:prstGeom prst="arc">
            <a:avLst/>
          </a:prstGeom>
          <a:solidFill>
            <a:srgbClr val="00B7C3">
              <a:alpha val="0"/>
            </a:srgbClr>
          </a:solidFill>
          <a:ln w="88900">
            <a:solidFill>
              <a:srgbClr val="00B7C3">
                <a:alpha val="85000"/>
              </a:srgbClr>
            </a:solidFill>
            <a:prstDash val="solid"/>
          </a:ln>
        </p:spPr>
      </p:sp>
      <p:sp>
        <p:nvSpPr>
          <p:cNvPr id="5" name="Shape 3"/>
          <p:cNvSpPr/>
          <p:nvPr/>
        </p:nvSpPr>
        <p:spPr>
          <a:xfrm>
            <a:off x="685800" y="749808"/>
            <a:ext cx="658368" cy="658368"/>
          </a:xfrm>
          <a:prstGeom prst="ellipse">
            <a:avLst/>
          </a:prstGeom>
          <a:solidFill>
            <a:srgbClr val="00B7C3"/>
          </a:solidFill>
          <a:ln w="12700">
            <a:solidFill>
              <a:srgbClr val="00B7C3"/>
            </a:solidFill>
            <a:prstDash val="solid"/>
          </a:ln>
        </p:spPr>
      </p:sp>
      <p:sp>
        <p:nvSpPr>
          <p:cNvPr id="6" name="Text 4"/>
          <p:cNvSpPr/>
          <p:nvPr/>
        </p:nvSpPr>
        <p:spPr>
          <a:xfrm>
            <a:off x="685800" y="905256"/>
            <a:ext cx="658368" cy="201168"/>
          </a:xfrm>
          <a:prstGeom prst="rect">
            <a:avLst/>
          </a:prstGeom>
          <a:noFill/>
          <a:ln/>
        </p:spPr>
        <p:txBody>
          <a:bodyPr wrap="square" lIns="0" tIns="0" rIns="0" bIns="0" rtlCol="0" anchor="ctr"/>
          <a:lstStyle/>
          <a:p>
            <a:pPr marL="0" indent="0" algn="ctr">
              <a:buNone/>
            </a:pPr>
            <a:r>
              <a:rPr lang="en-US" sz="1700" dirty="0">
                <a:solidFill>
                  <a:srgbClr val="0B1E3F"/>
                </a:solidFill>
                <a:latin typeface="Segoe UI Semibold" pitchFamily="34" charset="0"/>
                <a:ea typeface="Segoe UI Semibold" pitchFamily="34" charset="-122"/>
                <a:cs typeface="Segoe UI Semibold" pitchFamily="34" charset="-120"/>
              </a:rPr>
              <a:t>08</a:t>
            </a:r>
            <a:endParaRPr lang="en-US" sz="1700" dirty="0"/>
          </a:p>
        </p:txBody>
      </p:sp>
      <p:sp>
        <p:nvSpPr>
          <p:cNvPr id="7" name="Text 5"/>
          <p:cNvSpPr/>
          <p:nvPr/>
        </p:nvSpPr>
        <p:spPr>
          <a:xfrm>
            <a:off x="685800" y="1691640"/>
            <a:ext cx="3840480" cy="237744"/>
          </a:xfrm>
          <a:prstGeom prst="rect">
            <a:avLst/>
          </a:prstGeom>
          <a:noFill/>
          <a:ln/>
        </p:spPr>
        <p:txBody>
          <a:bodyPr wrap="square" lIns="0" tIns="0" rIns="0" bIns="0" rtlCol="0" anchor="ctr"/>
          <a:lstStyle/>
          <a:p>
            <a:pPr marL="0" indent="0">
              <a:buNone/>
            </a:pPr>
            <a:r>
              <a:rPr lang="en-US" sz="1000" kern="0" spc="160" dirty="0">
                <a:solidFill>
                  <a:srgbClr val="00B7C3"/>
                </a:solidFill>
                <a:latin typeface="Segoe UI Semibold" pitchFamily="34" charset="0"/>
                <a:ea typeface="Segoe UI Semibold" pitchFamily="34" charset="-122"/>
                <a:cs typeface="Segoe UI Semibold" pitchFamily="34" charset="-120"/>
              </a:rPr>
              <a:t>SECTION 8</a:t>
            </a:r>
            <a:endParaRPr lang="en-US" sz="1000" dirty="0"/>
          </a:p>
        </p:txBody>
      </p:sp>
      <p:sp>
        <p:nvSpPr>
          <p:cNvPr id="8" name="Text 6"/>
          <p:cNvSpPr/>
          <p:nvPr/>
        </p:nvSpPr>
        <p:spPr>
          <a:xfrm>
            <a:off x="658368" y="2057400"/>
            <a:ext cx="6858000" cy="1097280"/>
          </a:xfrm>
          <a:prstGeom prst="rect">
            <a:avLst/>
          </a:prstGeom>
          <a:noFill/>
          <a:ln/>
        </p:spPr>
        <p:txBody>
          <a:bodyPr wrap="square" lIns="0" tIns="0" rIns="0" bIns="0" rtlCol="0" anchor="ctr">
            <a:normAutofit/>
          </a:bodyPr>
          <a:lstStyle/>
          <a:p>
            <a:pPr marL="0" indent="0">
              <a:buNone/>
            </a:pPr>
            <a:r>
              <a:rPr lang="en-US" sz="3800" dirty="0">
                <a:solidFill>
                  <a:srgbClr val="FFFFFF"/>
                </a:solidFill>
                <a:latin typeface="Segoe UI Semibold" pitchFamily="34" charset="0"/>
                <a:ea typeface="Segoe UI Semibold" pitchFamily="34" charset="-122"/>
                <a:cs typeface="Segoe UI Semibold" pitchFamily="34" charset="-120"/>
              </a:rPr>
              <a:t>Key takeaways, call to action and Q&amp;A</a:t>
            </a:r>
            <a:endParaRPr lang="en-US" sz="3800" dirty="0"/>
          </a:p>
        </p:txBody>
      </p:sp>
      <p:sp>
        <p:nvSpPr>
          <p:cNvPr id="9" name="Shape 7"/>
          <p:cNvSpPr/>
          <p:nvPr/>
        </p:nvSpPr>
        <p:spPr>
          <a:xfrm>
            <a:off x="685800" y="3767328"/>
            <a:ext cx="1417320" cy="411480"/>
          </a:xfrm>
          <a:prstGeom prst="roundRect">
            <a:avLst>
              <a:gd name="adj" fmla="val 15556"/>
            </a:avLst>
          </a:prstGeom>
          <a:solidFill>
            <a:srgbClr val="FFB900"/>
          </a:solidFill>
          <a:ln w="12700">
            <a:solidFill>
              <a:srgbClr val="FFB900"/>
            </a:solidFill>
            <a:prstDash val="solid"/>
          </a:ln>
        </p:spPr>
      </p:sp>
      <p:sp>
        <p:nvSpPr>
          <p:cNvPr id="10" name="Text 8"/>
          <p:cNvSpPr/>
          <p:nvPr/>
        </p:nvSpPr>
        <p:spPr>
          <a:xfrm>
            <a:off x="685800" y="3886200"/>
            <a:ext cx="1417320" cy="128016"/>
          </a:xfrm>
          <a:prstGeom prst="rect">
            <a:avLst/>
          </a:prstGeom>
          <a:noFill/>
          <a:ln/>
        </p:spPr>
        <p:txBody>
          <a:bodyPr wrap="square" lIns="0" tIns="0" rIns="0" bIns="0" rtlCol="0" anchor="ctr"/>
          <a:lstStyle/>
          <a:p>
            <a:pPr marL="0" indent="0" algn="ctr">
              <a:buNone/>
            </a:pPr>
            <a:r>
              <a:rPr lang="en-US" sz="1000" dirty="0">
                <a:solidFill>
                  <a:srgbClr val="0B1E3F"/>
                </a:solidFill>
                <a:latin typeface="Segoe UI Semibold" pitchFamily="34" charset="0"/>
                <a:ea typeface="Segoe UI Semibold" pitchFamily="34" charset="-122"/>
                <a:cs typeface="Segoe UI Semibold" pitchFamily="34" charset="-120"/>
              </a:rPr>
              <a:t>82–90 · 8 min</a:t>
            </a:r>
            <a:endParaRPr lang="en-US" sz="1000" dirty="0"/>
          </a:p>
        </p:txBody>
      </p:sp>
      <p:sp>
        <p:nvSpPr>
          <p:cNvPr id="11" name="Text 9"/>
          <p:cNvSpPr/>
          <p:nvPr/>
        </p:nvSpPr>
        <p:spPr>
          <a:xfrm>
            <a:off x="685800" y="6355080"/>
            <a:ext cx="2834640" cy="164592"/>
          </a:xfrm>
          <a:prstGeom prst="rect">
            <a:avLst/>
          </a:prstGeom>
          <a:noFill/>
          <a:ln/>
        </p:spPr>
        <p:txBody>
          <a:bodyPr wrap="square" lIns="0" tIns="0" rIns="0" bIns="0" rtlCol="0" anchor="ctr"/>
          <a:lstStyle/>
          <a:p>
            <a:pPr marL="0" indent="0">
              <a:buNone/>
            </a:pPr>
            <a:r>
              <a:rPr lang="en-US" sz="800" dirty="0">
                <a:solidFill>
                  <a:srgbClr val="AFC3DA"/>
                </a:solidFill>
                <a:latin typeface="Segoe UI" pitchFamily="34" charset="0"/>
                <a:ea typeface="Segoe UI" pitchFamily="34" charset="-122"/>
                <a:cs typeface="Segoe UI" pitchFamily="34" charset="-120"/>
              </a:rPr>
              <a:t>90-minute technical session</a:t>
            </a:r>
            <a:endParaRPr lang="en-US" sz="800" dirty="0"/>
          </a:p>
        </p:txBody>
      </p:sp>
      <p:sp>
        <p:nvSpPr>
          <p:cNvPr id="12" name="Text 10"/>
          <p:cNvSpPr/>
          <p:nvPr/>
        </p:nvSpPr>
        <p:spPr>
          <a:xfrm>
            <a:off x="11292840" y="6355080"/>
            <a:ext cx="365760" cy="164592"/>
          </a:xfrm>
          <a:prstGeom prst="rect">
            <a:avLst/>
          </a:prstGeom>
          <a:noFill/>
          <a:ln/>
        </p:spPr>
        <p:txBody>
          <a:bodyPr wrap="square" lIns="0" tIns="0" rIns="0" bIns="0" rtlCol="0" anchor="ctr"/>
          <a:lstStyle/>
          <a:p>
            <a:pPr marL="0" indent="0" algn="r">
              <a:buNone/>
            </a:pPr>
            <a:r>
              <a:rPr lang="en-US" sz="800" dirty="0">
                <a:solidFill>
                  <a:srgbClr val="AFC3DA"/>
                </a:solidFill>
                <a:latin typeface="Segoe UI Semibold" pitchFamily="34" charset="0"/>
                <a:ea typeface="Segoe UI Semibold" pitchFamily="34" charset="-122"/>
                <a:cs typeface="Segoe UI Semibold" pitchFamily="34" charset="-120"/>
              </a:rPr>
              <a:t>31</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301752"/>
            <a:ext cx="3200400" cy="201168"/>
          </a:xfrm>
          <a:prstGeom prst="rect">
            <a:avLst/>
          </a:prstGeom>
          <a:noFill/>
          <a:ln/>
        </p:spPr>
        <p:txBody>
          <a:bodyPr wrap="square" lIns="0" tIns="0" rIns="0" bIns="0" rtlCol="0" anchor="ctr"/>
          <a:lstStyle/>
          <a:p>
            <a:pPr marL="0" indent="0">
              <a:buNone/>
            </a:pPr>
            <a:r>
              <a:rPr lang="en-US" sz="800" kern="0" spc="120" dirty="0">
                <a:solidFill>
                  <a:srgbClr val="00B7C3"/>
                </a:solidFill>
                <a:latin typeface="Segoe UI Semibold" pitchFamily="34" charset="0"/>
                <a:ea typeface="Segoe UI Semibold" pitchFamily="34" charset="-122"/>
                <a:cs typeface="Segoe UI Semibold" pitchFamily="34" charset="-120"/>
              </a:rPr>
              <a:t>CLOSE</a:t>
            </a:r>
            <a:endParaRPr lang="en-US" sz="800" dirty="0"/>
          </a:p>
        </p:txBody>
      </p:sp>
      <p:sp>
        <p:nvSpPr>
          <p:cNvPr id="3" name="Text 1"/>
          <p:cNvSpPr/>
          <p:nvPr/>
        </p:nvSpPr>
        <p:spPr>
          <a:xfrm>
            <a:off x="457200" y="521208"/>
            <a:ext cx="7955280" cy="438912"/>
          </a:xfrm>
          <a:prstGeom prst="rect">
            <a:avLst/>
          </a:prstGeom>
          <a:noFill/>
          <a:ln/>
        </p:spPr>
        <p:txBody>
          <a:bodyPr wrap="square" lIns="0" tIns="0" rIns="0" bIns="0" rtlCol="0" anchor="ctr"/>
          <a:lstStyle/>
          <a:p>
            <a:pPr marL="0" indent="0">
              <a:buNone/>
            </a:pPr>
            <a:r>
              <a:rPr lang="en-US" sz="2500" dirty="0">
                <a:solidFill>
                  <a:srgbClr val="0B1E3F"/>
                </a:solidFill>
                <a:latin typeface="Segoe UI Semibold" pitchFamily="34" charset="0"/>
                <a:ea typeface="Segoe UI Semibold" pitchFamily="34" charset="-122"/>
                <a:cs typeface="Segoe UI Semibold" pitchFamily="34" charset="-120"/>
              </a:rPr>
              <a:t>Key takeaways</a:t>
            </a:r>
            <a:endParaRPr lang="en-US" sz="2500" dirty="0"/>
          </a:p>
        </p:txBody>
      </p:sp>
      <p:sp>
        <p:nvSpPr>
          <p:cNvPr id="4" name="Shape 2"/>
          <p:cNvSpPr/>
          <p:nvPr/>
        </p:nvSpPr>
        <p:spPr>
          <a:xfrm>
            <a:off x="10698480" y="118872"/>
            <a:ext cx="1051560" cy="1051560"/>
          </a:xfrm>
          <a:prstGeom prst="arc">
            <a:avLst/>
          </a:prstGeom>
          <a:solidFill>
            <a:srgbClr val="F5F7FA">
              <a:alpha val="0"/>
            </a:srgbClr>
          </a:solidFill>
          <a:ln w="38100">
            <a:solidFill>
              <a:srgbClr val="00B7C3">
                <a:alpha val="90000"/>
              </a:srgbClr>
            </a:solidFill>
            <a:prstDash val="solid"/>
          </a:ln>
        </p:spPr>
      </p:sp>
      <p:sp>
        <p:nvSpPr>
          <p:cNvPr id="5" name="Text 3"/>
          <p:cNvSpPr/>
          <p:nvPr/>
        </p:nvSpPr>
        <p:spPr>
          <a:xfrm>
            <a:off x="457200" y="6473952"/>
            <a:ext cx="7955280" cy="164592"/>
          </a:xfrm>
          <a:prstGeom prst="rect">
            <a:avLst/>
          </a:prstGeom>
          <a:noFill/>
          <a:ln/>
        </p:spPr>
        <p:txBody>
          <a:bodyPr wrap="square" lIns="0" tIns="0" rIns="0" bIns="0" rtlCol="0" anchor="ctr"/>
          <a:lstStyle/>
          <a:p>
            <a:pPr marL="0" indent="0">
              <a:buNone/>
            </a:pPr>
            <a:r>
              <a:rPr lang="en-US" sz="750" dirty="0">
                <a:solidFill>
                  <a:srgbClr val="8A97A8"/>
                </a:solidFill>
                <a:latin typeface="Segoe UI" pitchFamily="34" charset="0"/>
                <a:ea typeface="Segoe UI" pitchFamily="34" charset="-122"/>
                <a:cs typeface="Segoe UI" pitchFamily="34" charset="-120"/>
              </a:rPr>
              <a:t>Azure API Management AI Gateway — Oct 2026</a:t>
            </a:r>
            <a:endParaRPr lang="en-US" sz="750" dirty="0"/>
          </a:p>
        </p:txBody>
      </p:sp>
      <p:sp>
        <p:nvSpPr>
          <p:cNvPr id="6" name="Text 4"/>
          <p:cNvSpPr/>
          <p:nvPr/>
        </p:nvSpPr>
        <p:spPr>
          <a:xfrm>
            <a:off x="11430000" y="6446520"/>
            <a:ext cx="320040" cy="164592"/>
          </a:xfrm>
          <a:prstGeom prst="rect">
            <a:avLst/>
          </a:prstGeom>
          <a:noFill/>
          <a:ln/>
        </p:spPr>
        <p:txBody>
          <a:bodyPr wrap="square" lIns="0" tIns="0" rIns="0" bIns="0" rtlCol="0" anchor="ctr"/>
          <a:lstStyle/>
          <a:p>
            <a:pPr marL="0" indent="0" algn="r">
              <a:buNone/>
            </a:pPr>
            <a:r>
              <a:rPr lang="en-US" sz="800" dirty="0">
                <a:solidFill>
                  <a:srgbClr val="8A97A8"/>
                </a:solidFill>
                <a:latin typeface="Segoe UI Semibold" pitchFamily="34" charset="0"/>
                <a:ea typeface="Segoe UI Semibold" pitchFamily="34" charset="-122"/>
                <a:cs typeface="Segoe UI Semibold" pitchFamily="34" charset="-120"/>
              </a:rPr>
              <a:t>32</a:t>
            </a:r>
            <a:endParaRPr lang="en-US" sz="800" dirty="0"/>
          </a:p>
        </p:txBody>
      </p:sp>
      <p:sp>
        <p:nvSpPr>
          <p:cNvPr id="7" name="Shape 5"/>
          <p:cNvSpPr/>
          <p:nvPr/>
        </p:nvSpPr>
        <p:spPr>
          <a:xfrm>
            <a:off x="914400" y="1234440"/>
            <a:ext cx="4572000" cy="1097280"/>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8" name="Shape 6"/>
          <p:cNvSpPr/>
          <p:nvPr/>
        </p:nvSpPr>
        <p:spPr>
          <a:xfrm>
            <a:off x="914400" y="1234440"/>
            <a:ext cx="73152" cy="1097280"/>
          </a:xfrm>
          <a:prstGeom prst="rect">
            <a:avLst/>
          </a:prstGeom>
          <a:solidFill>
            <a:srgbClr val="00B7C3"/>
          </a:solidFill>
          <a:ln w="12700">
            <a:solidFill>
              <a:srgbClr val="00B7C3"/>
            </a:solidFill>
            <a:prstDash val="solid"/>
          </a:ln>
        </p:spPr>
      </p:sp>
      <p:sp>
        <p:nvSpPr>
          <p:cNvPr id="9" name="Shape 7"/>
          <p:cNvSpPr/>
          <p:nvPr/>
        </p:nvSpPr>
        <p:spPr>
          <a:xfrm>
            <a:off x="1078992" y="1389888"/>
            <a:ext cx="393192" cy="393192"/>
          </a:xfrm>
          <a:prstGeom prst="ellipse">
            <a:avLst/>
          </a:prstGeom>
          <a:solidFill>
            <a:srgbClr val="00B7C3"/>
          </a:solidFill>
          <a:ln w="12700">
            <a:solidFill>
              <a:srgbClr val="00B7C3"/>
            </a:solidFill>
            <a:prstDash val="solid"/>
          </a:ln>
        </p:spPr>
      </p:sp>
      <p:sp>
        <p:nvSpPr>
          <p:cNvPr id="10" name="Text 8"/>
          <p:cNvSpPr/>
          <p:nvPr/>
        </p:nvSpPr>
        <p:spPr>
          <a:xfrm>
            <a:off x="1078992" y="1449324"/>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1</a:t>
            </a:r>
            <a:endParaRPr lang="en-US" sz="800" dirty="0"/>
          </a:p>
        </p:txBody>
      </p:sp>
      <p:sp>
        <p:nvSpPr>
          <p:cNvPr id="11" name="Text 9"/>
          <p:cNvSpPr/>
          <p:nvPr/>
        </p:nvSpPr>
        <p:spPr>
          <a:xfrm>
            <a:off x="1572768" y="1362456"/>
            <a:ext cx="374904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One path</a:t>
            </a:r>
            <a:endParaRPr lang="en-US" sz="1250" dirty="0"/>
          </a:p>
        </p:txBody>
      </p:sp>
      <p:sp>
        <p:nvSpPr>
          <p:cNvPr id="12" name="Text 10"/>
          <p:cNvSpPr/>
          <p:nvPr/>
        </p:nvSpPr>
        <p:spPr>
          <a:xfrm>
            <a:off x="1572768" y="1691640"/>
            <a:ext cx="3749040" cy="548640"/>
          </a:xfrm>
          <a:prstGeom prst="rect">
            <a:avLst/>
          </a:prstGeom>
          <a:noFill/>
          <a:ln/>
        </p:spPr>
        <p:txBody>
          <a:bodyPr wrap="square" lIns="635" tIns="635" rIns="635" bIns="635" rtlCol="0" anchor="ctr">
            <a:normAutofit/>
          </a:bodyPr>
          <a:lstStyle/>
          <a:p>
            <a:pPr marL="0" indent="0">
              <a:buNone/>
            </a:pPr>
            <a:r>
              <a:rPr lang="en-US" sz="1020" dirty="0">
                <a:solidFill>
                  <a:srgbClr val="3B4A5E"/>
                </a:solidFill>
                <a:latin typeface="Segoe UI" pitchFamily="34" charset="0"/>
                <a:ea typeface="Segoe UI" pitchFamily="34" charset="-122"/>
                <a:cs typeface="Segoe UI" pitchFamily="34" charset="-120"/>
              </a:rPr>
              <a:t>APIM gives every AI app, MCP tool and agent a governed path.</a:t>
            </a:r>
            <a:endParaRPr lang="en-US" sz="1020" dirty="0"/>
          </a:p>
        </p:txBody>
      </p:sp>
      <p:sp>
        <p:nvSpPr>
          <p:cNvPr id="13" name="Shape 11"/>
          <p:cNvSpPr/>
          <p:nvPr/>
        </p:nvSpPr>
        <p:spPr>
          <a:xfrm>
            <a:off x="6080760" y="1234440"/>
            <a:ext cx="4572000" cy="1097280"/>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14" name="Shape 12"/>
          <p:cNvSpPr/>
          <p:nvPr/>
        </p:nvSpPr>
        <p:spPr>
          <a:xfrm>
            <a:off x="6080760" y="1234440"/>
            <a:ext cx="73152" cy="1097280"/>
          </a:xfrm>
          <a:prstGeom prst="rect">
            <a:avLst/>
          </a:prstGeom>
          <a:solidFill>
            <a:srgbClr val="0078D4"/>
          </a:solidFill>
          <a:ln w="12700">
            <a:solidFill>
              <a:srgbClr val="0078D4"/>
            </a:solidFill>
            <a:prstDash val="solid"/>
          </a:ln>
        </p:spPr>
      </p:sp>
      <p:sp>
        <p:nvSpPr>
          <p:cNvPr id="15" name="Shape 13"/>
          <p:cNvSpPr/>
          <p:nvPr/>
        </p:nvSpPr>
        <p:spPr>
          <a:xfrm>
            <a:off x="6245352" y="1389888"/>
            <a:ext cx="393192" cy="393192"/>
          </a:xfrm>
          <a:prstGeom prst="ellipse">
            <a:avLst/>
          </a:prstGeom>
          <a:solidFill>
            <a:srgbClr val="0078D4"/>
          </a:solidFill>
          <a:ln w="12700">
            <a:solidFill>
              <a:srgbClr val="0078D4"/>
            </a:solidFill>
            <a:prstDash val="solid"/>
          </a:ln>
        </p:spPr>
      </p:sp>
      <p:sp>
        <p:nvSpPr>
          <p:cNvPr id="16" name="Text 14"/>
          <p:cNvSpPr/>
          <p:nvPr/>
        </p:nvSpPr>
        <p:spPr>
          <a:xfrm>
            <a:off x="6245352" y="1449324"/>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2</a:t>
            </a:r>
            <a:endParaRPr lang="en-US" sz="800" dirty="0"/>
          </a:p>
        </p:txBody>
      </p:sp>
      <p:sp>
        <p:nvSpPr>
          <p:cNvPr id="17" name="Text 15"/>
          <p:cNvSpPr/>
          <p:nvPr/>
        </p:nvSpPr>
        <p:spPr>
          <a:xfrm>
            <a:off x="6739128" y="1362456"/>
            <a:ext cx="374904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Policy before spend</a:t>
            </a:r>
            <a:endParaRPr lang="en-US" sz="1250" dirty="0"/>
          </a:p>
        </p:txBody>
      </p:sp>
      <p:sp>
        <p:nvSpPr>
          <p:cNvPr id="18" name="Text 16"/>
          <p:cNvSpPr/>
          <p:nvPr/>
        </p:nvSpPr>
        <p:spPr>
          <a:xfrm>
            <a:off x="6739128" y="1691640"/>
            <a:ext cx="3749040" cy="548640"/>
          </a:xfrm>
          <a:prstGeom prst="rect">
            <a:avLst/>
          </a:prstGeom>
          <a:noFill/>
          <a:ln/>
        </p:spPr>
        <p:txBody>
          <a:bodyPr wrap="square" lIns="635" tIns="635" rIns="635" bIns="635" rtlCol="0" anchor="ctr">
            <a:normAutofit/>
          </a:bodyPr>
          <a:lstStyle/>
          <a:p>
            <a:pPr marL="0" indent="0">
              <a:buNone/>
            </a:pPr>
            <a:r>
              <a:rPr lang="en-US" sz="1020" dirty="0">
                <a:solidFill>
                  <a:srgbClr val="3B4A5E"/>
                </a:solidFill>
                <a:latin typeface="Segoe UI" pitchFamily="34" charset="0"/>
                <a:ea typeface="Segoe UI" pitchFamily="34" charset="-122"/>
                <a:cs typeface="Segoe UI" pitchFamily="34" charset="-120"/>
              </a:rPr>
              <a:t>Token budgets, safety and resiliency act before the backend call.</a:t>
            </a:r>
            <a:endParaRPr lang="en-US" sz="1020" dirty="0"/>
          </a:p>
        </p:txBody>
      </p:sp>
      <p:sp>
        <p:nvSpPr>
          <p:cNvPr id="19" name="Shape 17"/>
          <p:cNvSpPr/>
          <p:nvPr/>
        </p:nvSpPr>
        <p:spPr>
          <a:xfrm>
            <a:off x="914400" y="2926080"/>
            <a:ext cx="4572000" cy="1097280"/>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20" name="Shape 18"/>
          <p:cNvSpPr/>
          <p:nvPr/>
        </p:nvSpPr>
        <p:spPr>
          <a:xfrm>
            <a:off x="914400" y="2926080"/>
            <a:ext cx="73152" cy="1097280"/>
          </a:xfrm>
          <a:prstGeom prst="rect">
            <a:avLst/>
          </a:prstGeom>
          <a:solidFill>
            <a:srgbClr val="FFB900"/>
          </a:solidFill>
          <a:ln w="12700">
            <a:solidFill>
              <a:srgbClr val="FFB900"/>
            </a:solidFill>
            <a:prstDash val="solid"/>
          </a:ln>
        </p:spPr>
      </p:sp>
      <p:sp>
        <p:nvSpPr>
          <p:cNvPr id="21" name="Shape 19"/>
          <p:cNvSpPr/>
          <p:nvPr/>
        </p:nvSpPr>
        <p:spPr>
          <a:xfrm>
            <a:off x="1078992" y="3081528"/>
            <a:ext cx="393192" cy="393192"/>
          </a:xfrm>
          <a:prstGeom prst="ellipse">
            <a:avLst/>
          </a:prstGeom>
          <a:solidFill>
            <a:srgbClr val="FFB900"/>
          </a:solidFill>
          <a:ln w="12700">
            <a:solidFill>
              <a:srgbClr val="FFB900"/>
            </a:solidFill>
            <a:prstDash val="solid"/>
          </a:ln>
        </p:spPr>
      </p:sp>
      <p:sp>
        <p:nvSpPr>
          <p:cNvPr id="22" name="Text 20"/>
          <p:cNvSpPr/>
          <p:nvPr/>
        </p:nvSpPr>
        <p:spPr>
          <a:xfrm>
            <a:off x="1078992" y="3140964"/>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3</a:t>
            </a:r>
            <a:endParaRPr lang="en-US" sz="800" dirty="0"/>
          </a:p>
        </p:txBody>
      </p:sp>
      <p:sp>
        <p:nvSpPr>
          <p:cNvPr id="23" name="Text 21"/>
          <p:cNvSpPr/>
          <p:nvPr/>
        </p:nvSpPr>
        <p:spPr>
          <a:xfrm>
            <a:off x="1572768" y="3054096"/>
            <a:ext cx="374904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Evidence matters</a:t>
            </a:r>
            <a:endParaRPr lang="en-US" sz="1250" dirty="0"/>
          </a:p>
        </p:txBody>
      </p:sp>
      <p:sp>
        <p:nvSpPr>
          <p:cNvPr id="24" name="Text 22"/>
          <p:cNvSpPr/>
          <p:nvPr/>
        </p:nvSpPr>
        <p:spPr>
          <a:xfrm>
            <a:off x="1572768" y="3383280"/>
            <a:ext cx="3749040" cy="548640"/>
          </a:xfrm>
          <a:prstGeom prst="rect">
            <a:avLst/>
          </a:prstGeom>
          <a:noFill/>
          <a:ln/>
        </p:spPr>
        <p:txBody>
          <a:bodyPr wrap="square" lIns="635" tIns="635" rIns="635" bIns="635" rtlCol="0" anchor="ctr">
            <a:normAutofit/>
          </a:bodyPr>
          <a:lstStyle/>
          <a:p>
            <a:pPr marL="0" indent="0">
              <a:buNone/>
            </a:pPr>
            <a:r>
              <a:rPr lang="en-US" sz="1020" dirty="0">
                <a:solidFill>
                  <a:srgbClr val="3B4A5E"/>
                </a:solidFill>
                <a:latin typeface="Segoe UI" pitchFamily="34" charset="0"/>
                <a:ea typeface="Segoe UI" pitchFamily="34" charset="-122"/>
                <a:cs typeface="Segoe UI" pitchFamily="34" charset="-120"/>
              </a:rPr>
              <a:t>Token metrics and LLM logs turn AI operations into measurable platform work.</a:t>
            </a:r>
            <a:endParaRPr lang="en-US" sz="1020" dirty="0"/>
          </a:p>
        </p:txBody>
      </p:sp>
      <p:sp>
        <p:nvSpPr>
          <p:cNvPr id="25" name="Shape 23"/>
          <p:cNvSpPr/>
          <p:nvPr/>
        </p:nvSpPr>
        <p:spPr>
          <a:xfrm>
            <a:off x="6080760" y="2926080"/>
            <a:ext cx="4572000" cy="1097280"/>
          </a:xfrm>
          <a:prstGeom prst="rect">
            <a:avLst/>
          </a:prstGeom>
          <a:solidFill>
            <a:srgbClr val="FFFFFF"/>
          </a:solidFill>
          <a:ln w="10160">
            <a:solidFill>
              <a:srgbClr val="D8E2EC"/>
            </a:solidFill>
            <a:prstDash val="solid"/>
          </a:ln>
          <a:effectLst>
            <a:outerShdw blurRad="38100" dist="12700" dir="2700000" algn="bl" rotWithShape="0">
              <a:srgbClr val="000000">
                <a:alpha val="8000"/>
              </a:srgbClr>
            </a:outerShdw>
          </a:effectLst>
        </p:spPr>
      </p:sp>
      <p:sp>
        <p:nvSpPr>
          <p:cNvPr id="26" name="Shape 24"/>
          <p:cNvSpPr/>
          <p:nvPr/>
        </p:nvSpPr>
        <p:spPr>
          <a:xfrm>
            <a:off x="6080760" y="2926080"/>
            <a:ext cx="73152" cy="1097280"/>
          </a:xfrm>
          <a:prstGeom prst="rect">
            <a:avLst/>
          </a:prstGeom>
          <a:solidFill>
            <a:srgbClr val="00B7C3"/>
          </a:solidFill>
          <a:ln w="12700">
            <a:solidFill>
              <a:srgbClr val="00B7C3"/>
            </a:solidFill>
            <a:prstDash val="solid"/>
          </a:ln>
        </p:spPr>
      </p:sp>
      <p:sp>
        <p:nvSpPr>
          <p:cNvPr id="27" name="Shape 25"/>
          <p:cNvSpPr/>
          <p:nvPr/>
        </p:nvSpPr>
        <p:spPr>
          <a:xfrm>
            <a:off x="6245352" y="3081528"/>
            <a:ext cx="393192" cy="393192"/>
          </a:xfrm>
          <a:prstGeom prst="ellipse">
            <a:avLst/>
          </a:prstGeom>
          <a:solidFill>
            <a:srgbClr val="00B7C3"/>
          </a:solidFill>
          <a:ln w="12700">
            <a:solidFill>
              <a:srgbClr val="00B7C3"/>
            </a:solidFill>
            <a:prstDash val="solid"/>
          </a:ln>
        </p:spPr>
      </p:sp>
      <p:sp>
        <p:nvSpPr>
          <p:cNvPr id="28" name="Text 26"/>
          <p:cNvSpPr/>
          <p:nvPr/>
        </p:nvSpPr>
        <p:spPr>
          <a:xfrm>
            <a:off x="6245352" y="3140964"/>
            <a:ext cx="393192" cy="146304"/>
          </a:xfrm>
          <a:prstGeom prst="rect">
            <a:avLst/>
          </a:prstGeom>
          <a:noFill/>
          <a:ln/>
        </p:spPr>
        <p:txBody>
          <a:bodyPr wrap="square" lIns="0" tIns="0" rIns="0" bIns="0" rtlCol="0" anchor="ctr"/>
          <a:lstStyle/>
          <a:p>
            <a:pPr marL="0" indent="0" algn="ctr">
              <a:buNone/>
            </a:pPr>
            <a:r>
              <a:rPr lang="en-US" sz="800" dirty="0">
                <a:solidFill>
                  <a:srgbClr val="FFFFFF"/>
                </a:solidFill>
                <a:latin typeface="Segoe UI Semibold" pitchFamily="34" charset="0"/>
                <a:ea typeface="Segoe UI Semibold" pitchFamily="34" charset="-122"/>
                <a:cs typeface="Segoe UI Semibold" pitchFamily="34" charset="-120"/>
              </a:rPr>
              <a:t>4</a:t>
            </a:r>
            <a:endParaRPr lang="en-US" sz="800" dirty="0"/>
          </a:p>
        </p:txBody>
      </p:sp>
      <p:sp>
        <p:nvSpPr>
          <p:cNvPr id="29" name="Text 27"/>
          <p:cNvSpPr/>
          <p:nvPr/>
        </p:nvSpPr>
        <p:spPr>
          <a:xfrm>
            <a:off x="6739128" y="3054096"/>
            <a:ext cx="3749040" cy="256032"/>
          </a:xfrm>
          <a:prstGeom prst="rect">
            <a:avLst/>
          </a:prstGeom>
          <a:noFill/>
          <a:ln/>
        </p:spPr>
        <p:txBody>
          <a:bodyPr wrap="square" lIns="0" tIns="0" rIns="0" bIns="0" rtlCol="0" anchor="ctr">
            <a:normAutofit/>
          </a:bodyPr>
          <a:lstStyle/>
          <a:p>
            <a:pPr marL="0" indent="0">
              <a:buNone/>
            </a:pPr>
            <a:r>
              <a:rPr lang="en-US" sz="1250" dirty="0">
                <a:solidFill>
                  <a:srgbClr val="0B1E3F"/>
                </a:solidFill>
                <a:latin typeface="Segoe UI Semibold" pitchFamily="34" charset="0"/>
                <a:ea typeface="Segoe UI Semibold" pitchFamily="34" charset="-122"/>
                <a:cs typeface="Segoe UI Semibold" pitchFamily="34" charset="-120"/>
              </a:rPr>
              <a:t>Start small</a:t>
            </a:r>
            <a:endParaRPr lang="en-US" sz="1250" dirty="0"/>
          </a:p>
        </p:txBody>
      </p:sp>
      <p:sp>
        <p:nvSpPr>
          <p:cNvPr id="30" name="Text 28"/>
          <p:cNvSpPr/>
          <p:nvPr/>
        </p:nvSpPr>
        <p:spPr>
          <a:xfrm>
            <a:off x="6739128" y="3383280"/>
            <a:ext cx="3749040" cy="548640"/>
          </a:xfrm>
          <a:prstGeom prst="rect">
            <a:avLst/>
          </a:prstGeom>
          <a:noFill/>
          <a:ln/>
        </p:spPr>
        <p:txBody>
          <a:bodyPr wrap="square" lIns="635" tIns="635" rIns="635" bIns="635" rtlCol="0" anchor="ctr">
            <a:normAutofit/>
          </a:bodyPr>
          <a:lstStyle/>
          <a:p>
            <a:pPr marL="0" indent="0">
              <a:buNone/>
            </a:pPr>
            <a:r>
              <a:rPr lang="en-US" sz="1020" dirty="0">
                <a:solidFill>
                  <a:srgbClr val="3B4A5E"/>
                </a:solidFill>
                <a:latin typeface="Segoe UI" pitchFamily="34" charset="0"/>
                <a:ea typeface="Segoe UI" pitchFamily="34" charset="-122"/>
                <a:cs typeface="Segoe UI" pitchFamily="34" charset="-120"/>
              </a:rPr>
              <a:t>Basic v2 is enough for this full demo; scale up when isolation and capacity require it.</a:t>
            </a:r>
            <a:endParaRPr lang="en-US" sz="1020" dirty="0"/>
          </a:p>
        </p:txBody>
      </p:sp>
      <p:sp>
        <p:nvSpPr>
          <p:cNvPr id="31" name="Shape 29"/>
          <p:cNvSpPr/>
          <p:nvPr/>
        </p:nvSpPr>
        <p:spPr>
          <a:xfrm>
            <a:off x="5102352" y="4846320"/>
            <a:ext cx="1920240" cy="914400"/>
          </a:xfrm>
          <a:prstGeom prst="arc">
            <a:avLst/>
          </a:prstGeom>
          <a:solidFill>
            <a:srgbClr val="F5F7FA">
              <a:alpha val="0"/>
            </a:srgbClr>
          </a:solidFill>
          <a:ln w="63500">
            <a:solidFill>
              <a:srgbClr val="00B7C3">
                <a:alpha val="80000"/>
              </a:srgbClr>
            </a:solidFill>
            <a:prstDash val="solid"/>
          </a:ln>
        </p:spPr>
      </p:sp>
      <p:sp>
        <p:nvSpPr>
          <p:cNvPr id="32" name="Text 30"/>
          <p:cNvSpPr/>
          <p:nvPr/>
        </p:nvSpPr>
        <p:spPr>
          <a:xfrm>
            <a:off x="2194560" y="5266944"/>
            <a:ext cx="7863840" cy="320040"/>
          </a:xfrm>
          <a:prstGeom prst="rect">
            <a:avLst/>
          </a:prstGeom>
          <a:noFill/>
          <a:ln/>
        </p:spPr>
        <p:txBody>
          <a:bodyPr wrap="square" lIns="0" tIns="0" rIns="0" bIns="0" rtlCol="0" anchor="ctr"/>
          <a:lstStyle/>
          <a:p>
            <a:pPr marL="0" indent="0" algn="ctr">
              <a:buNone/>
            </a:pPr>
            <a:r>
              <a:rPr lang="en-US" sz="1800" dirty="0">
                <a:solidFill>
                  <a:srgbClr val="0B1E3F"/>
                </a:solidFill>
                <a:latin typeface="Segoe UI Semibold" pitchFamily="34" charset="0"/>
                <a:ea typeface="Segoe UI Semibold" pitchFamily="34" charset="-122"/>
                <a:cs typeface="Segoe UI Semibold" pitchFamily="34" charset="-120"/>
              </a:rPr>
              <a:t>Make the gateway the default way to call AI.</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1E3F"/>
        </a:solidFill>
        <a:effectLst/>
      </p:bgPr>
    </p:bg>
    <p:spTree>
      <p:nvGrpSpPr>
        <p:cNvPr id="1" name=""/>
        <p:cNvGrpSpPr/>
        <p:nvPr/>
      </p:nvGrpSpPr>
      <p:grpSpPr>
        <a:xfrm>
          <a:off x="0" y="0"/>
          <a:ext cx="0" cy="0"/>
          <a:chOff x="0" y="0"/>
          <a:chExt cx="0" cy="0"/>
        </a:xfrm>
      </p:grpSpPr>
      <p:sp>
        <p:nvSpPr>
          <p:cNvPr id="2" name="Shape 0"/>
          <p:cNvSpPr/>
          <p:nvPr/>
        </p:nvSpPr>
        <p:spPr>
          <a:xfrm>
            <a:off x="8321040" y="1307592"/>
            <a:ext cx="164592" cy="4617720"/>
          </a:xfrm>
          <a:prstGeom prst="rect">
            <a:avLst/>
          </a:prstGeom>
          <a:solidFill>
            <a:srgbClr val="00B7C3">
              <a:alpha val="90000"/>
            </a:srgbClr>
          </a:solidFill>
          <a:ln w="12700">
            <a:solidFill>
              <a:srgbClr val="00B7C3">
                <a:alpha val="90000"/>
              </a:srgbClr>
            </a:solidFill>
            <a:prstDash val="solid"/>
          </a:ln>
        </p:spPr>
      </p:sp>
      <p:sp>
        <p:nvSpPr>
          <p:cNvPr id="3" name="Shape 1"/>
          <p:cNvSpPr/>
          <p:nvPr/>
        </p:nvSpPr>
        <p:spPr>
          <a:xfrm>
            <a:off x="10671048" y="1307592"/>
            <a:ext cx="164592" cy="4617720"/>
          </a:xfrm>
          <a:prstGeom prst="rect">
            <a:avLst/>
          </a:prstGeom>
          <a:solidFill>
            <a:srgbClr val="00B7C3">
              <a:alpha val="90000"/>
            </a:srgbClr>
          </a:solidFill>
          <a:ln w="12700">
            <a:solidFill>
              <a:srgbClr val="00B7C3">
                <a:alpha val="90000"/>
              </a:srgbClr>
            </a:solidFill>
            <a:prstDash val="solid"/>
          </a:ln>
        </p:spPr>
      </p:sp>
      <p:sp>
        <p:nvSpPr>
          <p:cNvPr id="4" name="Shape 2"/>
          <p:cNvSpPr/>
          <p:nvPr/>
        </p:nvSpPr>
        <p:spPr>
          <a:xfrm>
            <a:off x="8330184" y="713232"/>
            <a:ext cx="2496312" cy="1234440"/>
          </a:xfrm>
          <a:prstGeom prst="arc">
            <a:avLst/>
          </a:prstGeom>
          <a:solidFill>
            <a:srgbClr val="00B7C3">
              <a:alpha val="0"/>
            </a:srgbClr>
          </a:solidFill>
          <a:ln w="88900">
            <a:solidFill>
              <a:srgbClr val="00B7C3">
                <a:alpha val="90000"/>
              </a:srgbClr>
            </a:solidFill>
            <a:prstDash val="solid"/>
          </a:ln>
        </p:spPr>
      </p:sp>
      <p:sp>
        <p:nvSpPr>
          <p:cNvPr id="5" name="Text 3"/>
          <p:cNvSpPr/>
          <p:nvPr/>
        </p:nvSpPr>
        <p:spPr>
          <a:xfrm>
            <a:off x="685800" y="868680"/>
            <a:ext cx="5303520" cy="457200"/>
          </a:xfrm>
          <a:prstGeom prst="rect">
            <a:avLst/>
          </a:prstGeom>
          <a:noFill/>
          <a:ln/>
        </p:spPr>
        <p:txBody>
          <a:bodyPr wrap="square" lIns="0" tIns="0" rIns="0" bIns="0" rtlCol="0" anchor="ctr"/>
          <a:lstStyle/>
          <a:p>
            <a:pPr marL="0" indent="0">
              <a:buNone/>
            </a:pPr>
            <a:r>
              <a:rPr lang="en-US" sz="3500" dirty="0">
                <a:solidFill>
                  <a:srgbClr val="FFFFFF"/>
                </a:solidFill>
                <a:latin typeface="Segoe UI Semibold" pitchFamily="34" charset="0"/>
                <a:ea typeface="Segoe UI Semibold" pitchFamily="34" charset="-122"/>
                <a:cs typeface="Segoe UI Semibold" pitchFamily="34" charset="-120"/>
              </a:rPr>
              <a:t>Call to action</a:t>
            </a:r>
            <a:endParaRPr lang="en-US" sz="3500" dirty="0"/>
          </a:p>
        </p:txBody>
      </p:sp>
      <p:sp>
        <p:nvSpPr>
          <p:cNvPr id="6" name="Shape 4"/>
          <p:cNvSpPr/>
          <p:nvPr/>
        </p:nvSpPr>
        <p:spPr>
          <a:xfrm>
            <a:off x="749808" y="1783080"/>
            <a:ext cx="6537960" cy="685800"/>
          </a:xfrm>
          <a:prstGeom prst="rect">
            <a:avLst/>
          </a:prstGeom>
          <a:solidFill>
            <a:srgbClr val="102A52"/>
          </a:solidFill>
          <a:ln w="7620">
            <a:solidFill>
              <a:srgbClr val="25466F"/>
            </a:solidFill>
            <a:prstDash val="solid"/>
          </a:ln>
        </p:spPr>
      </p:sp>
      <p:sp>
        <p:nvSpPr>
          <p:cNvPr id="7" name="Shape 5"/>
          <p:cNvSpPr/>
          <p:nvPr/>
        </p:nvSpPr>
        <p:spPr>
          <a:xfrm>
            <a:off x="749808" y="1783080"/>
            <a:ext cx="73152" cy="685800"/>
          </a:xfrm>
          <a:prstGeom prst="rect">
            <a:avLst/>
          </a:prstGeom>
          <a:solidFill>
            <a:srgbClr val="00B7C3"/>
          </a:solidFill>
          <a:ln w="12700">
            <a:solidFill>
              <a:srgbClr val="00B7C3"/>
            </a:solidFill>
            <a:prstDash val="solid"/>
          </a:ln>
        </p:spPr>
      </p:sp>
      <p:sp>
        <p:nvSpPr>
          <p:cNvPr id="8" name="Text 6"/>
          <p:cNvSpPr/>
          <p:nvPr/>
        </p:nvSpPr>
        <p:spPr>
          <a:xfrm>
            <a:off x="978408" y="1938528"/>
            <a:ext cx="822960" cy="137160"/>
          </a:xfrm>
          <a:prstGeom prst="rect">
            <a:avLst/>
          </a:prstGeom>
          <a:noFill/>
          <a:ln/>
        </p:spPr>
        <p:txBody>
          <a:bodyPr wrap="square" lIns="0" tIns="0" rIns="0" bIns="0" rtlCol="0" anchor="ctr"/>
          <a:lstStyle/>
          <a:p>
            <a:pPr marL="0" indent="0">
              <a:buNone/>
            </a:pPr>
            <a:r>
              <a:rPr lang="en-US" sz="1020" dirty="0">
                <a:solidFill>
                  <a:srgbClr val="00B7C3"/>
                </a:solidFill>
                <a:latin typeface="Segoe UI Semibold" pitchFamily="34" charset="0"/>
                <a:ea typeface="Segoe UI Semibold" pitchFamily="34" charset="-122"/>
                <a:cs typeface="Segoe UI Semibold" pitchFamily="34" charset="-120"/>
              </a:rPr>
              <a:t>Build</a:t>
            </a:r>
            <a:endParaRPr lang="en-US" sz="1020" dirty="0"/>
          </a:p>
        </p:txBody>
      </p:sp>
      <p:sp>
        <p:nvSpPr>
          <p:cNvPr id="9" name="Text 7"/>
          <p:cNvSpPr/>
          <p:nvPr/>
        </p:nvSpPr>
        <p:spPr>
          <a:xfrm>
            <a:off x="1892808" y="1938528"/>
            <a:ext cx="5212080" cy="201168"/>
          </a:xfrm>
          <a:prstGeom prst="rect">
            <a:avLst/>
          </a:prstGeom>
          <a:noFill/>
          <a:ln/>
        </p:spPr>
        <p:txBody>
          <a:bodyPr wrap="square" lIns="0" tIns="0" rIns="0" bIns="0" rtlCol="0" anchor="ctr">
            <a:normAutofit/>
          </a:bodyPr>
          <a:lstStyle/>
          <a:p>
            <a:pPr marL="0" indent="0">
              <a:buNone/>
            </a:pPr>
            <a:r>
              <a:rPr lang="en-US" sz="1020" dirty="0">
                <a:solidFill>
                  <a:srgbClr val="FFFFFF"/>
                </a:solidFill>
                <a:latin typeface="Segoe UI" pitchFamily="34" charset="0"/>
                <a:ea typeface="Segoe UI" pitchFamily="34" charset="-122"/>
                <a:cs typeface="Segoe UI" pitchFamily="34" charset="-120"/>
              </a:rPr>
              <a:t>aka.ms/ai-gateway</a:t>
            </a:r>
            <a:endParaRPr lang="en-US" sz="1020" dirty="0"/>
          </a:p>
          <a:p>
            <a:pPr marL="0" indent="0">
              <a:buNone/>
            </a:pPr>
            <a:r>
              <a:rPr lang="en-US" sz="1020" dirty="0">
                <a:solidFill>
                  <a:srgbClr val="FFFFFF"/>
                </a:solidFill>
                <a:latin typeface="Segoe UI" pitchFamily="34" charset="0"/>
                <a:ea typeface="Segoe UI" pitchFamily="34" charset="-122"/>
                <a:cs typeface="Segoe UI" pitchFamily="34" charset="-120"/>
              </a:rPr>
              <a:t>or github.com/Azure-Samples/AI-Gateway</a:t>
            </a:r>
            <a:endParaRPr lang="en-US" sz="1020" dirty="0"/>
          </a:p>
        </p:txBody>
      </p:sp>
      <p:sp>
        <p:nvSpPr>
          <p:cNvPr id="10" name="Shape 8"/>
          <p:cNvSpPr/>
          <p:nvPr/>
        </p:nvSpPr>
        <p:spPr>
          <a:xfrm>
            <a:off x="749808" y="2770632"/>
            <a:ext cx="6537960" cy="685800"/>
          </a:xfrm>
          <a:prstGeom prst="rect">
            <a:avLst/>
          </a:prstGeom>
          <a:solidFill>
            <a:srgbClr val="102A52"/>
          </a:solidFill>
          <a:ln w="7620">
            <a:solidFill>
              <a:srgbClr val="25466F"/>
            </a:solidFill>
            <a:prstDash val="solid"/>
          </a:ln>
        </p:spPr>
      </p:sp>
      <p:sp>
        <p:nvSpPr>
          <p:cNvPr id="11" name="Shape 9"/>
          <p:cNvSpPr/>
          <p:nvPr/>
        </p:nvSpPr>
        <p:spPr>
          <a:xfrm>
            <a:off x="749808" y="2770632"/>
            <a:ext cx="73152" cy="685800"/>
          </a:xfrm>
          <a:prstGeom prst="rect">
            <a:avLst/>
          </a:prstGeom>
          <a:solidFill>
            <a:srgbClr val="0078D4"/>
          </a:solidFill>
          <a:ln w="12700">
            <a:solidFill>
              <a:srgbClr val="0078D4"/>
            </a:solidFill>
            <a:prstDash val="solid"/>
          </a:ln>
        </p:spPr>
      </p:sp>
      <p:sp>
        <p:nvSpPr>
          <p:cNvPr id="12" name="Text 10"/>
          <p:cNvSpPr/>
          <p:nvPr/>
        </p:nvSpPr>
        <p:spPr>
          <a:xfrm>
            <a:off x="978408" y="2926080"/>
            <a:ext cx="822960" cy="137160"/>
          </a:xfrm>
          <a:prstGeom prst="rect">
            <a:avLst/>
          </a:prstGeom>
          <a:noFill/>
          <a:ln/>
        </p:spPr>
        <p:txBody>
          <a:bodyPr wrap="square" lIns="0" tIns="0" rIns="0" bIns="0" rtlCol="0" anchor="ctr"/>
          <a:lstStyle/>
          <a:p>
            <a:pPr marL="0" indent="0">
              <a:buNone/>
            </a:pPr>
            <a:r>
              <a:rPr lang="en-US" sz="1020" dirty="0">
                <a:solidFill>
                  <a:srgbClr val="0078D4"/>
                </a:solidFill>
                <a:latin typeface="Segoe UI Semibold" pitchFamily="34" charset="0"/>
                <a:ea typeface="Segoe UI Semibold" pitchFamily="34" charset="-122"/>
                <a:cs typeface="Segoe UI Semibold" pitchFamily="34" charset="-120"/>
              </a:rPr>
              <a:t>Learn</a:t>
            </a:r>
            <a:endParaRPr lang="en-US" sz="1020" dirty="0"/>
          </a:p>
        </p:txBody>
      </p:sp>
      <p:sp>
        <p:nvSpPr>
          <p:cNvPr id="13" name="Text 11"/>
          <p:cNvSpPr/>
          <p:nvPr/>
        </p:nvSpPr>
        <p:spPr>
          <a:xfrm>
            <a:off x="1892808" y="2926080"/>
            <a:ext cx="5212080" cy="201168"/>
          </a:xfrm>
          <a:prstGeom prst="rect">
            <a:avLst/>
          </a:prstGeom>
          <a:noFill/>
          <a:ln/>
        </p:spPr>
        <p:txBody>
          <a:bodyPr wrap="square" lIns="0" tIns="0" rIns="0" bIns="0" rtlCol="0" anchor="ctr">
            <a:normAutofit/>
          </a:bodyPr>
          <a:lstStyle/>
          <a:p>
            <a:pPr marL="0" indent="0">
              <a:buNone/>
            </a:pPr>
            <a:r>
              <a:rPr lang="en-US" sz="1020" dirty="0">
                <a:solidFill>
                  <a:srgbClr val="FFFFFF"/>
                </a:solidFill>
                <a:latin typeface="Segoe UI" pitchFamily="34" charset="0"/>
                <a:ea typeface="Segoe UI" pitchFamily="34" charset="-122"/>
                <a:cs typeface="Segoe UI" pitchFamily="34" charset="-120"/>
              </a:rPr>
              <a:t>learn.microsoft.com/azure/api-management/genai-gateway-capabilities</a:t>
            </a:r>
            <a:endParaRPr lang="en-US" sz="1020" dirty="0"/>
          </a:p>
        </p:txBody>
      </p:sp>
      <p:sp>
        <p:nvSpPr>
          <p:cNvPr id="14" name="Shape 12"/>
          <p:cNvSpPr/>
          <p:nvPr/>
        </p:nvSpPr>
        <p:spPr>
          <a:xfrm>
            <a:off x="749808" y="3758184"/>
            <a:ext cx="6537960" cy="685800"/>
          </a:xfrm>
          <a:prstGeom prst="rect">
            <a:avLst/>
          </a:prstGeom>
          <a:solidFill>
            <a:srgbClr val="102A52"/>
          </a:solidFill>
          <a:ln w="7620">
            <a:solidFill>
              <a:srgbClr val="25466F"/>
            </a:solidFill>
            <a:prstDash val="solid"/>
          </a:ln>
        </p:spPr>
      </p:sp>
      <p:sp>
        <p:nvSpPr>
          <p:cNvPr id="15" name="Shape 13"/>
          <p:cNvSpPr/>
          <p:nvPr/>
        </p:nvSpPr>
        <p:spPr>
          <a:xfrm>
            <a:off x="749808" y="3758184"/>
            <a:ext cx="73152" cy="685800"/>
          </a:xfrm>
          <a:prstGeom prst="rect">
            <a:avLst/>
          </a:prstGeom>
          <a:solidFill>
            <a:srgbClr val="FFB900"/>
          </a:solidFill>
          <a:ln w="12700">
            <a:solidFill>
              <a:srgbClr val="FFB900"/>
            </a:solidFill>
            <a:prstDash val="solid"/>
          </a:ln>
        </p:spPr>
      </p:sp>
      <p:sp>
        <p:nvSpPr>
          <p:cNvPr id="16" name="Text 14"/>
          <p:cNvSpPr/>
          <p:nvPr/>
        </p:nvSpPr>
        <p:spPr>
          <a:xfrm>
            <a:off x="978408" y="3913632"/>
            <a:ext cx="822960" cy="137160"/>
          </a:xfrm>
          <a:prstGeom prst="rect">
            <a:avLst/>
          </a:prstGeom>
          <a:noFill/>
          <a:ln/>
        </p:spPr>
        <p:txBody>
          <a:bodyPr wrap="square" lIns="0" tIns="0" rIns="0" bIns="0" rtlCol="0" anchor="ctr"/>
          <a:lstStyle/>
          <a:p>
            <a:pPr marL="0" indent="0">
              <a:buNone/>
            </a:pPr>
            <a:r>
              <a:rPr lang="en-US" sz="1020" dirty="0">
                <a:solidFill>
                  <a:srgbClr val="FFB900"/>
                </a:solidFill>
                <a:latin typeface="Segoe UI Semibold" pitchFamily="34" charset="0"/>
                <a:ea typeface="Segoe UI Semibold" pitchFamily="34" charset="-122"/>
                <a:cs typeface="Segoe UI Semibold" pitchFamily="34" charset="-120"/>
              </a:rPr>
              <a:t>Explore</a:t>
            </a:r>
            <a:endParaRPr lang="en-US" sz="1020" dirty="0"/>
          </a:p>
        </p:txBody>
      </p:sp>
      <p:sp>
        <p:nvSpPr>
          <p:cNvPr id="17" name="Text 15"/>
          <p:cNvSpPr/>
          <p:nvPr/>
        </p:nvSpPr>
        <p:spPr>
          <a:xfrm>
            <a:off x="1892808" y="3913632"/>
            <a:ext cx="5212080" cy="201168"/>
          </a:xfrm>
          <a:prstGeom prst="rect">
            <a:avLst/>
          </a:prstGeom>
          <a:noFill/>
          <a:ln/>
        </p:spPr>
        <p:txBody>
          <a:bodyPr wrap="square" lIns="0" tIns="0" rIns="0" bIns="0" rtlCol="0" anchor="ctr">
            <a:normAutofit/>
          </a:bodyPr>
          <a:lstStyle/>
          <a:p>
            <a:pPr marL="0" indent="0">
              <a:buNone/>
            </a:pPr>
            <a:r>
              <a:rPr lang="en-US" sz="1020" dirty="0">
                <a:solidFill>
                  <a:srgbClr val="FFFFFF"/>
                </a:solidFill>
                <a:latin typeface="Segoe UI" pitchFamily="34" charset="0"/>
                <a:ea typeface="Segoe UI" pitchFamily="34" charset="-122"/>
                <a:cs typeface="Segoe UI" pitchFamily="34" charset="-120"/>
              </a:rPr>
              <a:t>azure.github.io/api-management-resources</a:t>
            </a:r>
            <a:endParaRPr lang="en-US" sz="1020" dirty="0"/>
          </a:p>
        </p:txBody>
      </p:sp>
      <p:sp>
        <p:nvSpPr>
          <p:cNvPr id="18" name="Shape 16"/>
          <p:cNvSpPr/>
          <p:nvPr/>
        </p:nvSpPr>
        <p:spPr>
          <a:xfrm>
            <a:off x="7818120" y="1920240"/>
            <a:ext cx="2148840" cy="2148840"/>
          </a:xfrm>
          <a:prstGeom prst="roundRect">
            <a:avLst>
              <a:gd name="adj" fmla="val 5106"/>
            </a:avLst>
          </a:prstGeom>
          <a:solidFill>
            <a:srgbClr val="00B7C3"/>
          </a:solidFill>
          <a:ln w="12700">
            <a:solidFill>
              <a:srgbClr val="00B7C3"/>
            </a:solidFill>
            <a:prstDash val="solid"/>
          </a:ln>
        </p:spPr>
      </p:sp>
      <p:sp>
        <p:nvSpPr>
          <p:cNvPr id="19" name="Text 17"/>
          <p:cNvSpPr/>
          <p:nvPr/>
        </p:nvSpPr>
        <p:spPr>
          <a:xfrm>
            <a:off x="7909560" y="2697480"/>
            <a:ext cx="1965960" cy="329184"/>
          </a:xfrm>
          <a:prstGeom prst="rect">
            <a:avLst/>
          </a:prstGeom>
          <a:noFill/>
          <a:ln/>
        </p:spPr>
        <p:txBody>
          <a:bodyPr wrap="square" lIns="0" tIns="0" rIns="0" bIns="0" rtlCol="0" anchor="ctr"/>
          <a:lstStyle/>
          <a:p>
            <a:pPr marL="0" indent="0" algn="ctr">
              <a:buNone/>
            </a:pPr>
            <a:r>
              <a:rPr lang="en-US" sz="3200" dirty="0">
                <a:solidFill>
                  <a:srgbClr val="0B1E3F"/>
                </a:solidFill>
                <a:latin typeface="Segoe UI Semibold" pitchFamily="34" charset="0"/>
                <a:ea typeface="Segoe UI Semibold" pitchFamily="34" charset="-122"/>
                <a:cs typeface="Segoe UI Semibold" pitchFamily="34" charset="-120"/>
              </a:rPr>
              <a:t>Q&amp;A</a:t>
            </a:r>
            <a:endParaRPr lang="en-US" sz="3200" dirty="0"/>
          </a:p>
        </p:txBody>
      </p:sp>
      <p:sp>
        <p:nvSpPr>
          <p:cNvPr id="20" name="Text 18"/>
          <p:cNvSpPr/>
          <p:nvPr/>
        </p:nvSpPr>
        <p:spPr>
          <a:xfrm>
            <a:off x="7086600" y="4617720"/>
            <a:ext cx="3657600" cy="228600"/>
          </a:xfrm>
          <a:prstGeom prst="rect">
            <a:avLst/>
          </a:prstGeom>
          <a:noFill/>
          <a:ln/>
        </p:spPr>
        <p:txBody>
          <a:bodyPr wrap="square" lIns="0" tIns="0" rIns="0" bIns="0" rtlCol="0" anchor="ctr"/>
          <a:lstStyle/>
          <a:p>
            <a:pPr marL="0" indent="0" algn="ctr">
              <a:buNone/>
            </a:pPr>
            <a:r>
              <a:rPr lang="en-US" sz="1400" dirty="0">
                <a:solidFill>
                  <a:srgbClr val="D7E7F6"/>
                </a:solidFill>
                <a:latin typeface="Segoe UI Semibold" pitchFamily="34" charset="0"/>
                <a:ea typeface="Segoe UI Semibold" pitchFamily="34" charset="-122"/>
                <a:cs typeface="Segoe UI Semibold" pitchFamily="34" charset="-120"/>
              </a:rPr>
              <a:t>What would you centralize first?</a:t>
            </a:r>
            <a:endParaRPr lang="en-US" sz="1400" dirty="0"/>
          </a:p>
        </p:txBody>
      </p:sp>
      <p:sp>
        <p:nvSpPr>
          <p:cNvPr id="21" name="Text 19"/>
          <p:cNvSpPr/>
          <p:nvPr/>
        </p:nvSpPr>
        <p:spPr>
          <a:xfrm>
            <a:off x="11292840" y="6355080"/>
            <a:ext cx="365760" cy="164592"/>
          </a:xfrm>
          <a:prstGeom prst="rect">
            <a:avLst/>
          </a:prstGeom>
          <a:noFill/>
          <a:ln/>
        </p:spPr>
        <p:txBody>
          <a:bodyPr wrap="square" lIns="0" tIns="0" rIns="0" bIns="0" rtlCol="0" anchor="ctr"/>
          <a:lstStyle/>
          <a:p>
            <a:pPr marL="0" indent="0" algn="r">
              <a:buNone/>
            </a:pPr>
            <a:r>
              <a:rPr lang="en-US" sz="800" dirty="0">
                <a:solidFill>
                  <a:srgbClr val="AFC3DA"/>
                </a:solidFill>
                <a:latin typeface="Segoe UI Semibold" pitchFamily="34" charset="0"/>
                <a:ea typeface="Segoe UI Semibold" pitchFamily="34" charset="-122"/>
                <a:cs typeface="Segoe UI Semibold" pitchFamily="34" charset="-120"/>
              </a:rPr>
              <a:t>33</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301752"/>
            <a:ext cx="3200400" cy="201168"/>
          </a:xfrm>
          <a:prstGeom prst="rect">
            <a:avLst/>
          </a:prstGeom>
          <a:noFill/>
          <a:ln/>
        </p:spPr>
        <p:txBody>
          <a:bodyPr wrap="square" lIns="0" tIns="0" rIns="0" bIns="0" rtlCol="0" anchor="ctr"/>
          <a:lstStyle/>
          <a:p>
            <a:pPr marL="0" indent="0">
              <a:buNone/>
            </a:pPr>
            <a:r>
              <a:rPr lang="en-US" sz="800" kern="0" spc="120" dirty="0">
                <a:solidFill>
                  <a:srgbClr val="00B7C3"/>
                </a:solidFill>
                <a:latin typeface="Segoe UI Semibold" pitchFamily="34" charset="0"/>
                <a:ea typeface="Segoe UI Semibold" pitchFamily="34" charset="-122"/>
                <a:cs typeface="Segoe UI Semibold" pitchFamily="34" charset="-120"/>
              </a:rPr>
              <a:t>CLOSE</a:t>
            </a:r>
            <a:endParaRPr lang="en-US" sz="800" dirty="0"/>
          </a:p>
        </p:txBody>
      </p:sp>
      <p:sp>
        <p:nvSpPr>
          <p:cNvPr id="3" name="Text 1"/>
          <p:cNvSpPr/>
          <p:nvPr/>
        </p:nvSpPr>
        <p:spPr>
          <a:xfrm>
            <a:off x="457200" y="521208"/>
            <a:ext cx="7955280" cy="438912"/>
          </a:xfrm>
          <a:prstGeom prst="rect">
            <a:avLst/>
          </a:prstGeom>
          <a:noFill/>
          <a:ln/>
        </p:spPr>
        <p:txBody>
          <a:bodyPr wrap="square" lIns="0" tIns="0" rIns="0" bIns="0" rtlCol="0" anchor="ctr"/>
          <a:lstStyle/>
          <a:p>
            <a:pPr marL="0" indent="0">
              <a:buNone/>
            </a:pPr>
            <a:r>
              <a:rPr lang="en-US" sz="2500" dirty="0">
                <a:solidFill>
                  <a:srgbClr val="0B1E3F"/>
                </a:solidFill>
                <a:latin typeface="Segoe UI Semibold" pitchFamily="34" charset="0"/>
                <a:ea typeface="Segoe UI Semibold" pitchFamily="34" charset="-122"/>
                <a:cs typeface="Segoe UI Semibold" pitchFamily="34" charset="-120"/>
              </a:rPr>
              <a:t>Resources &amp; sources</a:t>
            </a:r>
            <a:endParaRPr lang="en-US" sz="2500" dirty="0"/>
          </a:p>
        </p:txBody>
      </p:sp>
      <p:sp>
        <p:nvSpPr>
          <p:cNvPr id="4" name="Shape 2"/>
          <p:cNvSpPr/>
          <p:nvPr/>
        </p:nvSpPr>
        <p:spPr>
          <a:xfrm>
            <a:off x="10698480" y="118872"/>
            <a:ext cx="1051560" cy="1051560"/>
          </a:xfrm>
          <a:prstGeom prst="arc">
            <a:avLst/>
          </a:prstGeom>
          <a:solidFill>
            <a:srgbClr val="F5F7FA">
              <a:alpha val="0"/>
            </a:srgbClr>
          </a:solidFill>
          <a:ln w="38100">
            <a:solidFill>
              <a:srgbClr val="00B7C3">
                <a:alpha val="90000"/>
              </a:srgbClr>
            </a:solidFill>
            <a:prstDash val="solid"/>
          </a:ln>
        </p:spPr>
      </p:sp>
      <p:sp>
        <p:nvSpPr>
          <p:cNvPr id="5" name="Text 3"/>
          <p:cNvSpPr/>
          <p:nvPr/>
        </p:nvSpPr>
        <p:spPr>
          <a:xfrm>
            <a:off x="457200" y="6473952"/>
            <a:ext cx="7955280" cy="164592"/>
          </a:xfrm>
          <a:prstGeom prst="rect">
            <a:avLst/>
          </a:prstGeom>
          <a:noFill/>
          <a:ln/>
        </p:spPr>
        <p:txBody>
          <a:bodyPr wrap="square" lIns="0" tIns="0" rIns="0" bIns="0" rtlCol="0" anchor="ctr"/>
          <a:lstStyle/>
          <a:p>
            <a:pPr marL="0" indent="0">
              <a:buNone/>
            </a:pPr>
            <a:r>
              <a:rPr lang="en-US" sz="750" dirty="0">
                <a:solidFill>
                  <a:srgbClr val="8A97A8"/>
                </a:solidFill>
                <a:latin typeface="Segoe UI" pitchFamily="34" charset="0"/>
                <a:ea typeface="Segoe UI" pitchFamily="34" charset="-122"/>
                <a:cs typeface="Segoe UI" pitchFamily="34" charset="-120"/>
              </a:rPr>
              <a:t>Azure API Management AI Gateway — Oct 2026</a:t>
            </a:r>
            <a:endParaRPr lang="en-US" sz="750" dirty="0"/>
          </a:p>
        </p:txBody>
      </p:sp>
      <p:sp>
        <p:nvSpPr>
          <p:cNvPr id="6" name="Text 4"/>
          <p:cNvSpPr/>
          <p:nvPr/>
        </p:nvSpPr>
        <p:spPr>
          <a:xfrm>
            <a:off x="11430000" y="6446520"/>
            <a:ext cx="320040" cy="164592"/>
          </a:xfrm>
          <a:prstGeom prst="rect">
            <a:avLst/>
          </a:prstGeom>
          <a:noFill/>
          <a:ln/>
        </p:spPr>
        <p:txBody>
          <a:bodyPr wrap="square" lIns="0" tIns="0" rIns="0" bIns="0" rtlCol="0" anchor="ctr"/>
          <a:lstStyle/>
          <a:p>
            <a:pPr marL="0" indent="0" algn="r">
              <a:buNone/>
            </a:pPr>
            <a:r>
              <a:rPr lang="en-US" sz="800" dirty="0">
                <a:solidFill>
                  <a:srgbClr val="8A97A8"/>
                </a:solidFill>
                <a:latin typeface="Segoe UI Semibold" pitchFamily="34" charset="0"/>
                <a:ea typeface="Segoe UI Semibold" pitchFamily="34" charset="-122"/>
                <a:cs typeface="Segoe UI Semibold" pitchFamily="34" charset="-120"/>
              </a:rPr>
              <a:t>34</a:t>
            </a:r>
            <a:endParaRPr lang="en-US" sz="800" dirty="0"/>
          </a:p>
        </p:txBody>
      </p:sp>
      <p:sp>
        <p:nvSpPr>
          <p:cNvPr id="7" name="Shape 5"/>
          <p:cNvSpPr/>
          <p:nvPr/>
        </p:nvSpPr>
        <p:spPr>
          <a:xfrm>
            <a:off x="658368" y="1005840"/>
            <a:ext cx="5074920" cy="713232"/>
          </a:xfrm>
          <a:prstGeom prst="rect">
            <a:avLst/>
          </a:prstGeom>
          <a:solidFill>
            <a:srgbClr val="FFFFFF"/>
          </a:solidFill>
          <a:ln w="10160">
            <a:solidFill>
              <a:srgbClr val="D8E2EC"/>
            </a:solidFill>
            <a:prstDash val="solid"/>
          </a:ln>
        </p:spPr>
      </p:sp>
      <p:sp>
        <p:nvSpPr>
          <p:cNvPr id="8" name="Shape 6"/>
          <p:cNvSpPr/>
          <p:nvPr/>
        </p:nvSpPr>
        <p:spPr>
          <a:xfrm>
            <a:off x="658368" y="1005840"/>
            <a:ext cx="73152" cy="713232"/>
          </a:xfrm>
          <a:prstGeom prst="rect">
            <a:avLst/>
          </a:prstGeom>
          <a:solidFill>
            <a:srgbClr val="00B7C3"/>
          </a:solidFill>
          <a:ln w="12700">
            <a:solidFill>
              <a:srgbClr val="00B7C3"/>
            </a:solidFill>
            <a:prstDash val="solid"/>
          </a:ln>
        </p:spPr>
      </p:sp>
      <p:sp>
        <p:nvSpPr>
          <p:cNvPr id="9" name="Text 7"/>
          <p:cNvSpPr/>
          <p:nvPr/>
        </p:nvSpPr>
        <p:spPr>
          <a:xfrm>
            <a:off x="841248" y="1143000"/>
            <a:ext cx="4754880" cy="256032"/>
          </a:xfrm>
          <a:prstGeom prst="rect">
            <a:avLst/>
          </a:prstGeom>
          <a:noFill/>
          <a:ln/>
        </p:spPr>
        <p:txBody>
          <a:bodyPr wrap="square" lIns="0" tIns="0" rIns="0" bIns="0" rtlCol="0" anchor="ctr">
            <a:normAutofit/>
          </a:bodyPr>
          <a:lstStyle/>
          <a:p>
            <a:pPr marL="0" indent="0">
              <a:buNone/>
            </a:pPr>
            <a:r>
              <a:rPr lang="en-US" sz="1010" dirty="0">
                <a:solidFill>
                  <a:srgbClr val="0B1E3F"/>
                </a:solidFill>
                <a:latin typeface="Segoe UI Semibold" pitchFamily="34" charset="0"/>
                <a:ea typeface="Segoe UI Semibold" pitchFamily="34" charset="-122"/>
                <a:cs typeface="Segoe UI Semibold" pitchFamily="34" charset="-120"/>
              </a:rPr>
              <a:t>APIM AI gateway capabilities</a:t>
            </a:r>
            <a:endParaRPr lang="en-US" sz="1010" dirty="0"/>
          </a:p>
        </p:txBody>
      </p:sp>
      <p:sp>
        <p:nvSpPr>
          <p:cNvPr id="10" name="Text 8"/>
          <p:cNvSpPr/>
          <p:nvPr/>
        </p:nvSpPr>
        <p:spPr>
          <a:xfrm>
            <a:off x="841248" y="1463040"/>
            <a:ext cx="4754880" cy="164592"/>
          </a:xfrm>
          <a:prstGeom prst="rect">
            <a:avLst/>
          </a:prstGeom>
          <a:noFill/>
          <a:ln/>
        </p:spPr>
        <p:txBody>
          <a:bodyPr wrap="square" lIns="635" tIns="635" rIns="635" bIns="635" rtlCol="0" anchor="ctr">
            <a:normAutofit/>
          </a:bodyPr>
          <a:lstStyle/>
          <a:p>
            <a:pPr marL="0" indent="0">
              <a:buNone/>
            </a:pPr>
            <a:r>
              <a:rPr lang="en-US" sz="790" dirty="0">
                <a:solidFill>
                  <a:srgbClr val="3B4A5E"/>
                </a:solidFill>
                <a:latin typeface="Segoe UI" pitchFamily="34" charset="0"/>
                <a:ea typeface="Segoe UI" pitchFamily="34" charset="-122"/>
                <a:cs typeface="Segoe UI" pitchFamily="34" charset="-120"/>
              </a:rPr>
              <a:t>learn.microsoft.com/en-us/azure/api-management/genai-gateway-capabilities</a:t>
            </a:r>
            <a:endParaRPr lang="en-US" sz="790" dirty="0"/>
          </a:p>
        </p:txBody>
      </p:sp>
      <p:sp>
        <p:nvSpPr>
          <p:cNvPr id="11" name="Shape 9"/>
          <p:cNvSpPr/>
          <p:nvPr/>
        </p:nvSpPr>
        <p:spPr>
          <a:xfrm>
            <a:off x="6144768" y="1005840"/>
            <a:ext cx="5074920" cy="713232"/>
          </a:xfrm>
          <a:prstGeom prst="rect">
            <a:avLst/>
          </a:prstGeom>
          <a:solidFill>
            <a:srgbClr val="FFFFFF"/>
          </a:solidFill>
          <a:ln w="10160">
            <a:solidFill>
              <a:srgbClr val="D8E2EC"/>
            </a:solidFill>
            <a:prstDash val="solid"/>
          </a:ln>
        </p:spPr>
      </p:sp>
      <p:sp>
        <p:nvSpPr>
          <p:cNvPr id="12" name="Shape 10"/>
          <p:cNvSpPr/>
          <p:nvPr/>
        </p:nvSpPr>
        <p:spPr>
          <a:xfrm>
            <a:off x="6144768" y="1005840"/>
            <a:ext cx="73152" cy="713232"/>
          </a:xfrm>
          <a:prstGeom prst="rect">
            <a:avLst/>
          </a:prstGeom>
          <a:solidFill>
            <a:srgbClr val="00B7C3"/>
          </a:solidFill>
          <a:ln w="12700">
            <a:solidFill>
              <a:srgbClr val="00B7C3"/>
            </a:solidFill>
            <a:prstDash val="solid"/>
          </a:ln>
        </p:spPr>
      </p:sp>
      <p:sp>
        <p:nvSpPr>
          <p:cNvPr id="13" name="Text 11"/>
          <p:cNvSpPr/>
          <p:nvPr/>
        </p:nvSpPr>
        <p:spPr>
          <a:xfrm>
            <a:off x="6327648" y="1143000"/>
            <a:ext cx="4754880" cy="256032"/>
          </a:xfrm>
          <a:prstGeom prst="rect">
            <a:avLst/>
          </a:prstGeom>
          <a:noFill/>
          <a:ln/>
        </p:spPr>
        <p:txBody>
          <a:bodyPr wrap="square" lIns="0" tIns="0" rIns="0" bIns="0" rtlCol="0" anchor="ctr">
            <a:normAutofit/>
          </a:bodyPr>
          <a:lstStyle/>
          <a:p>
            <a:pPr marL="0" indent="0">
              <a:buNone/>
            </a:pPr>
            <a:r>
              <a:rPr lang="en-US" sz="1010" dirty="0">
                <a:solidFill>
                  <a:srgbClr val="0B1E3F"/>
                </a:solidFill>
                <a:latin typeface="Segoe UI Semibold" pitchFamily="34" charset="0"/>
                <a:ea typeface="Segoe UI Semibold" pitchFamily="34" charset="-122"/>
                <a:cs typeface="Segoe UI Semibold" pitchFamily="34" charset="-120"/>
              </a:rPr>
              <a:t>MCP server overview</a:t>
            </a:r>
            <a:endParaRPr lang="en-US" sz="1010" dirty="0"/>
          </a:p>
        </p:txBody>
      </p:sp>
      <p:sp>
        <p:nvSpPr>
          <p:cNvPr id="14" name="Text 12"/>
          <p:cNvSpPr/>
          <p:nvPr/>
        </p:nvSpPr>
        <p:spPr>
          <a:xfrm>
            <a:off x="6327648" y="1463040"/>
            <a:ext cx="4754880" cy="164592"/>
          </a:xfrm>
          <a:prstGeom prst="rect">
            <a:avLst/>
          </a:prstGeom>
          <a:noFill/>
          <a:ln/>
        </p:spPr>
        <p:txBody>
          <a:bodyPr wrap="square" lIns="635" tIns="635" rIns="635" bIns="635" rtlCol="0" anchor="ctr">
            <a:normAutofit/>
          </a:bodyPr>
          <a:lstStyle/>
          <a:p>
            <a:pPr marL="0" indent="0">
              <a:buNone/>
            </a:pPr>
            <a:r>
              <a:rPr lang="en-US" sz="790" dirty="0">
                <a:solidFill>
                  <a:srgbClr val="3B4A5E"/>
                </a:solidFill>
                <a:latin typeface="Segoe UI" pitchFamily="34" charset="0"/>
                <a:ea typeface="Segoe UI" pitchFamily="34" charset="-122"/>
                <a:cs typeface="Segoe UI" pitchFamily="34" charset="-120"/>
              </a:rPr>
              <a:t>learn.microsoft.com/en-us/azure/api-management/mcp-server-overview</a:t>
            </a:r>
            <a:endParaRPr lang="en-US" sz="790" dirty="0"/>
          </a:p>
        </p:txBody>
      </p:sp>
      <p:sp>
        <p:nvSpPr>
          <p:cNvPr id="15" name="Shape 13"/>
          <p:cNvSpPr/>
          <p:nvPr/>
        </p:nvSpPr>
        <p:spPr>
          <a:xfrm>
            <a:off x="658368" y="2121408"/>
            <a:ext cx="5074920" cy="713232"/>
          </a:xfrm>
          <a:prstGeom prst="rect">
            <a:avLst/>
          </a:prstGeom>
          <a:solidFill>
            <a:srgbClr val="FFFFFF"/>
          </a:solidFill>
          <a:ln w="10160">
            <a:solidFill>
              <a:srgbClr val="D8E2EC"/>
            </a:solidFill>
            <a:prstDash val="solid"/>
          </a:ln>
        </p:spPr>
      </p:sp>
      <p:sp>
        <p:nvSpPr>
          <p:cNvPr id="16" name="Shape 14"/>
          <p:cNvSpPr/>
          <p:nvPr/>
        </p:nvSpPr>
        <p:spPr>
          <a:xfrm>
            <a:off x="658368" y="2121408"/>
            <a:ext cx="73152" cy="713232"/>
          </a:xfrm>
          <a:prstGeom prst="rect">
            <a:avLst/>
          </a:prstGeom>
          <a:solidFill>
            <a:srgbClr val="FFB900"/>
          </a:solidFill>
          <a:ln w="12700">
            <a:solidFill>
              <a:srgbClr val="FFB900"/>
            </a:solidFill>
            <a:prstDash val="solid"/>
          </a:ln>
        </p:spPr>
      </p:sp>
      <p:sp>
        <p:nvSpPr>
          <p:cNvPr id="17" name="Text 15"/>
          <p:cNvSpPr/>
          <p:nvPr/>
        </p:nvSpPr>
        <p:spPr>
          <a:xfrm>
            <a:off x="841248" y="2258568"/>
            <a:ext cx="4754880" cy="256032"/>
          </a:xfrm>
          <a:prstGeom prst="rect">
            <a:avLst/>
          </a:prstGeom>
          <a:noFill/>
          <a:ln/>
        </p:spPr>
        <p:txBody>
          <a:bodyPr wrap="square" lIns="0" tIns="0" rIns="0" bIns="0" rtlCol="0" anchor="ctr">
            <a:normAutofit/>
          </a:bodyPr>
          <a:lstStyle/>
          <a:p>
            <a:pPr marL="0" indent="0">
              <a:buNone/>
            </a:pPr>
            <a:r>
              <a:rPr lang="en-US" sz="1010" dirty="0">
                <a:solidFill>
                  <a:srgbClr val="0B1E3F"/>
                </a:solidFill>
                <a:latin typeface="Segoe UI Semibold" pitchFamily="34" charset="0"/>
                <a:ea typeface="Segoe UI Semibold" pitchFamily="34" charset="-122"/>
                <a:cs typeface="Segoe UI Semibold" pitchFamily="34" charset="-120"/>
              </a:rPr>
              <a:t>AI-Gateway labs</a:t>
            </a:r>
            <a:endParaRPr lang="en-US" sz="1010" dirty="0"/>
          </a:p>
        </p:txBody>
      </p:sp>
      <p:sp>
        <p:nvSpPr>
          <p:cNvPr id="18" name="Text 16"/>
          <p:cNvSpPr/>
          <p:nvPr/>
        </p:nvSpPr>
        <p:spPr>
          <a:xfrm>
            <a:off x="841248" y="2578608"/>
            <a:ext cx="4754880" cy="164592"/>
          </a:xfrm>
          <a:prstGeom prst="rect">
            <a:avLst/>
          </a:prstGeom>
          <a:noFill/>
          <a:ln/>
        </p:spPr>
        <p:txBody>
          <a:bodyPr wrap="square" lIns="635" tIns="635" rIns="635" bIns="635" rtlCol="0" anchor="ctr">
            <a:normAutofit/>
          </a:bodyPr>
          <a:lstStyle/>
          <a:p>
            <a:pPr marL="0" indent="0">
              <a:buNone/>
            </a:pPr>
            <a:r>
              <a:rPr lang="en-US" sz="790" dirty="0">
                <a:solidFill>
                  <a:srgbClr val="3B4A5E"/>
                </a:solidFill>
                <a:latin typeface="Segoe UI" pitchFamily="34" charset="0"/>
                <a:ea typeface="Segoe UI" pitchFamily="34" charset="-122"/>
                <a:cs typeface="Segoe UI" pitchFamily="34" charset="-120"/>
              </a:rPr>
              <a:t>github.com/Azure-Samples/AI-Gateway</a:t>
            </a:r>
            <a:endParaRPr lang="en-US" sz="790" dirty="0"/>
          </a:p>
        </p:txBody>
      </p:sp>
      <p:sp>
        <p:nvSpPr>
          <p:cNvPr id="19" name="Shape 17"/>
          <p:cNvSpPr/>
          <p:nvPr/>
        </p:nvSpPr>
        <p:spPr>
          <a:xfrm>
            <a:off x="6144768" y="2121408"/>
            <a:ext cx="5074920" cy="713232"/>
          </a:xfrm>
          <a:prstGeom prst="rect">
            <a:avLst/>
          </a:prstGeom>
          <a:solidFill>
            <a:srgbClr val="FFFFFF"/>
          </a:solidFill>
          <a:ln w="10160">
            <a:solidFill>
              <a:srgbClr val="D8E2EC"/>
            </a:solidFill>
            <a:prstDash val="solid"/>
          </a:ln>
        </p:spPr>
      </p:sp>
      <p:sp>
        <p:nvSpPr>
          <p:cNvPr id="20" name="Shape 18"/>
          <p:cNvSpPr/>
          <p:nvPr/>
        </p:nvSpPr>
        <p:spPr>
          <a:xfrm>
            <a:off x="6144768" y="2121408"/>
            <a:ext cx="73152" cy="713232"/>
          </a:xfrm>
          <a:prstGeom prst="rect">
            <a:avLst/>
          </a:prstGeom>
          <a:solidFill>
            <a:srgbClr val="00B7C3"/>
          </a:solidFill>
          <a:ln w="12700">
            <a:solidFill>
              <a:srgbClr val="00B7C3"/>
            </a:solidFill>
            <a:prstDash val="solid"/>
          </a:ln>
        </p:spPr>
      </p:sp>
      <p:sp>
        <p:nvSpPr>
          <p:cNvPr id="21" name="Text 19"/>
          <p:cNvSpPr/>
          <p:nvPr/>
        </p:nvSpPr>
        <p:spPr>
          <a:xfrm>
            <a:off x="6327648" y="2258568"/>
            <a:ext cx="4754880" cy="256032"/>
          </a:xfrm>
          <a:prstGeom prst="rect">
            <a:avLst/>
          </a:prstGeom>
          <a:noFill/>
          <a:ln/>
        </p:spPr>
        <p:txBody>
          <a:bodyPr wrap="square" lIns="0" tIns="0" rIns="0" bIns="0" rtlCol="0" anchor="ctr">
            <a:normAutofit/>
          </a:bodyPr>
          <a:lstStyle/>
          <a:p>
            <a:pPr marL="0" indent="0">
              <a:buNone/>
            </a:pPr>
            <a:r>
              <a:rPr lang="en-US" sz="1010" dirty="0">
                <a:solidFill>
                  <a:srgbClr val="0B1E3F"/>
                </a:solidFill>
                <a:latin typeface="Segoe UI Semibold" pitchFamily="34" charset="0"/>
                <a:ea typeface="Segoe UI Semibold" pitchFamily="34" charset="-122"/>
                <a:cs typeface="Segoe UI Semibold" pitchFamily="34" charset="-120"/>
              </a:rPr>
              <a:t>APIM resources hub</a:t>
            </a:r>
            <a:endParaRPr lang="en-US" sz="1010" dirty="0"/>
          </a:p>
        </p:txBody>
      </p:sp>
      <p:sp>
        <p:nvSpPr>
          <p:cNvPr id="22" name="Text 20"/>
          <p:cNvSpPr/>
          <p:nvPr/>
        </p:nvSpPr>
        <p:spPr>
          <a:xfrm>
            <a:off x="6327648" y="2578608"/>
            <a:ext cx="4754880" cy="164592"/>
          </a:xfrm>
          <a:prstGeom prst="rect">
            <a:avLst/>
          </a:prstGeom>
          <a:noFill/>
          <a:ln/>
        </p:spPr>
        <p:txBody>
          <a:bodyPr wrap="square" lIns="635" tIns="635" rIns="635" bIns="635" rtlCol="0" anchor="ctr">
            <a:normAutofit/>
          </a:bodyPr>
          <a:lstStyle/>
          <a:p>
            <a:pPr marL="0" indent="0">
              <a:buNone/>
            </a:pPr>
            <a:r>
              <a:rPr lang="en-US" sz="790" dirty="0">
                <a:solidFill>
                  <a:srgbClr val="3B4A5E"/>
                </a:solidFill>
                <a:latin typeface="Segoe UI" pitchFamily="34" charset="0"/>
                <a:ea typeface="Segoe UI" pitchFamily="34" charset="-122"/>
                <a:cs typeface="Segoe UI" pitchFamily="34" charset="-120"/>
              </a:rPr>
              <a:t>azure.github.io/api-management-resources</a:t>
            </a:r>
            <a:endParaRPr lang="en-US" sz="790" dirty="0"/>
          </a:p>
        </p:txBody>
      </p:sp>
      <p:sp>
        <p:nvSpPr>
          <p:cNvPr id="23" name="Shape 21"/>
          <p:cNvSpPr/>
          <p:nvPr/>
        </p:nvSpPr>
        <p:spPr>
          <a:xfrm>
            <a:off x="658368" y="3236976"/>
            <a:ext cx="5074920" cy="713232"/>
          </a:xfrm>
          <a:prstGeom prst="rect">
            <a:avLst/>
          </a:prstGeom>
          <a:solidFill>
            <a:srgbClr val="FFFFFF"/>
          </a:solidFill>
          <a:ln w="10160">
            <a:solidFill>
              <a:srgbClr val="D8E2EC"/>
            </a:solidFill>
            <a:prstDash val="solid"/>
          </a:ln>
        </p:spPr>
      </p:sp>
      <p:sp>
        <p:nvSpPr>
          <p:cNvPr id="24" name="Shape 22"/>
          <p:cNvSpPr/>
          <p:nvPr/>
        </p:nvSpPr>
        <p:spPr>
          <a:xfrm>
            <a:off x="658368" y="3236976"/>
            <a:ext cx="73152" cy="713232"/>
          </a:xfrm>
          <a:prstGeom prst="rect">
            <a:avLst/>
          </a:prstGeom>
          <a:solidFill>
            <a:srgbClr val="00B7C3"/>
          </a:solidFill>
          <a:ln w="12700">
            <a:solidFill>
              <a:srgbClr val="00B7C3"/>
            </a:solidFill>
            <a:prstDash val="solid"/>
          </a:ln>
        </p:spPr>
      </p:sp>
      <p:sp>
        <p:nvSpPr>
          <p:cNvPr id="25" name="Text 23"/>
          <p:cNvSpPr/>
          <p:nvPr/>
        </p:nvSpPr>
        <p:spPr>
          <a:xfrm>
            <a:off x="841248" y="3374136"/>
            <a:ext cx="4754880" cy="256032"/>
          </a:xfrm>
          <a:prstGeom prst="rect">
            <a:avLst/>
          </a:prstGeom>
          <a:noFill/>
          <a:ln/>
        </p:spPr>
        <p:txBody>
          <a:bodyPr wrap="square" lIns="0" tIns="0" rIns="0" bIns="0" rtlCol="0" anchor="ctr">
            <a:normAutofit/>
          </a:bodyPr>
          <a:lstStyle/>
          <a:p>
            <a:pPr marL="0" indent="0">
              <a:buNone/>
            </a:pPr>
            <a:r>
              <a:rPr lang="en-US" sz="1010" dirty="0">
                <a:solidFill>
                  <a:srgbClr val="0B1E3F"/>
                </a:solidFill>
                <a:latin typeface="Segoe UI Semibold" pitchFamily="34" charset="0"/>
                <a:ea typeface="Segoe UI Semibold" pitchFamily="34" charset="-122"/>
                <a:cs typeface="Segoe UI Semibold" pitchFamily="34" charset="-120"/>
              </a:rPr>
              <a:t>Pricing</a:t>
            </a:r>
            <a:endParaRPr lang="en-US" sz="1010" dirty="0"/>
          </a:p>
        </p:txBody>
      </p:sp>
      <p:sp>
        <p:nvSpPr>
          <p:cNvPr id="26" name="Text 24"/>
          <p:cNvSpPr/>
          <p:nvPr/>
        </p:nvSpPr>
        <p:spPr>
          <a:xfrm>
            <a:off x="841248" y="3694176"/>
            <a:ext cx="4754880" cy="164592"/>
          </a:xfrm>
          <a:prstGeom prst="rect">
            <a:avLst/>
          </a:prstGeom>
          <a:noFill/>
          <a:ln/>
        </p:spPr>
        <p:txBody>
          <a:bodyPr wrap="square" lIns="635" tIns="635" rIns="635" bIns="635" rtlCol="0" anchor="ctr">
            <a:normAutofit/>
          </a:bodyPr>
          <a:lstStyle/>
          <a:p>
            <a:pPr marL="0" indent="0">
              <a:buNone/>
            </a:pPr>
            <a:r>
              <a:rPr lang="en-US" sz="790" dirty="0">
                <a:solidFill>
                  <a:srgbClr val="3B4A5E"/>
                </a:solidFill>
                <a:latin typeface="Segoe UI" pitchFamily="34" charset="0"/>
                <a:ea typeface="Segoe UI" pitchFamily="34" charset="-122"/>
                <a:cs typeface="Segoe UI" pitchFamily="34" charset="-120"/>
              </a:rPr>
              <a:t>azure.microsoft.com/pricing/details/api-management + Azure Retail Prices API</a:t>
            </a:r>
            <a:endParaRPr lang="en-US" sz="790" dirty="0"/>
          </a:p>
        </p:txBody>
      </p:sp>
      <p:sp>
        <p:nvSpPr>
          <p:cNvPr id="27" name="Shape 25"/>
          <p:cNvSpPr/>
          <p:nvPr/>
        </p:nvSpPr>
        <p:spPr>
          <a:xfrm>
            <a:off x="6144768" y="3236976"/>
            <a:ext cx="5074920" cy="713232"/>
          </a:xfrm>
          <a:prstGeom prst="rect">
            <a:avLst/>
          </a:prstGeom>
          <a:solidFill>
            <a:srgbClr val="FFFFFF"/>
          </a:solidFill>
          <a:ln w="10160">
            <a:solidFill>
              <a:srgbClr val="D8E2EC"/>
            </a:solidFill>
            <a:prstDash val="solid"/>
          </a:ln>
        </p:spPr>
      </p:sp>
      <p:sp>
        <p:nvSpPr>
          <p:cNvPr id="28" name="Shape 26"/>
          <p:cNvSpPr/>
          <p:nvPr/>
        </p:nvSpPr>
        <p:spPr>
          <a:xfrm>
            <a:off x="6144768" y="3236976"/>
            <a:ext cx="73152" cy="713232"/>
          </a:xfrm>
          <a:prstGeom prst="rect">
            <a:avLst/>
          </a:prstGeom>
          <a:solidFill>
            <a:srgbClr val="FFB900"/>
          </a:solidFill>
          <a:ln w="12700">
            <a:solidFill>
              <a:srgbClr val="FFB900"/>
            </a:solidFill>
            <a:prstDash val="solid"/>
          </a:ln>
        </p:spPr>
      </p:sp>
      <p:sp>
        <p:nvSpPr>
          <p:cNvPr id="29" name="Text 27"/>
          <p:cNvSpPr/>
          <p:nvPr/>
        </p:nvSpPr>
        <p:spPr>
          <a:xfrm>
            <a:off x="6327648" y="3374136"/>
            <a:ext cx="4754880" cy="256032"/>
          </a:xfrm>
          <a:prstGeom prst="rect">
            <a:avLst/>
          </a:prstGeom>
          <a:noFill/>
          <a:ln/>
        </p:spPr>
        <p:txBody>
          <a:bodyPr wrap="square" lIns="0" tIns="0" rIns="0" bIns="0" rtlCol="0" anchor="ctr">
            <a:normAutofit/>
          </a:bodyPr>
          <a:lstStyle/>
          <a:p>
            <a:pPr marL="0" indent="0">
              <a:buNone/>
            </a:pPr>
            <a:r>
              <a:rPr lang="en-US" sz="1010" dirty="0">
                <a:solidFill>
                  <a:srgbClr val="0B1E3F"/>
                </a:solidFill>
                <a:latin typeface="Segoe UI Semibold" pitchFamily="34" charset="0"/>
                <a:ea typeface="Segoe UI Semibold" pitchFamily="34" charset="-122"/>
                <a:cs typeface="Segoe UI Semibold" pitchFamily="34" charset="-120"/>
              </a:rPr>
              <a:t>Limits</a:t>
            </a:r>
            <a:endParaRPr lang="en-US" sz="1010" dirty="0"/>
          </a:p>
        </p:txBody>
      </p:sp>
      <p:sp>
        <p:nvSpPr>
          <p:cNvPr id="30" name="Text 28"/>
          <p:cNvSpPr/>
          <p:nvPr/>
        </p:nvSpPr>
        <p:spPr>
          <a:xfrm>
            <a:off x="6327648" y="3694176"/>
            <a:ext cx="4754880" cy="164592"/>
          </a:xfrm>
          <a:prstGeom prst="rect">
            <a:avLst/>
          </a:prstGeom>
          <a:noFill/>
          <a:ln/>
        </p:spPr>
        <p:txBody>
          <a:bodyPr wrap="square" lIns="635" tIns="635" rIns="635" bIns="635" rtlCol="0" anchor="ctr">
            <a:normAutofit/>
          </a:bodyPr>
          <a:lstStyle/>
          <a:p>
            <a:pPr marL="0" indent="0">
              <a:buNone/>
            </a:pPr>
            <a:r>
              <a:rPr lang="en-US" sz="790" dirty="0">
                <a:solidFill>
                  <a:srgbClr val="3B4A5E"/>
                </a:solidFill>
                <a:latin typeface="Segoe UI" pitchFamily="34" charset="0"/>
                <a:ea typeface="Segoe UI" pitchFamily="34" charset="-122"/>
                <a:cs typeface="Segoe UI" pitchFamily="34" charset="-120"/>
              </a:rPr>
              <a:t>learn.microsoft.com/azure/azure-resource-manager/management/azure-subscription-service-limits#azure-api-management-limits</a:t>
            </a:r>
            <a:endParaRPr lang="en-US" sz="790" dirty="0"/>
          </a:p>
        </p:txBody>
      </p:sp>
      <p:sp>
        <p:nvSpPr>
          <p:cNvPr id="31" name="Shape 29"/>
          <p:cNvSpPr/>
          <p:nvPr/>
        </p:nvSpPr>
        <p:spPr>
          <a:xfrm>
            <a:off x="658368" y="4352544"/>
            <a:ext cx="5074920" cy="713232"/>
          </a:xfrm>
          <a:prstGeom prst="rect">
            <a:avLst/>
          </a:prstGeom>
          <a:solidFill>
            <a:srgbClr val="FFFFFF"/>
          </a:solidFill>
          <a:ln w="10160">
            <a:solidFill>
              <a:srgbClr val="D8E2EC"/>
            </a:solidFill>
            <a:prstDash val="solid"/>
          </a:ln>
        </p:spPr>
      </p:sp>
      <p:sp>
        <p:nvSpPr>
          <p:cNvPr id="32" name="Shape 30"/>
          <p:cNvSpPr/>
          <p:nvPr/>
        </p:nvSpPr>
        <p:spPr>
          <a:xfrm>
            <a:off x="658368" y="4352544"/>
            <a:ext cx="73152" cy="713232"/>
          </a:xfrm>
          <a:prstGeom prst="rect">
            <a:avLst/>
          </a:prstGeom>
          <a:solidFill>
            <a:srgbClr val="00B7C3"/>
          </a:solidFill>
          <a:ln w="12700">
            <a:solidFill>
              <a:srgbClr val="00B7C3"/>
            </a:solidFill>
            <a:prstDash val="solid"/>
          </a:ln>
        </p:spPr>
      </p:sp>
      <p:sp>
        <p:nvSpPr>
          <p:cNvPr id="33" name="Text 31"/>
          <p:cNvSpPr/>
          <p:nvPr/>
        </p:nvSpPr>
        <p:spPr>
          <a:xfrm>
            <a:off x="841248" y="4489704"/>
            <a:ext cx="4754880" cy="256032"/>
          </a:xfrm>
          <a:prstGeom prst="rect">
            <a:avLst/>
          </a:prstGeom>
          <a:noFill/>
          <a:ln/>
        </p:spPr>
        <p:txBody>
          <a:bodyPr wrap="square" lIns="0" tIns="0" rIns="0" bIns="0" rtlCol="0" anchor="ctr">
            <a:normAutofit/>
          </a:bodyPr>
          <a:lstStyle/>
          <a:p>
            <a:pPr marL="0" indent="0">
              <a:buNone/>
            </a:pPr>
            <a:r>
              <a:rPr lang="en-US" sz="1010" dirty="0">
                <a:solidFill>
                  <a:srgbClr val="0B1E3F"/>
                </a:solidFill>
                <a:latin typeface="Segoe UI Semibold" pitchFamily="34" charset="0"/>
                <a:ea typeface="Segoe UI Semibold" pitchFamily="34" charset="-122"/>
                <a:cs typeface="Segoe UI Semibold" pitchFamily="34" charset="-120"/>
              </a:rPr>
              <a:t>Policies</a:t>
            </a:r>
            <a:endParaRPr lang="en-US" sz="1010" dirty="0"/>
          </a:p>
        </p:txBody>
      </p:sp>
      <p:sp>
        <p:nvSpPr>
          <p:cNvPr id="34" name="Text 32"/>
          <p:cNvSpPr/>
          <p:nvPr/>
        </p:nvSpPr>
        <p:spPr>
          <a:xfrm>
            <a:off x="841248" y="4809744"/>
            <a:ext cx="4754880" cy="164592"/>
          </a:xfrm>
          <a:prstGeom prst="rect">
            <a:avLst/>
          </a:prstGeom>
          <a:noFill/>
          <a:ln/>
        </p:spPr>
        <p:txBody>
          <a:bodyPr wrap="square" lIns="635" tIns="635" rIns="635" bIns="635" rtlCol="0" anchor="ctr">
            <a:normAutofit/>
          </a:bodyPr>
          <a:lstStyle/>
          <a:p>
            <a:pPr marL="0" indent="0">
              <a:buNone/>
            </a:pPr>
            <a:r>
              <a:rPr lang="en-US" sz="790" dirty="0">
                <a:solidFill>
                  <a:srgbClr val="3B4A5E"/>
                </a:solidFill>
                <a:latin typeface="Segoe UI" pitchFamily="34" charset="0"/>
                <a:ea typeface="Segoe UI" pitchFamily="34" charset="-122"/>
                <a:cs typeface="Segoe UI" pitchFamily="34" charset="-120"/>
              </a:rPr>
              <a:t>llm-token-limit, llm-content-safety, llm-emit-token-metric, authentication-managed-identity</a:t>
            </a:r>
            <a:endParaRPr lang="en-US" sz="790" dirty="0"/>
          </a:p>
        </p:txBody>
      </p:sp>
      <p:sp>
        <p:nvSpPr>
          <p:cNvPr id="35" name="Shape 33"/>
          <p:cNvSpPr/>
          <p:nvPr/>
        </p:nvSpPr>
        <p:spPr>
          <a:xfrm>
            <a:off x="6144768" y="4352544"/>
            <a:ext cx="5074920" cy="713232"/>
          </a:xfrm>
          <a:prstGeom prst="rect">
            <a:avLst/>
          </a:prstGeom>
          <a:solidFill>
            <a:srgbClr val="FFFFFF"/>
          </a:solidFill>
          <a:ln w="10160">
            <a:solidFill>
              <a:srgbClr val="D8E2EC"/>
            </a:solidFill>
            <a:prstDash val="solid"/>
          </a:ln>
        </p:spPr>
      </p:sp>
      <p:sp>
        <p:nvSpPr>
          <p:cNvPr id="36" name="Shape 34"/>
          <p:cNvSpPr/>
          <p:nvPr/>
        </p:nvSpPr>
        <p:spPr>
          <a:xfrm>
            <a:off x="6144768" y="4352544"/>
            <a:ext cx="73152" cy="713232"/>
          </a:xfrm>
          <a:prstGeom prst="rect">
            <a:avLst/>
          </a:prstGeom>
          <a:solidFill>
            <a:srgbClr val="00B7C3"/>
          </a:solidFill>
          <a:ln w="12700">
            <a:solidFill>
              <a:srgbClr val="00B7C3"/>
            </a:solidFill>
            <a:prstDash val="solid"/>
          </a:ln>
        </p:spPr>
      </p:sp>
      <p:sp>
        <p:nvSpPr>
          <p:cNvPr id="37" name="Text 35"/>
          <p:cNvSpPr/>
          <p:nvPr/>
        </p:nvSpPr>
        <p:spPr>
          <a:xfrm>
            <a:off x="6327648" y="4489704"/>
            <a:ext cx="4754880" cy="256032"/>
          </a:xfrm>
          <a:prstGeom prst="rect">
            <a:avLst/>
          </a:prstGeom>
          <a:noFill/>
          <a:ln/>
        </p:spPr>
        <p:txBody>
          <a:bodyPr wrap="square" lIns="0" tIns="0" rIns="0" bIns="0" rtlCol="0" anchor="ctr">
            <a:normAutofit/>
          </a:bodyPr>
          <a:lstStyle/>
          <a:p>
            <a:pPr marL="0" indent="0">
              <a:buNone/>
            </a:pPr>
            <a:r>
              <a:rPr lang="en-US" sz="1010" dirty="0">
                <a:solidFill>
                  <a:srgbClr val="0B1E3F"/>
                </a:solidFill>
                <a:latin typeface="Segoe UI Semibold" pitchFamily="34" charset="0"/>
                <a:ea typeface="Segoe UI Semibold" pitchFamily="34" charset="-122"/>
                <a:cs typeface="Segoe UI Semibold" pitchFamily="34" charset="-120"/>
              </a:rPr>
              <a:t>Research brief</a:t>
            </a:r>
            <a:endParaRPr lang="en-US" sz="1010" dirty="0"/>
          </a:p>
        </p:txBody>
      </p:sp>
      <p:sp>
        <p:nvSpPr>
          <p:cNvPr id="38" name="Text 36"/>
          <p:cNvSpPr/>
          <p:nvPr/>
        </p:nvSpPr>
        <p:spPr>
          <a:xfrm>
            <a:off x="6327648" y="4809744"/>
            <a:ext cx="4754880" cy="164592"/>
          </a:xfrm>
          <a:prstGeom prst="rect">
            <a:avLst/>
          </a:prstGeom>
          <a:noFill/>
          <a:ln/>
        </p:spPr>
        <p:txBody>
          <a:bodyPr wrap="square" lIns="635" tIns="635" rIns="635" bIns="635" rtlCol="0" anchor="ctr">
            <a:normAutofit/>
          </a:bodyPr>
          <a:lstStyle/>
          <a:p>
            <a:pPr marL="0" indent="0">
              <a:buNone/>
            </a:pPr>
            <a:r>
              <a:rPr lang="en-US" sz="790" dirty="0">
                <a:solidFill>
                  <a:srgbClr val="3B4A5E"/>
                </a:solidFill>
                <a:latin typeface="Segoe UI" pitchFamily="34" charset="0"/>
                <a:ea typeface="Segoe UI" pitchFamily="34" charset="-122"/>
                <a:cs typeface="Segoe UI" pitchFamily="34" charset="-120"/>
              </a:rPr>
              <a:t>docs/research/apim-ai-gateway-research.md</a:t>
            </a:r>
            <a:endParaRPr lang="en-US" sz="790" dirty="0"/>
          </a:p>
        </p:txBody>
      </p:sp>
      <p:sp>
        <p:nvSpPr>
          <p:cNvPr id="39" name="Text 37"/>
          <p:cNvSpPr/>
          <p:nvPr/>
        </p:nvSpPr>
        <p:spPr>
          <a:xfrm>
            <a:off x="960120" y="5605272"/>
            <a:ext cx="10332720" cy="164592"/>
          </a:xfrm>
          <a:prstGeom prst="rect">
            <a:avLst/>
          </a:prstGeom>
          <a:noFill/>
          <a:ln/>
        </p:spPr>
        <p:txBody>
          <a:bodyPr wrap="square" lIns="0" tIns="0" rIns="0" bIns="0" rtlCol="0" anchor="ctr">
            <a:normAutofit/>
          </a:bodyPr>
          <a:lstStyle/>
          <a:p>
            <a:pPr marL="0" indent="0" algn="ctr">
              <a:buNone/>
            </a:pPr>
            <a:r>
              <a:rPr lang="en-US" sz="880" dirty="0">
                <a:solidFill>
                  <a:srgbClr val="3B4A5E"/>
                </a:solidFill>
                <a:latin typeface="Segoe UI Semibold" pitchFamily="34" charset="0"/>
                <a:ea typeface="Segoe UI Semibold" pitchFamily="34" charset="-122"/>
                <a:cs typeface="Segoe UI Semibold" pitchFamily="34" charset="-120"/>
              </a:rPr>
              <a:t>Facts in this deck are limited to the shared brief and research document; external pricing should be re-verified before customer use.</a:t>
            </a:r>
            <a:endParaRPr lang="en-US" sz="8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4641</Words>
  <Application>Microsoft Office PowerPoint</Application>
  <PresentationFormat>Widescreen</PresentationFormat>
  <Paragraphs>637</Paragraphs>
  <Slides>34</Slides>
  <Notes>34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Consolas</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Azure API Management as your AI Gateway</dc:title>
  <dc:subject>Azure API Management AI Gateway session</dc:subject>
  <dc:creator>GitHub Copilot</dc:creator>
  <cp:lastModifiedBy>François-Xavier Kim</cp:lastModifiedBy>
  <cp:revision>2</cp:revision>
  <dcterms:created xsi:type="dcterms:W3CDTF">2026-10-03T09:32:59Z</dcterms:created>
  <dcterms:modified xsi:type="dcterms:W3CDTF">2026-10-03T09:33:12Z</dcterms:modified>
</cp:coreProperties>
</file>