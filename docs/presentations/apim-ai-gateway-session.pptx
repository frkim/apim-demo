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Tokens</c:v>
                </c:pt>
              </c:strCache>
            </c:strRef>
          </c:tx>
          <c:spPr>
            <a:solidFill>
              <a:srgbClr val="00B7C3"/>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Gold</c:v>
                </c:pt>
                <c:pt idx="1">
                  <c:v>Bronze</c:v>
                </c:pt>
                <c:pt idx="2">
                  <c:v>Internal</c:v>
                </c:pt>
              </c:strCache>
            </c:strRef>
          </c:cat>
          <c:val>
            <c:numRef>
              <c:f>Sheet1!$B$2:$B$4</c:f>
              <c:numCache>
                <c:formatCode>General</c:formatCode>
                <c:ptCount val="3"/>
                <c:pt idx="0">
                  <c:v>5</c:v>
                </c:pt>
                <c:pt idx="1">
                  <c:v>0.1</c:v>
                </c:pt>
                <c:pt idx="2">
                  <c:v>1.4</c:v>
                </c:pt>
              </c:numCache>
            </c:numRef>
          </c:val>
          <c:extLst>
            <c:ext xmlns:c16="http://schemas.microsoft.com/office/drawing/2014/chart" uri="{C3380CC4-5D6E-409C-BE32-E72D297353CC}">
              <c16:uniqueId val="{00000000-B145-44FA-85E1-749C44F1980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2993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with the promise of the session: one control point for every AI call. Set expectations that this is a technical, demo-led walkthrough using Basic v2, Microsoft Foundry resources and projects in Sweden Central and France Central, and gpt-6.1-sol. Emphasize that the deck doubles as a fallback narrative if the live demo environment misbehaves.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agenda exactly as timed. Point out that the middle of the session is demo heavy, while the last third makes the operating model concrete with pricing, limits, and adoption patterns. Tell the audience that every section maps to an enterprise concern they can take back to their platform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marks the short opening section. Use it to transition from introductions into the Zava Retail story. The goal is to create urgency without over-selling: most organizations are already beyond one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Tell the Zava Retail story as the hook. They started with one chatbot, then every team added their own app, provider account, and tool integration. The surprise invoice is not just a cost issue: it exposes missing governance, resiliency, safety and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introduces the problem framing. Explain that APIM is valuable because it sits in the path of every request and can enforce policy before the model, MCP tool, or agent is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these as operational symptoms rather than product features. The gateway pattern centralizes controls that each app otherwise has to solve independently. Highlight that the same gateway handles model APIs, MCP tools, and A2A agents, which matters as architectures evolve from chatbots to agentic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refreshes the APIM mental model and then anchors the audience on what changed in 2026. Keep it factual and dated, because the product surface is moving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Refresh APIM for people who know it only as an API gateway. The gateway is the runtime enforcement point, the management plane is where the platform team configures APIs and policies, and the developer portal is how consumers discover and subscribe. This same model now applies to LLM endpoints, MCP servers and agent APIs.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is intentionally dated. The point is that APIM is not only an API product anymore; it has first-class patterns for model APIs, MCP servers and A2A agents. The deployed Foundry platform is the current resource plus project model in ai.azure.com, not the classic hub-based project pattern. Cite the updated Learn pages and research brief when challenged on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turns the problem statement into five concrete capability pillars. Use the next five slides as the technical backbone of the session before switching into the live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Security starts with removing model keys from application code. In the demo, APIM uses its managed identity to call Foundry, while applications only know the APIM subscription key. The llm-content-safety policy provides a single safety baseline across chat, MCP tool calls and A2A agent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Token limits are a gateway-native guardrail. For the demo, Gold receives 20,000 tokens per minute and 5 million tokens per month, while Bronze receives 300 tokens per minute and 100,000 tokens per month. Explain that semantic caching and PTU-first spillover are complementary patterns for reducing cost and protecting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Resiliency is where the gateway prevents every app team from writing its own failover code. In this environment, the foundry-pool is weighted 50/50 across Sweden Central and France Central. The circuit breaker honors Retry-After on 429s, which is critical for model quota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Observability closes the loop. The llm-emit-token-metric policy emits custom token metrics with up to five dimensions, while LLM logging writes prompt and completion records to Log Analytics. Explain how this enables cost allocation, troubleshooting, and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MCP and agents are important because enterprises are moving from direct model calls to tool-using systems. APIM can expose existing REST APIs as MCP servers, pass through existing MCP servers, and import A2A agent APIs. D6 uses the Responses API with tools converted from the MCP tool list, and the same gateway policies apply to Chat Completions and Responses API traffic. Stress the limits: MCP is tools-only today, not available in Consumption, and not supported inside workspaces.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divider to switch from concepts to the deployed repository. Remind the audience that the live demo uses Basic v2, two Foundry resources plus projects, gpt-6.1-sol, product-scoped token budgets, content safety, MCP and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main architecture diagram and is drawn with editable native shapes. Read it left to right: apps and agents call APIM, policies execute as a chain, model traffic goes to the current Foundry resource plus project in each region, and tool traffic goes through the MCP server to the mocked Zava Retail API. APIM backends call the Foundry OpenAI v1 endpoint with managed identity and key auth disabled. Observability is emitted to Application Insights and Log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map as the run-of-show for the live demo. It also sets audience expectations for what they should see in each scenario, including the verified live outputs from today. If the live environment is unavailable, use the narrated demo video at docs/video/apim-ai-gateway-demo.mp4 and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 live environment is unavailable, use this as the screenshot-style talk track. D1 proves keyless backend access and stable client code with the verified Sweden Central response: 44 prompt tokens, 94 completion tokens and 19,862 remaining. D2 proves that load balancing is active by alternating requests across France Central and Sweden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this is product-scoped governance. Bronze is deliberately small to show rate limiting quickly, while Gold continues to work. The headers make the policy visible to client teams and help developers back off gracefully.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to show the audience the expected contrast between a normal prompt and a prompt attack. The important point is that the model never sees the jailbreak prompt. This is a centralized safety baseline, not a library every team must remember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D5 proves that an existing REST API can become an MCP server through APIM; get-order-status returns ORD-1042 as out for delivery. D6 uses the Responses API through APIM at /inference/openai/v1/responses. The client converts the MCP tool list into function tools, sends store=false, resends encrypted reasoning items for stateless load-balanced turns, and model turns were served by both France Central and Sweden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D7 gives operators evidence that the gateway is doing its job. D8 proves the environment is not a hand-built portal demo; it is Bicep deployed by GitHub Actions. Keep this concise in the live session because it is the bonus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turns capabilities into implementation decisions. The price figures are list prices for US East in October 2026 and must be verified in the Azure pricing calculator before budgeting.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business value slide. Map each technical capability back to an operating outcome: fewer exceptions, accountable spend, higher availability, reduced risk, better decisions and faster delivery. This helps architects and decision makers justify the gateway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State the pricing disclaimer clearly. The table uses list prices from the research brief for US East in October 2026, and customers must verify in the pricing calculator for their subscription, region and agreement. Also make clear that model tokens are billed separately by Foundry.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constraint checklist. Do not read every number slowly; call out the limits that affect the demo and production designs: circuit breaker not in Consumption, MCP not in Consumption or workspaces, and self-hosted gateway not in v2. Remind the audience that token limits are per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this as a decision slide rather than a product comparison matrix. Consumption is attractive but lacks MCP and circuit breaker for this scenario. Basic v2 is the demo choice because it supports the required AI gateway features at the lowest list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transitions from the pricing decision into adoption. The goal is to give attendees a practical path and point them to the AI-Gateway lab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Give the audience a sequence. Crawl is about centralizing one model path; walk adds enforceable guardrails; run adds tools, agents, caching and FinOps. The Azure-Samples AI-Gateway repository has more than 50 labs, and the highlighted labs map directly to what they saw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final divider sets up the close. Use the remaining minutes to reinforce the three big ideas, give links, and leave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the narrative with four takeaways. The strongest message is that the gateway should become the default path for AI calls, not an optional layer. Reinforce that governance, cost control, safety, resiliency and observability are all easier when the traffic goes through one platform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attendees to the labs and documentation. Ask what they would centralize first in their organization: model access, content safety, token budgets, MCP servers or observability. Then leave the remaining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as the source appendix. Mention that the deck intentionally uses the shared brief and research document as its fact base. Remind presenters to re-verify pricing and model regional availability before using the material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8183880" y="1371600"/>
            <a:ext cx="164592" cy="4709160"/>
          </a:xfrm>
          <a:prstGeom prst="rect">
            <a:avLst/>
          </a:prstGeom>
          <a:solidFill>
            <a:srgbClr val="00B7C3">
              <a:alpha val="95000"/>
            </a:srgbClr>
          </a:solidFill>
          <a:ln w="12700">
            <a:solidFill>
              <a:srgbClr val="00B7C3">
                <a:alpha val="95000"/>
              </a:srgbClr>
            </a:solidFill>
            <a:prstDash val="solid"/>
          </a:ln>
        </p:spPr>
      </p:sp>
      <p:sp>
        <p:nvSpPr>
          <p:cNvPr id="3" name="Shape 1"/>
          <p:cNvSpPr/>
          <p:nvPr/>
        </p:nvSpPr>
        <p:spPr>
          <a:xfrm>
            <a:off x="10991088" y="1371600"/>
            <a:ext cx="164592" cy="4709160"/>
          </a:xfrm>
          <a:prstGeom prst="rect">
            <a:avLst/>
          </a:prstGeom>
          <a:solidFill>
            <a:srgbClr val="00B7C3">
              <a:alpha val="95000"/>
            </a:srgbClr>
          </a:solidFill>
          <a:ln w="12700">
            <a:solidFill>
              <a:srgbClr val="00B7C3">
                <a:alpha val="95000"/>
              </a:srgbClr>
            </a:solidFill>
            <a:prstDash val="solid"/>
          </a:ln>
        </p:spPr>
      </p:sp>
      <p:sp>
        <p:nvSpPr>
          <p:cNvPr id="4" name="Shape 2"/>
          <p:cNvSpPr/>
          <p:nvPr/>
        </p:nvSpPr>
        <p:spPr>
          <a:xfrm>
            <a:off x="8193024" y="777240"/>
            <a:ext cx="2953512" cy="1234440"/>
          </a:xfrm>
          <a:prstGeom prst="arc">
            <a:avLst/>
          </a:prstGeom>
          <a:solidFill>
            <a:srgbClr val="00B7C3">
              <a:alpha val="0"/>
            </a:srgbClr>
          </a:solidFill>
          <a:ln w="88900">
            <a:solidFill>
              <a:srgbClr val="00B7C3">
                <a:alpha val="95000"/>
              </a:srgbClr>
            </a:solidFill>
            <a:prstDash val="solid"/>
          </a:ln>
        </p:spPr>
      </p:sp>
      <p:sp>
        <p:nvSpPr>
          <p:cNvPr id="5" name="Text 3"/>
          <p:cNvSpPr/>
          <p:nvPr/>
        </p:nvSpPr>
        <p:spPr>
          <a:xfrm>
            <a:off x="713232" y="1005840"/>
            <a:ext cx="7132320" cy="13258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Azure API Management as your AI Gateway</a:t>
            </a:r>
            <a:endParaRPr lang="en-US" sz="3800" dirty="0"/>
          </a:p>
        </p:txBody>
      </p:sp>
      <p:sp>
        <p:nvSpPr>
          <p:cNvPr id="6" name="Text 4"/>
          <p:cNvSpPr/>
          <p:nvPr/>
        </p:nvSpPr>
        <p:spPr>
          <a:xfrm>
            <a:off x="749808" y="2606040"/>
            <a:ext cx="6172200" cy="320040"/>
          </a:xfrm>
          <a:prstGeom prst="rect">
            <a:avLst/>
          </a:prstGeom>
          <a:noFill/>
          <a:ln/>
        </p:spPr>
        <p:txBody>
          <a:bodyPr wrap="square" lIns="0" tIns="0" rIns="0" bIns="0" rtlCol="0" anchor="ctr"/>
          <a:lstStyle/>
          <a:p>
            <a:pPr marL="0" indent="0">
              <a:buNone/>
            </a:pPr>
            <a:r>
              <a:rPr lang="en-US" sz="1800" dirty="0">
                <a:solidFill>
                  <a:srgbClr val="D7E7F6"/>
                </a:solidFill>
                <a:latin typeface="Segoe UI" pitchFamily="34" charset="0"/>
                <a:ea typeface="Segoe UI" pitchFamily="34" charset="-122"/>
                <a:cs typeface="Segoe UI" pitchFamily="34" charset="-120"/>
              </a:rPr>
              <a:t>Govern models, MCP tools and agents at scale</a:t>
            </a:r>
            <a:endParaRPr lang="en-US" sz="1800" dirty="0"/>
          </a:p>
        </p:txBody>
      </p:sp>
      <p:sp>
        <p:nvSpPr>
          <p:cNvPr id="7" name="Text 5"/>
          <p:cNvSpPr/>
          <p:nvPr/>
        </p:nvSpPr>
        <p:spPr>
          <a:xfrm>
            <a:off x="749808" y="3072384"/>
            <a:ext cx="6675120" cy="310896"/>
          </a:xfrm>
          <a:prstGeom prst="rect">
            <a:avLst/>
          </a:prstGeom>
          <a:noFill/>
          <a:ln/>
        </p:spPr>
        <p:txBody>
          <a:bodyPr wrap="square" lIns="0" tIns="0" rIns="0" bIns="0" rtlCol="0" anchor="ctr">
            <a:normAutofit/>
          </a:bodyPr>
          <a:lstStyle/>
          <a:p>
            <a:pPr marL="0" indent="0">
              <a:buNone/>
            </a:pPr>
            <a:r>
              <a:rPr lang="en-US" sz="1350" dirty="0">
                <a:solidFill>
                  <a:srgbClr val="AFC3DA"/>
                </a:solidFill>
                <a:latin typeface="Segoe UI" pitchFamily="34" charset="0"/>
                <a:ea typeface="Segoe UI" pitchFamily="34" charset="-122"/>
                <a:cs typeface="Segoe UI" pitchFamily="34" charset="-120"/>
              </a:rPr>
              <a:t>Security, cost control, resiliency and observability for every AI call — Oct 2026 edition</a:t>
            </a:r>
            <a:endParaRPr lang="en-US" sz="1350" dirty="0"/>
          </a:p>
        </p:txBody>
      </p:sp>
      <p:sp>
        <p:nvSpPr>
          <p:cNvPr id="8" name="Shape 6"/>
          <p:cNvSpPr/>
          <p:nvPr/>
        </p:nvSpPr>
        <p:spPr>
          <a:xfrm>
            <a:off x="749808" y="3794760"/>
            <a:ext cx="822960" cy="246888"/>
          </a:xfrm>
          <a:prstGeom prst="roundRect">
            <a:avLst>
              <a:gd name="adj" fmla="val 18519"/>
            </a:avLst>
          </a:prstGeom>
          <a:solidFill>
            <a:srgbClr val="FFB900"/>
          </a:solidFill>
          <a:ln w="12700">
            <a:solidFill>
              <a:srgbClr val="FFB900"/>
            </a:solidFill>
            <a:prstDash val="solid"/>
          </a:ln>
        </p:spPr>
      </p:sp>
      <p:sp>
        <p:nvSpPr>
          <p:cNvPr id="9" name="Text 7"/>
          <p:cNvSpPr/>
          <p:nvPr/>
        </p:nvSpPr>
        <p:spPr>
          <a:xfrm>
            <a:off x="804672" y="3845052"/>
            <a:ext cx="71323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90 min</a:t>
            </a:r>
            <a:endParaRPr lang="en-US" sz="750" dirty="0"/>
          </a:p>
        </p:txBody>
      </p:sp>
      <p:sp>
        <p:nvSpPr>
          <p:cNvPr id="10" name="Shape 8"/>
          <p:cNvSpPr/>
          <p:nvPr/>
        </p:nvSpPr>
        <p:spPr>
          <a:xfrm>
            <a:off x="1700784" y="3794760"/>
            <a:ext cx="1234440" cy="246888"/>
          </a:xfrm>
          <a:prstGeom prst="roundRect">
            <a:avLst>
              <a:gd name="adj" fmla="val 18519"/>
            </a:avLst>
          </a:prstGeom>
          <a:solidFill>
            <a:srgbClr val="D9F7FA"/>
          </a:solidFill>
          <a:ln w="12700">
            <a:solidFill>
              <a:srgbClr val="D9F7FA"/>
            </a:solidFill>
            <a:prstDash val="solid"/>
          </a:ln>
        </p:spPr>
      </p:sp>
      <p:sp>
        <p:nvSpPr>
          <p:cNvPr id="11" name="Text 9"/>
          <p:cNvSpPr/>
          <p:nvPr/>
        </p:nvSpPr>
        <p:spPr>
          <a:xfrm>
            <a:off x="1755648" y="3845052"/>
            <a:ext cx="112471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Basic v2 demo</a:t>
            </a:r>
            <a:endParaRPr lang="en-US" sz="750" dirty="0"/>
          </a:p>
        </p:txBody>
      </p:sp>
      <p:sp>
        <p:nvSpPr>
          <p:cNvPr id="12" name="Shape 10"/>
          <p:cNvSpPr/>
          <p:nvPr/>
        </p:nvSpPr>
        <p:spPr>
          <a:xfrm>
            <a:off x="3063240" y="3794760"/>
            <a:ext cx="1234440" cy="246888"/>
          </a:xfrm>
          <a:prstGeom prst="roundRect">
            <a:avLst>
              <a:gd name="adj" fmla="val 18519"/>
            </a:avLst>
          </a:prstGeom>
          <a:solidFill>
            <a:srgbClr val="E5F1FB"/>
          </a:solidFill>
          <a:ln w="12700">
            <a:solidFill>
              <a:srgbClr val="E5F1FB"/>
            </a:solidFill>
            <a:prstDash val="solid"/>
          </a:ln>
        </p:spPr>
      </p:sp>
      <p:sp>
        <p:nvSpPr>
          <p:cNvPr id="13" name="Text 11"/>
          <p:cNvSpPr/>
          <p:nvPr/>
        </p:nvSpPr>
        <p:spPr>
          <a:xfrm>
            <a:off x="3118104" y="3845052"/>
            <a:ext cx="112471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gpt-6.1-sol</a:t>
            </a:r>
            <a:endParaRPr lang="en-US" sz="750" dirty="0"/>
          </a:p>
        </p:txBody>
      </p:sp>
      <p:sp>
        <p:nvSpPr>
          <p:cNvPr id="14" name="Shape 12"/>
          <p:cNvSpPr/>
          <p:nvPr/>
        </p:nvSpPr>
        <p:spPr>
          <a:xfrm>
            <a:off x="0" y="6144768"/>
            <a:ext cx="12191695" cy="713232"/>
          </a:xfrm>
          <a:prstGeom prst="rect">
            <a:avLst/>
          </a:prstGeom>
          <a:solidFill>
            <a:srgbClr val="06152D"/>
          </a:solidFill>
          <a:ln w="12700">
            <a:solidFill>
              <a:srgbClr val="06152D"/>
            </a:solidFill>
            <a:prstDash val="solid"/>
          </a:ln>
        </p:spPr>
      </p:sp>
      <p:sp>
        <p:nvSpPr>
          <p:cNvPr id="15" name="Text 13"/>
          <p:cNvSpPr/>
          <p:nvPr/>
        </p:nvSpPr>
        <p:spPr>
          <a:xfrm>
            <a:off x="749808" y="6382512"/>
            <a:ext cx="4572000" cy="164592"/>
          </a:xfrm>
          <a:prstGeom prst="rect">
            <a:avLst/>
          </a:prstGeom>
          <a:noFill/>
          <a:ln/>
        </p:spPr>
        <p:txBody>
          <a:bodyPr wrap="square" lIns="0" tIns="0" rIns="0" bIns="0" rtlCol="0" anchor="ctr"/>
          <a:lstStyle/>
          <a:p>
            <a:pPr marL="0" indent="0">
              <a:buNone/>
            </a:pPr>
            <a:r>
              <a:rPr lang="en-US" sz="950" dirty="0">
                <a:solidFill>
                  <a:srgbClr val="00B7C3"/>
                </a:solidFill>
                <a:latin typeface="Segoe UI Semibold" pitchFamily="34" charset="0"/>
                <a:ea typeface="Segoe UI Semibold" pitchFamily="34" charset="-122"/>
                <a:cs typeface="Segoe UI Semibold" pitchFamily="34" charset="-120"/>
              </a:rPr>
              <a:t>Zava Retail: from AI sprawl to a governed gateway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SESSION PLAN</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Agenda: 90 minutes from problem to production path</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02</a:t>
            </a:r>
            <a:endParaRPr lang="en-US" sz="800" dirty="0"/>
          </a:p>
        </p:txBody>
      </p:sp>
      <p:sp>
        <p:nvSpPr>
          <p:cNvPr id="7" name="Shape 5"/>
          <p:cNvSpPr/>
          <p:nvPr/>
        </p:nvSpPr>
        <p:spPr>
          <a:xfrm>
            <a:off x="685800" y="1143000"/>
            <a:ext cx="5166360" cy="786384"/>
          </a:xfrm>
          <a:prstGeom prst="rect">
            <a:avLst/>
          </a:prstGeom>
          <a:solidFill>
            <a:srgbClr val="FFFFFF"/>
          </a:solidFill>
          <a:ln w="10160">
            <a:solidFill>
              <a:srgbClr val="D8E2EC"/>
            </a:solidFill>
            <a:prstDash val="solid"/>
          </a:ln>
        </p:spPr>
      </p:sp>
      <p:sp>
        <p:nvSpPr>
          <p:cNvPr id="8" name="Shape 6"/>
          <p:cNvSpPr/>
          <p:nvPr/>
        </p:nvSpPr>
        <p:spPr>
          <a:xfrm>
            <a:off x="685800" y="1143000"/>
            <a:ext cx="73152" cy="786384"/>
          </a:xfrm>
          <a:prstGeom prst="rect">
            <a:avLst/>
          </a:prstGeom>
          <a:solidFill>
            <a:srgbClr val="00B7C3"/>
          </a:solidFill>
          <a:ln w="12700">
            <a:solidFill>
              <a:srgbClr val="00B7C3"/>
            </a:solidFill>
            <a:prstDash val="solid"/>
          </a:ln>
        </p:spPr>
      </p:sp>
      <p:sp>
        <p:nvSpPr>
          <p:cNvPr id="9" name="Shape 7"/>
          <p:cNvSpPr/>
          <p:nvPr/>
        </p:nvSpPr>
        <p:spPr>
          <a:xfrm>
            <a:off x="850392"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85039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344168" y="1271016"/>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Welcome &amp; hook</a:t>
            </a:r>
            <a:endParaRPr lang="en-US" sz="1250" dirty="0"/>
          </a:p>
        </p:txBody>
      </p:sp>
      <p:sp>
        <p:nvSpPr>
          <p:cNvPr id="12" name="Text 10"/>
          <p:cNvSpPr/>
          <p:nvPr/>
        </p:nvSpPr>
        <p:spPr>
          <a:xfrm>
            <a:off x="1344168" y="1600200"/>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00–05 · AI sprawl story</a:t>
            </a:r>
            <a:endParaRPr lang="en-US" sz="940" dirty="0"/>
          </a:p>
        </p:txBody>
      </p:sp>
      <p:sp>
        <p:nvSpPr>
          <p:cNvPr id="13" name="Shape 11"/>
          <p:cNvSpPr/>
          <p:nvPr/>
        </p:nvSpPr>
        <p:spPr>
          <a:xfrm>
            <a:off x="6263640" y="1143000"/>
            <a:ext cx="5166360" cy="786384"/>
          </a:xfrm>
          <a:prstGeom prst="rect">
            <a:avLst/>
          </a:prstGeom>
          <a:solidFill>
            <a:srgbClr val="FFFFFF"/>
          </a:solidFill>
          <a:ln w="10160">
            <a:solidFill>
              <a:srgbClr val="D8E2EC"/>
            </a:solidFill>
            <a:prstDash val="solid"/>
          </a:ln>
        </p:spPr>
      </p:sp>
      <p:sp>
        <p:nvSpPr>
          <p:cNvPr id="14" name="Shape 12"/>
          <p:cNvSpPr/>
          <p:nvPr/>
        </p:nvSpPr>
        <p:spPr>
          <a:xfrm>
            <a:off x="6263640" y="1143000"/>
            <a:ext cx="73152" cy="786384"/>
          </a:xfrm>
          <a:prstGeom prst="rect">
            <a:avLst/>
          </a:prstGeom>
          <a:solidFill>
            <a:srgbClr val="00B7C3"/>
          </a:solidFill>
          <a:ln w="12700">
            <a:solidFill>
              <a:srgbClr val="00B7C3"/>
            </a:solidFill>
            <a:prstDash val="solid"/>
          </a:ln>
        </p:spPr>
      </p:sp>
      <p:sp>
        <p:nvSpPr>
          <p:cNvPr id="15" name="Shape 13"/>
          <p:cNvSpPr/>
          <p:nvPr/>
        </p:nvSpPr>
        <p:spPr>
          <a:xfrm>
            <a:off x="6428232" y="1298448"/>
            <a:ext cx="393192" cy="393192"/>
          </a:xfrm>
          <a:prstGeom prst="ellipse">
            <a:avLst/>
          </a:prstGeom>
          <a:solidFill>
            <a:srgbClr val="00B7C3"/>
          </a:solidFill>
          <a:ln w="12700">
            <a:solidFill>
              <a:srgbClr val="00B7C3"/>
            </a:solidFill>
            <a:prstDash val="solid"/>
          </a:ln>
        </p:spPr>
      </p:sp>
      <p:sp>
        <p:nvSpPr>
          <p:cNvPr id="16" name="Text 14"/>
          <p:cNvSpPr/>
          <p:nvPr/>
        </p:nvSpPr>
        <p:spPr>
          <a:xfrm>
            <a:off x="642823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6922008" y="1271016"/>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Why an AI gateway</a:t>
            </a:r>
            <a:endParaRPr lang="en-US" sz="1250" dirty="0"/>
          </a:p>
        </p:txBody>
      </p:sp>
      <p:sp>
        <p:nvSpPr>
          <p:cNvPr id="18" name="Text 16"/>
          <p:cNvSpPr/>
          <p:nvPr/>
        </p:nvSpPr>
        <p:spPr>
          <a:xfrm>
            <a:off x="6922008" y="1600200"/>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05–15 · six challenges</a:t>
            </a:r>
            <a:endParaRPr lang="en-US" sz="940" dirty="0"/>
          </a:p>
        </p:txBody>
      </p:sp>
      <p:sp>
        <p:nvSpPr>
          <p:cNvPr id="19" name="Shape 17"/>
          <p:cNvSpPr/>
          <p:nvPr/>
        </p:nvSpPr>
        <p:spPr>
          <a:xfrm>
            <a:off x="685800" y="2313432"/>
            <a:ext cx="5166360" cy="786384"/>
          </a:xfrm>
          <a:prstGeom prst="rect">
            <a:avLst/>
          </a:prstGeom>
          <a:solidFill>
            <a:srgbClr val="FFFFFF"/>
          </a:solidFill>
          <a:ln w="10160">
            <a:solidFill>
              <a:srgbClr val="D8E2EC"/>
            </a:solidFill>
            <a:prstDash val="solid"/>
          </a:ln>
        </p:spPr>
      </p:sp>
      <p:sp>
        <p:nvSpPr>
          <p:cNvPr id="20" name="Shape 18"/>
          <p:cNvSpPr/>
          <p:nvPr/>
        </p:nvSpPr>
        <p:spPr>
          <a:xfrm>
            <a:off x="685800" y="2313432"/>
            <a:ext cx="73152" cy="786384"/>
          </a:xfrm>
          <a:prstGeom prst="rect">
            <a:avLst/>
          </a:prstGeom>
          <a:solidFill>
            <a:srgbClr val="00B7C3"/>
          </a:solidFill>
          <a:ln w="12700">
            <a:solidFill>
              <a:srgbClr val="00B7C3"/>
            </a:solidFill>
            <a:prstDash val="solid"/>
          </a:ln>
        </p:spPr>
      </p:sp>
      <p:sp>
        <p:nvSpPr>
          <p:cNvPr id="21" name="Shape 19"/>
          <p:cNvSpPr/>
          <p:nvPr/>
        </p:nvSpPr>
        <p:spPr>
          <a:xfrm>
            <a:off x="850392" y="2468880"/>
            <a:ext cx="393192" cy="393192"/>
          </a:xfrm>
          <a:prstGeom prst="ellipse">
            <a:avLst/>
          </a:prstGeom>
          <a:solidFill>
            <a:srgbClr val="00B7C3"/>
          </a:solidFill>
          <a:ln w="12700">
            <a:solidFill>
              <a:srgbClr val="00B7C3"/>
            </a:solidFill>
            <a:prstDash val="solid"/>
          </a:ln>
        </p:spPr>
      </p:sp>
      <p:sp>
        <p:nvSpPr>
          <p:cNvPr id="22" name="Text 20"/>
          <p:cNvSpPr/>
          <p:nvPr/>
        </p:nvSpPr>
        <p:spPr>
          <a:xfrm>
            <a:off x="850392" y="252831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1344168" y="2441448"/>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APIM in 2026</a:t>
            </a:r>
            <a:endParaRPr lang="en-US" sz="1250" dirty="0"/>
          </a:p>
        </p:txBody>
      </p:sp>
      <p:sp>
        <p:nvSpPr>
          <p:cNvPr id="24" name="Text 22"/>
          <p:cNvSpPr/>
          <p:nvPr/>
        </p:nvSpPr>
        <p:spPr>
          <a:xfrm>
            <a:off x="1344168" y="2770632"/>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15–25 · refresher + new capabilities</a:t>
            </a:r>
            <a:endParaRPr lang="en-US" sz="940" dirty="0"/>
          </a:p>
        </p:txBody>
      </p:sp>
      <p:sp>
        <p:nvSpPr>
          <p:cNvPr id="25" name="Shape 23"/>
          <p:cNvSpPr/>
          <p:nvPr/>
        </p:nvSpPr>
        <p:spPr>
          <a:xfrm>
            <a:off x="6263640" y="2313432"/>
            <a:ext cx="5166360" cy="786384"/>
          </a:xfrm>
          <a:prstGeom prst="rect">
            <a:avLst/>
          </a:prstGeom>
          <a:solidFill>
            <a:srgbClr val="FFFFFF"/>
          </a:solidFill>
          <a:ln w="10160">
            <a:solidFill>
              <a:srgbClr val="D8E2EC"/>
            </a:solidFill>
            <a:prstDash val="solid"/>
          </a:ln>
        </p:spPr>
      </p:sp>
      <p:sp>
        <p:nvSpPr>
          <p:cNvPr id="26" name="Shape 24"/>
          <p:cNvSpPr/>
          <p:nvPr/>
        </p:nvSpPr>
        <p:spPr>
          <a:xfrm>
            <a:off x="6263640" y="2313432"/>
            <a:ext cx="73152" cy="786384"/>
          </a:xfrm>
          <a:prstGeom prst="rect">
            <a:avLst/>
          </a:prstGeom>
          <a:solidFill>
            <a:srgbClr val="00B7C3"/>
          </a:solidFill>
          <a:ln w="12700">
            <a:solidFill>
              <a:srgbClr val="00B7C3"/>
            </a:solidFill>
            <a:prstDash val="solid"/>
          </a:ln>
        </p:spPr>
      </p:sp>
      <p:sp>
        <p:nvSpPr>
          <p:cNvPr id="27" name="Shape 25"/>
          <p:cNvSpPr/>
          <p:nvPr/>
        </p:nvSpPr>
        <p:spPr>
          <a:xfrm>
            <a:off x="6428232" y="2468880"/>
            <a:ext cx="393192" cy="393192"/>
          </a:xfrm>
          <a:prstGeom prst="ellipse">
            <a:avLst/>
          </a:prstGeom>
          <a:solidFill>
            <a:srgbClr val="00B7C3"/>
          </a:solidFill>
          <a:ln w="12700">
            <a:solidFill>
              <a:srgbClr val="00B7C3"/>
            </a:solidFill>
            <a:prstDash val="solid"/>
          </a:ln>
        </p:spPr>
      </p:sp>
      <p:sp>
        <p:nvSpPr>
          <p:cNvPr id="28" name="Text 26"/>
          <p:cNvSpPr/>
          <p:nvPr/>
        </p:nvSpPr>
        <p:spPr>
          <a:xfrm>
            <a:off x="6428232" y="252831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6922008" y="2441448"/>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Capabilities deep dive</a:t>
            </a:r>
            <a:endParaRPr lang="en-US" sz="1250" dirty="0"/>
          </a:p>
        </p:txBody>
      </p:sp>
      <p:sp>
        <p:nvSpPr>
          <p:cNvPr id="30" name="Text 28"/>
          <p:cNvSpPr/>
          <p:nvPr/>
        </p:nvSpPr>
        <p:spPr>
          <a:xfrm>
            <a:off x="6922008" y="2770632"/>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25–40 · five pillars</a:t>
            </a:r>
            <a:endParaRPr lang="en-US" sz="940" dirty="0"/>
          </a:p>
        </p:txBody>
      </p:sp>
      <p:sp>
        <p:nvSpPr>
          <p:cNvPr id="31" name="Shape 29"/>
          <p:cNvSpPr/>
          <p:nvPr/>
        </p:nvSpPr>
        <p:spPr>
          <a:xfrm>
            <a:off x="685800" y="3483864"/>
            <a:ext cx="5166360" cy="786384"/>
          </a:xfrm>
          <a:prstGeom prst="rect">
            <a:avLst/>
          </a:prstGeom>
          <a:solidFill>
            <a:srgbClr val="FFFFFF"/>
          </a:solidFill>
          <a:ln w="10160">
            <a:solidFill>
              <a:srgbClr val="D8E2EC"/>
            </a:solidFill>
            <a:prstDash val="solid"/>
          </a:ln>
        </p:spPr>
      </p:sp>
      <p:sp>
        <p:nvSpPr>
          <p:cNvPr id="32" name="Shape 30"/>
          <p:cNvSpPr/>
          <p:nvPr/>
        </p:nvSpPr>
        <p:spPr>
          <a:xfrm>
            <a:off x="685800" y="3483864"/>
            <a:ext cx="73152" cy="786384"/>
          </a:xfrm>
          <a:prstGeom prst="rect">
            <a:avLst/>
          </a:prstGeom>
          <a:solidFill>
            <a:srgbClr val="FFB900"/>
          </a:solidFill>
          <a:ln w="12700">
            <a:solidFill>
              <a:srgbClr val="FFB900"/>
            </a:solidFill>
            <a:prstDash val="solid"/>
          </a:ln>
        </p:spPr>
      </p:sp>
      <p:sp>
        <p:nvSpPr>
          <p:cNvPr id="33" name="Shape 31"/>
          <p:cNvSpPr/>
          <p:nvPr/>
        </p:nvSpPr>
        <p:spPr>
          <a:xfrm>
            <a:off x="850392" y="3639312"/>
            <a:ext cx="393192" cy="393192"/>
          </a:xfrm>
          <a:prstGeom prst="ellipse">
            <a:avLst/>
          </a:prstGeom>
          <a:solidFill>
            <a:srgbClr val="FFB900"/>
          </a:solidFill>
          <a:ln w="12700">
            <a:solidFill>
              <a:srgbClr val="FFB900"/>
            </a:solidFill>
            <a:prstDash val="solid"/>
          </a:ln>
        </p:spPr>
      </p:sp>
      <p:sp>
        <p:nvSpPr>
          <p:cNvPr id="34" name="Text 32"/>
          <p:cNvSpPr/>
          <p:nvPr/>
        </p:nvSpPr>
        <p:spPr>
          <a:xfrm>
            <a:off x="850392" y="3698748"/>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a:t>
            </a:r>
            <a:endParaRPr lang="en-US" sz="800" dirty="0"/>
          </a:p>
        </p:txBody>
      </p:sp>
      <p:sp>
        <p:nvSpPr>
          <p:cNvPr id="35" name="Text 33"/>
          <p:cNvSpPr/>
          <p:nvPr/>
        </p:nvSpPr>
        <p:spPr>
          <a:xfrm>
            <a:off x="1344168" y="3611880"/>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Live demo</a:t>
            </a:r>
            <a:endParaRPr lang="en-US" sz="1250" dirty="0"/>
          </a:p>
        </p:txBody>
      </p:sp>
      <p:sp>
        <p:nvSpPr>
          <p:cNvPr id="36" name="Text 34"/>
          <p:cNvSpPr/>
          <p:nvPr/>
        </p:nvSpPr>
        <p:spPr>
          <a:xfrm>
            <a:off x="1344168" y="3941064"/>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40–65 · D1–D8</a:t>
            </a:r>
            <a:endParaRPr lang="en-US" sz="940" dirty="0"/>
          </a:p>
        </p:txBody>
      </p:sp>
      <p:sp>
        <p:nvSpPr>
          <p:cNvPr id="37" name="Shape 35"/>
          <p:cNvSpPr/>
          <p:nvPr/>
        </p:nvSpPr>
        <p:spPr>
          <a:xfrm>
            <a:off x="6263640" y="3483864"/>
            <a:ext cx="5166360" cy="786384"/>
          </a:xfrm>
          <a:prstGeom prst="rect">
            <a:avLst/>
          </a:prstGeom>
          <a:solidFill>
            <a:srgbClr val="FFFFFF"/>
          </a:solidFill>
          <a:ln w="10160">
            <a:solidFill>
              <a:srgbClr val="D8E2EC"/>
            </a:solidFill>
            <a:prstDash val="solid"/>
          </a:ln>
        </p:spPr>
      </p:sp>
      <p:sp>
        <p:nvSpPr>
          <p:cNvPr id="38" name="Shape 36"/>
          <p:cNvSpPr/>
          <p:nvPr/>
        </p:nvSpPr>
        <p:spPr>
          <a:xfrm>
            <a:off x="6263640" y="3483864"/>
            <a:ext cx="73152" cy="786384"/>
          </a:xfrm>
          <a:prstGeom prst="rect">
            <a:avLst/>
          </a:prstGeom>
          <a:solidFill>
            <a:srgbClr val="00B7C3"/>
          </a:solidFill>
          <a:ln w="12700">
            <a:solidFill>
              <a:srgbClr val="00B7C3"/>
            </a:solidFill>
            <a:prstDash val="solid"/>
          </a:ln>
        </p:spPr>
      </p:sp>
      <p:sp>
        <p:nvSpPr>
          <p:cNvPr id="39" name="Shape 37"/>
          <p:cNvSpPr/>
          <p:nvPr/>
        </p:nvSpPr>
        <p:spPr>
          <a:xfrm>
            <a:off x="6428232" y="3639312"/>
            <a:ext cx="393192" cy="393192"/>
          </a:xfrm>
          <a:prstGeom prst="ellipse">
            <a:avLst/>
          </a:prstGeom>
          <a:solidFill>
            <a:srgbClr val="00B7C3"/>
          </a:solidFill>
          <a:ln w="12700">
            <a:solidFill>
              <a:srgbClr val="00B7C3"/>
            </a:solidFill>
            <a:prstDash val="solid"/>
          </a:ln>
        </p:spPr>
      </p:sp>
      <p:sp>
        <p:nvSpPr>
          <p:cNvPr id="40" name="Text 38"/>
          <p:cNvSpPr/>
          <p:nvPr/>
        </p:nvSpPr>
        <p:spPr>
          <a:xfrm>
            <a:off x="6428232" y="3698748"/>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6</a:t>
            </a:r>
            <a:endParaRPr lang="en-US" sz="800" dirty="0"/>
          </a:p>
        </p:txBody>
      </p:sp>
      <p:sp>
        <p:nvSpPr>
          <p:cNvPr id="41" name="Text 39"/>
          <p:cNvSpPr/>
          <p:nvPr/>
        </p:nvSpPr>
        <p:spPr>
          <a:xfrm>
            <a:off x="6922008" y="3611880"/>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Pricing, limits, tiering</a:t>
            </a:r>
            <a:endParaRPr lang="en-US" sz="1250" dirty="0"/>
          </a:p>
        </p:txBody>
      </p:sp>
      <p:sp>
        <p:nvSpPr>
          <p:cNvPr id="42" name="Text 40"/>
          <p:cNvSpPr/>
          <p:nvPr/>
        </p:nvSpPr>
        <p:spPr>
          <a:xfrm>
            <a:off x="6922008" y="3941064"/>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65–75 · make the trade-offs explicit</a:t>
            </a:r>
            <a:endParaRPr lang="en-US" sz="940" dirty="0"/>
          </a:p>
        </p:txBody>
      </p:sp>
      <p:sp>
        <p:nvSpPr>
          <p:cNvPr id="43" name="Shape 41"/>
          <p:cNvSpPr/>
          <p:nvPr/>
        </p:nvSpPr>
        <p:spPr>
          <a:xfrm>
            <a:off x="685800" y="4654296"/>
            <a:ext cx="5166360" cy="786384"/>
          </a:xfrm>
          <a:prstGeom prst="rect">
            <a:avLst/>
          </a:prstGeom>
          <a:solidFill>
            <a:srgbClr val="FFFFFF"/>
          </a:solidFill>
          <a:ln w="10160">
            <a:solidFill>
              <a:srgbClr val="D8E2EC"/>
            </a:solidFill>
            <a:prstDash val="solid"/>
          </a:ln>
        </p:spPr>
      </p:sp>
      <p:sp>
        <p:nvSpPr>
          <p:cNvPr id="44" name="Shape 42"/>
          <p:cNvSpPr/>
          <p:nvPr/>
        </p:nvSpPr>
        <p:spPr>
          <a:xfrm>
            <a:off x="685800" y="4654296"/>
            <a:ext cx="73152" cy="786384"/>
          </a:xfrm>
          <a:prstGeom prst="rect">
            <a:avLst/>
          </a:prstGeom>
          <a:solidFill>
            <a:srgbClr val="00B7C3"/>
          </a:solidFill>
          <a:ln w="12700">
            <a:solidFill>
              <a:srgbClr val="00B7C3"/>
            </a:solidFill>
            <a:prstDash val="solid"/>
          </a:ln>
        </p:spPr>
      </p:sp>
      <p:sp>
        <p:nvSpPr>
          <p:cNvPr id="45" name="Shape 43"/>
          <p:cNvSpPr/>
          <p:nvPr/>
        </p:nvSpPr>
        <p:spPr>
          <a:xfrm>
            <a:off x="850392" y="4809744"/>
            <a:ext cx="393192" cy="393192"/>
          </a:xfrm>
          <a:prstGeom prst="ellipse">
            <a:avLst/>
          </a:prstGeom>
          <a:solidFill>
            <a:srgbClr val="00B7C3"/>
          </a:solidFill>
          <a:ln w="12700">
            <a:solidFill>
              <a:srgbClr val="00B7C3"/>
            </a:solidFill>
            <a:prstDash val="solid"/>
          </a:ln>
        </p:spPr>
      </p:sp>
      <p:sp>
        <p:nvSpPr>
          <p:cNvPr id="46" name="Text 44"/>
          <p:cNvSpPr/>
          <p:nvPr/>
        </p:nvSpPr>
        <p:spPr>
          <a:xfrm>
            <a:off x="850392" y="4869180"/>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7</a:t>
            </a:r>
            <a:endParaRPr lang="en-US" sz="800" dirty="0"/>
          </a:p>
        </p:txBody>
      </p:sp>
      <p:sp>
        <p:nvSpPr>
          <p:cNvPr id="47" name="Text 45"/>
          <p:cNvSpPr/>
          <p:nvPr/>
        </p:nvSpPr>
        <p:spPr>
          <a:xfrm>
            <a:off x="1344168" y="4782312"/>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Patterns &amp; labs</a:t>
            </a:r>
            <a:endParaRPr lang="en-US" sz="1250" dirty="0"/>
          </a:p>
        </p:txBody>
      </p:sp>
      <p:sp>
        <p:nvSpPr>
          <p:cNvPr id="48" name="Text 46"/>
          <p:cNvSpPr/>
          <p:nvPr/>
        </p:nvSpPr>
        <p:spPr>
          <a:xfrm>
            <a:off x="1344168" y="5111496"/>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75–82 · crawl / walk / run</a:t>
            </a:r>
            <a:endParaRPr lang="en-US" sz="940" dirty="0"/>
          </a:p>
        </p:txBody>
      </p:sp>
      <p:sp>
        <p:nvSpPr>
          <p:cNvPr id="49" name="Shape 47"/>
          <p:cNvSpPr/>
          <p:nvPr/>
        </p:nvSpPr>
        <p:spPr>
          <a:xfrm>
            <a:off x="6263640" y="4654296"/>
            <a:ext cx="5166360" cy="786384"/>
          </a:xfrm>
          <a:prstGeom prst="rect">
            <a:avLst/>
          </a:prstGeom>
          <a:solidFill>
            <a:srgbClr val="FFFFFF"/>
          </a:solidFill>
          <a:ln w="10160">
            <a:solidFill>
              <a:srgbClr val="D8E2EC"/>
            </a:solidFill>
            <a:prstDash val="solid"/>
          </a:ln>
        </p:spPr>
      </p:sp>
      <p:sp>
        <p:nvSpPr>
          <p:cNvPr id="50" name="Shape 48"/>
          <p:cNvSpPr/>
          <p:nvPr/>
        </p:nvSpPr>
        <p:spPr>
          <a:xfrm>
            <a:off x="6263640" y="4654296"/>
            <a:ext cx="73152" cy="786384"/>
          </a:xfrm>
          <a:prstGeom prst="rect">
            <a:avLst/>
          </a:prstGeom>
          <a:solidFill>
            <a:srgbClr val="00B7C3"/>
          </a:solidFill>
          <a:ln w="12700">
            <a:solidFill>
              <a:srgbClr val="00B7C3"/>
            </a:solidFill>
            <a:prstDash val="solid"/>
          </a:ln>
        </p:spPr>
      </p:sp>
      <p:sp>
        <p:nvSpPr>
          <p:cNvPr id="51" name="Shape 49"/>
          <p:cNvSpPr/>
          <p:nvPr/>
        </p:nvSpPr>
        <p:spPr>
          <a:xfrm>
            <a:off x="6428232" y="4809744"/>
            <a:ext cx="393192" cy="393192"/>
          </a:xfrm>
          <a:prstGeom prst="ellipse">
            <a:avLst/>
          </a:prstGeom>
          <a:solidFill>
            <a:srgbClr val="00B7C3"/>
          </a:solidFill>
          <a:ln w="12700">
            <a:solidFill>
              <a:srgbClr val="00B7C3"/>
            </a:solidFill>
            <a:prstDash val="solid"/>
          </a:ln>
        </p:spPr>
      </p:sp>
      <p:sp>
        <p:nvSpPr>
          <p:cNvPr id="52" name="Text 50"/>
          <p:cNvSpPr/>
          <p:nvPr/>
        </p:nvSpPr>
        <p:spPr>
          <a:xfrm>
            <a:off x="6428232" y="4869180"/>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8</a:t>
            </a:r>
            <a:endParaRPr lang="en-US" sz="800" dirty="0"/>
          </a:p>
        </p:txBody>
      </p:sp>
      <p:sp>
        <p:nvSpPr>
          <p:cNvPr id="53" name="Text 51"/>
          <p:cNvSpPr/>
          <p:nvPr/>
        </p:nvSpPr>
        <p:spPr>
          <a:xfrm>
            <a:off x="6922008" y="4782312"/>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Takeaways + Q&amp;A</a:t>
            </a:r>
            <a:endParaRPr lang="en-US" sz="1250" dirty="0"/>
          </a:p>
        </p:txBody>
      </p:sp>
      <p:sp>
        <p:nvSpPr>
          <p:cNvPr id="54" name="Text 52"/>
          <p:cNvSpPr/>
          <p:nvPr/>
        </p:nvSpPr>
        <p:spPr>
          <a:xfrm>
            <a:off x="6922008" y="5111496"/>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82–90 · next steps</a:t>
            </a:r>
            <a:endParaRPr lang="en-US" sz="940" dirty="0"/>
          </a:p>
        </p:txBody>
      </p:sp>
      <p:sp>
        <p:nvSpPr>
          <p:cNvPr id="55" name="Shape 53"/>
          <p:cNvSpPr/>
          <p:nvPr/>
        </p:nvSpPr>
        <p:spPr>
          <a:xfrm>
            <a:off x="10378440" y="5074920"/>
            <a:ext cx="914400" cy="914400"/>
          </a:xfrm>
          <a:prstGeom prst="arc">
            <a:avLst/>
          </a:prstGeom>
          <a:solidFill>
            <a:srgbClr val="F5F7FA">
              <a:alpha val="0"/>
            </a:srgbClr>
          </a:solidFill>
          <a:ln w="38100">
            <a:solidFill>
              <a:srgbClr val="00B7C3">
                <a:alpha val="8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01</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1</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Welcome &amp; hook</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00–05 · 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WELCOME &amp; HOOK</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The AI sprawl story: one chatbot became forty apps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04</a:t>
            </a:r>
            <a:endParaRPr lang="en-US" sz="800" dirty="0"/>
          </a:p>
        </p:txBody>
      </p:sp>
      <p:sp>
        <p:nvSpPr>
          <p:cNvPr id="7" name="Shape 5"/>
          <p:cNvSpPr/>
          <p:nvPr/>
        </p:nvSpPr>
        <p:spPr>
          <a:xfrm>
            <a:off x="658368" y="1078992"/>
            <a:ext cx="3886200" cy="4434840"/>
          </a:xfrm>
          <a:prstGeom prst="roundRect">
            <a:avLst>
              <a:gd name="adj" fmla="val 1882"/>
            </a:avLst>
          </a:prstGeom>
          <a:solidFill>
            <a:srgbClr val="0B1E3F"/>
          </a:solidFill>
          <a:ln w="12700">
            <a:solidFill>
              <a:srgbClr val="0B1E3F"/>
            </a:solidFill>
            <a:prstDash val="solid"/>
          </a:ln>
        </p:spPr>
      </p:sp>
      <p:sp>
        <p:nvSpPr>
          <p:cNvPr id="8" name="Text 6"/>
          <p:cNvSpPr/>
          <p:nvPr/>
        </p:nvSpPr>
        <p:spPr>
          <a:xfrm>
            <a:off x="941832" y="1417320"/>
            <a:ext cx="2194560" cy="329184"/>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Zava Retail</a:t>
            </a:r>
            <a:endParaRPr lang="en-US" sz="2100" dirty="0"/>
          </a:p>
        </p:txBody>
      </p:sp>
      <p:sp>
        <p:nvSpPr>
          <p:cNvPr id="9" name="Text 7"/>
          <p:cNvSpPr/>
          <p:nvPr/>
        </p:nvSpPr>
        <p:spPr>
          <a:xfrm>
            <a:off x="950976" y="2057400"/>
            <a:ext cx="2651760" cy="914400"/>
          </a:xfrm>
          <a:prstGeom prst="rect">
            <a:avLst/>
          </a:prstGeom>
          <a:noFill/>
          <a:ln/>
        </p:spPr>
        <p:txBody>
          <a:bodyPr wrap="square" lIns="0" tIns="0" rIns="0" bIns="0" rtlCol="0" anchor="ctr">
            <a:normAutofit/>
          </a:bodyPr>
          <a:lstStyle/>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40 AI apps</a:t>
            </a:r>
            <a:endParaRPr lang="en-US" sz="2100" dirty="0"/>
          </a:p>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3 model providers</a:t>
            </a:r>
            <a:endParaRPr lang="en-US" sz="2100" dirty="0"/>
          </a:p>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1 surprise invoice</a:t>
            </a:r>
            <a:endParaRPr lang="en-US" sz="2100" dirty="0"/>
          </a:p>
        </p:txBody>
      </p:sp>
      <p:sp>
        <p:nvSpPr>
          <p:cNvPr id="10" name="Text 8"/>
          <p:cNvSpPr/>
          <p:nvPr/>
        </p:nvSpPr>
        <p:spPr>
          <a:xfrm>
            <a:off x="950976" y="3749040"/>
            <a:ext cx="3063240" cy="493776"/>
          </a:xfrm>
          <a:prstGeom prst="rect">
            <a:avLst/>
          </a:prstGeom>
          <a:noFill/>
          <a:ln/>
        </p:spPr>
        <p:txBody>
          <a:bodyPr wrap="square" lIns="0" tIns="0" rIns="0" bIns="0" rtlCol="0" anchor="ctr">
            <a:normAutofit/>
          </a:bodyPr>
          <a:lstStyle/>
          <a:p>
            <a:pPr marL="0" indent="0">
              <a:buNone/>
            </a:pPr>
            <a:r>
              <a:rPr lang="en-US" sz="1350" dirty="0">
                <a:solidFill>
                  <a:srgbClr val="D7E7F6"/>
                </a:solidFill>
                <a:latin typeface="Segoe UI" pitchFamily="34" charset="0"/>
                <a:ea typeface="Segoe UI" pitchFamily="34" charset="-122"/>
                <a:cs typeface="Segoe UI" pitchFamily="34" charset="-120"/>
              </a:rPr>
              <a:t>No single owner of keys, quotas, safety policy or token telemetry.</a:t>
            </a:r>
            <a:endParaRPr lang="en-US" sz="1350" dirty="0"/>
          </a:p>
        </p:txBody>
      </p:sp>
      <p:sp>
        <p:nvSpPr>
          <p:cNvPr id="11" name="Shape 9"/>
          <p:cNvSpPr/>
          <p:nvPr/>
        </p:nvSpPr>
        <p:spPr>
          <a:xfrm>
            <a:off x="4892040" y="123444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2" name="Shape 10"/>
          <p:cNvSpPr/>
          <p:nvPr/>
        </p:nvSpPr>
        <p:spPr>
          <a:xfrm>
            <a:off x="4892040" y="1234440"/>
            <a:ext cx="73152" cy="1161288"/>
          </a:xfrm>
          <a:prstGeom prst="rect">
            <a:avLst/>
          </a:prstGeom>
          <a:solidFill>
            <a:srgbClr val="00B7C3"/>
          </a:solidFill>
          <a:ln w="12700">
            <a:solidFill>
              <a:srgbClr val="00B7C3"/>
            </a:solidFill>
            <a:prstDash val="solid"/>
          </a:ln>
        </p:spPr>
      </p:sp>
      <p:sp>
        <p:nvSpPr>
          <p:cNvPr id="13" name="Shape 11"/>
          <p:cNvSpPr/>
          <p:nvPr/>
        </p:nvSpPr>
        <p:spPr>
          <a:xfrm>
            <a:off x="5056632" y="1389888"/>
            <a:ext cx="393192" cy="393192"/>
          </a:xfrm>
          <a:prstGeom prst="ellipse">
            <a:avLst/>
          </a:prstGeom>
          <a:solidFill>
            <a:srgbClr val="00B7C3"/>
          </a:solidFill>
          <a:ln w="12700">
            <a:solidFill>
              <a:srgbClr val="00B7C3"/>
            </a:solidFill>
            <a:prstDash val="solid"/>
          </a:ln>
        </p:spPr>
      </p:sp>
      <p:sp>
        <p:nvSpPr>
          <p:cNvPr id="14" name="Text 12"/>
          <p:cNvSpPr/>
          <p:nvPr/>
        </p:nvSpPr>
        <p:spPr>
          <a:xfrm>
            <a:off x="505663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K</a:t>
            </a:r>
            <a:endParaRPr lang="en-US" sz="800" dirty="0"/>
          </a:p>
        </p:txBody>
      </p:sp>
      <p:sp>
        <p:nvSpPr>
          <p:cNvPr id="15" name="Text 13"/>
          <p:cNvSpPr/>
          <p:nvPr/>
        </p:nvSpPr>
        <p:spPr>
          <a:xfrm>
            <a:off x="5550408" y="136245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Keys in every app</a:t>
            </a:r>
            <a:endParaRPr lang="en-US" sz="1250" dirty="0"/>
          </a:p>
        </p:txBody>
      </p:sp>
      <p:sp>
        <p:nvSpPr>
          <p:cNvPr id="16" name="Text 14"/>
          <p:cNvSpPr/>
          <p:nvPr/>
        </p:nvSpPr>
        <p:spPr>
          <a:xfrm>
            <a:off x="5550408" y="169164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rotation and breach response become manual</a:t>
            </a:r>
            <a:endParaRPr lang="en-US" sz="930" dirty="0"/>
          </a:p>
        </p:txBody>
      </p:sp>
      <p:sp>
        <p:nvSpPr>
          <p:cNvPr id="17" name="Shape 15"/>
          <p:cNvSpPr/>
          <p:nvPr/>
        </p:nvSpPr>
        <p:spPr>
          <a:xfrm>
            <a:off x="8046720" y="123444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8" name="Shape 16"/>
          <p:cNvSpPr/>
          <p:nvPr/>
        </p:nvSpPr>
        <p:spPr>
          <a:xfrm>
            <a:off x="8046720" y="1234440"/>
            <a:ext cx="73152" cy="1161288"/>
          </a:xfrm>
          <a:prstGeom prst="rect">
            <a:avLst/>
          </a:prstGeom>
          <a:solidFill>
            <a:srgbClr val="FFB900"/>
          </a:solidFill>
          <a:ln w="12700">
            <a:solidFill>
              <a:srgbClr val="FFB900"/>
            </a:solidFill>
            <a:prstDash val="solid"/>
          </a:ln>
        </p:spPr>
      </p:sp>
      <p:sp>
        <p:nvSpPr>
          <p:cNvPr id="19" name="Shape 17"/>
          <p:cNvSpPr/>
          <p:nvPr/>
        </p:nvSpPr>
        <p:spPr>
          <a:xfrm>
            <a:off x="8211312" y="1389888"/>
            <a:ext cx="393192" cy="393192"/>
          </a:xfrm>
          <a:prstGeom prst="ellipse">
            <a:avLst/>
          </a:prstGeom>
          <a:solidFill>
            <a:srgbClr val="FFB900"/>
          </a:solidFill>
          <a:ln w="12700">
            <a:solidFill>
              <a:srgbClr val="FFB900"/>
            </a:solidFill>
            <a:prstDash val="solid"/>
          </a:ln>
        </p:spPr>
      </p:sp>
      <p:sp>
        <p:nvSpPr>
          <p:cNvPr id="20" name="Text 18"/>
          <p:cNvSpPr/>
          <p:nvPr/>
        </p:nvSpPr>
        <p:spPr>
          <a:xfrm>
            <a:off x="821131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429</a:t>
            </a:r>
            <a:endParaRPr lang="en-US" sz="800" dirty="0"/>
          </a:p>
        </p:txBody>
      </p:sp>
      <p:sp>
        <p:nvSpPr>
          <p:cNvPr id="21" name="Text 19"/>
          <p:cNvSpPr/>
          <p:nvPr/>
        </p:nvSpPr>
        <p:spPr>
          <a:xfrm>
            <a:off x="8705088" y="136245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429 outages</a:t>
            </a:r>
            <a:endParaRPr lang="en-US" sz="1250" dirty="0"/>
          </a:p>
        </p:txBody>
      </p:sp>
      <p:sp>
        <p:nvSpPr>
          <p:cNvPr id="22" name="Text 20"/>
          <p:cNvSpPr/>
          <p:nvPr/>
        </p:nvSpPr>
        <p:spPr>
          <a:xfrm>
            <a:off x="8705088" y="169164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quota exhaustion hits customers before ops sees it</a:t>
            </a:r>
            <a:endParaRPr lang="en-US" sz="930" dirty="0"/>
          </a:p>
        </p:txBody>
      </p:sp>
      <p:sp>
        <p:nvSpPr>
          <p:cNvPr id="23" name="Shape 21"/>
          <p:cNvSpPr/>
          <p:nvPr/>
        </p:nvSpPr>
        <p:spPr>
          <a:xfrm>
            <a:off x="4892040" y="288036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4" name="Shape 22"/>
          <p:cNvSpPr/>
          <p:nvPr/>
        </p:nvSpPr>
        <p:spPr>
          <a:xfrm>
            <a:off x="4892040" y="2880360"/>
            <a:ext cx="73152" cy="1161288"/>
          </a:xfrm>
          <a:prstGeom prst="rect">
            <a:avLst/>
          </a:prstGeom>
          <a:solidFill>
            <a:srgbClr val="00B7C3"/>
          </a:solidFill>
          <a:ln w="12700">
            <a:solidFill>
              <a:srgbClr val="00B7C3"/>
            </a:solidFill>
            <a:prstDash val="solid"/>
          </a:ln>
        </p:spPr>
      </p:sp>
      <p:sp>
        <p:nvSpPr>
          <p:cNvPr id="25" name="Shape 23"/>
          <p:cNvSpPr/>
          <p:nvPr/>
        </p:nvSpPr>
        <p:spPr>
          <a:xfrm>
            <a:off x="5056632" y="3035808"/>
            <a:ext cx="393192" cy="393192"/>
          </a:xfrm>
          <a:prstGeom prst="ellipse">
            <a:avLst/>
          </a:prstGeom>
          <a:solidFill>
            <a:srgbClr val="00B7C3"/>
          </a:solidFill>
          <a:ln w="12700">
            <a:solidFill>
              <a:srgbClr val="00B7C3"/>
            </a:solidFill>
            <a:prstDash val="solid"/>
          </a:ln>
        </p:spPr>
      </p:sp>
      <p:sp>
        <p:nvSpPr>
          <p:cNvPr id="26" name="Text 24"/>
          <p:cNvSpPr/>
          <p:nvPr/>
        </p:nvSpPr>
        <p:spPr>
          <a:xfrm>
            <a:off x="5056632" y="30952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S</a:t>
            </a:r>
            <a:endParaRPr lang="en-US" sz="800" dirty="0"/>
          </a:p>
        </p:txBody>
      </p:sp>
      <p:sp>
        <p:nvSpPr>
          <p:cNvPr id="27" name="Text 25"/>
          <p:cNvSpPr/>
          <p:nvPr/>
        </p:nvSpPr>
        <p:spPr>
          <a:xfrm>
            <a:off x="5550408" y="300837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No safety baseline</a:t>
            </a:r>
            <a:endParaRPr lang="en-US" sz="1250" dirty="0"/>
          </a:p>
        </p:txBody>
      </p:sp>
      <p:sp>
        <p:nvSpPr>
          <p:cNvPr id="28" name="Text 26"/>
          <p:cNvSpPr/>
          <p:nvPr/>
        </p:nvSpPr>
        <p:spPr>
          <a:xfrm>
            <a:off x="5550408" y="333756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prompt attacks and unsafe outputs vary by team</a:t>
            </a:r>
            <a:endParaRPr lang="en-US" sz="930" dirty="0"/>
          </a:p>
        </p:txBody>
      </p:sp>
      <p:sp>
        <p:nvSpPr>
          <p:cNvPr id="29" name="Shape 27"/>
          <p:cNvSpPr/>
          <p:nvPr/>
        </p:nvSpPr>
        <p:spPr>
          <a:xfrm>
            <a:off x="8046720" y="288036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0" name="Shape 28"/>
          <p:cNvSpPr/>
          <p:nvPr/>
        </p:nvSpPr>
        <p:spPr>
          <a:xfrm>
            <a:off x="8046720" y="2880360"/>
            <a:ext cx="73152" cy="1161288"/>
          </a:xfrm>
          <a:prstGeom prst="rect">
            <a:avLst/>
          </a:prstGeom>
          <a:solidFill>
            <a:srgbClr val="00B7C3"/>
          </a:solidFill>
          <a:ln w="12700">
            <a:solidFill>
              <a:srgbClr val="00B7C3"/>
            </a:solidFill>
            <a:prstDash val="solid"/>
          </a:ln>
        </p:spPr>
      </p:sp>
      <p:sp>
        <p:nvSpPr>
          <p:cNvPr id="31" name="Shape 29"/>
          <p:cNvSpPr/>
          <p:nvPr/>
        </p:nvSpPr>
        <p:spPr>
          <a:xfrm>
            <a:off x="8211312" y="3035808"/>
            <a:ext cx="393192" cy="393192"/>
          </a:xfrm>
          <a:prstGeom prst="ellipse">
            <a:avLst/>
          </a:prstGeom>
          <a:solidFill>
            <a:srgbClr val="00B7C3"/>
          </a:solidFill>
          <a:ln w="12700">
            <a:solidFill>
              <a:srgbClr val="00B7C3"/>
            </a:solidFill>
            <a:prstDash val="solid"/>
          </a:ln>
        </p:spPr>
      </p:sp>
      <p:sp>
        <p:nvSpPr>
          <p:cNvPr id="32" name="Text 30"/>
          <p:cNvSpPr/>
          <p:nvPr/>
        </p:nvSpPr>
        <p:spPr>
          <a:xfrm>
            <a:off x="8211312" y="30952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33" name="Text 31"/>
          <p:cNvSpPr/>
          <p:nvPr/>
        </p:nvSpPr>
        <p:spPr>
          <a:xfrm>
            <a:off x="8705088" y="300837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No chargeback</a:t>
            </a:r>
            <a:endParaRPr lang="en-US" sz="1250" dirty="0"/>
          </a:p>
        </p:txBody>
      </p:sp>
      <p:sp>
        <p:nvSpPr>
          <p:cNvPr id="34" name="Text 32"/>
          <p:cNvSpPr/>
          <p:nvPr/>
        </p:nvSpPr>
        <p:spPr>
          <a:xfrm>
            <a:off x="8705088" y="333756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finance sees a bill, not accountable products</a:t>
            </a:r>
            <a:endParaRPr lang="en-US" sz="9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02</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2</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Why an AI gateway</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05–15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WHY AN AI GATEWAY</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Six challenges appear when AI moves past the pilot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06</a:t>
            </a:r>
            <a:endParaRPr lang="en-US" sz="800" dirty="0"/>
          </a:p>
        </p:txBody>
      </p:sp>
      <p:sp>
        <p:nvSpPr>
          <p:cNvPr id="7" name="Shape 5"/>
          <p:cNvSpPr/>
          <p:nvPr/>
        </p:nvSpPr>
        <p:spPr>
          <a:xfrm>
            <a:off x="65836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58368" y="1143000"/>
            <a:ext cx="73152" cy="1234440"/>
          </a:xfrm>
          <a:prstGeom prst="rect">
            <a:avLst/>
          </a:prstGeom>
          <a:solidFill>
            <a:srgbClr val="00B7C3"/>
          </a:solidFill>
          <a:ln w="12700">
            <a:solidFill>
              <a:srgbClr val="00B7C3"/>
            </a:solidFill>
            <a:prstDash val="solid"/>
          </a:ln>
        </p:spPr>
      </p:sp>
      <p:sp>
        <p:nvSpPr>
          <p:cNvPr id="9" name="Shape 7"/>
          <p:cNvSpPr/>
          <p:nvPr/>
        </p:nvSpPr>
        <p:spPr>
          <a:xfrm>
            <a:off x="822960"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822960"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31673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Credential sprawl</a:t>
            </a:r>
            <a:endParaRPr lang="en-US" sz="1250" dirty="0"/>
          </a:p>
        </p:txBody>
      </p:sp>
      <p:sp>
        <p:nvSpPr>
          <p:cNvPr id="12" name="Text 10"/>
          <p:cNvSpPr/>
          <p:nvPr/>
        </p:nvSpPr>
        <p:spPr>
          <a:xfrm>
            <a:off x="131673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Keys, tokens and provider accounts copied into apps.</a:t>
            </a:r>
            <a:endParaRPr lang="en-US" sz="980" dirty="0"/>
          </a:p>
        </p:txBody>
      </p:sp>
      <p:sp>
        <p:nvSpPr>
          <p:cNvPr id="13" name="Shape 11"/>
          <p:cNvSpPr/>
          <p:nvPr/>
        </p:nvSpPr>
        <p:spPr>
          <a:xfrm>
            <a:off x="440740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407408" y="1143000"/>
            <a:ext cx="73152" cy="1234440"/>
          </a:xfrm>
          <a:prstGeom prst="rect">
            <a:avLst/>
          </a:prstGeom>
          <a:solidFill>
            <a:srgbClr val="0078D4"/>
          </a:solidFill>
          <a:ln w="12700">
            <a:solidFill>
              <a:srgbClr val="0078D4"/>
            </a:solidFill>
            <a:prstDash val="solid"/>
          </a:ln>
        </p:spPr>
      </p:sp>
      <p:sp>
        <p:nvSpPr>
          <p:cNvPr id="15" name="Shape 13"/>
          <p:cNvSpPr/>
          <p:nvPr/>
        </p:nvSpPr>
        <p:spPr>
          <a:xfrm>
            <a:off x="4572000" y="1298448"/>
            <a:ext cx="393192" cy="393192"/>
          </a:xfrm>
          <a:prstGeom prst="ellipse">
            <a:avLst/>
          </a:prstGeom>
          <a:solidFill>
            <a:srgbClr val="0078D4"/>
          </a:solidFill>
          <a:ln w="12700">
            <a:solidFill>
              <a:srgbClr val="0078D4"/>
            </a:solidFill>
            <a:prstDash val="solid"/>
          </a:ln>
        </p:spPr>
      </p:sp>
      <p:sp>
        <p:nvSpPr>
          <p:cNvPr id="16" name="Text 14"/>
          <p:cNvSpPr/>
          <p:nvPr/>
        </p:nvSpPr>
        <p:spPr>
          <a:xfrm>
            <a:off x="4572000"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506577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Cost &amp; quota exhaustion</a:t>
            </a:r>
            <a:endParaRPr lang="en-US" sz="1250" dirty="0"/>
          </a:p>
        </p:txBody>
      </p:sp>
      <p:sp>
        <p:nvSpPr>
          <p:cNvPr id="18" name="Text 16"/>
          <p:cNvSpPr/>
          <p:nvPr/>
        </p:nvSpPr>
        <p:spPr>
          <a:xfrm>
            <a:off x="506577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One product can burn shared TPM/PTU or trigger 429s.</a:t>
            </a:r>
            <a:endParaRPr lang="en-US" sz="980" dirty="0"/>
          </a:p>
        </p:txBody>
      </p:sp>
      <p:sp>
        <p:nvSpPr>
          <p:cNvPr id="19" name="Shape 17"/>
          <p:cNvSpPr/>
          <p:nvPr/>
        </p:nvSpPr>
        <p:spPr>
          <a:xfrm>
            <a:off x="815644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8156448" y="1143000"/>
            <a:ext cx="73152" cy="1234440"/>
          </a:xfrm>
          <a:prstGeom prst="rect">
            <a:avLst/>
          </a:prstGeom>
          <a:solidFill>
            <a:srgbClr val="FFB900"/>
          </a:solidFill>
          <a:ln w="12700">
            <a:solidFill>
              <a:srgbClr val="FFB900"/>
            </a:solidFill>
            <a:prstDash val="solid"/>
          </a:ln>
        </p:spPr>
      </p:sp>
      <p:sp>
        <p:nvSpPr>
          <p:cNvPr id="21" name="Shape 19"/>
          <p:cNvSpPr/>
          <p:nvPr/>
        </p:nvSpPr>
        <p:spPr>
          <a:xfrm>
            <a:off x="8321040" y="1298448"/>
            <a:ext cx="393192" cy="393192"/>
          </a:xfrm>
          <a:prstGeom prst="ellipse">
            <a:avLst/>
          </a:prstGeom>
          <a:solidFill>
            <a:srgbClr val="FFB900"/>
          </a:solidFill>
          <a:ln w="12700">
            <a:solidFill>
              <a:srgbClr val="FFB900"/>
            </a:solidFill>
            <a:prstDash val="solid"/>
          </a:ln>
        </p:spPr>
      </p:sp>
      <p:sp>
        <p:nvSpPr>
          <p:cNvPr id="22" name="Text 20"/>
          <p:cNvSpPr/>
          <p:nvPr/>
        </p:nvSpPr>
        <p:spPr>
          <a:xfrm>
            <a:off x="8321040"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881481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Resiliency gaps</a:t>
            </a:r>
            <a:endParaRPr lang="en-US" sz="1250" dirty="0"/>
          </a:p>
        </p:txBody>
      </p:sp>
      <p:sp>
        <p:nvSpPr>
          <p:cNvPr id="24" name="Text 22"/>
          <p:cNvSpPr/>
          <p:nvPr/>
        </p:nvSpPr>
        <p:spPr>
          <a:xfrm>
            <a:off x="881481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Every app reimplements retries, failover and backoff.</a:t>
            </a:r>
            <a:endParaRPr lang="en-US" sz="980" dirty="0"/>
          </a:p>
        </p:txBody>
      </p:sp>
      <p:sp>
        <p:nvSpPr>
          <p:cNvPr id="25" name="Shape 23"/>
          <p:cNvSpPr/>
          <p:nvPr/>
        </p:nvSpPr>
        <p:spPr>
          <a:xfrm>
            <a:off x="65836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4"/>
          <p:cNvSpPr/>
          <p:nvPr/>
        </p:nvSpPr>
        <p:spPr>
          <a:xfrm>
            <a:off x="658368" y="3017520"/>
            <a:ext cx="73152" cy="1234440"/>
          </a:xfrm>
          <a:prstGeom prst="rect">
            <a:avLst/>
          </a:prstGeom>
          <a:solidFill>
            <a:srgbClr val="00B7C3"/>
          </a:solidFill>
          <a:ln w="12700">
            <a:solidFill>
              <a:srgbClr val="00B7C3"/>
            </a:solidFill>
            <a:prstDash val="solid"/>
          </a:ln>
        </p:spPr>
      </p:sp>
      <p:sp>
        <p:nvSpPr>
          <p:cNvPr id="27" name="Shape 25"/>
          <p:cNvSpPr/>
          <p:nvPr/>
        </p:nvSpPr>
        <p:spPr>
          <a:xfrm>
            <a:off x="822960" y="3172968"/>
            <a:ext cx="393192" cy="393192"/>
          </a:xfrm>
          <a:prstGeom prst="ellipse">
            <a:avLst/>
          </a:prstGeom>
          <a:solidFill>
            <a:srgbClr val="00B7C3"/>
          </a:solidFill>
          <a:ln w="12700">
            <a:solidFill>
              <a:srgbClr val="00B7C3"/>
            </a:solidFill>
            <a:prstDash val="solid"/>
          </a:ln>
        </p:spPr>
      </p:sp>
      <p:sp>
        <p:nvSpPr>
          <p:cNvPr id="28" name="Text 26"/>
          <p:cNvSpPr/>
          <p:nvPr/>
        </p:nvSpPr>
        <p:spPr>
          <a:xfrm>
            <a:off x="822960" y="32324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131673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Safety &amp; compliance</a:t>
            </a:r>
            <a:endParaRPr lang="en-US" sz="1250" dirty="0"/>
          </a:p>
        </p:txBody>
      </p:sp>
      <p:sp>
        <p:nvSpPr>
          <p:cNvPr id="30" name="Text 28"/>
          <p:cNvSpPr/>
          <p:nvPr/>
        </p:nvSpPr>
        <p:spPr>
          <a:xfrm>
            <a:off x="131673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No consistent Prompt Shields, harm categories or blocklists.</a:t>
            </a:r>
            <a:endParaRPr lang="en-US" sz="980" dirty="0"/>
          </a:p>
        </p:txBody>
      </p:sp>
      <p:sp>
        <p:nvSpPr>
          <p:cNvPr id="31" name="Shape 29"/>
          <p:cNvSpPr/>
          <p:nvPr/>
        </p:nvSpPr>
        <p:spPr>
          <a:xfrm>
            <a:off x="440740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2" name="Shape 30"/>
          <p:cNvSpPr/>
          <p:nvPr/>
        </p:nvSpPr>
        <p:spPr>
          <a:xfrm>
            <a:off x="4407408" y="3017520"/>
            <a:ext cx="73152" cy="1234440"/>
          </a:xfrm>
          <a:prstGeom prst="rect">
            <a:avLst/>
          </a:prstGeom>
          <a:solidFill>
            <a:srgbClr val="0078D4"/>
          </a:solidFill>
          <a:ln w="12700">
            <a:solidFill>
              <a:srgbClr val="0078D4"/>
            </a:solidFill>
            <a:prstDash val="solid"/>
          </a:ln>
        </p:spPr>
      </p:sp>
      <p:sp>
        <p:nvSpPr>
          <p:cNvPr id="33" name="Shape 31"/>
          <p:cNvSpPr/>
          <p:nvPr/>
        </p:nvSpPr>
        <p:spPr>
          <a:xfrm>
            <a:off x="4572000" y="3172968"/>
            <a:ext cx="393192" cy="393192"/>
          </a:xfrm>
          <a:prstGeom prst="ellipse">
            <a:avLst/>
          </a:prstGeom>
          <a:solidFill>
            <a:srgbClr val="0078D4"/>
          </a:solidFill>
          <a:ln w="12700">
            <a:solidFill>
              <a:srgbClr val="0078D4"/>
            </a:solidFill>
            <a:prstDash val="solid"/>
          </a:ln>
        </p:spPr>
      </p:sp>
      <p:sp>
        <p:nvSpPr>
          <p:cNvPr id="34" name="Text 32"/>
          <p:cNvSpPr/>
          <p:nvPr/>
        </p:nvSpPr>
        <p:spPr>
          <a:xfrm>
            <a:off x="4572000" y="32324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a:t>
            </a:r>
            <a:endParaRPr lang="en-US" sz="800" dirty="0"/>
          </a:p>
        </p:txBody>
      </p:sp>
      <p:sp>
        <p:nvSpPr>
          <p:cNvPr id="35" name="Text 33"/>
          <p:cNvSpPr/>
          <p:nvPr/>
        </p:nvSpPr>
        <p:spPr>
          <a:xfrm>
            <a:off x="506577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Observability &amp; chargeback</a:t>
            </a:r>
            <a:endParaRPr lang="en-US" sz="1250" dirty="0"/>
          </a:p>
        </p:txBody>
      </p:sp>
      <p:sp>
        <p:nvSpPr>
          <p:cNvPr id="36" name="Text 34"/>
          <p:cNvSpPr/>
          <p:nvPr/>
        </p:nvSpPr>
        <p:spPr>
          <a:xfrm>
            <a:off x="506577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Token spend and prompt logs are fragmented.</a:t>
            </a:r>
            <a:endParaRPr lang="en-US" sz="980" dirty="0"/>
          </a:p>
        </p:txBody>
      </p:sp>
      <p:sp>
        <p:nvSpPr>
          <p:cNvPr id="37" name="Shape 35"/>
          <p:cNvSpPr/>
          <p:nvPr/>
        </p:nvSpPr>
        <p:spPr>
          <a:xfrm>
            <a:off x="815644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8" name="Shape 36"/>
          <p:cNvSpPr/>
          <p:nvPr/>
        </p:nvSpPr>
        <p:spPr>
          <a:xfrm>
            <a:off x="8156448" y="3017520"/>
            <a:ext cx="73152" cy="1234440"/>
          </a:xfrm>
          <a:prstGeom prst="rect">
            <a:avLst/>
          </a:prstGeom>
          <a:solidFill>
            <a:srgbClr val="FFB900"/>
          </a:solidFill>
          <a:ln w="12700">
            <a:solidFill>
              <a:srgbClr val="FFB900"/>
            </a:solidFill>
            <a:prstDash val="solid"/>
          </a:ln>
        </p:spPr>
      </p:sp>
      <p:sp>
        <p:nvSpPr>
          <p:cNvPr id="39" name="Shape 37"/>
          <p:cNvSpPr/>
          <p:nvPr/>
        </p:nvSpPr>
        <p:spPr>
          <a:xfrm>
            <a:off x="8321040" y="3172968"/>
            <a:ext cx="393192" cy="393192"/>
          </a:xfrm>
          <a:prstGeom prst="ellipse">
            <a:avLst/>
          </a:prstGeom>
          <a:solidFill>
            <a:srgbClr val="FFB900"/>
          </a:solidFill>
          <a:ln w="12700">
            <a:solidFill>
              <a:srgbClr val="FFB900"/>
            </a:solidFill>
            <a:prstDash val="solid"/>
          </a:ln>
        </p:spPr>
      </p:sp>
      <p:sp>
        <p:nvSpPr>
          <p:cNvPr id="40" name="Text 38"/>
          <p:cNvSpPr/>
          <p:nvPr/>
        </p:nvSpPr>
        <p:spPr>
          <a:xfrm>
            <a:off x="8321040" y="32324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6</a:t>
            </a:r>
            <a:endParaRPr lang="en-US" sz="800" dirty="0"/>
          </a:p>
        </p:txBody>
      </p:sp>
      <p:sp>
        <p:nvSpPr>
          <p:cNvPr id="41" name="Text 39"/>
          <p:cNvSpPr/>
          <p:nvPr/>
        </p:nvSpPr>
        <p:spPr>
          <a:xfrm>
            <a:off x="881481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MCP tool &amp; agent sprawl</a:t>
            </a:r>
            <a:endParaRPr lang="en-US" sz="1250" dirty="0"/>
          </a:p>
        </p:txBody>
      </p:sp>
      <p:sp>
        <p:nvSpPr>
          <p:cNvPr id="42" name="Text 40"/>
          <p:cNvSpPr/>
          <p:nvPr/>
        </p:nvSpPr>
        <p:spPr>
          <a:xfrm>
            <a:off x="881481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Tools and A2A agents multiply without central registry.</a:t>
            </a:r>
            <a:endParaRPr lang="en-US" sz="980" dirty="0"/>
          </a:p>
        </p:txBody>
      </p:sp>
      <p:sp>
        <p:nvSpPr>
          <p:cNvPr id="43" name="Shape 41"/>
          <p:cNvSpPr/>
          <p:nvPr/>
        </p:nvSpPr>
        <p:spPr>
          <a:xfrm>
            <a:off x="4663440" y="5257800"/>
            <a:ext cx="2834640" cy="475488"/>
          </a:xfrm>
          <a:prstGeom prst="chevron">
            <a:avLst/>
          </a:prstGeom>
          <a:solidFill>
            <a:srgbClr val="0B1E3F"/>
          </a:solidFill>
          <a:ln w="12700">
            <a:solidFill>
              <a:srgbClr val="0B1E3F"/>
            </a:solidFill>
            <a:prstDash val="solid"/>
          </a:ln>
        </p:spPr>
      </p:sp>
      <p:sp>
        <p:nvSpPr>
          <p:cNvPr id="44" name="Text 42"/>
          <p:cNvSpPr/>
          <p:nvPr/>
        </p:nvSpPr>
        <p:spPr>
          <a:xfrm>
            <a:off x="4983480" y="5413248"/>
            <a:ext cx="2194560" cy="146304"/>
          </a:xfrm>
          <a:prstGeom prst="rect">
            <a:avLst/>
          </a:prstGeom>
          <a:noFill/>
          <a:ln/>
        </p:spPr>
        <p:txBody>
          <a:bodyPr wrap="square" lIns="0" tIns="0" rIns="0" bIns="0" rtlCol="0" anchor="ctr">
            <a:normAutofit/>
          </a:bodyPr>
          <a:lstStyle/>
          <a:p>
            <a:pPr marL="0" indent="0" algn="ctr">
              <a:buNone/>
            </a:pPr>
            <a:r>
              <a:rPr lang="en-US" sz="850" dirty="0">
                <a:solidFill>
                  <a:srgbClr val="FFFFFF"/>
                </a:solidFill>
                <a:latin typeface="Segoe UI Semibold" pitchFamily="34" charset="0"/>
                <a:ea typeface="Segoe UI Semibold" pitchFamily="34" charset="-122"/>
                <a:cs typeface="Segoe UI Semibold" pitchFamily="34" charset="-120"/>
              </a:rPr>
              <a:t>The gateway makes these policies shared infrastructure.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03</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3</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APIM in 2026</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15–25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APIM IN 2026</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APIM refresher: three planes, one governed path</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08</a:t>
            </a:r>
            <a:endParaRPr lang="en-US" sz="800" dirty="0"/>
          </a:p>
        </p:txBody>
      </p:sp>
      <p:sp>
        <p:nvSpPr>
          <p:cNvPr id="7" name="Shape 5"/>
          <p:cNvSpPr/>
          <p:nvPr/>
        </p:nvSpPr>
        <p:spPr>
          <a:xfrm>
            <a:off x="4498848" y="1764792"/>
            <a:ext cx="164592" cy="3520440"/>
          </a:xfrm>
          <a:prstGeom prst="rect">
            <a:avLst/>
          </a:prstGeom>
          <a:solidFill>
            <a:srgbClr val="00B7C3"/>
          </a:solidFill>
          <a:ln w="12700">
            <a:solidFill>
              <a:srgbClr val="00B7C3"/>
            </a:solidFill>
            <a:prstDash val="solid"/>
          </a:ln>
        </p:spPr>
      </p:sp>
      <p:sp>
        <p:nvSpPr>
          <p:cNvPr id="8" name="Shape 6"/>
          <p:cNvSpPr/>
          <p:nvPr/>
        </p:nvSpPr>
        <p:spPr>
          <a:xfrm>
            <a:off x="7534656" y="1764792"/>
            <a:ext cx="164592" cy="3520440"/>
          </a:xfrm>
          <a:prstGeom prst="rect">
            <a:avLst/>
          </a:prstGeom>
          <a:solidFill>
            <a:srgbClr val="00B7C3"/>
          </a:solidFill>
          <a:ln w="12700">
            <a:solidFill>
              <a:srgbClr val="00B7C3"/>
            </a:solidFill>
            <a:prstDash val="solid"/>
          </a:ln>
        </p:spPr>
      </p:sp>
      <p:sp>
        <p:nvSpPr>
          <p:cNvPr id="9" name="Shape 7"/>
          <p:cNvSpPr/>
          <p:nvPr/>
        </p:nvSpPr>
        <p:spPr>
          <a:xfrm>
            <a:off x="4507992" y="1170432"/>
            <a:ext cx="3182112" cy="1234440"/>
          </a:xfrm>
          <a:prstGeom prst="arc">
            <a:avLst/>
          </a:prstGeom>
          <a:solidFill>
            <a:srgbClr val="00B7C3">
              <a:alpha val="0"/>
            </a:srgbClr>
          </a:solidFill>
          <a:ln w="88900">
            <a:solidFill>
              <a:srgbClr val="00B7C3"/>
            </a:solidFill>
            <a:prstDash val="solid"/>
          </a:ln>
        </p:spPr>
      </p:sp>
      <p:sp>
        <p:nvSpPr>
          <p:cNvPr id="10" name="Shape 8"/>
          <p:cNvSpPr/>
          <p:nvPr/>
        </p:nvSpPr>
        <p:spPr>
          <a:xfrm>
            <a:off x="685800" y="141732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1" name="Shape 9"/>
          <p:cNvSpPr/>
          <p:nvPr/>
        </p:nvSpPr>
        <p:spPr>
          <a:xfrm>
            <a:off x="685800" y="1417320"/>
            <a:ext cx="73152" cy="1051560"/>
          </a:xfrm>
          <a:prstGeom prst="rect">
            <a:avLst/>
          </a:prstGeom>
          <a:solidFill>
            <a:srgbClr val="00B7C3"/>
          </a:solidFill>
          <a:ln w="12700">
            <a:solidFill>
              <a:srgbClr val="00B7C3"/>
            </a:solidFill>
            <a:prstDash val="solid"/>
          </a:ln>
        </p:spPr>
      </p:sp>
      <p:sp>
        <p:nvSpPr>
          <p:cNvPr id="12" name="Shape 10"/>
          <p:cNvSpPr/>
          <p:nvPr/>
        </p:nvSpPr>
        <p:spPr>
          <a:xfrm>
            <a:off x="850392" y="1572768"/>
            <a:ext cx="393192" cy="393192"/>
          </a:xfrm>
          <a:prstGeom prst="ellipse">
            <a:avLst/>
          </a:prstGeom>
          <a:solidFill>
            <a:srgbClr val="00B7C3"/>
          </a:solidFill>
          <a:ln w="12700">
            <a:solidFill>
              <a:srgbClr val="00B7C3"/>
            </a:solidFill>
            <a:prstDash val="solid"/>
          </a:ln>
        </p:spPr>
      </p:sp>
      <p:sp>
        <p:nvSpPr>
          <p:cNvPr id="13" name="Text 11"/>
          <p:cNvSpPr/>
          <p:nvPr/>
        </p:nvSpPr>
        <p:spPr>
          <a:xfrm>
            <a:off x="850392" y="16322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G</a:t>
            </a:r>
            <a:endParaRPr lang="en-US" sz="800" dirty="0"/>
          </a:p>
        </p:txBody>
      </p:sp>
      <p:sp>
        <p:nvSpPr>
          <p:cNvPr id="14" name="Text 12"/>
          <p:cNvSpPr/>
          <p:nvPr/>
        </p:nvSpPr>
        <p:spPr>
          <a:xfrm>
            <a:off x="1344168" y="154533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Gateway</a:t>
            </a:r>
            <a:endParaRPr lang="en-US" sz="1250" dirty="0"/>
          </a:p>
        </p:txBody>
      </p:sp>
      <p:sp>
        <p:nvSpPr>
          <p:cNvPr id="15" name="Text 13"/>
          <p:cNvSpPr/>
          <p:nvPr/>
        </p:nvSpPr>
        <p:spPr>
          <a:xfrm>
            <a:off x="1344168" y="1874520"/>
            <a:ext cx="2240280"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Runtime path for API, model, MCP and agent traffic; policies execute here.</a:t>
            </a:r>
            <a:endParaRPr lang="en-US" sz="920" dirty="0"/>
          </a:p>
        </p:txBody>
      </p:sp>
      <p:sp>
        <p:nvSpPr>
          <p:cNvPr id="16" name="Shape 14"/>
          <p:cNvSpPr/>
          <p:nvPr/>
        </p:nvSpPr>
        <p:spPr>
          <a:xfrm>
            <a:off x="4553712" y="2057400"/>
            <a:ext cx="3090672"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7" name="Shape 15"/>
          <p:cNvSpPr/>
          <p:nvPr/>
        </p:nvSpPr>
        <p:spPr>
          <a:xfrm>
            <a:off x="4553712" y="2057400"/>
            <a:ext cx="73152" cy="1051560"/>
          </a:xfrm>
          <a:prstGeom prst="rect">
            <a:avLst/>
          </a:prstGeom>
          <a:solidFill>
            <a:srgbClr val="0078D4"/>
          </a:solidFill>
          <a:ln w="12700">
            <a:solidFill>
              <a:srgbClr val="0078D4"/>
            </a:solidFill>
            <a:prstDash val="solid"/>
          </a:ln>
        </p:spPr>
      </p:sp>
      <p:sp>
        <p:nvSpPr>
          <p:cNvPr id="18" name="Shape 16"/>
          <p:cNvSpPr/>
          <p:nvPr/>
        </p:nvSpPr>
        <p:spPr>
          <a:xfrm>
            <a:off x="4718304" y="2212848"/>
            <a:ext cx="393192" cy="393192"/>
          </a:xfrm>
          <a:prstGeom prst="ellipse">
            <a:avLst/>
          </a:prstGeom>
          <a:solidFill>
            <a:srgbClr val="0078D4"/>
          </a:solidFill>
          <a:ln w="12700">
            <a:solidFill>
              <a:srgbClr val="0078D4"/>
            </a:solidFill>
            <a:prstDash val="solid"/>
          </a:ln>
        </p:spPr>
      </p:sp>
      <p:sp>
        <p:nvSpPr>
          <p:cNvPr id="19" name="Text 17"/>
          <p:cNvSpPr/>
          <p:nvPr/>
        </p:nvSpPr>
        <p:spPr>
          <a:xfrm>
            <a:off x="4718304" y="22722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M</a:t>
            </a:r>
            <a:endParaRPr lang="en-US" sz="800" dirty="0"/>
          </a:p>
        </p:txBody>
      </p:sp>
      <p:sp>
        <p:nvSpPr>
          <p:cNvPr id="20" name="Text 18"/>
          <p:cNvSpPr/>
          <p:nvPr/>
        </p:nvSpPr>
        <p:spPr>
          <a:xfrm>
            <a:off x="5212080" y="2185416"/>
            <a:ext cx="2267712"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Management plane</a:t>
            </a:r>
            <a:endParaRPr lang="en-US" sz="1250" dirty="0"/>
          </a:p>
        </p:txBody>
      </p:sp>
      <p:sp>
        <p:nvSpPr>
          <p:cNvPr id="21" name="Text 19"/>
          <p:cNvSpPr/>
          <p:nvPr/>
        </p:nvSpPr>
        <p:spPr>
          <a:xfrm>
            <a:off x="5212080" y="2514600"/>
            <a:ext cx="2267712"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APIs, products, subscriptions, policies, backends, diagnostics and workspaces.</a:t>
            </a:r>
            <a:endParaRPr lang="en-US" sz="920" dirty="0"/>
          </a:p>
        </p:txBody>
      </p:sp>
      <p:sp>
        <p:nvSpPr>
          <p:cNvPr id="22" name="Shape 20"/>
          <p:cNvSpPr/>
          <p:nvPr/>
        </p:nvSpPr>
        <p:spPr>
          <a:xfrm>
            <a:off x="8458200" y="141732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3" name="Shape 21"/>
          <p:cNvSpPr/>
          <p:nvPr/>
        </p:nvSpPr>
        <p:spPr>
          <a:xfrm>
            <a:off x="8458200" y="1417320"/>
            <a:ext cx="73152" cy="1051560"/>
          </a:xfrm>
          <a:prstGeom prst="rect">
            <a:avLst/>
          </a:prstGeom>
          <a:solidFill>
            <a:srgbClr val="FFB900"/>
          </a:solidFill>
          <a:ln w="12700">
            <a:solidFill>
              <a:srgbClr val="FFB900"/>
            </a:solidFill>
            <a:prstDash val="solid"/>
          </a:ln>
        </p:spPr>
      </p:sp>
      <p:sp>
        <p:nvSpPr>
          <p:cNvPr id="24" name="Shape 22"/>
          <p:cNvSpPr/>
          <p:nvPr/>
        </p:nvSpPr>
        <p:spPr>
          <a:xfrm>
            <a:off x="8622792" y="1572768"/>
            <a:ext cx="393192" cy="393192"/>
          </a:xfrm>
          <a:prstGeom prst="ellipse">
            <a:avLst/>
          </a:prstGeom>
          <a:solidFill>
            <a:srgbClr val="FFB900"/>
          </a:solidFill>
          <a:ln w="12700">
            <a:solidFill>
              <a:srgbClr val="FFB900"/>
            </a:solidFill>
            <a:prstDash val="solid"/>
          </a:ln>
        </p:spPr>
      </p:sp>
      <p:sp>
        <p:nvSpPr>
          <p:cNvPr id="25" name="Text 23"/>
          <p:cNvSpPr/>
          <p:nvPr/>
        </p:nvSpPr>
        <p:spPr>
          <a:xfrm>
            <a:off x="8622792" y="163220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a:t>
            </a:r>
            <a:endParaRPr lang="en-US" sz="800" dirty="0"/>
          </a:p>
        </p:txBody>
      </p:sp>
      <p:sp>
        <p:nvSpPr>
          <p:cNvPr id="26" name="Text 24"/>
          <p:cNvSpPr/>
          <p:nvPr/>
        </p:nvSpPr>
        <p:spPr>
          <a:xfrm>
            <a:off x="9116568" y="154533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Developer portal</a:t>
            </a:r>
            <a:endParaRPr lang="en-US" sz="1250" dirty="0"/>
          </a:p>
        </p:txBody>
      </p:sp>
      <p:sp>
        <p:nvSpPr>
          <p:cNvPr id="27" name="Text 25"/>
          <p:cNvSpPr/>
          <p:nvPr/>
        </p:nvSpPr>
        <p:spPr>
          <a:xfrm>
            <a:off x="9116568" y="1874520"/>
            <a:ext cx="2240280"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Discovery and self-service subscription for internal teams and partners.</a:t>
            </a:r>
            <a:endParaRPr lang="en-US" sz="920" dirty="0"/>
          </a:p>
        </p:txBody>
      </p:sp>
      <p:sp>
        <p:nvSpPr>
          <p:cNvPr id="28" name="Shape 26"/>
          <p:cNvSpPr/>
          <p:nvPr/>
        </p:nvSpPr>
        <p:spPr>
          <a:xfrm>
            <a:off x="2057400" y="4434840"/>
            <a:ext cx="2148840" cy="621792"/>
          </a:xfrm>
          <a:prstGeom prst="roundRect">
            <a:avLst>
              <a:gd name="adj" fmla="val 11765"/>
            </a:avLst>
          </a:prstGeom>
          <a:solidFill>
            <a:srgbClr val="0078D4"/>
          </a:solidFill>
          <a:ln w="12700">
            <a:solidFill>
              <a:srgbClr val="0078D4"/>
            </a:solidFill>
            <a:prstDash val="solid"/>
          </a:ln>
        </p:spPr>
      </p:sp>
      <p:sp>
        <p:nvSpPr>
          <p:cNvPr id="29" name="Text 27"/>
          <p:cNvSpPr/>
          <p:nvPr/>
        </p:nvSpPr>
        <p:spPr>
          <a:xfrm>
            <a:off x="213055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Apps / agents</a:t>
            </a:r>
            <a:endParaRPr lang="en-US" sz="880" dirty="0"/>
          </a:p>
        </p:txBody>
      </p:sp>
      <p:sp>
        <p:nvSpPr>
          <p:cNvPr id="30" name="Shape 28"/>
          <p:cNvSpPr/>
          <p:nvPr/>
        </p:nvSpPr>
        <p:spPr>
          <a:xfrm>
            <a:off x="4251960" y="4745736"/>
            <a:ext cx="365760" cy="0"/>
          </a:xfrm>
          <a:prstGeom prst="line">
            <a:avLst/>
          </a:prstGeom>
          <a:noFill/>
          <a:ln w="17780">
            <a:solidFill>
              <a:srgbClr val="3B4A5E"/>
            </a:solidFill>
            <a:prstDash val="solid"/>
            <a:headEnd type="none"/>
            <a:tailEnd type="triangle"/>
          </a:ln>
        </p:spPr>
      </p:sp>
      <p:sp>
        <p:nvSpPr>
          <p:cNvPr id="31" name="Shape 29"/>
          <p:cNvSpPr/>
          <p:nvPr/>
        </p:nvSpPr>
        <p:spPr>
          <a:xfrm>
            <a:off x="4663440" y="4434840"/>
            <a:ext cx="2148840" cy="621792"/>
          </a:xfrm>
          <a:prstGeom prst="roundRect">
            <a:avLst>
              <a:gd name="adj" fmla="val 11765"/>
            </a:avLst>
          </a:prstGeom>
          <a:solidFill>
            <a:srgbClr val="00B7C3"/>
          </a:solidFill>
          <a:ln w="12700">
            <a:solidFill>
              <a:srgbClr val="00B7C3"/>
            </a:solidFill>
            <a:prstDash val="solid"/>
          </a:ln>
        </p:spPr>
      </p:sp>
      <p:sp>
        <p:nvSpPr>
          <p:cNvPr id="32" name="Text 30"/>
          <p:cNvSpPr/>
          <p:nvPr/>
        </p:nvSpPr>
        <p:spPr>
          <a:xfrm>
            <a:off x="473659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gateway</a:t>
            </a:r>
            <a:endParaRPr lang="en-US" sz="880" dirty="0"/>
          </a:p>
        </p:txBody>
      </p:sp>
      <p:sp>
        <p:nvSpPr>
          <p:cNvPr id="33" name="Shape 31"/>
          <p:cNvSpPr/>
          <p:nvPr/>
        </p:nvSpPr>
        <p:spPr>
          <a:xfrm>
            <a:off x="6858000" y="4745736"/>
            <a:ext cx="365760" cy="0"/>
          </a:xfrm>
          <a:prstGeom prst="line">
            <a:avLst/>
          </a:prstGeom>
          <a:noFill/>
          <a:ln w="17780">
            <a:solidFill>
              <a:srgbClr val="3B4A5E"/>
            </a:solidFill>
            <a:prstDash val="solid"/>
            <a:headEnd type="none"/>
            <a:tailEnd type="triangle"/>
          </a:ln>
        </p:spPr>
      </p:sp>
      <p:sp>
        <p:nvSpPr>
          <p:cNvPr id="34" name="Shape 32"/>
          <p:cNvSpPr/>
          <p:nvPr/>
        </p:nvSpPr>
        <p:spPr>
          <a:xfrm>
            <a:off x="7269480" y="4434840"/>
            <a:ext cx="2148840" cy="621792"/>
          </a:xfrm>
          <a:prstGeom prst="roundRect">
            <a:avLst>
              <a:gd name="adj" fmla="val 11765"/>
            </a:avLst>
          </a:prstGeom>
          <a:solidFill>
            <a:srgbClr val="FFB900"/>
          </a:solidFill>
          <a:ln w="12700">
            <a:solidFill>
              <a:srgbClr val="FFB900"/>
            </a:solidFill>
            <a:prstDash val="solid"/>
          </a:ln>
        </p:spPr>
      </p:sp>
      <p:sp>
        <p:nvSpPr>
          <p:cNvPr id="35" name="Text 33"/>
          <p:cNvSpPr/>
          <p:nvPr/>
        </p:nvSpPr>
        <p:spPr>
          <a:xfrm>
            <a:off x="734263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Backends / tools</a:t>
            </a:r>
            <a:endParaRPr lang="en-US" sz="880" dirty="0"/>
          </a:p>
        </p:txBody>
      </p:sp>
      <p:sp>
        <p:nvSpPr>
          <p:cNvPr id="36" name="Text 34"/>
          <p:cNvSpPr/>
          <p:nvPr/>
        </p:nvSpPr>
        <p:spPr>
          <a:xfrm>
            <a:off x="1188720" y="5532120"/>
            <a:ext cx="9692640" cy="228600"/>
          </a:xfrm>
          <a:prstGeom prst="rect">
            <a:avLst/>
          </a:prstGeom>
          <a:noFill/>
          <a:ln/>
        </p:spPr>
        <p:txBody>
          <a:bodyPr wrap="square" lIns="0" tIns="0" rIns="0" bIns="0" rtlCol="0" anchor="ct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Products = teams · Subscriptions = consumers · Policies = enforceable controls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DATED HIGHLIGHTS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What's new in 2026: APIM as AI gateway</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09</a:t>
            </a:r>
            <a:endParaRPr lang="en-US" sz="800" dirty="0"/>
          </a:p>
        </p:txBody>
      </p:sp>
      <p:sp>
        <p:nvSpPr>
          <p:cNvPr id="7" name="Shape 5"/>
          <p:cNvSpPr/>
          <p:nvPr/>
        </p:nvSpPr>
        <p:spPr>
          <a:xfrm>
            <a:off x="786384" y="1115568"/>
            <a:ext cx="292608" cy="292608"/>
          </a:xfrm>
          <a:prstGeom prst="ellipse">
            <a:avLst/>
          </a:prstGeom>
          <a:solidFill>
            <a:srgbClr val="00B7C3"/>
          </a:solidFill>
          <a:ln w="12700">
            <a:solidFill>
              <a:srgbClr val="00B7C3"/>
            </a:solidFill>
            <a:prstDash val="solid"/>
          </a:ln>
        </p:spPr>
      </p:sp>
      <p:sp>
        <p:nvSpPr>
          <p:cNvPr id="8" name="Shape 6"/>
          <p:cNvSpPr/>
          <p:nvPr/>
        </p:nvSpPr>
        <p:spPr>
          <a:xfrm>
            <a:off x="932688" y="1417320"/>
            <a:ext cx="0" cy="384048"/>
          </a:xfrm>
          <a:prstGeom prst="line">
            <a:avLst/>
          </a:prstGeom>
          <a:noFill/>
          <a:ln w="15240">
            <a:solidFill>
              <a:srgbClr val="C7D5E3"/>
            </a:solidFill>
            <a:prstDash val="solid"/>
          </a:ln>
        </p:spPr>
      </p:sp>
      <p:sp>
        <p:nvSpPr>
          <p:cNvPr id="9" name="Text 7"/>
          <p:cNvSpPr/>
          <p:nvPr/>
        </p:nvSpPr>
        <p:spPr>
          <a:xfrm>
            <a:off x="1298448" y="1069848"/>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Sep 2026</a:t>
            </a:r>
            <a:endParaRPr lang="en-US" sz="1000" dirty="0"/>
          </a:p>
        </p:txBody>
      </p:sp>
      <p:sp>
        <p:nvSpPr>
          <p:cNvPr id="10" name="Text 8"/>
          <p:cNvSpPr/>
          <p:nvPr/>
        </p:nvSpPr>
        <p:spPr>
          <a:xfrm>
            <a:off x="2615184" y="1069848"/>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Workspaces extended to Basic v2 and Standard v2.</a:t>
            </a:r>
            <a:endParaRPr lang="en-US" sz="1120" dirty="0"/>
          </a:p>
        </p:txBody>
      </p:sp>
      <p:sp>
        <p:nvSpPr>
          <p:cNvPr id="11" name="Shape 9"/>
          <p:cNvSpPr/>
          <p:nvPr/>
        </p:nvSpPr>
        <p:spPr>
          <a:xfrm>
            <a:off x="786384" y="1828800"/>
            <a:ext cx="292608" cy="292608"/>
          </a:xfrm>
          <a:prstGeom prst="ellipse">
            <a:avLst/>
          </a:prstGeom>
          <a:solidFill>
            <a:srgbClr val="0078D4"/>
          </a:solidFill>
          <a:ln w="12700">
            <a:solidFill>
              <a:srgbClr val="0078D4"/>
            </a:solidFill>
            <a:prstDash val="solid"/>
          </a:ln>
        </p:spPr>
      </p:sp>
      <p:sp>
        <p:nvSpPr>
          <p:cNvPr id="12" name="Shape 10"/>
          <p:cNvSpPr/>
          <p:nvPr/>
        </p:nvSpPr>
        <p:spPr>
          <a:xfrm>
            <a:off x="932688" y="2130552"/>
            <a:ext cx="0" cy="384048"/>
          </a:xfrm>
          <a:prstGeom prst="line">
            <a:avLst/>
          </a:prstGeom>
          <a:noFill/>
          <a:ln w="15240">
            <a:solidFill>
              <a:srgbClr val="C7D5E3"/>
            </a:solidFill>
            <a:prstDash val="solid"/>
          </a:ln>
        </p:spPr>
      </p:sp>
      <p:sp>
        <p:nvSpPr>
          <p:cNvPr id="13" name="Text 11"/>
          <p:cNvSpPr/>
          <p:nvPr/>
        </p:nvSpPr>
        <p:spPr>
          <a:xfrm>
            <a:off x="1298448" y="1783080"/>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Sep 2026</a:t>
            </a:r>
            <a:endParaRPr lang="en-US" sz="1000" dirty="0"/>
          </a:p>
        </p:txBody>
      </p:sp>
      <p:sp>
        <p:nvSpPr>
          <p:cNvPr id="14" name="Text 12"/>
          <p:cNvSpPr/>
          <p:nvPr/>
        </p:nvSpPr>
        <p:spPr>
          <a:xfrm>
            <a:off x="2615184" y="1783080"/>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Premium v2 GA and v2 scale refreshed: Basic/Standard v2 to 10 units, Premium v2 to 30.</a:t>
            </a:r>
            <a:endParaRPr lang="en-US" sz="1120" dirty="0"/>
          </a:p>
        </p:txBody>
      </p:sp>
      <p:sp>
        <p:nvSpPr>
          <p:cNvPr id="15" name="Shape 13"/>
          <p:cNvSpPr/>
          <p:nvPr/>
        </p:nvSpPr>
        <p:spPr>
          <a:xfrm>
            <a:off x="786384" y="2542032"/>
            <a:ext cx="292608" cy="292608"/>
          </a:xfrm>
          <a:prstGeom prst="ellipse">
            <a:avLst/>
          </a:prstGeom>
          <a:solidFill>
            <a:srgbClr val="00B7C3"/>
          </a:solidFill>
          <a:ln w="12700">
            <a:solidFill>
              <a:srgbClr val="00B7C3"/>
            </a:solidFill>
            <a:prstDash val="solid"/>
          </a:ln>
        </p:spPr>
      </p:sp>
      <p:sp>
        <p:nvSpPr>
          <p:cNvPr id="16" name="Shape 14"/>
          <p:cNvSpPr/>
          <p:nvPr/>
        </p:nvSpPr>
        <p:spPr>
          <a:xfrm>
            <a:off x="932688" y="2843784"/>
            <a:ext cx="0" cy="384048"/>
          </a:xfrm>
          <a:prstGeom prst="line">
            <a:avLst/>
          </a:prstGeom>
          <a:noFill/>
          <a:ln w="15240">
            <a:solidFill>
              <a:srgbClr val="C7D5E3"/>
            </a:solidFill>
            <a:prstDash val="solid"/>
          </a:ln>
        </p:spPr>
      </p:sp>
      <p:sp>
        <p:nvSpPr>
          <p:cNvPr id="17" name="Text 15"/>
          <p:cNvSpPr/>
          <p:nvPr/>
        </p:nvSpPr>
        <p:spPr>
          <a:xfrm>
            <a:off x="1298448" y="2496312"/>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Aug 2026</a:t>
            </a:r>
            <a:endParaRPr lang="en-US" sz="1000" dirty="0"/>
          </a:p>
        </p:txBody>
      </p:sp>
      <p:sp>
        <p:nvSpPr>
          <p:cNvPr id="18" name="Text 16"/>
          <p:cNvSpPr/>
          <p:nvPr/>
        </p:nvSpPr>
        <p:spPr>
          <a:xfrm>
            <a:off x="2615184" y="2496312"/>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llm-content-safety protects MCP tool calls and A2A agent API traffic.</a:t>
            </a:r>
            <a:endParaRPr lang="en-US" sz="1120" dirty="0"/>
          </a:p>
        </p:txBody>
      </p:sp>
      <p:sp>
        <p:nvSpPr>
          <p:cNvPr id="19" name="Shape 17"/>
          <p:cNvSpPr/>
          <p:nvPr/>
        </p:nvSpPr>
        <p:spPr>
          <a:xfrm>
            <a:off x="786384" y="3255264"/>
            <a:ext cx="292608" cy="292608"/>
          </a:xfrm>
          <a:prstGeom prst="ellipse">
            <a:avLst/>
          </a:prstGeom>
          <a:solidFill>
            <a:srgbClr val="0078D4"/>
          </a:solidFill>
          <a:ln w="12700">
            <a:solidFill>
              <a:srgbClr val="0078D4"/>
            </a:solidFill>
            <a:prstDash val="solid"/>
          </a:ln>
        </p:spPr>
      </p:sp>
      <p:sp>
        <p:nvSpPr>
          <p:cNvPr id="20" name="Shape 18"/>
          <p:cNvSpPr/>
          <p:nvPr/>
        </p:nvSpPr>
        <p:spPr>
          <a:xfrm>
            <a:off x="932688" y="3557016"/>
            <a:ext cx="0" cy="384048"/>
          </a:xfrm>
          <a:prstGeom prst="line">
            <a:avLst/>
          </a:prstGeom>
          <a:noFill/>
          <a:ln w="15240">
            <a:solidFill>
              <a:srgbClr val="C7D5E3"/>
            </a:solidFill>
            <a:prstDash val="solid"/>
          </a:ln>
        </p:spPr>
      </p:sp>
      <p:sp>
        <p:nvSpPr>
          <p:cNvPr id="21" name="Text 19"/>
          <p:cNvSpPr/>
          <p:nvPr/>
        </p:nvSpPr>
        <p:spPr>
          <a:xfrm>
            <a:off x="1298448" y="3209544"/>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Jun 2026</a:t>
            </a:r>
            <a:endParaRPr lang="en-US" sz="1000" dirty="0"/>
          </a:p>
        </p:txBody>
      </p:sp>
      <p:sp>
        <p:nvSpPr>
          <p:cNvPr id="22" name="Text 20"/>
          <p:cNvSpPr/>
          <p:nvPr/>
        </p:nvSpPr>
        <p:spPr>
          <a:xfrm>
            <a:off x="2615184" y="3209544"/>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Programmatic MCP management via API tools sub-resource, 2025-09-01-preview.</a:t>
            </a:r>
            <a:endParaRPr lang="en-US" sz="1120" dirty="0"/>
          </a:p>
        </p:txBody>
      </p:sp>
      <p:sp>
        <p:nvSpPr>
          <p:cNvPr id="23" name="Shape 21"/>
          <p:cNvSpPr/>
          <p:nvPr/>
        </p:nvSpPr>
        <p:spPr>
          <a:xfrm>
            <a:off x="786384" y="3968496"/>
            <a:ext cx="292608" cy="292608"/>
          </a:xfrm>
          <a:prstGeom prst="ellipse">
            <a:avLst/>
          </a:prstGeom>
          <a:solidFill>
            <a:srgbClr val="00B7C3"/>
          </a:solidFill>
          <a:ln w="12700">
            <a:solidFill>
              <a:srgbClr val="00B7C3"/>
            </a:solidFill>
            <a:prstDash val="solid"/>
          </a:ln>
        </p:spPr>
      </p:sp>
      <p:sp>
        <p:nvSpPr>
          <p:cNvPr id="24" name="Shape 22"/>
          <p:cNvSpPr/>
          <p:nvPr/>
        </p:nvSpPr>
        <p:spPr>
          <a:xfrm>
            <a:off x="932688" y="4270248"/>
            <a:ext cx="0" cy="384048"/>
          </a:xfrm>
          <a:prstGeom prst="line">
            <a:avLst/>
          </a:prstGeom>
          <a:noFill/>
          <a:ln w="15240">
            <a:solidFill>
              <a:srgbClr val="C7D5E3"/>
            </a:solidFill>
            <a:prstDash val="solid"/>
          </a:ln>
        </p:spPr>
      </p:sp>
      <p:sp>
        <p:nvSpPr>
          <p:cNvPr id="25" name="Text 23"/>
          <p:cNvSpPr/>
          <p:nvPr/>
        </p:nvSpPr>
        <p:spPr>
          <a:xfrm>
            <a:off x="1298448" y="3922776"/>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Oct 2026</a:t>
            </a:r>
            <a:endParaRPr lang="en-US" sz="1000" dirty="0"/>
          </a:p>
        </p:txBody>
      </p:sp>
      <p:sp>
        <p:nvSpPr>
          <p:cNvPr id="26" name="Text 24"/>
          <p:cNvSpPr/>
          <p:nvPr/>
        </p:nvSpPr>
        <p:spPr>
          <a:xfrm>
            <a:off x="2615184" y="3922776"/>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Foundry (new): resource + project per region in ai.azure.com; no classic hub or Azure OpenAI resource.</a:t>
            </a:r>
            <a:endParaRPr lang="en-US" sz="1120" dirty="0"/>
          </a:p>
        </p:txBody>
      </p:sp>
      <p:sp>
        <p:nvSpPr>
          <p:cNvPr id="27" name="Shape 25"/>
          <p:cNvSpPr/>
          <p:nvPr/>
        </p:nvSpPr>
        <p:spPr>
          <a:xfrm>
            <a:off x="786384" y="4681728"/>
            <a:ext cx="292608" cy="292608"/>
          </a:xfrm>
          <a:prstGeom prst="ellipse">
            <a:avLst/>
          </a:prstGeom>
          <a:solidFill>
            <a:srgbClr val="0078D4"/>
          </a:solidFill>
          <a:ln w="12700">
            <a:solidFill>
              <a:srgbClr val="0078D4"/>
            </a:solidFill>
            <a:prstDash val="solid"/>
          </a:ln>
        </p:spPr>
      </p:sp>
      <p:sp>
        <p:nvSpPr>
          <p:cNvPr id="28" name="Shape 26"/>
          <p:cNvSpPr/>
          <p:nvPr/>
        </p:nvSpPr>
        <p:spPr>
          <a:xfrm>
            <a:off x="932688" y="4983480"/>
            <a:ext cx="0" cy="384048"/>
          </a:xfrm>
          <a:prstGeom prst="line">
            <a:avLst/>
          </a:prstGeom>
          <a:noFill/>
          <a:ln w="15240">
            <a:solidFill>
              <a:srgbClr val="C7D5E3"/>
            </a:solidFill>
            <a:prstDash val="solid"/>
          </a:ln>
        </p:spPr>
      </p:sp>
      <p:sp>
        <p:nvSpPr>
          <p:cNvPr id="29" name="Text 27"/>
          <p:cNvSpPr/>
          <p:nvPr/>
        </p:nvSpPr>
        <p:spPr>
          <a:xfrm>
            <a:off x="1298448" y="4636008"/>
            <a:ext cx="1234440" cy="201168"/>
          </a:xfrm>
          <a:prstGeom prst="rect">
            <a:avLst/>
          </a:prstGeom>
          <a:noFill/>
          <a:ln/>
        </p:spPr>
        <p:txBody>
          <a:bodyPr wrap="square" lIns="0" tIns="0" rIns="0" bIns="0" rtlCol="0" anchor="ctr"/>
          <a:lstStyle/>
          <a:p>
            <a:pPr marL="0" indent="0">
              <a:buNone/>
            </a:pPr>
            <a:r>
              <a:rPr lang="en-US" sz="1000" dirty="0">
                <a:solidFill>
                  <a:srgbClr val="0B1E3F"/>
                </a:solidFill>
                <a:latin typeface="Segoe UI Semibold" pitchFamily="34" charset="0"/>
                <a:ea typeface="Segoe UI Semibold" pitchFamily="34" charset="-122"/>
                <a:cs typeface="Segoe UI Semibold" pitchFamily="34" charset="-120"/>
              </a:rPr>
              <a:t>Sep 2026</a:t>
            </a:r>
            <a:endParaRPr lang="en-US" sz="1000" dirty="0"/>
          </a:p>
        </p:txBody>
      </p:sp>
      <p:sp>
        <p:nvSpPr>
          <p:cNvPr id="30" name="Text 28"/>
          <p:cNvSpPr/>
          <p:nvPr/>
        </p:nvSpPr>
        <p:spPr>
          <a:xfrm>
            <a:off x="2615184" y="4636008"/>
            <a:ext cx="8092440" cy="228600"/>
          </a:xfrm>
          <a:prstGeom prst="rect">
            <a:avLst/>
          </a:prstGeom>
          <a:noFill/>
          <a:ln/>
        </p:spPr>
        <p:txBody>
          <a:bodyPr wrap="square" lIns="0" tIns="0" rIns="0" bIns="0" rtlCol="0" anchor="ctr">
            <a:normAutofit/>
          </a:bodyPr>
          <a:lstStyle/>
          <a:p>
            <a:pPr marL="0" indent="0">
              <a:buNone/>
            </a:pPr>
            <a:r>
              <a:rPr lang="en-US" sz="1120" dirty="0">
                <a:solidFill>
                  <a:srgbClr val="3B4A5E"/>
                </a:solidFill>
                <a:latin typeface="Segoe UI" pitchFamily="34" charset="0"/>
                <a:ea typeface="Segoe UI" pitchFamily="34" charset="-122"/>
                <a:cs typeface="Segoe UI" pitchFamily="34" charset="-120"/>
              </a:rPr>
              <a:t>Token metrics include cached, reasoning and thinking token categories in preview.</a:t>
            </a:r>
            <a:endParaRPr lang="en-US" sz="1120" dirty="0"/>
          </a:p>
        </p:txBody>
      </p:sp>
      <p:sp>
        <p:nvSpPr>
          <p:cNvPr id="31" name="Shape 29"/>
          <p:cNvSpPr/>
          <p:nvPr/>
        </p:nvSpPr>
        <p:spPr>
          <a:xfrm>
            <a:off x="8686800" y="5440680"/>
            <a:ext cx="713232" cy="246888"/>
          </a:xfrm>
          <a:prstGeom prst="roundRect">
            <a:avLst>
              <a:gd name="adj" fmla="val 18519"/>
            </a:avLst>
          </a:prstGeom>
          <a:solidFill>
            <a:srgbClr val="D9F7FA"/>
          </a:solidFill>
          <a:ln w="12700">
            <a:solidFill>
              <a:srgbClr val="D9F7FA"/>
            </a:solidFill>
            <a:prstDash val="solid"/>
          </a:ln>
        </p:spPr>
      </p:sp>
      <p:sp>
        <p:nvSpPr>
          <p:cNvPr id="32" name="Text 30"/>
          <p:cNvSpPr/>
          <p:nvPr/>
        </p:nvSpPr>
        <p:spPr>
          <a:xfrm>
            <a:off x="8741664" y="5490972"/>
            <a:ext cx="603504"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MCP</a:t>
            </a:r>
            <a:endParaRPr lang="en-US" sz="750" dirty="0"/>
          </a:p>
        </p:txBody>
      </p:sp>
      <p:sp>
        <p:nvSpPr>
          <p:cNvPr id="33" name="Shape 31"/>
          <p:cNvSpPr/>
          <p:nvPr/>
        </p:nvSpPr>
        <p:spPr>
          <a:xfrm>
            <a:off x="9528048" y="5440680"/>
            <a:ext cx="713232" cy="246888"/>
          </a:xfrm>
          <a:prstGeom prst="roundRect">
            <a:avLst>
              <a:gd name="adj" fmla="val 18519"/>
            </a:avLst>
          </a:prstGeom>
          <a:solidFill>
            <a:srgbClr val="E5F1FB"/>
          </a:solidFill>
          <a:ln w="12700">
            <a:solidFill>
              <a:srgbClr val="E5F1FB"/>
            </a:solidFill>
            <a:prstDash val="solid"/>
          </a:ln>
        </p:spPr>
      </p:sp>
      <p:sp>
        <p:nvSpPr>
          <p:cNvPr id="34" name="Text 32"/>
          <p:cNvSpPr/>
          <p:nvPr/>
        </p:nvSpPr>
        <p:spPr>
          <a:xfrm>
            <a:off x="9582912" y="5490972"/>
            <a:ext cx="603504"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A2A</a:t>
            </a:r>
            <a:endParaRPr lang="en-US" sz="750" dirty="0"/>
          </a:p>
        </p:txBody>
      </p:sp>
      <p:sp>
        <p:nvSpPr>
          <p:cNvPr id="35" name="Shape 33"/>
          <p:cNvSpPr/>
          <p:nvPr/>
        </p:nvSpPr>
        <p:spPr>
          <a:xfrm>
            <a:off x="10369296" y="5440680"/>
            <a:ext cx="1097280" cy="246888"/>
          </a:xfrm>
          <a:prstGeom prst="roundRect">
            <a:avLst>
              <a:gd name="adj" fmla="val 18519"/>
            </a:avLst>
          </a:prstGeom>
          <a:solidFill>
            <a:srgbClr val="FFF3CF"/>
          </a:solidFill>
          <a:ln w="12700">
            <a:solidFill>
              <a:srgbClr val="FFF3CF"/>
            </a:solidFill>
            <a:prstDash val="solid"/>
          </a:ln>
        </p:spPr>
      </p:sp>
      <p:sp>
        <p:nvSpPr>
          <p:cNvPr id="36" name="Text 34"/>
          <p:cNvSpPr/>
          <p:nvPr/>
        </p:nvSpPr>
        <p:spPr>
          <a:xfrm>
            <a:off x="10424160" y="5490972"/>
            <a:ext cx="9875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Unified API</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04</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4</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AI gateway capabilities deep dive</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25–40 · 15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1 — Security: keyless and safe by default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11</a:t>
            </a:r>
            <a:endParaRPr lang="en-US" sz="800" dirty="0"/>
          </a:p>
        </p:txBody>
      </p:sp>
      <p:sp>
        <p:nvSpPr>
          <p:cNvPr id="7" name="Shape 5"/>
          <p:cNvSpPr/>
          <p:nvPr/>
        </p:nvSpPr>
        <p:spPr>
          <a:xfrm>
            <a:off x="685800" y="114300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85800" y="1143000"/>
            <a:ext cx="73152" cy="1051560"/>
          </a:xfrm>
          <a:prstGeom prst="rect">
            <a:avLst/>
          </a:prstGeom>
          <a:solidFill>
            <a:srgbClr val="00B7C3"/>
          </a:solidFill>
          <a:ln w="12700">
            <a:solidFill>
              <a:srgbClr val="00B7C3"/>
            </a:solidFill>
            <a:prstDash val="solid"/>
          </a:ln>
        </p:spPr>
      </p:sp>
      <p:sp>
        <p:nvSpPr>
          <p:cNvPr id="9" name="Shape 7"/>
          <p:cNvSpPr/>
          <p:nvPr/>
        </p:nvSpPr>
        <p:spPr>
          <a:xfrm>
            <a:off x="850392"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85039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MI</a:t>
            </a:r>
            <a:endParaRPr lang="en-US" sz="800" dirty="0"/>
          </a:p>
        </p:txBody>
      </p:sp>
      <p:sp>
        <p:nvSpPr>
          <p:cNvPr id="11" name="Text 9"/>
          <p:cNvSpPr/>
          <p:nvPr/>
        </p:nvSpPr>
        <p:spPr>
          <a:xfrm>
            <a:off x="1344168" y="127101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Managed identity</a:t>
            </a:r>
            <a:endParaRPr lang="en-US" sz="1250" dirty="0"/>
          </a:p>
        </p:txBody>
      </p:sp>
      <p:sp>
        <p:nvSpPr>
          <p:cNvPr id="12" name="Text 10"/>
          <p:cNvSpPr/>
          <p:nvPr/>
        </p:nvSpPr>
        <p:spPr>
          <a:xfrm>
            <a:off x="1344168" y="1600200"/>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Apps hold only an APIM subscription key; APIM authenticates to Foundry.</a:t>
            </a:r>
            <a:endParaRPr lang="en-US" sz="1040" dirty="0"/>
          </a:p>
        </p:txBody>
      </p:sp>
      <p:sp>
        <p:nvSpPr>
          <p:cNvPr id="13" name="Shape 11"/>
          <p:cNvSpPr/>
          <p:nvPr/>
        </p:nvSpPr>
        <p:spPr>
          <a:xfrm>
            <a:off x="685800" y="2542032"/>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85800" y="2542032"/>
            <a:ext cx="73152" cy="1051560"/>
          </a:xfrm>
          <a:prstGeom prst="rect">
            <a:avLst/>
          </a:prstGeom>
          <a:solidFill>
            <a:srgbClr val="0078D4"/>
          </a:solidFill>
          <a:ln w="12700">
            <a:solidFill>
              <a:srgbClr val="0078D4"/>
            </a:solidFill>
            <a:prstDash val="solid"/>
          </a:ln>
        </p:spPr>
      </p:sp>
      <p:sp>
        <p:nvSpPr>
          <p:cNvPr id="15" name="Shape 13"/>
          <p:cNvSpPr/>
          <p:nvPr/>
        </p:nvSpPr>
        <p:spPr>
          <a:xfrm>
            <a:off x="850392" y="2697480"/>
            <a:ext cx="393192" cy="393192"/>
          </a:xfrm>
          <a:prstGeom prst="ellipse">
            <a:avLst/>
          </a:prstGeom>
          <a:solidFill>
            <a:srgbClr val="0078D4"/>
          </a:solidFill>
          <a:ln w="12700">
            <a:solidFill>
              <a:srgbClr val="0078D4"/>
            </a:solidFill>
            <a:prstDash val="solid"/>
          </a:ln>
        </p:spPr>
      </p:sp>
      <p:sp>
        <p:nvSpPr>
          <p:cNvPr id="16" name="Text 14"/>
          <p:cNvSpPr/>
          <p:nvPr/>
        </p:nvSpPr>
        <p:spPr>
          <a:xfrm>
            <a:off x="850392" y="275691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JWT</a:t>
            </a:r>
            <a:endParaRPr lang="en-US" sz="800" dirty="0"/>
          </a:p>
        </p:txBody>
      </p:sp>
      <p:sp>
        <p:nvSpPr>
          <p:cNvPr id="17" name="Text 15"/>
          <p:cNvSpPr/>
          <p:nvPr/>
        </p:nvSpPr>
        <p:spPr>
          <a:xfrm>
            <a:off x="1344168" y="2670048"/>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OAuth + JWT</a:t>
            </a:r>
            <a:endParaRPr lang="en-US" sz="1250" dirty="0"/>
          </a:p>
        </p:txBody>
      </p:sp>
      <p:sp>
        <p:nvSpPr>
          <p:cNvPr id="18" name="Text 16"/>
          <p:cNvSpPr/>
          <p:nvPr/>
        </p:nvSpPr>
        <p:spPr>
          <a:xfrm>
            <a:off x="1344168" y="2999232"/>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Credential manager and JWT validation protect AI apps, agents and APIs.</a:t>
            </a:r>
            <a:endParaRPr lang="en-US" sz="1040" dirty="0"/>
          </a:p>
        </p:txBody>
      </p:sp>
      <p:sp>
        <p:nvSpPr>
          <p:cNvPr id="19" name="Shape 17"/>
          <p:cNvSpPr/>
          <p:nvPr/>
        </p:nvSpPr>
        <p:spPr>
          <a:xfrm>
            <a:off x="685800" y="3941064"/>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685800" y="3941064"/>
            <a:ext cx="73152" cy="1051560"/>
          </a:xfrm>
          <a:prstGeom prst="rect">
            <a:avLst/>
          </a:prstGeom>
          <a:solidFill>
            <a:srgbClr val="FFB900"/>
          </a:solidFill>
          <a:ln w="12700">
            <a:solidFill>
              <a:srgbClr val="FFB900"/>
            </a:solidFill>
            <a:prstDash val="solid"/>
          </a:ln>
        </p:spPr>
      </p:sp>
      <p:sp>
        <p:nvSpPr>
          <p:cNvPr id="21" name="Shape 19"/>
          <p:cNvSpPr/>
          <p:nvPr/>
        </p:nvSpPr>
        <p:spPr>
          <a:xfrm>
            <a:off x="850392" y="4096512"/>
            <a:ext cx="393192" cy="393192"/>
          </a:xfrm>
          <a:prstGeom prst="ellipse">
            <a:avLst/>
          </a:prstGeom>
          <a:solidFill>
            <a:srgbClr val="FFB900"/>
          </a:solidFill>
          <a:ln w="12700">
            <a:solidFill>
              <a:srgbClr val="FFB900"/>
            </a:solidFill>
            <a:prstDash val="solid"/>
          </a:ln>
        </p:spPr>
      </p:sp>
      <p:sp>
        <p:nvSpPr>
          <p:cNvPr id="22" name="Text 20"/>
          <p:cNvSpPr/>
          <p:nvPr/>
        </p:nvSpPr>
        <p:spPr>
          <a:xfrm>
            <a:off x="850392" y="4155948"/>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CS</a:t>
            </a:r>
            <a:endParaRPr lang="en-US" sz="800" dirty="0"/>
          </a:p>
        </p:txBody>
      </p:sp>
      <p:sp>
        <p:nvSpPr>
          <p:cNvPr id="23" name="Text 21"/>
          <p:cNvSpPr/>
          <p:nvPr/>
        </p:nvSpPr>
        <p:spPr>
          <a:xfrm>
            <a:off x="1344168" y="4069080"/>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Content safety</a:t>
            </a:r>
            <a:endParaRPr lang="en-US" sz="1250" dirty="0"/>
          </a:p>
        </p:txBody>
      </p:sp>
      <p:sp>
        <p:nvSpPr>
          <p:cNvPr id="24" name="Text 22"/>
          <p:cNvSpPr/>
          <p:nvPr/>
        </p:nvSpPr>
        <p:spPr>
          <a:xfrm>
            <a:off x="1344168" y="4398264"/>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Prompt Shields, harm categories and blocklists enforced centrally.</a:t>
            </a:r>
            <a:endParaRPr lang="en-US" sz="1040" dirty="0"/>
          </a:p>
        </p:txBody>
      </p:sp>
      <p:sp>
        <p:nvSpPr>
          <p:cNvPr id="25" name="Shape 23"/>
          <p:cNvSpPr/>
          <p:nvPr/>
        </p:nvSpPr>
        <p:spPr>
          <a:xfrm>
            <a:off x="4434840" y="1216152"/>
            <a:ext cx="6812280" cy="3611880"/>
          </a:xfrm>
          <a:prstGeom prst="rect">
            <a:avLst/>
          </a:prstGeom>
          <a:solidFill>
            <a:srgbClr val="06152D"/>
          </a:solidFill>
          <a:ln w="12700">
            <a:solidFill>
              <a:srgbClr val="06152D"/>
            </a:solidFill>
            <a:prstDash val="solid"/>
          </a:ln>
          <a:effectLst>
            <a:outerShdw blurRad="38100" dist="12700" dir="2700000" algn="bl" rotWithShape="0">
              <a:srgbClr val="000000">
                <a:alpha val="10000"/>
              </a:srgbClr>
            </a:outerShdw>
          </a:effectLst>
        </p:spPr>
      </p:sp>
      <p:sp>
        <p:nvSpPr>
          <p:cNvPr id="26" name="Text 24"/>
          <p:cNvSpPr/>
          <p:nvPr/>
        </p:nvSpPr>
        <p:spPr>
          <a:xfrm>
            <a:off x="4709160" y="1481328"/>
            <a:ext cx="6236208" cy="2423160"/>
          </a:xfrm>
          <a:prstGeom prst="rect">
            <a:avLst/>
          </a:prstGeom>
          <a:noFill/>
          <a:ln/>
        </p:spPr>
        <p:txBody>
          <a:bodyPr wrap="square" lIns="1016" tIns="1016" rIns="1016" bIns="1016" rtlCol="0" anchor="ctr">
            <a:normAutofit/>
          </a:bodyPr>
          <a:lstStyle/>
          <a:p>
            <a:pPr marL="0" indent="0">
              <a:buNone/>
            </a:pPr>
            <a:r>
              <a:rPr lang="en-US" sz="1030" dirty="0">
                <a:solidFill>
                  <a:srgbClr val="D7E7F6"/>
                </a:solidFill>
                <a:latin typeface="Consolas" pitchFamily="34" charset="0"/>
                <a:ea typeface="Consolas" pitchFamily="34" charset="-122"/>
                <a:cs typeface="Consolas" pitchFamily="34" charset="-120"/>
              </a:rPr>
              <a:t>&lt;llm-content-safety backend-id="content-safety" shield-prompt="true"&gt;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&lt;categories output-type="EightSeverityLevels"&gt;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name="Hate"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name="SelfHarm"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name="Sexual"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name="Violence"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&lt;/categories&gt;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&lt;/llm-content-safety&gt;</a:t>
            </a:r>
            <a:endParaRPr lang="en-US" sz="1030" dirty="0"/>
          </a:p>
        </p:txBody>
      </p:sp>
      <p:sp>
        <p:nvSpPr>
          <p:cNvPr id="27" name="Text 25"/>
          <p:cNvSpPr/>
          <p:nvPr/>
        </p:nvSpPr>
        <p:spPr>
          <a:xfrm>
            <a:off x="4709160" y="4270248"/>
            <a:ext cx="6236208" cy="228600"/>
          </a:xfrm>
          <a:prstGeom prst="rect">
            <a:avLst/>
          </a:prstGeom>
          <a:noFill/>
          <a:ln/>
        </p:spPr>
        <p:txBody>
          <a:bodyPr wrap="square" lIns="0" tIns="0" rIns="0" bIns="0" rtlCol="0" anchor="ctr"/>
          <a:lstStyle/>
          <a:p>
            <a:pPr marL="0" indent="0">
              <a:buNone/>
            </a:pPr>
            <a:r>
              <a:rPr lang="en-US" sz="1100" dirty="0">
                <a:solidFill>
                  <a:srgbClr val="00B7C3"/>
                </a:solidFill>
                <a:latin typeface="Segoe UI Semibold" pitchFamily="34" charset="0"/>
                <a:ea typeface="Segoe UI Semibold" pitchFamily="34" charset="-122"/>
                <a:cs typeface="Segoe UI Semibold" pitchFamily="34" charset="-120"/>
              </a:rPr>
              <a:t>Demo: jailbreak blocked before it reaches gpt-6.1-sol.</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2 — Cost &amp; scale: token budgets as policy</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12</a:t>
            </a:r>
            <a:endParaRPr lang="en-US" sz="800" dirty="0"/>
          </a:p>
        </p:txBody>
      </p:sp>
      <p:sp>
        <p:nvSpPr>
          <p:cNvPr id="7" name="Shape 5"/>
          <p:cNvSpPr/>
          <p:nvPr/>
        </p:nvSpPr>
        <p:spPr>
          <a:xfrm>
            <a:off x="685800" y="1078992"/>
            <a:ext cx="5806440" cy="3310128"/>
          </a:xfrm>
          <a:prstGeom prst="rect">
            <a:avLst/>
          </a:prstGeom>
          <a:solidFill>
            <a:srgbClr val="06152D"/>
          </a:solidFill>
          <a:ln w="12700">
            <a:solidFill>
              <a:srgbClr val="06152D"/>
            </a:solidFill>
            <a:prstDash val="solid"/>
          </a:ln>
          <a:effectLst>
            <a:outerShdw blurRad="38100" dist="12700" dir="2700000" algn="bl" rotWithShape="0">
              <a:srgbClr val="000000">
                <a:alpha val="10000"/>
              </a:srgbClr>
            </a:outerShdw>
          </a:effectLst>
        </p:spPr>
      </p:sp>
      <p:sp>
        <p:nvSpPr>
          <p:cNvPr id="8" name="Text 6"/>
          <p:cNvSpPr/>
          <p:nvPr/>
        </p:nvSpPr>
        <p:spPr>
          <a:xfrm>
            <a:off x="914400" y="1280160"/>
            <a:ext cx="5440680" cy="2468880"/>
          </a:xfrm>
          <a:prstGeom prst="rect">
            <a:avLst/>
          </a:prstGeom>
          <a:noFill/>
          <a:ln/>
        </p:spPr>
        <p:txBody>
          <a:bodyPr wrap="square" lIns="381" tIns="381" rIns="381" bIns="381" rtlCol="0" anchor="t"/>
          <a:lstStyle/>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&lt;llm-token-limit counter-key="@(context.Subscription.Id)"</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tokens-per-minute="300"</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token-quota="100000"</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token-quota-period="Monthly"</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estimate-prompt-tokens="false"</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remaining-tokens-header-name="x-ratelimit-remaining-tokens"</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remaining-quota-tokens-header-name="x-quota-remaining-tokens"</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tokens-consumed-header-name="x-tokens-consumed" /&gt;</a:t>
            </a:r>
            <a:endParaRPr lang="en-US" sz="1150" dirty="0"/>
          </a:p>
        </p:txBody>
      </p:sp>
      <p:sp>
        <p:nvSpPr>
          <p:cNvPr id="9" name="Text 7"/>
          <p:cNvSpPr/>
          <p:nvPr/>
        </p:nvSpPr>
        <p:spPr>
          <a:xfrm>
            <a:off x="914400" y="4050792"/>
            <a:ext cx="5074920" cy="164592"/>
          </a:xfrm>
          <a:prstGeom prst="rect">
            <a:avLst/>
          </a:prstGeom>
          <a:noFill/>
          <a:ln/>
        </p:spPr>
        <p:txBody>
          <a:bodyPr wrap="square" lIns="0" tIns="0" rIns="0" bIns="0" rtlCol="0" anchor="ctr"/>
          <a:lstStyle/>
          <a:p>
            <a:pPr marL="0" indent="0">
              <a:buNone/>
            </a:pPr>
            <a:r>
              <a:rPr lang="en-US" sz="1020" dirty="0">
                <a:solidFill>
                  <a:srgbClr val="FFB900"/>
                </a:solidFill>
                <a:latin typeface="Segoe UI Semibold" pitchFamily="34" charset="0"/>
                <a:ea typeface="Segoe UI Semibold" pitchFamily="34" charset="-122"/>
                <a:cs typeface="Segoe UI Semibold" pitchFamily="34" charset="-120"/>
              </a:rPr>
              <a:t>Bronze sandbox: 300 tokens/min · 100K/month</a:t>
            </a:r>
            <a:endParaRPr lang="en-US" sz="1020" dirty="0"/>
          </a:p>
        </p:txBody>
      </p:sp>
      <p:sp>
        <p:nvSpPr>
          <p:cNvPr id="10" name="Shape 8"/>
          <p:cNvSpPr/>
          <p:nvPr/>
        </p:nvSpPr>
        <p:spPr>
          <a:xfrm>
            <a:off x="6903720" y="11430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1" name="Shape 9"/>
          <p:cNvSpPr/>
          <p:nvPr/>
        </p:nvSpPr>
        <p:spPr>
          <a:xfrm>
            <a:off x="6903720" y="1143000"/>
            <a:ext cx="73152" cy="1143000"/>
          </a:xfrm>
          <a:prstGeom prst="rect">
            <a:avLst/>
          </a:prstGeom>
          <a:solidFill>
            <a:srgbClr val="00B7C3"/>
          </a:solidFill>
          <a:ln w="12700">
            <a:solidFill>
              <a:srgbClr val="00B7C3"/>
            </a:solidFill>
            <a:prstDash val="solid"/>
          </a:ln>
        </p:spPr>
      </p:sp>
      <p:sp>
        <p:nvSpPr>
          <p:cNvPr id="12" name="Text 10"/>
          <p:cNvSpPr/>
          <p:nvPr/>
        </p:nvSpPr>
        <p:spPr>
          <a:xfrm>
            <a:off x="7086600" y="12801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Semantic caching</a:t>
            </a:r>
            <a:endParaRPr lang="en-US" sz="1250" dirty="0"/>
          </a:p>
        </p:txBody>
      </p:sp>
      <p:sp>
        <p:nvSpPr>
          <p:cNvPr id="13" name="Text 11"/>
          <p:cNvSpPr/>
          <p:nvPr/>
        </p:nvSpPr>
        <p:spPr>
          <a:xfrm>
            <a:off x="7086600" y="1600200"/>
            <a:ext cx="1691640" cy="594360"/>
          </a:xfrm>
          <a:prstGeom prst="rect">
            <a:avLst/>
          </a:prstGeom>
          <a:noFill/>
          <a:ln/>
        </p:spPr>
        <p:txBody>
          <a:bodyPr wrap="square" lIns="635" tIns="635" rIns="635" bIns="635" rtlCol="0" anchor="ctr">
            <a:normAutofit/>
          </a:bodyPr>
          <a:lstStyle/>
          <a:p>
            <a:pPr marL="0" indent="0">
              <a:buNone/>
            </a:pPr>
            <a:r>
              <a:rPr lang="en-US" sz="910" dirty="0">
                <a:solidFill>
                  <a:srgbClr val="3B4A5E"/>
                </a:solidFill>
                <a:latin typeface="Segoe UI" pitchFamily="34" charset="0"/>
                <a:ea typeface="Segoe UI" pitchFamily="34" charset="-122"/>
                <a:cs typeface="Segoe UI" pitchFamily="34" charset="-120"/>
              </a:rPr>
              <a:t>Reuse similar completions with Managed Redis.</a:t>
            </a:r>
            <a:endParaRPr lang="en-US" sz="910" dirty="0"/>
          </a:p>
        </p:txBody>
      </p:sp>
      <p:sp>
        <p:nvSpPr>
          <p:cNvPr id="14" name="Shape 12"/>
          <p:cNvSpPr/>
          <p:nvPr/>
        </p:nvSpPr>
        <p:spPr>
          <a:xfrm>
            <a:off x="9281160" y="11430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5" name="Shape 13"/>
          <p:cNvSpPr/>
          <p:nvPr/>
        </p:nvSpPr>
        <p:spPr>
          <a:xfrm>
            <a:off x="9281160" y="1143000"/>
            <a:ext cx="73152" cy="1143000"/>
          </a:xfrm>
          <a:prstGeom prst="rect">
            <a:avLst/>
          </a:prstGeom>
          <a:solidFill>
            <a:srgbClr val="0078D4"/>
          </a:solidFill>
          <a:ln w="12700">
            <a:solidFill>
              <a:srgbClr val="0078D4"/>
            </a:solidFill>
            <a:prstDash val="solid"/>
          </a:ln>
        </p:spPr>
      </p:sp>
      <p:sp>
        <p:nvSpPr>
          <p:cNvPr id="16" name="Text 14"/>
          <p:cNvSpPr/>
          <p:nvPr/>
        </p:nvSpPr>
        <p:spPr>
          <a:xfrm>
            <a:off x="9464040" y="12801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PTU-first</a:t>
            </a:r>
            <a:endParaRPr lang="en-US" sz="1250" dirty="0"/>
          </a:p>
        </p:txBody>
      </p:sp>
      <p:sp>
        <p:nvSpPr>
          <p:cNvPr id="17" name="Text 15"/>
          <p:cNvSpPr/>
          <p:nvPr/>
        </p:nvSpPr>
        <p:spPr>
          <a:xfrm>
            <a:off x="9464040" y="1600200"/>
            <a:ext cx="1691640" cy="594360"/>
          </a:xfrm>
          <a:prstGeom prst="rect">
            <a:avLst/>
          </a:prstGeom>
          <a:noFill/>
          <a:ln/>
        </p:spPr>
        <p:txBody>
          <a:bodyPr wrap="square" lIns="635" tIns="635" rIns="635" bIns="635" rtlCol="0" anchor="ctr">
            <a:normAutofit/>
          </a:bodyPr>
          <a:lstStyle/>
          <a:p>
            <a:pPr marL="0" indent="0">
              <a:buNone/>
            </a:pPr>
            <a:r>
              <a:rPr lang="en-US" sz="870" dirty="0">
                <a:solidFill>
                  <a:srgbClr val="3B4A5E"/>
                </a:solidFill>
                <a:latin typeface="Segoe UI" pitchFamily="34" charset="0"/>
                <a:ea typeface="Segoe UI" pitchFamily="34" charset="-122"/>
                <a:cs typeface="Segoe UI" pitchFamily="34" charset="-120"/>
              </a:rPr>
              <a:t>Use priority routing for reserved capacity, spill over when needed.</a:t>
            </a:r>
            <a:endParaRPr lang="en-US" sz="870" dirty="0"/>
          </a:p>
        </p:txBody>
      </p:sp>
      <p:sp>
        <p:nvSpPr>
          <p:cNvPr id="18" name="Shape 16"/>
          <p:cNvSpPr/>
          <p:nvPr/>
        </p:nvSpPr>
        <p:spPr>
          <a:xfrm>
            <a:off x="6903720" y="27432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9" name="Shape 17"/>
          <p:cNvSpPr/>
          <p:nvPr/>
        </p:nvSpPr>
        <p:spPr>
          <a:xfrm>
            <a:off x="6903720" y="2743200"/>
            <a:ext cx="73152" cy="1143000"/>
          </a:xfrm>
          <a:prstGeom prst="rect">
            <a:avLst/>
          </a:prstGeom>
          <a:solidFill>
            <a:srgbClr val="FFB900"/>
          </a:solidFill>
          <a:ln w="12700">
            <a:solidFill>
              <a:srgbClr val="FFB900"/>
            </a:solidFill>
            <a:prstDash val="solid"/>
          </a:ln>
        </p:spPr>
      </p:sp>
      <p:sp>
        <p:nvSpPr>
          <p:cNvPr id="20" name="Text 18"/>
          <p:cNvSpPr/>
          <p:nvPr/>
        </p:nvSpPr>
        <p:spPr>
          <a:xfrm>
            <a:off x="7086600" y="28803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Headers</a:t>
            </a:r>
            <a:endParaRPr lang="en-US" sz="1250" dirty="0"/>
          </a:p>
        </p:txBody>
      </p:sp>
      <p:sp>
        <p:nvSpPr>
          <p:cNvPr id="21" name="Text 19"/>
          <p:cNvSpPr/>
          <p:nvPr/>
        </p:nvSpPr>
        <p:spPr>
          <a:xfrm>
            <a:off x="7086600" y="3200400"/>
            <a:ext cx="1691640" cy="594360"/>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x-ratelimit-remaining-tokens, x-quota-remaining-tokens and x-tokens-consumed.</a:t>
            </a:r>
            <a:endParaRPr lang="en-US" sz="790" dirty="0"/>
          </a:p>
        </p:txBody>
      </p:sp>
      <p:sp>
        <p:nvSpPr>
          <p:cNvPr id="22" name="Shape 20"/>
          <p:cNvSpPr/>
          <p:nvPr/>
        </p:nvSpPr>
        <p:spPr>
          <a:xfrm>
            <a:off x="9281160" y="27432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3" name="Shape 21"/>
          <p:cNvSpPr/>
          <p:nvPr/>
        </p:nvSpPr>
        <p:spPr>
          <a:xfrm>
            <a:off x="9281160" y="2743200"/>
            <a:ext cx="73152" cy="1143000"/>
          </a:xfrm>
          <a:prstGeom prst="rect">
            <a:avLst/>
          </a:prstGeom>
          <a:solidFill>
            <a:srgbClr val="00B7C3"/>
          </a:solidFill>
          <a:ln w="12700">
            <a:solidFill>
              <a:srgbClr val="00B7C3"/>
            </a:solidFill>
            <a:prstDash val="solid"/>
          </a:ln>
        </p:spPr>
      </p:sp>
      <p:sp>
        <p:nvSpPr>
          <p:cNvPr id="24" name="Text 22"/>
          <p:cNvSpPr/>
          <p:nvPr/>
        </p:nvSpPr>
        <p:spPr>
          <a:xfrm>
            <a:off x="9464040" y="28803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Chargeback</a:t>
            </a:r>
            <a:endParaRPr lang="en-US" sz="1250" dirty="0"/>
          </a:p>
        </p:txBody>
      </p:sp>
      <p:sp>
        <p:nvSpPr>
          <p:cNvPr id="25" name="Text 23"/>
          <p:cNvSpPr/>
          <p:nvPr/>
        </p:nvSpPr>
        <p:spPr>
          <a:xfrm>
            <a:off x="9464040" y="3200400"/>
            <a:ext cx="1691640" cy="594360"/>
          </a:xfrm>
          <a:prstGeom prst="rect">
            <a:avLst/>
          </a:prstGeom>
          <a:noFill/>
          <a:ln/>
        </p:spPr>
        <p:txBody>
          <a:bodyPr wrap="square" lIns="635" tIns="635" rIns="635" bIns="635" rtlCol="0" anchor="ctr">
            <a:normAutofit/>
          </a:bodyPr>
          <a:lstStyle/>
          <a:p>
            <a:pPr marL="0" indent="0">
              <a:buNone/>
            </a:pPr>
            <a:r>
              <a:rPr lang="en-US" sz="870" dirty="0">
                <a:solidFill>
                  <a:srgbClr val="3B4A5E"/>
                </a:solidFill>
                <a:latin typeface="Segoe UI" pitchFamily="34" charset="0"/>
                <a:ea typeface="Segoe UI" pitchFamily="34" charset="-122"/>
                <a:cs typeface="Segoe UI" pitchFamily="34" charset="-120"/>
              </a:rPr>
              <a:t>Product and subscription dimensions map cost to teams.</a:t>
            </a:r>
            <a:endParaRPr lang="en-US" sz="870" dirty="0"/>
          </a:p>
        </p:txBody>
      </p:sp>
      <p:sp>
        <p:nvSpPr>
          <p:cNvPr id="26" name="Text 24"/>
          <p:cNvSpPr/>
          <p:nvPr/>
        </p:nvSpPr>
        <p:spPr>
          <a:xfrm>
            <a:off x="6400800" y="4663440"/>
            <a:ext cx="4663440" cy="411480"/>
          </a:xfrm>
          <a:prstGeom prst="rect">
            <a:avLst/>
          </a:prstGeom>
          <a:noFill/>
          <a:ln/>
        </p:spPr>
        <p:txBody>
          <a:bodyPr wrap="square" lIns="0" tIns="0" rIns="0" bIns="0" rtlCol="0" anchor="ctr">
            <a:normAutofit/>
          </a:bodyPr>
          <a:lstStyle/>
          <a:p>
            <a:pPr marL="0" indent="0">
              <a:buNone/>
            </a:pPr>
            <a:r>
              <a:rPr lang="en-US" sz="1500" dirty="0">
                <a:solidFill>
                  <a:srgbClr val="0B1E3F"/>
                </a:solidFill>
                <a:latin typeface="Segoe UI Semibold" pitchFamily="34" charset="0"/>
                <a:ea typeface="Segoe UI Semibold" pitchFamily="34" charset="-122"/>
                <a:cs typeface="Segoe UI Semibold" pitchFamily="34" charset="-120"/>
              </a:rPr>
              <a:t>Cost controls apply before the model call, not after finance receives the bill.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3 — Resiliency: pools, retry and circuit breaker</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13</a:t>
            </a:r>
            <a:endParaRPr lang="en-US" sz="800" dirty="0"/>
          </a:p>
        </p:txBody>
      </p:sp>
      <p:sp>
        <p:nvSpPr>
          <p:cNvPr id="7" name="Shape 5"/>
          <p:cNvSpPr/>
          <p:nvPr/>
        </p:nvSpPr>
        <p:spPr>
          <a:xfrm>
            <a:off x="822960" y="1234440"/>
            <a:ext cx="1920240" cy="621792"/>
          </a:xfrm>
          <a:prstGeom prst="roundRect">
            <a:avLst>
              <a:gd name="adj" fmla="val 11765"/>
            </a:avLst>
          </a:prstGeom>
          <a:solidFill>
            <a:srgbClr val="3B4A5E"/>
          </a:solidFill>
          <a:ln w="12700">
            <a:solidFill>
              <a:srgbClr val="3B4A5E"/>
            </a:solidFill>
            <a:prstDash val="solid"/>
          </a:ln>
        </p:spPr>
      </p:sp>
      <p:sp>
        <p:nvSpPr>
          <p:cNvPr id="8" name="Text 6"/>
          <p:cNvSpPr/>
          <p:nvPr/>
        </p:nvSpPr>
        <p:spPr>
          <a:xfrm>
            <a:off x="896112"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Client</a:t>
            </a:r>
            <a:endParaRPr lang="en-US" sz="880" dirty="0"/>
          </a:p>
        </p:txBody>
      </p:sp>
      <p:sp>
        <p:nvSpPr>
          <p:cNvPr id="9" name="Shape 7"/>
          <p:cNvSpPr/>
          <p:nvPr/>
        </p:nvSpPr>
        <p:spPr>
          <a:xfrm>
            <a:off x="2788920" y="1545336"/>
            <a:ext cx="347472" cy="0"/>
          </a:xfrm>
          <a:prstGeom prst="line">
            <a:avLst/>
          </a:prstGeom>
          <a:noFill/>
          <a:ln w="17780">
            <a:solidFill>
              <a:srgbClr val="3B4A5E"/>
            </a:solidFill>
            <a:prstDash val="solid"/>
            <a:headEnd type="none"/>
            <a:tailEnd type="triangle"/>
          </a:ln>
        </p:spPr>
      </p:sp>
      <p:sp>
        <p:nvSpPr>
          <p:cNvPr id="10" name="Shape 8"/>
          <p:cNvSpPr/>
          <p:nvPr/>
        </p:nvSpPr>
        <p:spPr>
          <a:xfrm>
            <a:off x="3182112" y="1234440"/>
            <a:ext cx="1920240" cy="621792"/>
          </a:xfrm>
          <a:prstGeom prst="roundRect">
            <a:avLst>
              <a:gd name="adj" fmla="val 11765"/>
            </a:avLst>
          </a:prstGeom>
          <a:solidFill>
            <a:srgbClr val="0078D4"/>
          </a:solidFill>
          <a:ln w="12700">
            <a:solidFill>
              <a:srgbClr val="0078D4"/>
            </a:solidFill>
            <a:prstDash val="solid"/>
          </a:ln>
        </p:spPr>
      </p:sp>
      <p:sp>
        <p:nvSpPr>
          <p:cNvPr id="11" name="Text 9"/>
          <p:cNvSpPr/>
          <p:nvPr/>
        </p:nvSpPr>
        <p:spPr>
          <a:xfrm>
            <a:off x="3255264"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retry</a:t>
            </a:r>
            <a:endParaRPr lang="en-US" sz="880" dirty="0"/>
          </a:p>
        </p:txBody>
      </p:sp>
      <p:sp>
        <p:nvSpPr>
          <p:cNvPr id="12" name="Shape 10"/>
          <p:cNvSpPr/>
          <p:nvPr/>
        </p:nvSpPr>
        <p:spPr>
          <a:xfrm>
            <a:off x="5148072" y="1545336"/>
            <a:ext cx="347472" cy="0"/>
          </a:xfrm>
          <a:prstGeom prst="line">
            <a:avLst/>
          </a:prstGeom>
          <a:noFill/>
          <a:ln w="17780">
            <a:solidFill>
              <a:srgbClr val="3B4A5E"/>
            </a:solidFill>
            <a:prstDash val="solid"/>
            <a:headEnd type="none"/>
            <a:tailEnd type="triangle"/>
          </a:ln>
        </p:spPr>
      </p:sp>
      <p:sp>
        <p:nvSpPr>
          <p:cNvPr id="13" name="Shape 11"/>
          <p:cNvSpPr/>
          <p:nvPr/>
        </p:nvSpPr>
        <p:spPr>
          <a:xfrm>
            <a:off x="5541264" y="1234440"/>
            <a:ext cx="1920240" cy="621792"/>
          </a:xfrm>
          <a:prstGeom prst="roundRect">
            <a:avLst>
              <a:gd name="adj" fmla="val 11765"/>
            </a:avLst>
          </a:prstGeom>
          <a:solidFill>
            <a:srgbClr val="00B7C3"/>
          </a:solidFill>
          <a:ln w="12700">
            <a:solidFill>
              <a:srgbClr val="00B7C3"/>
            </a:solidFill>
            <a:prstDash val="solid"/>
          </a:ln>
        </p:spPr>
      </p:sp>
      <p:sp>
        <p:nvSpPr>
          <p:cNvPr id="14" name="Text 12"/>
          <p:cNvSpPr/>
          <p:nvPr/>
        </p:nvSpPr>
        <p:spPr>
          <a:xfrm>
            <a:off x="5614416"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foundry-pool</a:t>
            </a:r>
            <a:endParaRPr lang="en-US" sz="880" dirty="0"/>
          </a:p>
        </p:txBody>
      </p:sp>
      <p:sp>
        <p:nvSpPr>
          <p:cNvPr id="15" name="Shape 13"/>
          <p:cNvSpPr/>
          <p:nvPr/>
        </p:nvSpPr>
        <p:spPr>
          <a:xfrm>
            <a:off x="7406640" y="1005840"/>
            <a:ext cx="1508760" cy="685800"/>
          </a:xfrm>
          <a:prstGeom prst="roundRect">
            <a:avLst>
              <a:gd name="adj" fmla="val 10667"/>
            </a:avLst>
          </a:prstGeom>
          <a:solidFill>
            <a:srgbClr val="E5F1FB"/>
          </a:solidFill>
          <a:ln w="15240">
            <a:solidFill>
              <a:srgbClr val="0078D4"/>
            </a:solidFill>
            <a:prstDash val="solid"/>
          </a:ln>
        </p:spPr>
      </p:sp>
      <p:sp>
        <p:nvSpPr>
          <p:cNvPr id="16" name="Text 14"/>
          <p:cNvSpPr/>
          <p:nvPr/>
        </p:nvSpPr>
        <p:spPr>
          <a:xfrm>
            <a:off x="7516368" y="1161288"/>
            <a:ext cx="1280160" cy="256032"/>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Sweden</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Central</a:t>
            </a:r>
            <a:endParaRPr lang="en-US" sz="1000" dirty="0"/>
          </a:p>
        </p:txBody>
      </p:sp>
      <p:sp>
        <p:nvSpPr>
          <p:cNvPr id="17" name="Shape 15"/>
          <p:cNvSpPr/>
          <p:nvPr/>
        </p:nvSpPr>
        <p:spPr>
          <a:xfrm>
            <a:off x="9528048" y="1005840"/>
            <a:ext cx="1508760" cy="685800"/>
          </a:xfrm>
          <a:prstGeom prst="roundRect">
            <a:avLst>
              <a:gd name="adj" fmla="val 10667"/>
            </a:avLst>
          </a:prstGeom>
          <a:solidFill>
            <a:srgbClr val="D9F7FA"/>
          </a:solidFill>
          <a:ln w="15240">
            <a:solidFill>
              <a:srgbClr val="00B7C3"/>
            </a:solidFill>
            <a:prstDash val="solid"/>
          </a:ln>
        </p:spPr>
      </p:sp>
      <p:sp>
        <p:nvSpPr>
          <p:cNvPr id="18" name="Text 16"/>
          <p:cNvSpPr/>
          <p:nvPr/>
        </p:nvSpPr>
        <p:spPr>
          <a:xfrm>
            <a:off x="9637776" y="1161288"/>
            <a:ext cx="1280160" cy="256032"/>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France</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Central</a:t>
            </a:r>
            <a:endParaRPr lang="en-US" sz="1000" dirty="0"/>
          </a:p>
        </p:txBody>
      </p:sp>
      <p:sp>
        <p:nvSpPr>
          <p:cNvPr id="19" name="Shape 17"/>
          <p:cNvSpPr/>
          <p:nvPr/>
        </p:nvSpPr>
        <p:spPr>
          <a:xfrm>
            <a:off x="6629400" y="1408176"/>
            <a:ext cx="777240" cy="0"/>
          </a:xfrm>
          <a:prstGeom prst="line">
            <a:avLst/>
          </a:prstGeom>
          <a:noFill/>
          <a:ln w="17780">
            <a:solidFill>
              <a:srgbClr val="3B4A5E"/>
            </a:solidFill>
            <a:prstDash val="solid"/>
            <a:tailEnd type="triangle"/>
          </a:ln>
        </p:spPr>
      </p:sp>
      <p:sp>
        <p:nvSpPr>
          <p:cNvPr id="20" name="Shape 18"/>
          <p:cNvSpPr/>
          <p:nvPr/>
        </p:nvSpPr>
        <p:spPr>
          <a:xfrm>
            <a:off x="6629400" y="1920240"/>
            <a:ext cx="2880360" cy="0"/>
          </a:xfrm>
          <a:prstGeom prst="line">
            <a:avLst/>
          </a:prstGeom>
          <a:noFill/>
          <a:ln w="17780">
            <a:solidFill>
              <a:srgbClr val="3B4A5E"/>
            </a:solidFill>
            <a:prstDash val="solid"/>
            <a:tailEnd type="triangle"/>
          </a:ln>
        </p:spPr>
      </p:sp>
      <p:sp>
        <p:nvSpPr>
          <p:cNvPr id="21" name="Shape 19"/>
          <p:cNvSpPr/>
          <p:nvPr/>
        </p:nvSpPr>
        <p:spPr>
          <a:xfrm>
            <a:off x="8229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2" name="Shape 20"/>
          <p:cNvSpPr/>
          <p:nvPr/>
        </p:nvSpPr>
        <p:spPr>
          <a:xfrm>
            <a:off x="822960" y="2743200"/>
            <a:ext cx="73152" cy="1234440"/>
          </a:xfrm>
          <a:prstGeom prst="rect">
            <a:avLst/>
          </a:prstGeom>
          <a:solidFill>
            <a:srgbClr val="00B7C3"/>
          </a:solidFill>
          <a:ln w="12700">
            <a:solidFill>
              <a:srgbClr val="00B7C3"/>
            </a:solidFill>
            <a:prstDash val="solid"/>
          </a:ln>
        </p:spPr>
      </p:sp>
      <p:sp>
        <p:nvSpPr>
          <p:cNvPr id="23" name="Shape 21"/>
          <p:cNvSpPr/>
          <p:nvPr/>
        </p:nvSpPr>
        <p:spPr>
          <a:xfrm>
            <a:off x="987552" y="2898648"/>
            <a:ext cx="393192" cy="393192"/>
          </a:xfrm>
          <a:prstGeom prst="ellipse">
            <a:avLst/>
          </a:prstGeom>
          <a:solidFill>
            <a:srgbClr val="00B7C3"/>
          </a:solidFill>
          <a:ln w="12700">
            <a:solidFill>
              <a:srgbClr val="00B7C3"/>
            </a:solidFill>
            <a:prstDash val="solid"/>
          </a:ln>
        </p:spPr>
      </p:sp>
      <p:sp>
        <p:nvSpPr>
          <p:cNvPr id="24" name="Text 22"/>
          <p:cNvSpPr/>
          <p:nvPr/>
        </p:nvSpPr>
        <p:spPr>
          <a:xfrm>
            <a:off x="987552" y="29580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50</a:t>
            </a:r>
            <a:endParaRPr lang="en-US" sz="800" dirty="0"/>
          </a:p>
        </p:txBody>
      </p:sp>
      <p:sp>
        <p:nvSpPr>
          <p:cNvPr id="25" name="Text 23"/>
          <p:cNvSpPr/>
          <p:nvPr/>
        </p:nvSpPr>
        <p:spPr>
          <a:xfrm>
            <a:off x="14813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Weighted 50/50</a:t>
            </a:r>
            <a:endParaRPr lang="en-US" sz="1250" dirty="0"/>
          </a:p>
        </p:txBody>
      </p:sp>
      <p:sp>
        <p:nvSpPr>
          <p:cNvPr id="26" name="Text 24"/>
          <p:cNvSpPr/>
          <p:nvPr/>
        </p:nvSpPr>
        <p:spPr>
          <a:xfrm>
            <a:off x="14813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Six requests spread across Sweden Central and France Central.</a:t>
            </a:r>
            <a:endParaRPr lang="en-US" sz="1040" dirty="0"/>
          </a:p>
        </p:txBody>
      </p:sp>
      <p:sp>
        <p:nvSpPr>
          <p:cNvPr id="27" name="Shape 25"/>
          <p:cNvSpPr/>
          <p:nvPr/>
        </p:nvSpPr>
        <p:spPr>
          <a:xfrm>
            <a:off x="44805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8" name="Shape 26"/>
          <p:cNvSpPr/>
          <p:nvPr/>
        </p:nvSpPr>
        <p:spPr>
          <a:xfrm>
            <a:off x="4480560" y="2743200"/>
            <a:ext cx="73152" cy="1234440"/>
          </a:xfrm>
          <a:prstGeom prst="rect">
            <a:avLst/>
          </a:prstGeom>
          <a:solidFill>
            <a:srgbClr val="FFB900"/>
          </a:solidFill>
          <a:ln w="12700">
            <a:solidFill>
              <a:srgbClr val="FFB900"/>
            </a:solidFill>
            <a:prstDash val="solid"/>
          </a:ln>
        </p:spPr>
      </p:sp>
      <p:sp>
        <p:nvSpPr>
          <p:cNvPr id="29" name="Shape 27"/>
          <p:cNvSpPr/>
          <p:nvPr/>
        </p:nvSpPr>
        <p:spPr>
          <a:xfrm>
            <a:off x="4645152" y="2898648"/>
            <a:ext cx="393192" cy="393192"/>
          </a:xfrm>
          <a:prstGeom prst="ellipse">
            <a:avLst/>
          </a:prstGeom>
          <a:solidFill>
            <a:srgbClr val="FFB900"/>
          </a:solidFill>
          <a:ln w="12700">
            <a:solidFill>
              <a:srgbClr val="FFB900"/>
            </a:solidFill>
            <a:prstDash val="solid"/>
          </a:ln>
        </p:spPr>
      </p:sp>
      <p:sp>
        <p:nvSpPr>
          <p:cNvPr id="30" name="Text 28"/>
          <p:cNvSpPr/>
          <p:nvPr/>
        </p:nvSpPr>
        <p:spPr>
          <a:xfrm>
            <a:off x="4645152" y="29580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CB</a:t>
            </a:r>
            <a:endParaRPr lang="en-US" sz="800" dirty="0"/>
          </a:p>
        </p:txBody>
      </p:sp>
      <p:sp>
        <p:nvSpPr>
          <p:cNvPr id="31" name="Text 29"/>
          <p:cNvSpPr/>
          <p:nvPr/>
        </p:nvSpPr>
        <p:spPr>
          <a:xfrm>
            <a:off x="51389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Circuit breaker</a:t>
            </a:r>
            <a:endParaRPr lang="en-US" sz="1250" dirty="0"/>
          </a:p>
        </p:txBody>
      </p:sp>
      <p:sp>
        <p:nvSpPr>
          <p:cNvPr id="32" name="Text 30"/>
          <p:cNvSpPr/>
          <p:nvPr/>
        </p:nvSpPr>
        <p:spPr>
          <a:xfrm>
            <a:off x="51389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Trips on 429/5xx and honors Retry-After from backend.</a:t>
            </a:r>
            <a:endParaRPr lang="en-US" sz="1040" dirty="0"/>
          </a:p>
        </p:txBody>
      </p:sp>
      <p:sp>
        <p:nvSpPr>
          <p:cNvPr id="33" name="Shape 31"/>
          <p:cNvSpPr/>
          <p:nvPr/>
        </p:nvSpPr>
        <p:spPr>
          <a:xfrm>
            <a:off x="81381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4" name="Shape 32"/>
          <p:cNvSpPr/>
          <p:nvPr/>
        </p:nvSpPr>
        <p:spPr>
          <a:xfrm>
            <a:off x="8138160" y="2743200"/>
            <a:ext cx="73152" cy="1234440"/>
          </a:xfrm>
          <a:prstGeom prst="rect">
            <a:avLst/>
          </a:prstGeom>
          <a:solidFill>
            <a:srgbClr val="0078D4"/>
          </a:solidFill>
          <a:ln w="12700">
            <a:solidFill>
              <a:srgbClr val="0078D4"/>
            </a:solidFill>
            <a:prstDash val="solid"/>
          </a:ln>
        </p:spPr>
      </p:sp>
      <p:sp>
        <p:nvSpPr>
          <p:cNvPr id="35" name="Shape 33"/>
          <p:cNvSpPr/>
          <p:nvPr/>
        </p:nvSpPr>
        <p:spPr>
          <a:xfrm>
            <a:off x="8302752" y="2898648"/>
            <a:ext cx="393192" cy="393192"/>
          </a:xfrm>
          <a:prstGeom prst="ellipse">
            <a:avLst/>
          </a:prstGeom>
          <a:solidFill>
            <a:srgbClr val="0078D4"/>
          </a:solidFill>
          <a:ln w="12700">
            <a:solidFill>
              <a:srgbClr val="0078D4"/>
            </a:solidFill>
            <a:prstDash val="solid"/>
          </a:ln>
        </p:spPr>
      </p:sp>
      <p:sp>
        <p:nvSpPr>
          <p:cNvPr id="36" name="Text 34"/>
          <p:cNvSpPr/>
          <p:nvPr/>
        </p:nvSpPr>
        <p:spPr>
          <a:xfrm>
            <a:off x="8302752" y="29580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R</a:t>
            </a:r>
            <a:endParaRPr lang="en-US" sz="800" dirty="0"/>
          </a:p>
        </p:txBody>
      </p:sp>
      <p:sp>
        <p:nvSpPr>
          <p:cNvPr id="37" name="Text 35"/>
          <p:cNvSpPr/>
          <p:nvPr/>
        </p:nvSpPr>
        <p:spPr>
          <a:xfrm>
            <a:off x="87965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Retry policy</a:t>
            </a:r>
            <a:endParaRPr lang="en-US" sz="1250" dirty="0"/>
          </a:p>
        </p:txBody>
      </p:sp>
      <p:sp>
        <p:nvSpPr>
          <p:cNvPr id="38" name="Text 36"/>
          <p:cNvSpPr/>
          <p:nvPr/>
        </p:nvSpPr>
        <p:spPr>
          <a:xfrm>
            <a:off x="87965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Retry through the pool instead of teaching every app to back off.</a:t>
            </a:r>
            <a:endParaRPr lang="en-US" sz="1040" dirty="0"/>
          </a:p>
        </p:txBody>
      </p:sp>
      <p:sp>
        <p:nvSpPr>
          <p:cNvPr id="39" name="Text 37"/>
          <p:cNvSpPr/>
          <p:nvPr/>
        </p:nvSpPr>
        <p:spPr>
          <a:xfrm>
            <a:off x="1097280" y="4892040"/>
            <a:ext cx="9966960" cy="228600"/>
          </a:xfrm>
          <a:prstGeom prst="rect">
            <a:avLst/>
          </a:prstGeom>
          <a:noFill/>
          <a:ln/>
        </p:spPr>
        <p:txBody>
          <a:bodyPr wrap="square" lIns="0" tIns="0" rIns="0" bIns="0" rtlCol="0" anchor="ctr"/>
          <a:lstStyle/>
          <a:p>
            <a:pPr marL="0" indent="0" algn="ctr">
              <a:buNone/>
            </a:pPr>
            <a:r>
              <a:rPr lang="en-US" sz="1120" dirty="0">
                <a:solidFill>
                  <a:srgbClr val="0B1E3F"/>
                </a:solidFill>
                <a:latin typeface="Segoe UI Semibold" pitchFamily="34" charset="0"/>
                <a:ea typeface="Segoe UI Semibold" pitchFamily="34" charset="-122"/>
                <a:cs typeface="Segoe UI Semibold" pitchFamily="34" charset="-120"/>
              </a:rPr>
              <a:t>Backend pools support round-robin, weighted and priority routing; pools support up to 30 backends.</a:t>
            </a:r>
            <a:endParaRPr lang="en-US" sz="11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4 — Observability: token telemetry and LLM logs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14</a:t>
            </a:r>
            <a:endParaRPr lang="en-US" sz="800" dirty="0"/>
          </a:p>
        </p:txBody>
      </p:sp>
      <p:sp>
        <p:nvSpPr>
          <p:cNvPr id="7" name="Shape 5"/>
          <p:cNvSpPr/>
          <p:nvPr/>
        </p:nvSpPr>
        <p:spPr>
          <a:xfrm>
            <a:off x="685800" y="1143000"/>
            <a:ext cx="3657600" cy="3154680"/>
          </a:xfrm>
          <a:prstGeom prst="rect">
            <a:avLst/>
          </a:prstGeom>
          <a:solidFill>
            <a:srgbClr val="FFFFFF"/>
          </a:solidFill>
          <a:ln w="12700">
            <a:solidFill>
              <a:srgbClr val="D8E2EC"/>
            </a:solidFill>
            <a:prstDash val="solid"/>
          </a:ln>
          <a:effectLst>
            <a:outerShdw blurRad="38100" dist="12700" dir="2700000" algn="bl" rotWithShape="0">
              <a:srgbClr val="000000">
                <a:alpha val="8000"/>
              </a:srgbClr>
            </a:outerShdw>
          </a:effectLst>
        </p:spPr>
      </p:sp>
      <p:graphicFrame>
        <p:nvGraphicFramePr>
          <p:cNvPr id="8" name="Chart 0"/>
          <p:cNvGraphicFramePr/>
          <p:nvPr/>
        </p:nvGraphicFramePr>
        <p:xfrm>
          <a:off x="914400" y="1508760"/>
          <a:ext cx="315468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932688" y="3886200"/>
            <a:ext cx="3154680" cy="146304"/>
          </a:xfrm>
          <a:prstGeom prst="rect">
            <a:avLst/>
          </a:prstGeom>
          <a:noFill/>
          <a:ln/>
        </p:spPr>
        <p:txBody>
          <a:bodyPr wrap="square" lIns="0" tIns="0" rIns="0" bIns="0" rtlCol="0" anchor="ctr"/>
          <a:lstStyle/>
          <a:p>
            <a:pPr marL="0" indent="0" algn="ctr">
              <a:buNone/>
            </a:pPr>
            <a:r>
              <a:rPr lang="en-US" sz="950" dirty="0">
                <a:solidFill>
                  <a:srgbClr val="0B1E3F"/>
                </a:solidFill>
                <a:latin typeface="Segoe UI Semibold" pitchFamily="34" charset="0"/>
                <a:ea typeface="Segoe UI Semibold" pitchFamily="34" charset="-122"/>
                <a:cs typeface="Segoe UI Semibold" pitchFamily="34" charset="-120"/>
              </a:rPr>
              <a:t>Token usage by product</a:t>
            </a:r>
            <a:endParaRPr lang="en-US" sz="950" dirty="0"/>
          </a:p>
        </p:txBody>
      </p:sp>
      <p:sp>
        <p:nvSpPr>
          <p:cNvPr id="10" name="Shape 7"/>
          <p:cNvSpPr/>
          <p:nvPr/>
        </p:nvSpPr>
        <p:spPr>
          <a:xfrm>
            <a:off x="4709160" y="1143000"/>
            <a:ext cx="6492240" cy="3154680"/>
          </a:xfrm>
          <a:prstGeom prst="rect">
            <a:avLst/>
          </a:prstGeom>
          <a:solidFill>
            <a:srgbClr val="06152D"/>
          </a:solidFill>
          <a:ln w="12700">
            <a:solidFill>
              <a:srgbClr val="06152D"/>
            </a:solidFill>
            <a:prstDash val="solid"/>
          </a:ln>
          <a:effectLst>
            <a:outerShdw blurRad="38100" dist="12700" dir="2700000" algn="bl" rotWithShape="0">
              <a:srgbClr val="000000">
                <a:alpha val="8000"/>
              </a:srgbClr>
            </a:outerShdw>
          </a:effectLst>
        </p:spPr>
      </p:sp>
      <p:sp>
        <p:nvSpPr>
          <p:cNvPr id="11" name="Text 8"/>
          <p:cNvSpPr/>
          <p:nvPr/>
        </p:nvSpPr>
        <p:spPr>
          <a:xfrm>
            <a:off x="4983480" y="1463040"/>
            <a:ext cx="5943600" cy="2103120"/>
          </a:xfrm>
          <a:prstGeom prst="rect">
            <a:avLst/>
          </a:prstGeom>
          <a:noFill/>
          <a:ln/>
        </p:spPr>
        <p:txBody>
          <a:bodyPr wrap="square" lIns="635" tIns="635" rIns="635" bIns="635" rtlCol="0" anchor="ctr">
            <a:normAutofit/>
          </a:bodyPr>
          <a:lstStyle/>
          <a:p>
            <a:pPr marL="0" indent="0">
              <a:buNone/>
            </a:pPr>
            <a:r>
              <a:rPr lang="en-US" sz="1130" dirty="0">
                <a:solidFill>
                  <a:srgbClr val="D7E7F6"/>
                </a:solidFill>
                <a:latin typeface="Consolas" pitchFamily="34" charset="0"/>
                <a:ea typeface="Consolas" pitchFamily="34" charset="-122"/>
                <a:cs typeface="Consolas" pitchFamily="34" charset="-120"/>
              </a:rPr>
              <a:t>AppMetrics</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where Namespace == "ai-gateway"</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summarize Tokens=sum(Sum) by Product</a:t>
            </a:r>
            <a:endParaRPr lang="en-US" sz="1130" dirty="0"/>
          </a:p>
          <a:p>
            <a:pPr marL="0" indent="0">
              <a:buNone/>
            </a:pP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ApiManagementGatewayLlmLog</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summarize Calls=count() by DeploymentName</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where DeploymentName == "gpt-6.1-sol"</a:t>
            </a:r>
            <a:endParaRPr lang="en-US" sz="1130" dirty="0"/>
          </a:p>
        </p:txBody>
      </p:sp>
      <p:sp>
        <p:nvSpPr>
          <p:cNvPr id="12" name="Text 9"/>
          <p:cNvSpPr/>
          <p:nvPr/>
        </p:nvSpPr>
        <p:spPr>
          <a:xfrm>
            <a:off x="4983480" y="3822192"/>
            <a:ext cx="5989320" cy="146304"/>
          </a:xfrm>
          <a:prstGeom prst="rect">
            <a:avLst/>
          </a:prstGeom>
          <a:noFill/>
          <a:ln/>
        </p:spPr>
        <p:txBody>
          <a:bodyPr wrap="square" lIns="0" tIns="0" rIns="0" bIns="0" rtlCol="0" anchor="ctr"/>
          <a:lstStyle/>
          <a:p>
            <a:pPr marL="0" indent="0">
              <a:buNone/>
            </a:pPr>
            <a:r>
              <a:rPr lang="en-US" sz="920" dirty="0">
                <a:solidFill>
                  <a:srgbClr val="00B7C3"/>
                </a:solidFill>
                <a:latin typeface="Segoe UI Semibold" pitchFamily="34" charset="0"/>
                <a:ea typeface="Segoe UI Semibold" pitchFamily="34" charset="-122"/>
                <a:cs typeface="Segoe UI Semibold" pitchFamily="34" charset="-120"/>
              </a:rPr>
              <a:t>Dimensions: Subscription ID · Product · API ID · Client IP</a:t>
            </a:r>
            <a:endParaRPr lang="en-US" sz="920" dirty="0"/>
          </a:p>
        </p:txBody>
      </p:sp>
      <p:sp>
        <p:nvSpPr>
          <p:cNvPr id="13" name="Shape 10"/>
          <p:cNvSpPr/>
          <p:nvPr/>
        </p:nvSpPr>
        <p:spPr>
          <a:xfrm>
            <a:off x="91440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1"/>
          <p:cNvSpPr/>
          <p:nvPr/>
        </p:nvSpPr>
        <p:spPr>
          <a:xfrm>
            <a:off x="914400" y="4864608"/>
            <a:ext cx="73152" cy="685800"/>
          </a:xfrm>
          <a:prstGeom prst="rect">
            <a:avLst/>
          </a:prstGeom>
          <a:solidFill>
            <a:srgbClr val="0078D4"/>
          </a:solidFill>
          <a:ln w="12700">
            <a:solidFill>
              <a:srgbClr val="0078D4"/>
            </a:solidFill>
            <a:prstDash val="solid"/>
          </a:ln>
        </p:spPr>
      </p:sp>
      <p:sp>
        <p:nvSpPr>
          <p:cNvPr id="15" name="Shape 12"/>
          <p:cNvSpPr/>
          <p:nvPr/>
        </p:nvSpPr>
        <p:spPr>
          <a:xfrm>
            <a:off x="1078992" y="5020056"/>
            <a:ext cx="393192" cy="393192"/>
          </a:xfrm>
          <a:prstGeom prst="ellipse">
            <a:avLst/>
          </a:prstGeom>
          <a:solidFill>
            <a:srgbClr val="0078D4"/>
          </a:solidFill>
          <a:ln w="12700">
            <a:solidFill>
              <a:srgbClr val="0078D4"/>
            </a:solidFill>
            <a:prstDash val="solid"/>
          </a:ln>
        </p:spPr>
      </p:sp>
      <p:sp>
        <p:nvSpPr>
          <p:cNvPr id="16" name="Text 13"/>
          <p:cNvSpPr/>
          <p:nvPr/>
        </p:nvSpPr>
        <p:spPr>
          <a:xfrm>
            <a:off x="1078992" y="507949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W</a:t>
            </a:r>
            <a:endParaRPr lang="en-US" sz="800" dirty="0"/>
          </a:p>
        </p:txBody>
      </p:sp>
      <p:sp>
        <p:nvSpPr>
          <p:cNvPr id="17" name="Text 14"/>
          <p:cNvSpPr/>
          <p:nvPr/>
        </p:nvSpPr>
        <p:spPr>
          <a:xfrm>
            <a:off x="157276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Workbook</a:t>
            </a:r>
            <a:endParaRPr lang="en-US" sz="1250" dirty="0"/>
          </a:p>
        </p:txBody>
      </p:sp>
      <p:sp>
        <p:nvSpPr>
          <p:cNvPr id="18" name="Text 15"/>
          <p:cNvSpPr/>
          <p:nvPr/>
        </p:nvSpPr>
        <p:spPr>
          <a:xfrm>
            <a:off x="157276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Built-in workbook surfaces consumption patterns.</a:t>
            </a:r>
            <a:endParaRPr lang="en-US" sz="810" dirty="0"/>
          </a:p>
        </p:txBody>
      </p:sp>
      <p:sp>
        <p:nvSpPr>
          <p:cNvPr id="19" name="Shape 16"/>
          <p:cNvSpPr/>
          <p:nvPr/>
        </p:nvSpPr>
        <p:spPr>
          <a:xfrm>
            <a:off x="448056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7"/>
          <p:cNvSpPr/>
          <p:nvPr/>
        </p:nvSpPr>
        <p:spPr>
          <a:xfrm>
            <a:off x="4480560" y="4864608"/>
            <a:ext cx="73152" cy="685800"/>
          </a:xfrm>
          <a:prstGeom prst="rect">
            <a:avLst/>
          </a:prstGeom>
          <a:solidFill>
            <a:srgbClr val="FFB900"/>
          </a:solidFill>
          <a:ln w="12700">
            <a:solidFill>
              <a:srgbClr val="FFB900"/>
            </a:solidFill>
            <a:prstDash val="solid"/>
          </a:ln>
        </p:spPr>
      </p:sp>
      <p:sp>
        <p:nvSpPr>
          <p:cNvPr id="21" name="Shape 18"/>
          <p:cNvSpPr/>
          <p:nvPr/>
        </p:nvSpPr>
        <p:spPr>
          <a:xfrm>
            <a:off x="4645152" y="5020056"/>
            <a:ext cx="393192" cy="393192"/>
          </a:xfrm>
          <a:prstGeom prst="ellipse">
            <a:avLst/>
          </a:prstGeom>
          <a:solidFill>
            <a:srgbClr val="FFB900"/>
          </a:solidFill>
          <a:ln w="12700">
            <a:solidFill>
              <a:srgbClr val="FFB900"/>
            </a:solidFill>
            <a:prstDash val="solid"/>
          </a:ln>
        </p:spPr>
      </p:sp>
      <p:sp>
        <p:nvSpPr>
          <p:cNvPr id="22" name="Text 19"/>
          <p:cNvSpPr/>
          <p:nvPr/>
        </p:nvSpPr>
        <p:spPr>
          <a:xfrm>
            <a:off x="4645152" y="507949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23" name="Text 20"/>
          <p:cNvSpPr/>
          <p:nvPr/>
        </p:nvSpPr>
        <p:spPr>
          <a:xfrm>
            <a:off x="513892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FinOps</a:t>
            </a:r>
            <a:endParaRPr lang="en-US" sz="1250" dirty="0"/>
          </a:p>
        </p:txBody>
      </p:sp>
      <p:sp>
        <p:nvSpPr>
          <p:cNvPr id="24" name="Text 21"/>
          <p:cNvSpPr/>
          <p:nvPr/>
        </p:nvSpPr>
        <p:spPr>
          <a:xfrm>
            <a:off x="513892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Chargeback per team, product and subscription.</a:t>
            </a:r>
            <a:endParaRPr lang="en-US" sz="810" dirty="0"/>
          </a:p>
        </p:txBody>
      </p:sp>
      <p:sp>
        <p:nvSpPr>
          <p:cNvPr id="25" name="Shape 22"/>
          <p:cNvSpPr/>
          <p:nvPr/>
        </p:nvSpPr>
        <p:spPr>
          <a:xfrm>
            <a:off x="804672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3"/>
          <p:cNvSpPr/>
          <p:nvPr/>
        </p:nvSpPr>
        <p:spPr>
          <a:xfrm>
            <a:off x="8046720" y="4864608"/>
            <a:ext cx="73152" cy="685800"/>
          </a:xfrm>
          <a:prstGeom prst="rect">
            <a:avLst/>
          </a:prstGeom>
          <a:solidFill>
            <a:srgbClr val="00B7C3"/>
          </a:solidFill>
          <a:ln w="12700">
            <a:solidFill>
              <a:srgbClr val="00B7C3"/>
            </a:solidFill>
            <a:prstDash val="solid"/>
          </a:ln>
        </p:spPr>
      </p:sp>
      <p:sp>
        <p:nvSpPr>
          <p:cNvPr id="27" name="Shape 24"/>
          <p:cNvSpPr/>
          <p:nvPr/>
        </p:nvSpPr>
        <p:spPr>
          <a:xfrm>
            <a:off x="8211312" y="5020056"/>
            <a:ext cx="393192" cy="393192"/>
          </a:xfrm>
          <a:prstGeom prst="ellipse">
            <a:avLst/>
          </a:prstGeom>
          <a:solidFill>
            <a:srgbClr val="00B7C3"/>
          </a:solidFill>
          <a:ln w="12700">
            <a:solidFill>
              <a:srgbClr val="00B7C3"/>
            </a:solidFill>
            <a:prstDash val="solid"/>
          </a:ln>
        </p:spPr>
      </p:sp>
      <p:sp>
        <p:nvSpPr>
          <p:cNvPr id="28" name="Text 25"/>
          <p:cNvSpPr/>
          <p:nvPr/>
        </p:nvSpPr>
        <p:spPr>
          <a:xfrm>
            <a:off x="8211312" y="507949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L</a:t>
            </a:r>
            <a:endParaRPr lang="en-US" sz="800" dirty="0"/>
          </a:p>
        </p:txBody>
      </p:sp>
      <p:sp>
        <p:nvSpPr>
          <p:cNvPr id="29" name="Text 26"/>
          <p:cNvSpPr/>
          <p:nvPr/>
        </p:nvSpPr>
        <p:spPr>
          <a:xfrm>
            <a:off x="870508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Debugging</a:t>
            </a:r>
            <a:endParaRPr lang="en-US" sz="1250" dirty="0"/>
          </a:p>
        </p:txBody>
      </p:sp>
      <p:sp>
        <p:nvSpPr>
          <p:cNvPr id="30" name="Text 27"/>
          <p:cNvSpPr/>
          <p:nvPr/>
        </p:nvSpPr>
        <p:spPr>
          <a:xfrm>
            <a:off x="870508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Prompt/completion logs explain agent behavior.</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5 — MCP &amp; agents: govern tools and APIs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15</a:t>
            </a:r>
            <a:endParaRPr lang="en-US" sz="800" dirty="0"/>
          </a:p>
        </p:txBody>
      </p:sp>
      <p:sp>
        <p:nvSpPr>
          <p:cNvPr id="7" name="Shape 5"/>
          <p:cNvSpPr/>
          <p:nvPr/>
        </p:nvSpPr>
        <p:spPr>
          <a:xfrm>
            <a:off x="777240" y="1234440"/>
            <a:ext cx="2057400" cy="621792"/>
          </a:xfrm>
          <a:prstGeom prst="roundRect">
            <a:avLst>
              <a:gd name="adj" fmla="val 11765"/>
            </a:avLst>
          </a:prstGeom>
          <a:solidFill>
            <a:srgbClr val="0078D4"/>
          </a:solidFill>
          <a:ln w="12700">
            <a:solidFill>
              <a:srgbClr val="0078D4"/>
            </a:solidFill>
            <a:prstDash val="solid"/>
          </a:ln>
        </p:spPr>
      </p:sp>
      <p:sp>
        <p:nvSpPr>
          <p:cNvPr id="8" name="Text 6"/>
          <p:cNvSpPr/>
          <p:nvPr/>
        </p:nvSpPr>
        <p:spPr>
          <a:xfrm>
            <a:off x="85039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REST API</a:t>
            </a:r>
            <a:endParaRPr lang="en-US" sz="880" dirty="0"/>
          </a:p>
        </p:txBody>
      </p:sp>
      <p:sp>
        <p:nvSpPr>
          <p:cNvPr id="9" name="Shape 7"/>
          <p:cNvSpPr/>
          <p:nvPr/>
        </p:nvSpPr>
        <p:spPr>
          <a:xfrm>
            <a:off x="2880360" y="1545336"/>
            <a:ext cx="320040" cy="0"/>
          </a:xfrm>
          <a:prstGeom prst="line">
            <a:avLst/>
          </a:prstGeom>
          <a:noFill/>
          <a:ln w="17780">
            <a:solidFill>
              <a:srgbClr val="3B4A5E"/>
            </a:solidFill>
            <a:prstDash val="solid"/>
            <a:headEnd type="none"/>
            <a:tailEnd type="triangle"/>
          </a:ln>
        </p:spPr>
      </p:sp>
      <p:sp>
        <p:nvSpPr>
          <p:cNvPr id="10" name="Shape 8"/>
          <p:cNvSpPr/>
          <p:nvPr/>
        </p:nvSpPr>
        <p:spPr>
          <a:xfrm>
            <a:off x="3246120" y="1234440"/>
            <a:ext cx="2057400" cy="621792"/>
          </a:xfrm>
          <a:prstGeom prst="roundRect">
            <a:avLst>
              <a:gd name="adj" fmla="val 11765"/>
            </a:avLst>
          </a:prstGeom>
          <a:solidFill>
            <a:srgbClr val="00B7C3"/>
          </a:solidFill>
          <a:ln w="12700">
            <a:solidFill>
              <a:srgbClr val="00B7C3"/>
            </a:solidFill>
            <a:prstDash val="solid"/>
          </a:ln>
        </p:spPr>
      </p:sp>
      <p:sp>
        <p:nvSpPr>
          <p:cNvPr id="11" name="Text 9"/>
          <p:cNvSpPr/>
          <p:nvPr/>
        </p:nvSpPr>
        <p:spPr>
          <a:xfrm>
            <a:off x="331927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MCP server</a:t>
            </a:r>
            <a:endParaRPr lang="en-US" sz="880" dirty="0"/>
          </a:p>
        </p:txBody>
      </p:sp>
      <p:sp>
        <p:nvSpPr>
          <p:cNvPr id="12" name="Shape 10"/>
          <p:cNvSpPr/>
          <p:nvPr/>
        </p:nvSpPr>
        <p:spPr>
          <a:xfrm>
            <a:off x="5349240" y="1545336"/>
            <a:ext cx="320040" cy="0"/>
          </a:xfrm>
          <a:prstGeom prst="line">
            <a:avLst/>
          </a:prstGeom>
          <a:noFill/>
          <a:ln w="17780">
            <a:solidFill>
              <a:srgbClr val="3B4A5E"/>
            </a:solidFill>
            <a:prstDash val="solid"/>
            <a:headEnd type="none"/>
            <a:tailEnd type="triangle"/>
          </a:ln>
        </p:spPr>
      </p:sp>
      <p:sp>
        <p:nvSpPr>
          <p:cNvPr id="13" name="Shape 11"/>
          <p:cNvSpPr/>
          <p:nvPr/>
        </p:nvSpPr>
        <p:spPr>
          <a:xfrm>
            <a:off x="5715000" y="1234440"/>
            <a:ext cx="2057400" cy="621792"/>
          </a:xfrm>
          <a:prstGeom prst="roundRect">
            <a:avLst>
              <a:gd name="adj" fmla="val 11765"/>
            </a:avLst>
          </a:prstGeom>
          <a:solidFill>
            <a:srgbClr val="FFB900"/>
          </a:solidFill>
          <a:ln w="12700">
            <a:solidFill>
              <a:srgbClr val="FFB900"/>
            </a:solidFill>
            <a:prstDash val="solid"/>
          </a:ln>
        </p:spPr>
      </p:sp>
      <p:sp>
        <p:nvSpPr>
          <p:cNvPr id="14" name="Text 12"/>
          <p:cNvSpPr/>
          <p:nvPr/>
        </p:nvSpPr>
        <p:spPr>
          <a:xfrm>
            <a:off x="578815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MCP clients</a:t>
            </a:r>
            <a:endParaRPr lang="en-US" sz="880" dirty="0"/>
          </a:p>
        </p:txBody>
      </p:sp>
      <p:sp>
        <p:nvSpPr>
          <p:cNvPr id="15" name="Shape 13"/>
          <p:cNvSpPr/>
          <p:nvPr/>
        </p:nvSpPr>
        <p:spPr>
          <a:xfrm>
            <a:off x="777240" y="2331720"/>
            <a:ext cx="2057400" cy="621792"/>
          </a:xfrm>
          <a:prstGeom prst="roundRect">
            <a:avLst>
              <a:gd name="adj" fmla="val 11765"/>
            </a:avLst>
          </a:prstGeom>
          <a:solidFill>
            <a:srgbClr val="3B4A5E"/>
          </a:solidFill>
          <a:ln w="12700">
            <a:solidFill>
              <a:srgbClr val="3B4A5E"/>
            </a:solidFill>
            <a:prstDash val="solid"/>
          </a:ln>
        </p:spPr>
      </p:sp>
      <p:sp>
        <p:nvSpPr>
          <p:cNvPr id="16" name="Text 14"/>
          <p:cNvSpPr/>
          <p:nvPr/>
        </p:nvSpPr>
        <p:spPr>
          <a:xfrm>
            <a:off x="85039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Existing MCP</a:t>
            </a:r>
            <a:endParaRPr lang="en-US" sz="880" dirty="0"/>
          </a:p>
        </p:txBody>
      </p:sp>
      <p:sp>
        <p:nvSpPr>
          <p:cNvPr id="17" name="Shape 15"/>
          <p:cNvSpPr/>
          <p:nvPr/>
        </p:nvSpPr>
        <p:spPr>
          <a:xfrm>
            <a:off x="2880360" y="2642616"/>
            <a:ext cx="320040" cy="0"/>
          </a:xfrm>
          <a:prstGeom prst="line">
            <a:avLst/>
          </a:prstGeom>
          <a:noFill/>
          <a:ln w="17780">
            <a:solidFill>
              <a:srgbClr val="3B4A5E"/>
            </a:solidFill>
            <a:prstDash val="solid"/>
            <a:headEnd type="none"/>
            <a:tailEnd type="triangle"/>
          </a:ln>
        </p:spPr>
      </p:sp>
      <p:sp>
        <p:nvSpPr>
          <p:cNvPr id="18" name="Shape 16"/>
          <p:cNvSpPr/>
          <p:nvPr/>
        </p:nvSpPr>
        <p:spPr>
          <a:xfrm>
            <a:off x="3246120" y="2331720"/>
            <a:ext cx="2057400" cy="621792"/>
          </a:xfrm>
          <a:prstGeom prst="roundRect">
            <a:avLst>
              <a:gd name="adj" fmla="val 11765"/>
            </a:avLst>
          </a:prstGeom>
          <a:solidFill>
            <a:srgbClr val="00B7C3"/>
          </a:solidFill>
          <a:ln w="12700">
            <a:solidFill>
              <a:srgbClr val="00B7C3"/>
            </a:solidFill>
            <a:prstDash val="solid"/>
          </a:ln>
        </p:spPr>
      </p:sp>
      <p:sp>
        <p:nvSpPr>
          <p:cNvPr id="19" name="Text 17"/>
          <p:cNvSpPr/>
          <p:nvPr/>
        </p:nvSpPr>
        <p:spPr>
          <a:xfrm>
            <a:off x="331927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pass-through</a:t>
            </a:r>
            <a:endParaRPr lang="en-US" sz="880" dirty="0"/>
          </a:p>
        </p:txBody>
      </p:sp>
      <p:sp>
        <p:nvSpPr>
          <p:cNvPr id="20" name="Shape 18"/>
          <p:cNvSpPr/>
          <p:nvPr/>
        </p:nvSpPr>
        <p:spPr>
          <a:xfrm>
            <a:off x="5349240" y="2642616"/>
            <a:ext cx="320040" cy="0"/>
          </a:xfrm>
          <a:prstGeom prst="line">
            <a:avLst/>
          </a:prstGeom>
          <a:noFill/>
          <a:ln w="17780">
            <a:solidFill>
              <a:srgbClr val="3B4A5E"/>
            </a:solidFill>
            <a:prstDash val="solid"/>
            <a:headEnd type="none"/>
            <a:tailEnd type="triangle"/>
          </a:ln>
        </p:spPr>
      </p:sp>
      <p:sp>
        <p:nvSpPr>
          <p:cNvPr id="21" name="Shape 19"/>
          <p:cNvSpPr/>
          <p:nvPr/>
        </p:nvSpPr>
        <p:spPr>
          <a:xfrm>
            <a:off x="5715000" y="2331720"/>
            <a:ext cx="2057400" cy="621792"/>
          </a:xfrm>
          <a:prstGeom prst="roundRect">
            <a:avLst>
              <a:gd name="adj" fmla="val 11765"/>
            </a:avLst>
          </a:prstGeom>
          <a:solidFill>
            <a:srgbClr val="0078D4"/>
          </a:solidFill>
          <a:ln w="12700">
            <a:solidFill>
              <a:srgbClr val="0078D4"/>
            </a:solidFill>
            <a:prstDash val="solid"/>
          </a:ln>
        </p:spPr>
      </p:sp>
      <p:sp>
        <p:nvSpPr>
          <p:cNvPr id="22" name="Text 20"/>
          <p:cNvSpPr/>
          <p:nvPr/>
        </p:nvSpPr>
        <p:spPr>
          <a:xfrm>
            <a:off x="578815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Foundry / Copilot Studio</a:t>
            </a:r>
            <a:endParaRPr lang="en-US" sz="880" dirty="0"/>
          </a:p>
        </p:txBody>
      </p:sp>
      <p:sp>
        <p:nvSpPr>
          <p:cNvPr id="23" name="Shape 21"/>
          <p:cNvSpPr/>
          <p:nvPr/>
        </p:nvSpPr>
        <p:spPr>
          <a:xfrm>
            <a:off x="777240" y="3429000"/>
            <a:ext cx="2057400" cy="621792"/>
          </a:xfrm>
          <a:prstGeom prst="roundRect">
            <a:avLst>
              <a:gd name="adj" fmla="val 11765"/>
            </a:avLst>
          </a:prstGeom>
          <a:solidFill>
            <a:srgbClr val="3B4A5E"/>
          </a:solidFill>
          <a:ln w="12700">
            <a:solidFill>
              <a:srgbClr val="3B4A5E"/>
            </a:solidFill>
            <a:prstDash val="solid"/>
          </a:ln>
        </p:spPr>
      </p:sp>
      <p:sp>
        <p:nvSpPr>
          <p:cNvPr id="24" name="Text 22"/>
          <p:cNvSpPr/>
          <p:nvPr/>
        </p:nvSpPr>
        <p:spPr>
          <a:xfrm>
            <a:off x="85039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A2A agent API</a:t>
            </a:r>
            <a:endParaRPr lang="en-US" sz="880" dirty="0"/>
          </a:p>
        </p:txBody>
      </p:sp>
      <p:sp>
        <p:nvSpPr>
          <p:cNvPr id="25" name="Shape 23"/>
          <p:cNvSpPr/>
          <p:nvPr/>
        </p:nvSpPr>
        <p:spPr>
          <a:xfrm>
            <a:off x="2880360" y="3739896"/>
            <a:ext cx="320040" cy="0"/>
          </a:xfrm>
          <a:prstGeom prst="line">
            <a:avLst/>
          </a:prstGeom>
          <a:noFill/>
          <a:ln w="17780">
            <a:solidFill>
              <a:srgbClr val="3B4A5E"/>
            </a:solidFill>
            <a:prstDash val="solid"/>
            <a:headEnd type="none"/>
            <a:tailEnd type="triangle"/>
          </a:ln>
        </p:spPr>
      </p:sp>
      <p:sp>
        <p:nvSpPr>
          <p:cNvPr id="26" name="Shape 24"/>
          <p:cNvSpPr/>
          <p:nvPr/>
        </p:nvSpPr>
        <p:spPr>
          <a:xfrm>
            <a:off x="3246120" y="3429000"/>
            <a:ext cx="2057400" cy="621792"/>
          </a:xfrm>
          <a:prstGeom prst="roundRect">
            <a:avLst>
              <a:gd name="adj" fmla="val 11765"/>
            </a:avLst>
          </a:prstGeom>
          <a:solidFill>
            <a:srgbClr val="00B7C3"/>
          </a:solidFill>
          <a:ln w="12700">
            <a:solidFill>
              <a:srgbClr val="00B7C3"/>
            </a:solidFill>
            <a:prstDash val="solid"/>
          </a:ln>
        </p:spPr>
      </p:sp>
      <p:sp>
        <p:nvSpPr>
          <p:cNvPr id="27" name="Text 25"/>
          <p:cNvSpPr/>
          <p:nvPr/>
        </p:nvSpPr>
        <p:spPr>
          <a:xfrm>
            <a:off x="331927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mediation</a:t>
            </a:r>
            <a:endParaRPr lang="en-US" sz="880" dirty="0"/>
          </a:p>
        </p:txBody>
      </p:sp>
      <p:sp>
        <p:nvSpPr>
          <p:cNvPr id="28" name="Shape 26"/>
          <p:cNvSpPr/>
          <p:nvPr/>
        </p:nvSpPr>
        <p:spPr>
          <a:xfrm>
            <a:off x="5349240" y="3739896"/>
            <a:ext cx="320040" cy="0"/>
          </a:xfrm>
          <a:prstGeom prst="line">
            <a:avLst/>
          </a:prstGeom>
          <a:noFill/>
          <a:ln w="17780">
            <a:solidFill>
              <a:srgbClr val="3B4A5E"/>
            </a:solidFill>
            <a:prstDash val="solid"/>
            <a:headEnd type="none"/>
            <a:tailEnd type="triangle"/>
          </a:ln>
        </p:spPr>
      </p:sp>
      <p:sp>
        <p:nvSpPr>
          <p:cNvPr id="29" name="Shape 27"/>
          <p:cNvSpPr/>
          <p:nvPr/>
        </p:nvSpPr>
        <p:spPr>
          <a:xfrm>
            <a:off x="5715000" y="3429000"/>
            <a:ext cx="2057400" cy="621792"/>
          </a:xfrm>
          <a:prstGeom prst="roundRect">
            <a:avLst>
              <a:gd name="adj" fmla="val 11765"/>
            </a:avLst>
          </a:prstGeom>
          <a:solidFill>
            <a:srgbClr val="FFB900"/>
          </a:solidFill>
          <a:ln w="12700">
            <a:solidFill>
              <a:srgbClr val="FFB900"/>
            </a:solidFill>
            <a:prstDash val="solid"/>
          </a:ln>
        </p:spPr>
      </p:sp>
      <p:sp>
        <p:nvSpPr>
          <p:cNvPr id="30" name="Text 28"/>
          <p:cNvSpPr/>
          <p:nvPr/>
        </p:nvSpPr>
        <p:spPr>
          <a:xfrm>
            <a:off x="578815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Agent card rewritten</a:t>
            </a:r>
            <a:endParaRPr lang="en-US" sz="880" dirty="0"/>
          </a:p>
        </p:txBody>
      </p:sp>
      <p:sp>
        <p:nvSpPr>
          <p:cNvPr id="31" name="Shape 29"/>
          <p:cNvSpPr/>
          <p:nvPr/>
        </p:nvSpPr>
        <p:spPr>
          <a:xfrm>
            <a:off x="8503920" y="10515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2" name="Shape 30"/>
          <p:cNvSpPr/>
          <p:nvPr/>
        </p:nvSpPr>
        <p:spPr>
          <a:xfrm>
            <a:off x="8503920" y="1051560"/>
            <a:ext cx="73152" cy="987552"/>
          </a:xfrm>
          <a:prstGeom prst="rect">
            <a:avLst/>
          </a:prstGeom>
          <a:solidFill>
            <a:srgbClr val="0078D4"/>
          </a:solidFill>
          <a:ln w="12700">
            <a:solidFill>
              <a:srgbClr val="0078D4"/>
            </a:solidFill>
            <a:prstDash val="solid"/>
          </a:ln>
        </p:spPr>
      </p:sp>
      <p:sp>
        <p:nvSpPr>
          <p:cNvPr id="33" name="Shape 31"/>
          <p:cNvSpPr/>
          <p:nvPr/>
        </p:nvSpPr>
        <p:spPr>
          <a:xfrm>
            <a:off x="8668512" y="1207008"/>
            <a:ext cx="393192" cy="393192"/>
          </a:xfrm>
          <a:prstGeom prst="ellipse">
            <a:avLst/>
          </a:prstGeom>
          <a:solidFill>
            <a:srgbClr val="0078D4"/>
          </a:solidFill>
          <a:ln w="12700">
            <a:solidFill>
              <a:srgbClr val="0078D4"/>
            </a:solidFill>
            <a:prstDash val="solid"/>
          </a:ln>
        </p:spPr>
      </p:sp>
      <p:sp>
        <p:nvSpPr>
          <p:cNvPr id="34" name="Text 32"/>
          <p:cNvSpPr/>
          <p:nvPr/>
        </p:nvSpPr>
        <p:spPr>
          <a:xfrm>
            <a:off x="866851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AC</a:t>
            </a:r>
            <a:endParaRPr lang="en-US" sz="800" dirty="0"/>
          </a:p>
        </p:txBody>
      </p:sp>
      <p:sp>
        <p:nvSpPr>
          <p:cNvPr id="35" name="Text 33"/>
          <p:cNvSpPr/>
          <p:nvPr/>
        </p:nvSpPr>
        <p:spPr>
          <a:xfrm>
            <a:off x="9162288" y="11795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API Center</a:t>
            </a:r>
            <a:endParaRPr lang="en-US" sz="1250" dirty="0"/>
          </a:p>
        </p:txBody>
      </p:sp>
      <p:sp>
        <p:nvSpPr>
          <p:cNvPr id="36" name="Text 34"/>
          <p:cNvSpPr/>
          <p:nvPr/>
        </p:nvSpPr>
        <p:spPr>
          <a:xfrm>
            <a:off x="9162288" y="15087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Registry for APIs, MCP servers and agents.</a:t>
            </a:r>
            <a:endParaRPr lang="en-US" sz="880" dirty="0"/>
          </a:p>
        </p:txBody>
      </p:sp>
      <p:sp>
        <p:nvSpPr>
          <p:cNvPr id="37" name="Shape 35"/>
          <p:cNvSpPr/>
          <p:nvPr/>
        </p:nvSpPr>
        <p:spPr>
          <a:xfrm>
            <a:off x="8503920" y="24231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8" name="Shape 36"/>
          <p:cNvSpPr/>
          <p:nvPr/>
        </p:nvSpPr>
        <p:spPr>
          <a:xfrm>
            <a:off x="8503920" y="2423160"/>
            <a:ext cx="73152" cy="987552"/>
          </a:xfrm>
          <a:prstGeom prst="rect">
            <a:avLst/>
          </a:prstGeom>
          <a:solidFill>
            <a:srgbClr val="FFB900"/>
          </a:solidFill>
          <a:ln w="12700">
            <a:solidFill>
              <a:srgbClr val="FFB900"/>
            </a:solidFill>
            <a:prstDash val="solid"/>
          </a:ln>
        </p:spPr>
      </p:sp>
      <p:sp>
        <p:nvSpPr>
          <p:cNvPr id="39" name="Shape 37"/>
          <p:cNvSpPr/>
          <p:nvPr/>
        </p:nvSpPr>
        <p:spPr>
          <a:xfrm>
            <a:off x="8668512" y="2578608"/>
            <a:ext cx="393192" cy="393192"/>
          </a:xfrm>
          <a:prstGeom prst="ellipse">
            <a:avLst/>
          </a:prstGeom>
          <a:solidFill>
            <a:srgbClr val="FFB900"/>
          </a:solidFill>
          <a:ln w="12700">
            <a:solidFill>
              <a:srgbClr val="FFB900"/>
            </a:solidFill>
            <a:prstDash val="solid"/>
          </a:ln>
        </p:spPr>
      </p:sp>
      <p:sp>
        <p:nvSpPr>
          <p:cNvPr id="40" name="Text 38"/>
          <p:cNvSpPr/>
          <p:nvPr/>
        </p:nvSpPr>
        <p:spPr>
          <a:xfrm>
            <a:off x="8668512" y="26380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1" name="Text 39"/>
          <p:cNvSpPr/>
          <p:nvPr/>
        </p:nvSpPr>
        <p:spPr>
          <a:xfrm>
            <a:off x="9162288" y="25511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Limits</a:t>
            </a:r>
            <a:endParaRPr lang="en-US" sz="1250" dirty="0"/>
          </a:p>
        </p:txBody>
      </p:sp>
      <p:sp>
        <p:nvSpPr>
          <p:cNvPr id="42" name="Text 40"/>
          <p:cNvSpPr/>
          <p:nvPr/>
        </p:nvSpPr>
        <p:spPr>
          <a:xfrm>
            <a:off x="9162288" y="28803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MCP: tools only, not Consumption, not workspaces.</a:t>
            </a:r>
            <a:endParaRPr lang="en-US" sz="880" dirty="0"/>
          </a:p>
        </p:txBody>
      </p:sp>
      <p:sp>
        <p:nvSpPr>
          <p:cNvPr id="43" name="Shape 41"/>
          <p:cNvSpPr/>
          <p:nvPr/>
        </p:nvSpPr>
        <p:spPr>
          <a:xfrm>
            <a:off x="8503920" y="37947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44" name="Shape 42"/>
          <p:cNvSpPr/>
          <p:nvPr/>
        </p:nvSpPr>
        <p:spPr>
          <a:xfrm>
            <a:off x="8503920" y="3794760"/>
            <a:ext cx="73152" cy="987552"/>
          </a:xfrm>
          <a:prstGeom prst="rect">
            <a:avLst/>
          </a:prstGeom>
          <a:solidFill>
            <a:srgbClr val="00B7C3"/>
          </a:solidFill>
          <a:ln w="12700">
            <a:solidFill>
              <a:srgbClr val="00B7C3"/>
            </a:solidFill>
            <a:prstDash val="solid"/>
          </a:ln>
        </p:spPr>
      </p:sp>
      <p:sp>
        <p:nvSpPr>
          <p:cNvPr id="45" name="Shape 43"/>
          <p:cNvSpPr/>
          <p:nvPr/>
        </p:nvSpPr>
        <p:spPr>
          <a:xfrm>
            <a:off x="8668512" y="3950208"/>
            <a:ext cx="393192" cy="393192"/>
          </a:xfrm>
          <a:prstGeom prst="ellipse">
            <a:avLst/>
          </a:prstGeom>
          <a:solidFill>
            <a:srgbClr val="00B7C3"/>
          </a:solidFill>
          <a:ln w="12700">
            <a:solidFill>
              <a:srgbClr val="00B7C3"/>
            </a:solidFill>
            <a:prstDash val="solid"/>
          </a:ln>
        </p:spPr>
      </p:sp>
      <p:sp>
        <p:nvSpPr>
          <p:cNvPr id="46" name="Text 44"/>
          <p:cNvSpPr/>
          <p:nvPr/>
        </p:nvSpPr>
        <p:spPr>
          <a:xfrm>
            <a:off x="8668512" y="40096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P</a:t>
            </a:r>
            <a:endParaRPr lang="en-US" sz="800" dirty="0"/>
          </a:p>
        </p:txBody>
      </p:sp>
      <p:sp>
        <p:nvSpPr>
          <p:cNvPr id="47" name="Text 45"/>
          <p:cNvSpPr/>
          <p:nvPr/>
        </p:nvSpPr>
        <p:spPr>
          <a:xfrm>
            <a:off x="9162288" y="39227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Policy scope</a:t>
            </a:r>
            <a:endParaRPr lang="en-US" sz="1250" dirty="0"/>
          </a:p>
        </p:txBody>
      </p:sp>
      <p:sp>
        <p:nvSpPr>
          <p:cNvPr id="48" name="Text 46"/>
          <p:cNvSpPr/>
          <p:nvPr/>
        </p:nvSpPr>
        <p:spPr>
          <a:xfrm>
            <a:off x="9162288" y="42519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Policies apply across all tools in a server.</a:t>
            </a:r>
            <a:endParaRPr lang="en-US" sz="880" dirty="0"/>
          </a:p>
        </p:txBody>
      </p:sp>
      <p:sp>
        <p:nvSpPr>
          <p:cNvPr id="49" name="Text 47"/>
          <p:cNvSpPr/>
          <p:nvPr/>
        </p:nvSpPr>
        <p:spPr>
          <a:xfrm>
            <a:off x="1005840" y="5074920"/>
            <a:ext cx="9875520" cy="228600"/>
          </a:xfrm>
          <a:prstGeom prst="rect">
            <a:avLst/>
          </a:prstGeom>
          <a:noFill/>
          <a:ln/>
        </p:spPr>
        <p:txBody>
          <a:bodyPr wrap="square" lIns="0" tIns="0" rIns="0" bIns="0" rtlCol="0" anchor="ct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D6: Responses API turns the MCP tool list into function tools; APIM policies still apply.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05</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5</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Live demo</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40–65 · 25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LIVE DEMO</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Reference architecture: one policy chain</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17</a:t>
            </a:r>
            <a:endParaRPr lang="en-US" sz="800" dirty="0"/>
          </a:p>
        </p:txBody>
      </p:sp>
      <p:sp>
        <p:nvSpPr>
          <p:cNvPr id="7" name="Shape 5"/>
          <p:cNvSpPr/>
          <p:nvPr/>
        </p:nvSpPr>
        <p:spPr>
          <a:xfrm>
            <a:off x="594360" y="2057400"/>
            <a:ext cx="1965960" cy="1188720"/>
          </a:xfrm>
          <a:prstGeom prst="roundRect">
            <a:avLst>
              <a:gd name="adj" fmla="val 4615"/>
            </a:avLst>
          </a:prstGeom>
          <a:solidFill>
            <a:srgbClr val="E5F1FB"/>
          </a:solidFill>
          <a:ln w="12700">
            <a:solidFill>
              <a:srgbClr val="0078D4"/>
            </a:solidFill>
            <a:prstDash val="solid"/>
          </a:ln>
        </p:spPr>
      </p:sp>
      <p:sp>
        <p:nvSpPr>
          <p:cNvPr id="8" name="Text 6"/>
          <p:cNvSpPr/>
          <p:nvPr/>
        </p:nvSpPr>
        <p:spPr>
          <a:xfrm>
            <a:off x="704088" y="2148840"/>
            <a:ext cx="1746504" cy="1005840"/>
          </a:xfrm>
          <a:prstGeom prst="rect">
            <a:avLst/>
          </a:prstGeom>
          <a:noFill/>
          <a:ln/>
        </p:spPr>
        <p:txBody>
          <a:bodyPr wrap="square" lIns="0" tIns="0" rIns="0" bIns="0" rtlCol="0" anchor="ctr">
            <a:normAutofit/>
          </a:bodyP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Apps</a:t>
            </a:r>
            <a:endParaRPr lang="en-US" sz="1200" dirty="0"/>
          </a:p>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Agents</a:t>
            </a:r>
            <a:endParaRPr lang="en-US" sz="1200" dirty="0"/>
          </a:p>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SDK clients</a:t>
            </a:r>
            <a:endParaRPr lang="en-US" sz="1200" dirty="0"/>
          </a:p>
        </p:txBody>
      </p:sp>
      <p:sp>
        <p:nvSpPr>
          <p:cNvPr id="9" name="Shape 7"/>
          <p:cNvSpPr/>
          <p:nvPr/>
        </p:nvSpPr>
        <p:spPr>
          <a:xfrm>
            <a:off x="3017520" y="1143000"/>
            <a:ext cx="4023360" cy="2926080"/>
          </a:xfrm>
          <a:prstGeom prst="roundRect">
            <a:avLst>
              <a:gd name="adj" fmla="val 3750"/>
            </a:avLst>
          </a:prstGeom>
          <a:solidFill>
            <a:srgbClr val="0B1E3F"/>
          </a:solidFill>
          <a:ln w="17780">
            <a:solidFill>
              <a:srgbClr val="00B7C3"/>
            </a:solidFill>
            <a:prstDash val="solid"/>
          </a:ln>
        </p:spPr>
      </p:sp>
      <p:sp>
        <p:nvSpPr>
          <p:cNvPr id="10" name="Text 8"/>
          <p:cNvSpPr/>
          <p:nvPr/>
        </p:nvSpPr>
        <p:spPr>
          <a:xfrm>
            <a:off x="3246120" y="1280160"/>
            <a:ext cx="3566160" cy="548640"/>
          </a:xfrm>
          <a:prstGeom prst="rect">
            <a:avLst/>
          </a:prstGeom>
          <a:noFill/>
          <a:ln/>
        </p:spPr>
        <p:txBody>
          <a:bodyPr wrap="square" lIns="0" tIns="0" rIns="0" bIns="0" rtlCol="0" anchor="ctr">
            <a:normAutofit/>
          </a:bodyP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APIM AI Gateway</a:t>
            </a:r>
            <a:endParaRPr lang="en-US" sz="1400" dirty="0"/>
          </a:p>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Basic v2 · Sweden Central</a:t>
            </a:r>
            <a:endParaRPr lang="en-US" sz="1400" dirty="0"/>
          </a:p>
        </p:txBody>
      </p:sp>
      <p:sp>
        <p:nvSpPr>
          <p:cNvPr id="11" name="Shape 9"/>
          <p:cNvSpPr/>
          <p:nvPr/>
        </p:nvSpPr>
        <p:spPr>
          <a:xfrm>
            <a:off x="3310128" y="2103120"/>
            <a:ext cx="868680" cy="246888"/>
          </a:xfrm>
          <a:prstGeom prst="roundRect">
            <a:avLst>
              <a:gd name="adj" fmla="val 18519"/>
            </a:avLst>
          </a:prstGeom>
          <a:solidFill>
            <a:srgbClr val="D9F7FA"/>
          </a:solidFill>
          <a:ln w="12700">
            <a:solidFill>
              <a:srgbClr val="D9F7FA"/>
            </a:solidFill>
            <a:prstDash val="solid"/>
          </a:ln>
        </p:spPr>
      </p:sp>
      <p:sp>
        <p:nvSpPr>
          <p:cNvPr id="12" name="Text 10"/>
          <p:cNvSpPr/>
          <p:nvPr/>
        </p:nvSpPr>
        <p:spPr>
          <a:xfrm>
            <a:off x="3364992" y="2153412"/>
            <a:ext cx="7589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auth</a:t>
            </a:r>
            <a:endParaRPr lang="en-US" sz="750" dirty="0"/>
          </a:p>
        </p:txBody>
      </p:sp>
      <p:sp>
        <p:nvSpPr>
          <p:cNvPr id="13" name="Shape 11"/>
          <p:cNvSpPr/>
          <p:nvPr/>
        </p:nvSpPr>
        <p:spPr>
          <a:xfrm>
            <a:off x="4315968" y="2103120"/>
            <a:ext cx="1280160" cy="246888"/>
          </a:xfrm>
          <a:prstGeom prst="roundRect">
            <a:avLst>
              <a:gd name="adj" fmla="val 18519"/>
            </a:avLst>
          </a:prstGeom>
          <a:solidFill>
            <a:srgbClr val="FFF3CF"/>
          </a:solidFill>
          <a:ln w="12700">
            <a:solidFill>
              <a:srgbClr val="FFF3CF"/>
            </a:solidFill>
            <a:prstDash val="solid"/>
          </a:ln>
        </p:spPr>
      </p:sp>
      <p:sp>
        <p:nvSpPr>
          <p:cNvPr id="14" name="Text 12"/>
          <p:cNvSpPr/>
          <p:nvPr/>
        </p:nvSpPr>
        <p:spPr>
          <a:xfrm>
            <a:off x="4370832" y="2153412"/>
            <a:ext cx="117043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content safety</a:t>
            </a:r>
            <a:endParaRPr lang="en-US" sz="750" dirty="0"/>
          </a:p>
        </p:txBody>
      </p:sp>
      <p:sp>
        <p:nvSpPr>
          <p:cNvPr id="15" name="Shape 13"/>
          <p:cNvSpPr/>
          <p:nvPr/>
        </p:nvSpPr>
        <p:spPr>
          <a:xfrm>
            <a:off x="5733288" y="2103120"/>
            <a:ext cx="1005840" cy="246888"/>
          </a:xfrm>
          <a:prstGeom prst="roundRect">
            <a:avLst>
              <a:gd name="adj" fmla="val 18519"/>
            </a:avLst>
          </a:prstGeom>
          <a:solidFill>
            <a:srgbClr val="D9F7FA"/>
          </a:solidFill>
          <a:ln w="12700">
            <a:solidFill>
              <a:srgbClr val="D9F7FA"/>
            </a:solidFill>
            <a:prstDash val="solid"/>
          </a:ln>
        </p:spPr>
      </p:sp>
      <p:sp>
        <p:nvSpPr>
          <p:cNvPr id="16" name="Text 14"/>
          <p:cNvSpPr/>
          <p:nvPr/>
        </p:nvSpPr>
        <p:spPr>
          <a:xfrm>
            <a:off x="5788152" y="2153412"/>
            <a:ext cx="89611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token limit</a:t>
            </a:r>
            <a:endParaRPr lang="en-US" sz="750" dirty="0"/>
          </a:p>
        </p:txBody>
      </p:sp>
      <p:sp>
        <p:nvSpPr>
          <p:cNvPr id="17" name="Shape 15"/>
          <p:cNvSpPr/>
          <p:nvPr/>
        </p:nvSpPr>
        <p:spPr>
          <a:xfrm>
            <a:off x="3611880" y="2834640"/>
            <a:ext cx="1325880" cy="246888"/>
          </a:xfrm>
          <a:prstGeom prst="roundRect">
            <a:avLst>
              <a:gd name="adj" fmla="val 18519"/>
            </a:avLst>
          </a:prstGeom>
          <a:solidFill>
            <a:srgbClr val="D9F7FA"/>
          </a:solidFill>
          <a:ln w="12700">
            <a:solidFill>
              <a:srgbClr val="D9F7FA"/>
            </a:solidFill>
            <a:prstDash val="solid"/>
          </a:ln>
        </p:spPr>
      </p:sp>
      <p:sp>
        <p:nvSpPr>
          <p:cNvPr id="18" name="Text 16"/>
          <p:cNvSpPr/>
          <p:nvPr/>
        </p:nvSpPr>
        <p:spPr>
          <a:xfrm>
            <a:off x="3666744" y="2884932"/>
            <a:ext cx="12161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token metrics</a:t>
            </a:r>
            <a:endParaRPr lang="en-US" sz="750" dirty="0"/>
          </a:p>
        </p:txBody>
      </p:sp>
      <p:sp>
        <p:nvSpPr>
          <p:cNvPr id="19" name="Shape 17"/>
          <p:cNvSpPr/>
          <p:nvPr/>
        </p:nvSpPr>
        <p:spPr>
          <a:xfrm>
            <a:off x="5120640" y="2834640"/>
            <a:ext cx="1325880" cy="246888"/>
          </a:xfrm>
          <a:prstGeom prst="roundRect">
            <a:avLst>
              <a:gd name="adj" fmla="val 18519"/>
            </a:avLst>
          </a:prstGeom>
          <a:solidFill>
            <a:srgbClr val="D9F7FA"/>
          </a:solidFill>
          <a:ln w="12700">
            <a:solidFill>
              <a:srgbClr val="D9F7FA"/>
            </a:solidFill>
            <a:prstDash val="solid"/>
          </a:ln>
        </p:spPr>
      </p:sp>
      <p:sp>
        <p:nvSpPr>
          <p:cNvPr id="20" name="Text 18"/>
          <p:cNvSpPr/>
          <p:nvPr/>
        </p:nvSpPr>
        <p:spPr>
          <a:xfrm>
            <a:off x="5175504" y="2884932"/>
            <a:ext cx="1216152"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load balancer</a:t>
            </a:r>
            <a:endParaRPr lang="en-US" sz="750" dirty="0"/>
          </a:p>
        </p:txBody>
      </p:sp>
      <p:sp>
        <p:nvSpPr>
          <p:cNvPr id="21" name="Text 19"/>
          <p:cNvSpPr/>
          <p:nvPr/>
        </p:nvSpPr>
        <p:spPr>
          <a:xfrm>
            <a:off x="3246120" y="3520440"/>
            <a:ext cx="3566160" cy="274320"/>
          </a:xfrm>
          <a:prstGeom prst="rect">
            <a:avLst/>
          </a:prstGeom>
          <a:noFill/>
          <a:ln/>
        </p:spPr>
        <p:txBody>
          <a:bodyPr wrap="square" lIns="0" tIns="0" rIns="0" bIns="0" rtlCol="0" anchor="ctr"/>
          <a:lstStyle/>
          <a:p>
            <a:pPr marL="0" indent="0" algn="ctr">
              <a:buNone/>
            </a:pPr>
            <a:r>
              <a:rPr lang="en-US" sz="900" dirty="0">
                <a:solidFill>
                  <a:srgbClr val="D9F7FA"/>
                </a:solidFill>
                <a:latin typeface="Segoe UI" pitchFamily="34" charset="0"/>
                <a:ea typeface="Segoe UI" pitchFamily="34" charset="-122"/>
                <a:cs typeface="Segoe UI" pitchFamily="34" charset="-120"/>
              </a:rPr>
              <a:t>policy chain on every model and tool call</a:t>
            </a:r>
            <a:endParaRPr lang="en-US" sz="900" dirty="0"/>
          </a:p>
        </p:txBody>
      </p:sp>
      <p:sp>
        <p:nvSpPr>
          <p:cNvPr id="22" name="Shape 20"/>
          <p:cNvSpPr/>
          <p:nvPr/>
        </p:nvSpPr>
        <p:spPr>
          <a:xfrm>
            <a:off x="7973568" y="1005840"/>
            <a:ext cx="2971800" cy="1078992"/>
          </a:xfrm>
          <a:prstGeom prst="roundRect">
            <a:avLst>
              <a:gd name="adj" fmla="val 5085"/>
            </a:avLst>
          </a:prstGeom>
          <a:solidFill>
            <a:srgbClr val="E5F1FB"/>
          </a:solidFill>
          <a:ln w="12700">
            <a:solidFill>
              <a:srgbClr val="0078D4"/>
            </a:solidFill>
            <a:prstDash val="solid"/>
          </a:ln>
        </p:spPr>
      </p:sp>
      <p:sp>
        <p:nvSpPr>
          <p:cNvPr id="23" name="Text 21"/>
          <p:cNvSpPr/>
          <p:nvPr/>
        </p:nvSpPr>
        <p:spPr>
          <a:xfrm>
            <a:off x="8083296" y="1097280"/>
            <a:ext cx="2752344" cy="896112"/>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Foundry project · Sweden Central</a:t>
            </a:r>
            <a:endParaRPr lang="en-US" sz="750" dirty="0"/>
          </a:p>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proj-apimaigw-swc</a:t>
            </a:r>
            <a:endParaRPr lang="en-US" sz="750" dirty="0"/>
          </a:p>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gpt-6.1-sol · GlobalStandard</a:t>
            </a:r>
            <a:endParaRPr lang="en-US" sz="750" dirty="0"/>
          </a:p>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v2026-09-29 · 100K TPM</a:t>
            </a:r>
            <a:endParaRPr lang="en-US" sz="750" dirty="0"/>
          </a:p>
        </p:txBody>
      </p:sp>
      <p:sp>
        <p:nvSpPr>
          <p:cNvPr id="24" name="Shape 22"/>
          <p:cNvSpPr/>
          <p:nvPr/>
        </p:nvSpPr>
        <p:spPr>
          <a:xfrm>
            <a:off x="7973568" y="2331720"/>
            <a:ext cx="2971800" cy="1078992"/>
          </a:xfrm>
          <a:prstGeom prst="roundRect">
            <a:avLst>
              <a:gd name="adj" fmla="val 5085"/>
            </a:avLst>
          </a:prstGeom>
          <a:solidFill>
            <a:srgbClr val="D9F7FA"/>
          </a:solidFill>
          <a:ln w="12700">
            <a:solidFill>
              <a:srgbClr val="00B7C3"/>
            </a:solidFill>
            <a:prstDash val="solid"/>
          </a:ln>
        </p:spPr>
      </p:sp>
      <p:sp>
        <p:nvSpPr>
          <p:cNvPr id="25" name="Text 23"/>
          <p:cNvSpPr/>
          <p:nvPr/>
        </p:nvSpPr>
        <p:spPr>
          <a:xfrm>
            <a:off x="8083296" y="2423160"/>
            <a:ext cx="2752344" cy="896112"/>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Foundry project · France Central</a:t>
            </a:r>
            <a:endParaRPr lang="en-US" sz="750" dirty="0"/>
          </a:p>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proj-apimaigw-frc</a:t>
            </a:r>
            <a:endParaRPr lang="en-US" sz="750" dirty="0"/>
          </a:p>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gpt-6.1-sol · GlobalStandard</a:t>
            </a:r>
            <a:endParaRPr lang="en-US" sz="750" dirty="0"/>
          </a:p>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v2026-09-29 · 100K TPM</a:t>
            </a:r>
            <a:endParaRPr lang="en-US" sz="750" dirty="0"/>
          </a:p>
        </p:txBody>
      </p:sp>
      <p:sp>
        <p:nvSpPr>
          <p:cNvPr id="26" name="Shape 24"/>
          <p:cNvSpPr/>
          <p:nvPr/>
        </p:nvSpPr>
        <p:spPr>
          <a:xfrm>
            <a:off x="8138160" y="3566160"/>
            <a:ext cx="2651760" cy="777240"/>
          </a:xfrm>
          <a:prstGeom prst="roundRect">
            <a:avLst>
              <a:gd name="adj" fmla="val 7059"/>
            </a:avLst>
          </a:prstGeom>
          <a:solidFill>
            <a:srgbClr val="FFF3CF"/>
          </a:solidFill>
          <a:ln w="12700">
            <a:solidFill>
              <a:srgbClr val="FFB900"/>
            </a:solidFill>
            <a:prstDash val="solid"/>
          </a:ln>
        </p:spPr>
      </p:sp>
      <p:sp>
        <p:nvSpPr>
          <p:cNvPr id="27" name="Text 25"/>
          <p:cNvSpPr/>
          <p:nvPr/>
        </p:nvSpPr>
        <p:spPr>
          <a:xfrm>
            <a:off x="8247888" y="3657600"/>
            <a:ext cx="2432304" cy="59436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MCP server</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/zava-mcp/mcp</a:t>
            </a:r>
            <a:endParaRPr lang="en-US" sz="1000" dirty="0"/>
          </a:p>
        </p:txBody>
      </p:sp>
      <p:sp>
        <p:nvSpPr>
          <p:cNvPr id="28" name="Shape 26"/>
          <p:cNvSpPr/>
          <p:nvPr/>
        </p:nvSpPr>
        <p:spPr>
          <a:xfrm>
            <a:off x="8138160" y="4846320"/>
            <a:ext cx="2651760" cy="777240"/>
          </a:xfrm>
          <a:prstGeom prst="roundRect">
            <a:avLst>
              <a:gd name="adj" fmla="val 7059"/>
            </a:avLst>
          </a:prstGeom>
          <a:solidFill>
            <a:srgbClr val="FFFFFF"/>
          </a:solidFill>
          <a:ln w="12700">
            <a:solidFill>
              <a:srgbClr val="D8E2EC"/>
            </a:solidFill>
            <a:prstDash val="solid"/>
          </a:ln>
        </p:spPr>
      </p:sp>
      <p:sp>
        <p:nvSpPr>
          <p:cNvPr id="29" name="Text 27"/>
          <p:cNvSpPr/>
          <p:nvPr/>
        </p:nvSpPr>
        <p:spPr>
          <a:xfrm>
            <a:off x="8247888" y="4937760"/>
            <a:ext cx="2432304" cy="594360"/>
          </a:xfrm>
          <a:prstGeom prst="rect">
            <a:avLst/>
          </a:prstGeom>
          <a:noFill/>
          <a:ln/>
        </p:spPr>
        <p:txBody>
          <a:bodyPr wrap="square" lIns="0" tIns="0" rIns="0" bIns="0" rtlCol="0" anchor="ctr">
            <a:norm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Zava Retail API</a:t>
            </a:r>
            <a:endParaRPr lang="en-US" sz="900" dirty="0"/>
          </a:p>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search-products · get-order-status</a:t>
            </a:r>
            <a:endParaRPr lang="en-US" sz="900" dirty="0"/>
          </a:p>
        </p:txBody>
      </p:sp>
      <p:sp>
        <p:nvSpPr>
          <p:cNvPr id="30" name="Shape 28"/>
          <p:cNvSpPr/>
          <p:nvPr/>
        </p:nvSpPr>
        <p:spPr>
          <a:xfrm>
            <a:off x="3017520" y="4846320"/>
            <a:ext cx="4023360" cy="777240"/>
          </a:xfrm>
          <a:prstGeom prst="roundRect">
            <a:avLst>
              <a:gd name="adj" fmla="val 7059"/>
            </a:avLst>
          </a:prstGeom>
          <a:solidFill>
            <a:srgbClr val="FFFFFF"/>
          </a:solidFill>
          <a:ln w="12700">
            <a:solidFill>
              <a:srgbClr val="D8E2EC"/>
            </a:solidFill>
            <a:prstDash val="solid"/>
          </a:ln>
        </p:spPr>
      </p:sp>
      <p:sp>
        <p:nvSpPr>
          <p:cNvPr id="31" name="Text 29"/>
          <p:cNvSpPr/>
          <p:nvPr/>
        </p:nvSpPr>
        <p:spPr>
          <a:xfrm>
            <a:off x="3127248" y="4937760"/>
            <a:ext cx="3803904" cy="59436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Application Insights · Log Analytics</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token metrics per product · LLM logs</a:t>
            </a:r>
            <a:endParaRPr lang="en-US" sz="1000" dirty="0"/>
          </a:p>
        </p:txBody>
      </p:sp>
      <p:sp>
        <p:nvSpPr>
          <p:cNvPr id="32" name="Shape 30"/>
          <p:cNvSpPr/>
          <p:nvPr/>
        </p:nvSpPr>
        <p:spPr>
          <a:xfrm>
            <a:off x="2560320" y="2651760"/>
            <a:ext cx="457200" cy="0"/>
          </a:xfrm>
          <a:prstGeom prst="line">
            <a:avLst/>
          </a:prstGeom>
          <a:noFill/>
          <a:ln w="15240">
            <a:solidFill>
              <a:srgbClr val="3B4A5E"/>
            </a:solidFill>
            <a:prstDash val="solid"/>
            <a:tailEnd type="triangle"/>
          </a:ln>
        </p:spPr>
      </p:sp>
      <p:sp>
        <p:nvSpPr>
          <p:cNvPr id="33" name="Shape 31"/>
          <p:cNvSpPr/>
          <p:nvPr/>
        </p:nvSpPr>
        <p:spPr>
          <a:xfrm>
            <a:off x="7040880" y="1545336"/>
            <a:ext cx="932688" cy="0"/>
          </a:xfrm>
          <a:prstGeom prst="line">
            <a:avLst/>
          </a:prstGeom>
          <a:noFill/>
          <a:ln w="15240">
            <a:solidFill>
              <a:srgbClr val="3B4A5E"/>
            </a:solidFill>
            <a:prstDash val="solid"/>
            <a:tailEnd type="triangle"/>
          </a:ln>
        </p:spPr>
      </p:sp>
      <p:sp>
        <p:nvSpPr>
          <p:cNvPr id="34" name="Shape 32"/>
          <p:cNvSpPr/>
          <p:nvPr/>
        </p:nvSpPr>
        <p:spPr>
          <a:xfrm>
            <a:off x="7040880" y="2871216"/>
            <a:ext cx="932688" cy="0"/>
          </a:xfrm>
          <a:prstGeom prst="line">
            <a:avLst/>
          </a:prstGeom>
          <a:noFill/>
          <a:ln w="15240">
            <a:solidFill>
              <a:srgbClr val="3B4A5E"/>
            </a:solidFill>
            <a:prstDash val="solid"/>
            <a:tailEnd type="triangle"/>
          </a:ln>
        </p:spPr>
      </p:sp>
      <p:sp>
        <p:nvSpPr>
          <p:cNvPr id="35" name="Shape 33"/>
          <p:cNvSpPr/>
          <p:nvPr/>
        </p:nvSpPr>
        <p:spPr>
          <a:xfrm>
            <a:off x="7040880" y="3931920"/>
            <a:ext cx="1097280" cy="0"/>
          </a:xfrm>
          <a:prstGeom prst="line">
            <a:avLst/>
          </a:prstGeom>
          <a:noFill/>
          <a:ln w="15240">
            <a:solidFill>
              <a:srgbClr val="3B4A5E"/>
            </a:solidFill>
            <a:prstDash val="solid"/>
            <a:tailEnd type="triangle"/>
          </a:ln>
        </p:spPr>
      </p:sp>
      <p:sp>
        <p:nvSpPr>
          <p:cNvPr id="36" name="Shape 34"/>
          <p:cNvSpPr/>
          <p:nvPr/>
        </p:nvSpPr>
        <p:spPr>
          <a:xfrm>
            <a:off x="9464040" y="4343400"/>
            <a:ext cx="0" cy="502920"/>
          </a:xfrm>
          <a:prstGeom prst="line">
            <a:avLst/>
          </a:prstGeom>
          <a:noFill/>
          <a:ln w="15240">
            <a:solidFill>
              <a:srgbClr val="3B4A5E"/>
            </a:solidFill>
            <a:prstDash val="solid"/>
            <a:tailEnd type="triangle"/>
          </a:ln>
        </p:spPr>
      </p:sp>
      <p:sp>
        <p:nvSpPr>
          <p:cNvPr id="37" name="Shape 35"/>
          <p:cNvSpPr/>
          <p:nvPr/>
        </p:nvSpPr>
        <p:spPr>
          <a:xfrm>
            <a:off x="5029200" y="4069080"/>
            <a:ext cx="0" cy="777240"/>
          </a:xfrm>
          <a:prstGeom prst="line">
            <a:avLst/>
          </a:prstGeom>
          <a:noFill/>
          <a:ln w="15240">
            <a:solidFill>
              <a:srgbClr val="3B4A5E"/>
            </a:solidFill>
            <a:prstDash val="solid"/>
            <a:tailEnd type="triangle"/>
          </a:ln>
        </p:spPr>
      </p:sp>
      <p:sp>
        <p:nvSpPr>
          <p:cNvPr id="38" name="Text 36"/>
          <p:cNvSpPr/>
          <p:nvPr/>
        </p:nvSpPr>
        <p:spPr>
          <a:xfrm>
            <a:off x="7132320" y="1371600"/>
            <a:ext cx="914400" cy="182880"/>
          </a:xfrm>
          <a:prstGeom prst="rect">
            <a:avLst/>
          </a:prstGeom>
          <a:noFill/>
          <a:ln/>
        </p:spPr>
        <p:txBody>
          <a:bodyPr wrap="square" lIns="0" tIns="0" rIns="0" bIns="0" rtlCol="0" anchor="ctr"/>
          <a:lstStyle/>
          <a:p>
            <a:pPr marL="0" indent="0">
              <a:buNone/>
            </a:pPr>
            <a:r>
              <a:rPr lang="en-US" sz="800" dirty="0">
                <a:solidFill>
                  <a:srgbClr val="0078D4"/>
                </a:solidFill>
                <a:latin typeface="Segoe UI Semibold" pitchFamily="34" charset="0"/>
                <a:ea typeface="Segoe UI Semibold" pitchFamily="34" charset="-122"/>
                <a:cs typeface="Segoe UI Semibold" pitchFamily="34" charset="-120"/>
              </a:rPr>
              <a:t>Model path</a:t>
            </a:r>
            <a:endParaRPr lang="en-US" sz="800" dirty="0"/>
          </a:p>
        </p:txBody>
      </p:sp>
      <p:sp>
        <p:nvSpPr>
          <p:cNvPr id="39" name="Text 37"/>
          <p:cNvSpPr/>
          <p:nvPr/>
        </p:nvSpPr>
        <p:spPr>
          <a:xfrm>
            <a:off x="7132320" y="3675888"/>
            <a:ext cx="914400" cy="182880"/>
          </a:xfrm>
          <a:prstGeom prst="rect">
            <a:avLst/>
          </a:prstGeom>
          <a:noFill/>
          <a:ln/>
        </p:spPr>
        <p:txBody>
          <a:bodyPr wrap="square" lIns="0" tIns="0" rIns="0" bIns="0" rtlCol="0" anchor="ctr"/>
          <a:lstStyle/>
          <a:p>
            <a:pPr marL="0" indent="0">
              <a:buNone/>
            </a:pPr>
            <a:r>
              <a:rPr lang="en-US" sz="800" dirty="0">
                <a:solidFill>
                  <a:srgbClr val="FFB900"/>
                </a:solidFill>
                <a:latin typeface="Segoe UI Semibold" pitchFamily="34" charset="0"/>
                <a:ea typeface="Segoe UI Semibold" pitchFamily="34" charset="-122"/>
                <a:cs typeface="Segoe UI Semibold" pitchFamily="34" charset="-120"/>
              </a:rPr>
              <a:t>Tool path</a:t>
            </a:r>
            <a:endParaRPr lang="en-US" sz="800" dirty="0"/>
          </a:p>
        </p:txBody>
      </p:sp>
      <p:sp>
        <p:nvSpPr>
          <p:cNvPr id="40" name="Text 38"/>
          <p:cNvSpPr/>
          <p:nvPr/>
        </p:nvSpPr>
        <p:spPr>
          <a:xfrm>
            <a:off x="5138928" y="4343400"/>
            <a:ext cx="914400" cy="182880"/>
          </a:xfrm>
          <a:prstGeom prst="rect">
            <a:avLst/>
          </a:prstGeom>
          <a:noFill/>
          <a:ln/>
        </p:spPr>
        <p:txBody>
          <a:bodyPr wrap="square" lIns="0" tIns="0" rIns="0" bIns="0" rtlCol="0" anchor="ctr"/>
          <a:lstStyle/>
          <a:p>
            <a:pPr marL="0" indent="0">
              <a:buNone/>
            </a:pPr>
            <a:r>
              <a:rPr lang="en-US" sz="800" dirty="0">
                <a:solidFill>
                  <a:srgbClr val="3B4A5E"/>
                </a:solidFill>
                <a:latin typeface="Segoe UI Semibold" pitchFamily="34" charset="0"/>
                <a:ea typeface="Segoe UI Semibold" pitchFamily="34" charset="-122"/>
                <a:cs typeface="Segoe UI Semibold" pitchFamily="34" charset="-120"/>
              </a:rPr>
              <a:t>telemetry</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LIVE DEMO</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Live demo map: D1–D8</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18</a:t>
            </a:r>
            <a:endParaRPr lang="en-US" sz="800" dirty="0"/>
          </a:p>
        </p:txBody>
      </p:sp>
      <p:sp>
        <p:nvSpPr>
          <p:cNvPr id="7" name="Shape 5"/>
          <p:cNvSpPr/>
          <p:nvPr/>
        </p:nvSpPr>
        <p:spPr>
          <a:xfrm>
            <a:off x="640080" y="1060704"/>
            <a:ext cx="5166360" cy="731520"/>
          </a:xfrm>
          <a:prstGeom prst="rect">
            <a:avLst/>
          </a:prstGeom>
          <a:solidFill>
            <a:srgbClr val="FFFFFF"/>
          </a:solidFill>
          <a:ln w="10160">
            <a:solidFill>
              <a:srgbClr val="D8E2EC"/>
            </a:solidFill>
            <a:prstDash val="solid"/>
          </a:ln>
        </p:spPr>
      </p:sp>
      <p:sp>
        <p:nvSpPr>
          <p:cNvPr id="8" name="Shape 6"/>
          <p:cNvSpPr/>
          <p:nvPr/>
        </p:nvSpPr>
        <p:spPr>
          <a:xfrm>
            <a:off x="640080" y="1060704"/>
            <a:ext cx="73152" cy="731520"/>
          </a:xfrm>
          <a:prstGeom prst="rect">
            <a:avLst/>
          </a:prstGeom>
          <a:solidFill>
            <a:srgbClr val="00B7C3"/>
          </a:solidFill>
          <a:ln w="12700">
            <a:solidFill>
              <a:srgbClr val="00B7C3"/>
            </a:solidFill>
            <a:prstDash val="solid"/>
          </a:ln>
        </p:spPr>
      </p:sp>
      <p:sp>
        <p:nvSpPr>
          <p:cNvPr id="9" name="Text 7"/>
          <p:cNvSpPr/>
          <p:nvPr/>
        </p:nvSpPr>
        <p:spPr>
          <a:xfrm>
            <a:off x="822960" y="119786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D1  Keyless chat</a:t>
            </a:r>
            <a:endParaRPr lang="en-US" sz="1080" dirty="0"/>
          </a:p>
        </p:txBody>
      </p:sp>
      <p:sp>
        <p:nvSpPr>
          <p:cNvPr id="10" name="Text 8"/>
          <p:cNvSpPr/>
          <p:nvPr/>
        </p:nvSpPr>
        <p:spPr>
          <a:xfrm>
            <a:off x="822960" y="151790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200 via Sweden Central; token headers show 44 prompt / 94 completion and 19,862 remaining.</a:t>
            </a:r>
            <a:endParaRPr lang="en-US" sz="820" dirty="0"/>
          </a:p>
        </p:txBody>
      </p:sp>
      <p:sp>
        <p:nvSpPr>
          <p:cNvPr id="11" name="Shape 9"/>
          <p:cNvSpPr/>
          <p:nvPr/>
        </p:nvSpPr>
        <p:spPr>
          <a:xfrm>
            <a:off x="6126480" y="1060704"/>
            <a:ext cx="5166360" cy="731520"/>
          </a:xfrm>
          <a:prstGeom prst="rect">
            <a:avLst/>
          </a:prstGeom>
          <a:solidFill>
            <a:srgbClr val="FFFFFF"/>
          </a:solidFill>
          <a:ln w="10160">
            <a:solidFill>
              <a:srgbClr val="D8E2EC"/>
            </a:solidFill>
            <a:prstDash val="solid"/>
          </a:ln>
        </p:spPr>
      </p:sp>
      <p:sp>
        <p:nvSpPr>
          <p:cNvPr id="12" name="Shape 10"/>
          <p:cNvSpPr/>
          <p:nvPr/>
        </p:nvSpPr>
        <p:spPr>
          <a:xfrm>
            <a:off x="6126480" y="1060704"/>
            <a:ext cx="73152" cy="731520"/>
          </a:xfrm>
          <a:prstGeom prst="rect">
            <a:avLst/>
          </a:prstGeom>
          <a:solidFill>
            <a:srgbClr val="00B7C3"/>
          </a:solidFill>
          <a:ln w="12700">
            <a:solidFill>
              <a:srgbClr val="00B7C3"/>
            </a:solidFill>
            <a:prstDash val="solid"/>
          </a:ln>
        </p:spPr>
      </p:sp>
      <p:sp>
        <p:nvSpPr>
          <p:cNvPr id="13" name="Text 11"/>
          <p:cNvSpPr/>
          <p:nvPr/>
        </p:nvSpPr>
        <p:spPr>
          <a:xfrm>
            <a:off x="6309360" y="119786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D2  Load balancing</a:t>
            </a:r>
            <a:endParaRPr lang="en-US" sz="1080" dirty="0"/>
          </a:p>
        </p:txBody>
      </p:sp>
      <p:sp>
        <p:nvSpPr>
          <p:cNvPr id="14" name="Text 12"/>
          <p:cNvSpPr/>
          <p:nvPr/>
        </p:nvSpPr>
        <p:spPr>
          <a:xfrm>
            <a:off x="6309360" y="151790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Six calls alternate France Central and Sweden Central; circuit breaker explained.</a:t>
            </a:r>
            <a:endParaRPr lang="en-US" sz="820" dirty="0"/>
          </a:p>
        </p:txBody>
      </p:sp>
      <p:sp>
        <p:nvSpPr>
          <p:cNvPr id="15" name="Shape 13"/>
          <p:cNvSpPr/>
          <p:nvPr/>
        </p:nvSpPr>
        <p:spPr>
          <a:xfrm>
            <a:off x="640080" y="2157984"/>
            <a:ext cx="5166360" cy="731520"/>
          </a:xfrm>
          <a:prstGeom prst="rect">
            <a:avLst/>
          </a:prstGeom>
          <a:solidFill>
            <a:srgbClr val="FFFFFF"/>
          </a:solidFill>
          <a:ln w="10160">
            <a:solidFill>
              <a:srgbClr val="D8E2EC"/>
            </a:solidFill>
            <a:prstDash val="solid"/>
          </a:ln>
        </p:spPr>
      </p:sp>
      <p:sp>
        <p:nvSpPr>
          <p:cNvPr id="16" name="Shape 14"/>
          <p:cNvSpPr/>
          <p:nvPr/>
        </p:nvSpPr>
        <p:spPr>
          <a:xfrm>
            <a:off x="640080" y="2157984"/>
            <a:ext cx="73152" cy="731520"/>
          </a:xfrm>
          <a:prstGeom prst="rect">
            <a:avLst/>
          </a:prstGeom>
          <a:solidFill>
            <a:srgbClr val="FFB900"/>
          </a:solidFill>
          <a:ln w="12700">
            <a:solidFill>
              <a:srgbClr val="FFB900"/>
            </a:solidFill>
            <a:prstDash val="solid"/>
          </a:ln>
        </p:spPr>
      </p:sp>
      <p:sp>
        <p:nvSpPr>
          <p:cNvPr id="17" name="Text 15"/>
          <p:cNvSpPr/>
          <p:nvPr/>
        </p:nvSpPr>
        <p:spPr>
          <a:xfrm>
            <a:off x="822960" y="229514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D3  Token budgets</a:t>
            </a:r>
            <a:endParaRPr lang="en-US" sz="1080" dirty="0"/>
          </a:p>
        </p:txBody>
      </p:sp>
      <p:sp>
        <p:nvSpPr>
          <p:cNvPr id="18" name="Text 16"/>
          <p:cNvSpPr/>
          <p:nvPr/>
        </p:nvSpPr>
        <p:spPr>
          <a:xfrm>
            <a:off x="822960" y="261518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Bronze returns 200 x6 then 429 Retry-After 11; Gold continues.</a:t>
            </a:r>
            <a:endParaRPr lang="en-US" sz="820" dirty="0"/>
          </a:p>
        </p:txBody>
      </p:sp>
      <p:sp>
        <p:nvSpPr>
          <p:cNvPr id="19" name="Shape 17"/>
          <p:cNvSpPr/>
          <p:nvPr/>
        </p:nvSpPr>
        <p:spPr>
          <a:xfrm>
            <a:off x="6126480" y="2157984"/>
            <a:ext cx="5166360" cy="731520"/>
          </a:xfrm>
          <a:prstGeom prst="rect">
            <a:avLst/>
          </a:prstGeom>
          <a:solidFill>
            <a:srgbClr val="FFFFFF"/>
          </a:solidFill>
          <a:ln w="10160">
            <a:solidFill>
              <a:srgbClr val="D8E2EC"/>
            </a:solidFill>
            <a:prstDash val="solid"/>
          </a:ln>
        </p:spPr>
      </p:sp>
      <p:sp>
        <p:nvSpPr>
          <p:cNvPr id="20" name="Shape 18"/>
          <p:cNvSpPr/>
          <p:nvPr/>
        </p:nvSpPr>
        <p:spPr>
          <a:xfrm>
            <a:off x="6126480" y="2157984"/>
            <a:ext cx="73152" cy="731520"/>
          </a:xfrm>
          <a:prstGeom prst="rect">
            <a:avLst/>
          </a:prstGeom>
          <a:solidFill>
            <a:srgbClr val="00B7C3"/>
          </a:solidFill>
          <a:ln w="12700">
            <a:solidFill>
              <a:srgbClr val="00B7C3"/>
            </a:solidFill>
            <a:prstDash val="solid"/>
          </a:ln>
        </p:spPr>
      </p:sp>
      <p:sp>
        <p:nvSpPr>
          <p:cNvPr id="21" name="Text 19"/>
          <p:cNvSpPr/>
          <p:nvPr/>
        </p:nvSpPr>
        <p:spPr>
          <a:xfrm>
            <a:off x="6309360" y="229514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D4  Content safety</a:t>
            </a:r>
            <a:endParaRPr lang="en-US" sz="1080" dirty="0"/>
          </a:p>
        </p:txBody>
      </p:sp>
      <p:sp>
        <p:nvSpPr>
          <p:cNvPr id="22" name="Text 20"/>
          <p:cNvSpPr/>
          <p:nvPr/>
        </p:nvSpPr>
        <p:spPr>
          <a:xfrm>
            <a:off x="6309360" y="261518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Benign prompt passes; jailbreak blocked by Prompt Shields.</a:t>
            </a:r>
            <a:endParaRPr lang="en-US" sz="820" dirty="0"/>
          </a:p>
        </p:txBody>
      </p:sp>
      <p:sp>
        <p:nvSpPr>
          <p:cNvPr id="23" name="Shape 21"/>
          <p:cNvSpPr/>
          <p:nvPr/>
        </p:nvSpPr>
        <p:spPr>
          <a:xfrm>
            <a:off x="640080" y="3255264"/>
            <a:ext cx="5166360" cy="731520"/>
          </a:xfrm>
          <a:prstGeom prst="rect">
            <a:avLst/>
          </a:prstGeom>
          <a:solidFill>
            <a:srgbClr val="FFFFFF"/>
          </a:solidFill>
          <a:ln w="10160">
            <a:solidFill>
              <a:srgbClr val="D8E2EC"/>
            </a:solidFill>
            <a:prstDash val="solid"/>
          </a:ln>
        </p:spPr>
      </p:sp>
      <p:sp>
        <p:nvSpPr>
          <p:cNvPr id="24" name="Shape 22"/>
          <p:cNvSpPr/>
          <p:nvPr/>
        </p:nvSpPr>
        <p:spPr>
          <a:xfrm>
            <a:off x="640080" y="3255264"/>
            <a:ext cx="73152" cy="731520"/>
          </a:xfrm>
          <a:prstGeom prst="rect">
            <a:avLst/>
          </a:prstGeom>
          <a:solidFill>
            <a:srgbClr val="00B7C3"/>
          </a:solidFill>
          <a:ln w="12700">
            <a:solidFill>
              <a:srgbClr val="00B7C3"/>
            </a:solidFill>
            <a:prstDash val="solid"/>
          </a:ln>
        </p:spPr>
      </p:sp>
      <p:sp>
        <p:nvSpPr>
          <p:cNvPr id="25" name="Text 23"/>
          <p:cNvSpPr/>
          <p:nvPr/>
        </p:nvSpPr>
        <p:spPr>
          <a:xfrm>
            <a:off x="822960" y="339242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D5  MCP server</a:t>
            </a:r>
            <a:endParaRPr lang="en-US" sz="1080" dirty="0"/>
          </a:p>
        </p:txBody>
      </p:sp>
      <p:sp>
        <p:nvSpPr>
          <p:cNvPr id="26" name="Text 24"/>
          <p:cNvSpPr/>
          <p:nvPr/>
        </p:nvSpPr>
        <p:spPr>
          <a:xfrm>
            <a:off x="822960" y="371246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Initialize, tools/list, tools/call search-products and get-order-status.</a:t>
            </a:r>
            <a:endParaRPr lang="en-US" sz="820" dirty="0"/>
          </a:p>
        </p:txBody>
      </p:sp>
      <p:sp>
        <p:nvSpPr>
          <p:cNvPr id="27" name="Shape 25"/>
          <p:cNvSpPr/>
          <p:nvPr/>
        </p:nvSpPr>
        <p:spPr>
          <a:xfrm>
            <a:off x="6126480" y="3255264"/>
            <a:ext cx="5166360" cy="731520"/>
          </a:xfrm>
          <a:prstGeom prst="rect">
            <a:avLst/>
          </a:prstGeom>
          <a:solidFill>
            <a:srgbClr val="FFFFFF"/>
          </a:solidFill>
          <a:ln w="10160">
            <a:solidFill>
              <a:srgbClr val="D8E2EC"/>
            </a:solidFill>
            <a:prstDash val="solid"/>
          </a:ln>
        </p:spPr>
      </p:sp>
      <p:sp>
        <p:nvSpPr>
          <p:cNvPr id="28" name="Shape 26"/>
          <p:cNvSpPr/>
          <p:nvPr/>
        </p:nvSpPr>
        <p:spPr>
          <a:xfrm>
            <a:off x="6126480" y="3255264"/>
            <a:ext cx="73152" cy="731520"/>
          </a:xfrm>
          <a:prstGeom prst="rect">
            <a:avLst/>
          </a:prstGeom>
          <a:solidFill>
            <a:srgbClr val="00B7C3"/>
          </a:solidFill>
          <a:ln w="12700">
            <a:solidFill>
              <a:srgbClr val="00B7C3"/>
            </a:solidFill>
            <a:prstDash val="solid"/>
          </a:ln>
        </p:spPr>
      </p:sp>
      <p:sp>
        <p:nvSpPr>
          <p:cNvPr id="29" name="Text 27"/>
          <p:cNvSpPr/>
          <p:nvPr/>
        </p:nvSpPr>
        <p:spPr>
          <a:xfrm>
            <a:off x="6309360" y="339242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D6  Agent</a:t>
            </a:r>
            <a:endParaRPr lang="en-US" sz="1080" dirty="0"/>
          </a:p>
        </p:txBody>
      </p:sp>
      <p:sp>
        <p:nvSpPr>
          <p:cNvPr id="30" name="Text 28"/>
          <p:cNvSpPr/>
          <p:nvPr/>
        </p:nvSpPr>
        <p:spPr>
          <a:xfrm>
            <a:off x="6309360" y="371246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Responses API converts MCP tools to function tools; store=false keeps it stateless.</a:t>
            </a:r>
            <a:endParaRPr lang="en-US" sz="820" dirty="0"/>
          </a:p>
        </p:txBody>
      </p:sp>
      <p:sp>
        <p:nvSpPr>
          <p:cNvPr id="31" name="Shape 29"/>
          <p:cNvSpPr/>
          <p:nvPr/>
        </p:nvSpPr>
        <p:spPr>
          <a:xfrm>
            <a:off x="640080" y="4352544"/>
            <a:ext cx="5166360" cy="731520"/>
          </a:xfrm>
          <a:prstGeom prst="rect">
            <a:avLst/>
          </a:prstGeom>
          <a:solidFill>
            <a:srgbClr val="FFFFFF"/>
          </a:solidFill>
          <a:ln w="10160">
            <a:solidFill>
              <a:srgbClr val="D8E2EC"/>
            </a:solidFill>
            <a:prstDash val="solid"/>
          </a:ln>
        </p:spPr>
      </p:sp>
      <p:sp>
        <p:nvSpPr>
          <p:cNvPr id="32" name="Shape 30"/>
          <p:cNvSpPr/>
          <p:nvPr/>
        </p:nvSpPr>
        <p:spPr>
          <a:xfrm>
            <a:off x="640080" y="4352544"/>
            <a:ext cx="73152" cy="731520"/>
          </a:xfrm>
          <a:prstGeom prst="rect">
            <a:avLst/>
          </a:prstGeom>
          <a:solidFill>
            <a:srgbClr val="00B7C3"/>
          </a:solidFill>
          <a:ln w="12700">
            <a:solidFill>
              <a:srgbClr val="00B7C3"/>
            </a:solidFill>
            <a:prstDash val="solid"/>
          </a:ln>
        </p:spPr>
      </p:sp>
      <p:sp>
        <p:nvSpPr>
          <p:cNvPr id="33" name="Text 31"/>
          <p:cNvSpPr/>
          <p:nvPr/>
        </p:nvSpPr>
        <p:spPr>
          <a:xfrm>
            <a:off x="822960" y="448970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D7  Observability</a:t>
            </a:r>
            <a:endParaRPr lang="en-US" sz="1080" dirty="0"/>
          </a:p>
        </p:txBody>
      </p:sp>
      <p:sp>
        <p:nvSpPr>
          <p:cNvPr id="34" name="Text 32"/>
          <p:cNvSpPr/>
          <p:nvPr/>
        </p:nvSpPr>
        <p:spPr>
          <a:xfrm>
            <a:off x="822960" y="480974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AppMetrics by Product and ApiManagementGatewayLlmLog by DeploymentName gpt-6.1-sol.</a:t>
            </a:r>
            <a:endParaRPr lang="en-US" sz="820" dirty="0"/>
          </a:p>
        </p:txBody>
      </p:sp>
      <p:sp>
        <p:nvSpPr>
          <p:cNvPr id="35" name="Shape 33"/>
          <p:cNvSpPr/>
          <p:nvPr/>
        </p:nvSpPr>
        <p:spPr>
          <a:xfrm>
            <a:off x="6126480" y="4352544"/>
            <a:ext cx="5166360" cy="731520"/>
          </a:xfrm>
          <a:prstGeom prst="rect">
            <a:avLst/>
          </a:prstGeom>
          <a:solidFill>
            <a:srgbClr val="FFFFFF"/>
          </a:solidFill>
          <a:ln w="10160">
            <a:solidFill>
              <a:srgbClr val="D8E2EC"/>
            </a:solidFill>
            <a:prstDash val="solid"/>
          </a:ln>
        </p:spPr>
      </p:sp>
      <p:sp>
        <p:nvSpPr>
          <p:cNvPr id="36" name="Shape 34"/>
          <p:cNvSpPr/>
          <p:nvPr/>
        </p:nvSpPr>
        <p:spPr>
          <a:xfrm>
            <a:off x="6126480" y="4352544"/>
            <a:ext cx="73152" cy="731520"/>
          </a:xfrm>
          <a:prstGeom prst="rect">
            <a:avLst/>
          </a:prstGeom>
          <a:solidFill>
            <a:srgbClr val="00B7C3"/>
          </a:solidFill>
          <a:ln w="12700">
            <a:solidFill>
              <a:srgbClr val="00B7C3"/>
            </a:solidFill>
            <a:prstDash val="solid"/>
          </a:ln>
        </p:spPr>
      </p:sp>
      <p:sp>
        <p:nvSpPr>
          <p:cNvPr id="37" name="Text 35"/>
          <p:cNvSpPr/>
          <p:nvPr/>
        </p:nvSpPr>
        <p:spPr>
          <a:xfrm>
            <a:off x="6309360" y="448970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D8  CI/CD</a:t>
            </a:r>
            <a:endParaRPr lang="en-US" sz="1080" dirty="0"/>
          </a:p>
        </p:txBody>
      </p:sp>
      <p:sp>
        <p:nvSpPr>
          <p:cNvPr id="38" name="Text 36"/>
          <p:cNvSpPr/>
          <p:nvPr/>
        </p:nvSpPr>
        <p:spPr>
          <a:xfrm>
            <a:off x="6309360" y="480974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Bicep deployed by GitHub Actions: deploy, smoke test, run demo.</a:t>
            </a:r>
            <a:endParaRPr lang="en-US" sz="820" dirty="0"/>
          </a:p>
        </p:txBody>
      </p:sp>
      <p:sp>
        <p:nvSpPr>
          <p:cNvPr id="39" name="Shape 37"/>
          <p:cNvSpPr/>
          <p:nvPr/>
        </p:nvSpPr>
        <p:spPr>
          <a:xfrm>
            <a:off x="822960" y="5623560"/>
            <a:ext cx="10378440" cy="347472"/>
          </a:xfrm>
          <a:prstGeom prst="roundRect">
            <a:avLst>
              <a:gd name="adj" fmla="val 13158"/>
            </a:avLst>
          </a:prstGeom>
          <a:solidFill>
            <a:srgbClr val="E5F1FB"/>
          </a:solidFill>
          <a:ln w="12700">
            <a:solidFill>
              <a:srgbClr val="E5F1FB"/>
            </a:solidFill>
            <a:prstDash val="solid"/>
          </a:ln>
        </p:spPr>
      </p:sp>
      <p:sp>
        <p:nvSpPr>
          <p:cNvPr id="40" name="Text 38"/>
          <p:cNvSpPr/>
          <p:nvPr/>
        </p:nvSpPr>
        <p:spPr>
          <a:xfrm>
            <a:off x="1051560" y="5733288"/>
            <a:ext cx="9875520" cy="109728"/>
          </a:xfrm>
          <a:prstGeom prst="rect">
            <a:avLst/>
          </a:prstGeom>
          <a:noFill/>
          <a:ln/>
        </p:spPr>
        <p:txBody>
          <a:bodyPr wrap="square" lIns="0" tIns="0" rIns="0" bIns="0" rtlCol="0" anchor="ctr">
            <a:normAutofit/>
          </a:bodyPr>
          <a:lstStyle/>
          <a:p>
            <a:pPr marL="0" indent="0" algn="ctr">
              <a:buNone/>
            </a:pPr>
            <a:r>
              <a:rPr lang="en-US" sz="860" dirty="0">
                <a:solidFill>
                  <a:srgbClr val="0B1E3F"/>
                </a:solidFill>
                <a:latin typeface="Segoe UI Semibold" pitchFamily="34" charset="0"/>
                <a:ea typeface="Segoe UI Semibold" pitchFamily="34" charset="-122"/>
                <a:cs typeface="Segoe UI Semibold" pitchFamily="34" charset="-120"/>
              </a:rPr>
              <a:t>Narrated fallback video: docs/video/apim-ai-gateway-demo.mp4</a:t>
            </a:r>
            <a:endParaRPr lang="en-US" sz="8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D1 keyless chat + D2 failover</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19</a:t>
            </a:r>
            <a:endParaRPr lang="en-US" sz="800" dirty="0"/>
          </a:p>
        </p:txBody>
      </p:sp>
      <p:sp>
        <p:nvSpPr>
          <p:cNvPr id="7" name="Shape 5"/>
          <p:cNvSpPr/>
          <p:nvPr/>
        </p:nvSpPr>
        <p:spPr>
          <a:xfrm>
            <a:off x="685800" y="1097280"/>
            <a:ext cx="5212080" cy="27432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85800" y="1097280"/>
            <a:ext cx="73152" cy="2743200"/>
          </a:xfrm>
          <a:prstGeom prst="rect">
            <a:avLst/>
          </a:prstGeom>
          <a:solidFill>
            <a:srgbClr val="00B7C3"/>
          </a:solidFill>
          <a:ln w="12700">
            <a:solidFill>
              <a:srgbClr val="00B7C3"/>
            </a:solidFill>
            <a:prstDash val="solid"/>
          </a:ln>
        </p:spPr>
      </p:sp>
      <p:sp>
        <p:nvSpPr>
          <p:cNvPr id="9" name="Shape 7"/>
          <p:cNvSpPr/>
          <p:nvPr/>
        </p:nvSpPr>
        <p:spPr>
          <a:xfrm>
            <a:off x="850392" y="1252728"/>
            <a:ext cx="393192" cy="393192"/>
          </a:xfrm>
          <a:prstGeom prst="ellipse">
            <a:avLst/>
          </a:prstGeom>
          <a:solidFill>
            <a:srgbClr val="00B7C3"/>
          </a:solidFill>
          <a:ln w="12700">
            <a:solidFill>
              <a:srgbClr val="00B7C3"/>
            </a:solidFill>
            <a:prstDash val="solid"/>
          </a:ln>
        </p:spPr>
      </p:sp>
      <p:sp>
        <p:nvSpPr>
          <p:cNvPr id="10" name="Text 8"/>
          <p:cNvSpPr/>
          <p:nvPr/>
        </p:nvSpPr>
        <p:spPr>
          <a:xfrm>
            <a:off x="85039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D1</a:t>
            </a:r>
            <a:endParaRPr lang="en-US" sz="800" dirty="0"/>
          </a:p>
        </p:txBody>
      </p:sp>
      <p:sp>
        <p:nvSpPr>
          <p:cNvPr id="11" name="Text 9"/>
          <p:cNvSpPr/>
          <p:nvPr/>
        </p:nvSpPr>
        <p:spPr>
          <a:xfrm>
            <a:off x="1344168" y="1225296"/>
            <a:ext cx="438912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D1 verified output</a:t>
            </a:r>
            <a:endParaRPr lang="en-US" sz="1250" dirty="0"/>
          </a:p>
        </p:txBody>
      </p:sp>
      <p:sp>
        <p:nvSpPr>
          <p:cNvPr id="12" name="Text 10"/>
          <p:cNvSpPr/>
          <p:nvPr/>
        </p:nvSpPr>
        <p:spPr>
          <a:xfrm>
            <a:off x="1344168" y="1554480"/>
            <a:ext cx="4389120" cy="219456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HTTP 200 via Sweden Central. App uses only an APIM subscription key; APIM authenticates to Foundry with managed identity.</a:t>
            </a:r>
            <a:endParaRPr lang="en-US" sz="1020" dirty="0"/>
          </a:p>
        </p:txBody>
      </p:sp>
      <p:sp>
        <p:nvSpPr>
          <p:cNvPr id="13" name="Shape 11"/>
          <p:cNvSpPr/>
          <p:nvPr/>
        </p:nvSpPr>
        <p:spPr>
          <a:xfrm>
            <a:off x="6309360" y="1097280"/>
            <a:ext cx="5212080" cy="27432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309360" y="1097280"/>
            <a:ext cx="73152" cy="2743200"/>
          </a:xfrm>
          <a:prstGeom prst="rect">
            <a:avLst/>
          </a:prstGeom>
          <a:solidFill>
            <a:srgbClr val="0078D4"/>
          </a:solidFill>
          <a:ln w="12700">
            <a:solidFill>
              <a:srgbClr val="0078D4"/>
            </a:solidFill>
            <a:prstDash val="solid"/>
          </a:ln>
        </p:spPr>
      </p:sp>
      <p:sp>
        <p:nvSpPr>
          <p:cNvPr id="15" name="Shape 13"/>
          <p:cNvSpPr/>
          <p:nvPr/>
        </p:nvSpPr>
        <p:spPr>
          <a:xfrm>
            <a:off x="6473952" y="1252728"/>
            <a:ext cx="393192" cy="393192"/>
          </a:xfrm>
          <a:prstGeom prst="ellipse">
            <a:avLst/>
          </a:prstGeom>
          <a:solidFill>
            <a:srgbClr val="0078D4"/>
          </a:solidFill>
          <a:ln w="12700">
            <a:solidFill>
              <a:srgbClr val="0078D4"/>
            </a:solidFill>
            <a:prstDash val="solid"/>
          </a:ln>
        </p:spPr>
      </p:sp>
      <p:sp>
        <p:nvSpPr>
          <p:cNvPr id="16" name="Text 14"/>
          <p:cNvSpPr/>
          <p:nvPr/>
        </p:nvSpPr>
        <p:spPr>
          <a:xfrm>
            <a:off x="647395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D2</a:t>
            </a:r>
            <a:endParaRPr lang="en-US" sz="800" dirty="0"/>
          </a:p>
        </p:txBody>
      </p:sp>
      <p:sp>
        <p:nvSpPr>
          <p:cNvPr id="17" name="Text 15"/>
          <p:cNvSpPr/>
          <p:nvPr/>
        </p:nvSpPr>
        <p:spPr>
          <a:xfrm>
            <a:off x="6967728" y="1225296"/>
            <a:ext cx="438912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D2 verified output</a:t>
            </a:r>
            <a:endParaRPr lang="en-US" sz="1250" dirty="0"/>
          </a:p>
        </p:txBody>
      </p:sp>
      <p:sp>
        <p:nvSpPr>
          <p:cNvPr id="18" name="Text 16"/>
          <p:cNvSpPr/>
          <p:nvPr/>
        </p:nvSpPr>
        <p:spPr>
          <a:xfrm>
            <a:off x="6967728" y="1554480"/>
            <a:ext cx="4389120" cy="219456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Six requests alternate France Central / Sweden Central. Circuit breaker remains ready for 429/5xx failover.</a:t>
            </a:r>
            <a:endParaRPr lang="en-US" sz="1020" dirty="0"/>
          </a:p>
        </p:txBody>
      </p:sp>
      <p:sp>
        <p:nvSpPr>
          <p:cNvPr id="19" name="Shape 17"/>
          <p:cNvSpPr/>
          <p:nvPr/>
        </p:nvSpPr>
        <p:spPr>
          <a:xfrm>
            <a:off x="1005840" y="4389120"/>
            <a:ext cx="10149840" cy="685800"/>
          </a:xfrm>
          <a:prstGeom prst="rect">
            <a:avLst/>
          </a:prstGeom>
          <a:solidFill>
            <a:srgbClr val="06152D"/>
          </a:solidFill>
          <a:ln w="12700">
            <a:solidFill>
              <a:srgbClr val="06152D"/>
            </a:solidFill>
            <a:prstDash val="solid"/>
          </a:ln>
        </p:spPr>
      </p:sp>
      <p:sp>
        <p:nvSpPr>
          <p:cNvPr id="20" name="Text 18"/>
          <p:cNvSpPr/>
          <p:nvPr/>
        </p:nvSpPr>
        <p:spPr>
          <a:xfrm>
            <a:off x="1234440" y="4599432"/>
            <a:ext cx="9692640" cy="219456"/>
          </a:xfrm>
          <a:prstGeom prst="rect">
            <a:avLst/>
          </a:prstGeom>
          <a:noFill/>
          <a:ln/>
        </p:spPr>
        <p:txBody>
          <a:bodyPr wrap="square" lIns="0" tIns="0" rIns="0" bIns="0" rtlCol="0" anchor="ctr">
            <a:normAutofit/>
          </a:bodyPr>
          <a:lstStyle/>
          <a:p>
            <a:pPr marL="0" indent="0">
              <a:buNone/>
            </a:pPr>
            <a:r>
              <a:rPr lang="en-US" sz="1000" dirty="0">
                <a:solidFill>
                  <a:srgbClr val="D7E7F6"/>
                </a:solidFill>
                <a:latin typeface="Consolas" pitchFamily="34" charset="0"/>
                <a:ea typeface="Consolas" pitchFamily="34" charset="-122"/>
                <a:cs typeface="Consolas" pitchFamily="34" charset="-120"/>
              </a:rPr>
              <a:t>D1: 200 OK · region=swedencentral · prompt=44 · completion=94 · remaining=19862</a:t>
            </a:r>
            <a:endParaRPr lang="en-US" sz="1000" dirty="0"/>
          </a:p>
          <a:p>
            <a:pPr marL="0" indent="0">
              <a:buNone/>
            </a:pPr>
            <a:r>
              <a:rPr lang="en-US" sz="1000" dirty="0">
                <a:solidFill>
                  <a:srgbClr val="D7E7F6"/>
                </a:solidFill>
                <a:latin typeface="Consolas" pitchFamily="34" charset="0"/>
                <a:ea typeface="Consolas" pitchFamily="34" charset="-122"/>
                <a:cs typeface="Consolas" pitchFamily="34" charset="-120"/>
              </a:rPr>
              <a:t>D2: francecentral → swedencentral → francecentral → swedencentral → francecentral → swedencentral</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D3 token budgets per team</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20</a:t>
            </a:r>
            <a:endParaRPr lang="en-US" sz="800" dirty="0"/>
          </a:p>
        </p:txBody>
      </p:sp>
      <p:sp>
        <p:nvSpPr>
          <p:cNvPr id="7" name="Shape 5"/>
          <p:cNvSpPr/>
          <p:nvPr/>
        </p:nvSpPr>
        <p:spPr>
          <a:xfrm>
            <a:off x="73152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31520" y="1097280"/>
            <a:ext cx="73152" cy="1170432"/>
          </a:xfrm>
          <a:prstGeom prst="rect">
            <a:avLst/>
          </a:prstGeom>
          <a:solidFill>
            <a:srgbClr val="00B7C3"/>
          </a:solidFill>
          <a:ln w="12700">
            <a:solidFill>
              <a:srgbClr val="00B7C3"/>
            </a:solidFill>
            <a:prstDash val="solid"/>
          </a:ln>
        </p:spPr>
      </p:sp>
      <p:sp>
        <p:nvSpPr>
          <p:cNvPr id="9" name="Shape 7"/>
          <p:cNvSpPr/>
          <p:nvPr/>
        </p:nvSpPr>
        <p:spPr>
          <a:xfrm>
            <a:off x="896112" y="1252728"/>
            <a:ext cx="393192" cy="393192"/>
          </a:xfrm>
          <a:prstGeom prst="ellipse">
            <a:avLst/>
          </a:prstGeom>
          <a:solidFill>
            <a:srgbClr val="00B7C3"/>
          </a:solidFill>
          <a:ln w="12700">
            <a:solidFill>
              <a:srgbClr val="00B7C3"/>
            </a:solidFill>
            <a:prstDash val="solid"/>
          </a:ln>
        </p:spPr>
      </p:sp>
      <p:sp>
        <p:nvSpPr>
          <p:cNvPr id="10" name="Text 8"/>
          <p:cNvSpPr/>
          <p:nvPr/>
        </p:nvSpPr>
        <p:spPr>
          <a:xfrm>
            <a:off x="89611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G</a:t>
            </a:r>
            <a:endParaRPr lang="en-US" sz="800" dirty="0"/>
          </a:p>
        </p:txBody>
      </p:sp>
      <p:sp>
        <p:nvSpPr>
          <p:cNvPr id="11" name="Text 9"/>
          <p:cNvSpPr/>
          <p:nvPr/>
        </p:nvSpPr>
        <p:spPr>
          <a:xfrm>
            <a:off x="138988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Gold product</a:t>
            </a:r>
            <a:endParaRPr lang="en-US" sz="1250" dirty="0"/>
          </a:p>
        </p:txBody>
      </p:sp>
      <p:sp>
        <p:nvSpPr>
          <p:cNvPr id="12" name="Text 10"/>
          <p:cNvSpPr/>
          <p:nvPr/>
        </p:nvSpPr>
        <p:spPr>
          <a:xfrm>
            <a:off x="138988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20,000 tokens/min · 5M tokens/month · customer support copilot keeps running.</a:t>
            </a:r>
            <a:endParaRPr lang="en-US" sz="1040" dirty="0"/>
          </a:p>
        </p:txBody>
      </p:sp>
      <p:sp>
        <p:nvSpPr>
          <p:cNvPr id="13" name="Shape 11"/>
          <p:cNvSpPr/>
          <p:nvPr/>
        </p:nvSpPr>
        <p:spPr>
          <a:xfrm>
            <a:off x="434340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343400" y="1097280"/>
            <a:ext cx="73152" cy="1170432"/>
          </a:xfrm>
          <a:prstGeom prst="rect">
            <a:avLst/>
          </a:prstGeom>
          <a:solidFill>
            <a:srgbClr val="FFB900"/>
          </a:solidFill>
          <a:ln w="12700">
            <a:solidFill>
              <a:srgbClr val="FFB900"/>
            </a:solidFill>
            <a:prstDash val="solid"/>
          </a:ln>
        </p:spPr>
      </p:sp>
      <p:sp>
        <p:nvSpPr>
          <p:cNvPr id="15" name="Shape 13"/>
          <p:cNvSpPr/>
          <p:nvPr/>
        </p:nvSpPr>
        <p:spPr>
          <a:xfrm>
            <a:off x="4507992" y="1252728"/>
            <a:ext cx="393192" cy="393192"/>
          </a:xfrm>
          <a:prstGeom prst="ellipse">
            <a:avLst/>
          </a:prstGeom>
          <a:solidFill>
            <a:srgbClr val="FFB900"/>
          </a:solidFill>
          <a:ln w="12700">
            <a:solidFill>
              <a:srgbClr val="FFB900"/>
            </a:solidFill>
            <a:prstDash val="solid"/>
          </a:ln>
        </p:spPr>
      </p:sp>
      <p:sp>
        <p:nvSpPr>
          <p:cNvPr id="16" name="Text 14"/>
          <p:cNvSpPr/>
          <p:nvPr/>
        </p:nvSpPr>
        <p:spPr>
          <a:xfrm>
            <a:off x="450799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B</a:t>
            </a:r>
            <a:endParaRPr lang="en-US" sz="800" dirty="0"/>
          </a:p>
        </p:txBody>
      </p:sp>
      <p:sp>
        <p:nvSpPr>
          <p:cNvPr id="17" name="Text 15"/>
          <p:cNvSpPr/>
          <p:nvPr/>
        </p:nvSpPr>
        <p:spPr>
          <a:xfrm>
            <a:off x="500176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Bronze product</a:t>
            </a:r>
            <a:endParaRPr lang="en-US" sz="1250" dirty="0"/>
          </a:p>
        </p:txBody>
      </p:sp>
      <p:sp>
        <p:nvSpPr>
          <p:cNvPr id="18" name="Text 16"/>
          <p:cNvSpPr/>
          <p:nvPr/>
        </p:nvSpPr>
        <p:spPr>
          <a:xfrm>
            <a:off x="500176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300 tokens/min · 100K tokens/month · marketing sandbox is intentionally constrained.</a:t>
            </a:r>
            <a:endParaRPr lang="en-US" sz="1040" dirty="0"/>
          </a:p>
        </p:txBody>
      </p:sp>
      <p:sp>
        <p:nvSpPr>
          <p:cNvPr id="19" name="Shape 17"/>
          <p:cNvSpPr/>
          <p:nvPr/>
        </p:nvSpPr>
        <p:spPr>
          <a:xfrm>
            <a:off x="795528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7955280" y="1097280"/>
            <a:ext cx="73152" cy="1170432"/>
          </a:xfrm>
          <a:prstGeom prst="rect">
            <a:avLst/>
          </a:prstGeom>
          <a:solidFill>
            <a:srgbClr val="D83B01"/>
          </a:solidFill>
          <a:ln w="12700">
            <a:solidFill>
              <a:srgbClr val="D83B01"/>
            </a:solidFill>
            <a:prstDash val="solid"/>
          </a:ln>
        </p:spPr>
      </p:sp>
      <p:sp>
        <p:nvSpPr>
          <p:cNvPr id="21" name="Shape 19"/>
          <p:cNvSpPr/>
          <p:nvPr/>
        </p:nvSpPr>
        <p:spPr>
          <a:xfrm>
            <a:off x="8119872" y="1252728"/>
            <a:ext cx="393192" cy="393192"/>
          </a:xfrm>
          <a:prstGeom prst="ellipse">
            <a:avLst/>
          </a:prstGeom>
          <a:solidFill>
            <a:srgbClr val="D83B01"/>
          </a:solidFill>
          <a:ln w="12700">
            <a:solidFill>
              <a:srgbClr val="D83B01"/>
            </a:solidFill>
            <a:prstDash val="solid"/>
          </a:ln>
        </p:spPr>
      </p:sp>
      <p:sp>
        <p:nvSpPr>
          <p:cNvPr id="22" name="Text 20"/>
          <p:cNvSpPr/>
          <p:nvPr/>
        </p:nvSpPr>
        <p:spPr>
          <a:xfrm>
            <a:off x="811987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429</a:t>
            </a:r>
            <a:endParaRPr lang="en-US" sz="800" dirty="0"/>
          </a:p>
        </p:txBody>
      </p:sp>
      <p:sp>
        <p:nvSpPr>
          <p:cNvPr id="23" name="Text 21"/>
          <p:cNvSpPr/>
          <p:nvPr/>
        </p:nvSpPr>
        <p:spPr>
          <a:xfrm>
            <a:off x="861364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Gateway result</a:t>
            </a:r>
            <a:endParaRPr lang="en-US" sz="1250" dirty="0"/>
          </a:p>
        </p:txBody>
      </p:sp>
      <p:sp>
        <p:nvSpPr>
          <p:cNvPr id="24" name="Text 22"/>
          <p:cNvSpPr/>
          <p:nvPr/>
        </p:nvSpPr>
        <p:spPr>
          <a:xfrm>
            <a:off x="861364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Bronze returns 200 six times, then 429 with Retry-After 11; Gold still returns 200.</a:t>
            </a:r>
            <a:endParaRPr lang="en-US" sz="1040" dirty="0"/>
          </a:p>
        </p:txBody>
      </p:sp>
      <p:sp>
        <p:nvSpPr>
          <p:cNvPr id="25" name="Shape 23"/>
          <p:cNvSpPr/>
          <p:nvPr/>
        </p:nvSpPr>
        <p:spPr>
          <a:xfrm>
            <a:off x="914400" y="2880360"/>
            <a:ext cx="10332720" cy="1417320"/>
          </a:xfrm>
          <a:prstGeom prst="rect">
            <a:avLst/>
          </a:prstGeom>
          <a:solidFill>
            <a:srgbClr val="06152D"/>
          </a:solidFill>
          <a:ln w="12700">
            <a:solidFill>
              <a:srgbClr val="06152D"/>
            </a:solidFill>
            <a:prstDash val="solid"/>
          </a:ln>
        </p:spPr>
      </p:sp>
      <p:sp>
        <p:nvSpPr>
          <p:cNvPr id="26" name="Text 24"/>
          <p:cNvSpPr/>
          <p:nvPr/>
        </p:nvSpPr>
        <p:spPr>
          <a:xfrm>
            <a:off x="1234440" y="3182112"/>
            <a:ext cx="9692640" cy="530352"/>
          </a:xfrm>
          <a:prstGeom prst="rect">
            <a:avLst/>
          </a:prstGeom>
          <a:noFill/>
          <a:ln/>
        </p:spPr>
        <p:txBody>
          <a:bodyPr wrap="square" lIns="0" tIns="0" rIns="0" bIns="0" rtlCol="0" anchor="ctr">
            <a:normAutofit/>
          </a:bodyPr>
          <a:lstStyle/>
          <a:p>
            <a:pPr marL="0" indent="0">
              <a:buNone/>
            </a:pPr>
            <a:r>
              <a:rPr lang="en-US" sz="1210" dirty="0">
                <a:solidFill>
                  <a:srgbClr val="D7E7F6"/>
                </a:solidFill>
                <a:latin typeface="Consolas" pitchFamily="34" charset="0"/>
                <a:ea typeface="Consolas" pitchFamily="34" charset="-122"/>
                <a:cs typeface="Consolas" pitchFamily="34" charset="-120"/>
              </a:rPr>
              <a:t>Bronze calls: 200 x6 · remaining: 239, 176, 123, 81, 9, 0</a:t>
            </a:r>
            <a:endParaRPr lang="en-US" sz="1210" dirty="0"/>
          </a:p>
          <a:p>
            <a:pPr marL="0" indent="0">
              <a:buNone/>
            </a:pPr>
            <a:r>
              <a:rPr lang="en-US" sz="1210" dirty="0">
                <a:solidFill>
                  <a:srgbClr val="D7E7F6"/>
                </a:solidFill>
                <a:latin typeface="Consolas" pitchFamily="34" charset="0"/>
                <a:ea typeface="Consolas" pitchFamily="34" charset="-122"/>
                <a:cs typeface="Consolas" pitchFamily="34" charset="-120"/>
              </a:rPr>
              <a:t>Then: HTTP/1.1 429 Too Many Requests · Retry-After: 11</a:t>
            </a:r>
            <a:endParaRPr lang="en-US" sz="1210" dirty="0"/>
          </a:p>
          <a:p>
            <a:pPr marL="0" indent="0">
              <a:buNone/>
            </a:pPr>
            <a:r>
              <a:rPr lang="en-US" sz="1210" dirty="0">
                <a:solidFill>
                  <a:srgbClr val="D7E7F6"/>
                </a:solidFill>
                <a:latin typeface="Consolas" pitchFamily="34" charset="0"/>
                <a:ea typeface="Consolas" pitchFamily="34" charset="-122"/>
                <a:cs typeface="Consolas" pitchFamily="34" charset="-120"/>
              </a:rPr>
              <a:t>Gold call after Bronze throttle: HTTP 200</a:t>
            </a:r>
            <a:endParaRPr lang="en-US" sz="1210" dirty="0"/>
          </a:p>
        </p:txBody>
      </p:sp>
      <p:sp>
        <p:nvSpPr>
          <p:cNvPr id="27" name="Text 25"/>
          <p:cNvSpPr/>
          <p:nvPr/>
        </p:nvSpPr>
        <p:spPr>
          <a:xfrm>
            <a:off x="1097280" y="4892040"/>
            <a:ext cx="9784080" cy="274320"/>
          </a:xfrm>
          <a:prstGeom prst="rect">
            <a:avLst/>
          </a:prstGeom>
          <a:noFill/>
          <a:ln/>
        </p:spPr>
        <p:txBody>
          <a:bodyPr wrap="square" lIns="0" tIns="0" rIns="0" bIns="0" rtlCol="0" anchor="ctr"/>
          <a:lstStyle/>
          <a:p>
            <a:pPr marL="0" indent="0" algn="ctr">
              <a:buNone/>
            </a:pPr>
            <a:r>
              <a:rPr lang="en-US" sz="1400" dirty="0">
                <a:solidFill>
                  <a:srgbClr val="0B1E3F"/>
                </a:solidFill>
                <a:latin typeface="Segoe UI Semibold" pitchFamily="34" charset="0"/>
                <a:ea typeface="Segoe UI Semibold" pitchFamily="34" charset="-122"/>
                <a:cs typeface="Segoe UI Semibold" pitchFamily="34" charset="-120"/>
              </a:rPr>
              <a:t>The business policy is readable: teams get different budgets without changing model deployments.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D4 content safety blocks prompt attack</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21</a:t>
            </a:r>
            <a:endParaRPr lang="en-US" sz="800" dirty="0"/>
          </a:p>
        </p:txBody>
      </p:sp>
      <p:sp>
        <p:nvSpPr>
          <p:cNvPr id="7" name="Shape 5"/>
          <p:cNvSpPr/>
          <p:nvPr/>
        </p:nvSpPr>
        <p:spPr>
          <a:xfrm>
            <a:off x="777240" y="1143000"/>
            <a:ext cx="4937760" cy="141732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77240" y="1143000"/>
            <a:ext cx="73152" cy="1417320"/>
          </a:xfrm>
          <a:prstGeom prst="rect">
            <a:avLst/>
          </a:prstGeom>
          <a:solidFill>
            <a:srgbClr val="00B7C3"/>
          </a:solidFill>
          <a:ln w="12700">
            <a:solidFill>
              <a:srgbClr val="00B7C3"/>
            </a:solidFill>
            <a:prstDash val="solid"/>
          </a:ln>
        </p:spPr>
      </p:sp>
      <p:sp>
        <p:nvSpPr>
          <p:cNvPr id="9" name="Shape 7"/>
          <p:cNvSpPr/>
          <p:nvPr/>
        </p:nvSpPr>
        <p:spPr>
          <a:xfrm>
            <a:off x="941832" y="1298448"/>
            <a:ext cx="393192" cy="393192"/>
          </a:xfrm>
          <a:prstGeom prst="ellipse">
            <a:avLst/>
          </a:prstGeom>
          <a:solidFill>
            <a:srgbClr val="00B7C3"/>
          </a:solidFill>
          <a:ln w="12700">
            <a:solidFill>
              <a:srgbClr val="00B7C3"/>
            </a:solidFill>
            <a:prstDash val="solid"/>
          </a:ln>
        </p:spPr>
      </p:sp>
      <p:sp>
        <p:nvSpPr>
          <p:cNvPr id="10" name="Text 8"/>
          <p:cNvSpPr/>
          <p:nvPr/>
        </p:nvSpPr>
        <p:spPr>
          <a:xfrm>
            <a:off x="94183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OK</a:t>
            </a:r>
            <a:endParaRPr lang="en-US" sz="800" dirty="0"/>
          </a:p>
        </p:txBody>
      </p:sp>
      <p:sp>
        <p:nvSpPr>
          <p:cNvPr id="11" name="Text 9"/>
          <p:cNvSpPr/>
          <p:nvPr/>
        </p:nvSpPr>
        <p:spPr>
          <a:xfrm>
            <a:off x="1435608" y="1271016"/>
            <a:ext cx="41148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Benign prompt</a:t>
            </a:r>
            <a:endParaRPr lang="en-US" sz="1250" dirty="0"/>
          </a:p>
        </p:txBody>
      </p:sp>
      <p:sp>
        <p:nvSpPr>
          <p:cNvPr id="12" name="Text 10"/>
          <p:cNvSpPr/>
          <p:nvPr/>
        </p:nvSpPr>
        <p:spPr>
          <a:xfrm>
            <a:off x="1435608" y="1600200"/>
            <a:ext cx="4114800" cy="868680"/>
          </a:xfrm>
          <a:prstGeom prst="rect">
            <a:avLst/>
          </a:prstGeom>
          <a:noFill/>
          <a:ln/>
        </p:spPr>
        <p:txBody>
          <a:bodyPr wrap="square" lIns="635" tIns="635" rIns="635" bIns="635"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Verified HTTP 200; forwarded through APIM to gpt-6.1-sol.</a:t>
            </a:r>
            <a:endParaRPr lang="en-US" sz="1050" dirty="0"/>
          </a:p>
        </p:txBody>
      </p:sp>
      <p:sp>
        <p:nvSpPr>
          <p:cNvPr id="13" name="Shape 11"/>
          <p:cNvSpPr/>
          <p:nvPr/>
        </p:nvSpPr>
        <p:spPr>
          <a:xfrm>
            <a:off x="6446520" y="1143000"/>
            <a:ext cx="4937760" cy="141732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446520" y="1143000"/>
            <a:ext cx="73152" cy="1417320"/>
          </a:xfrm>
          <a:prstGeom prst="rect">
            <a:avLst/>
          </a:prstGeom>
          <a:solidFill>
            <a:srgbClr val="D83B01"/>
          </a:solidFill>
          <a:ln w="12700">
            <a:solidFill>
              <a:srgbClr val="D83B01"/>
            </a:solidFill>
            <a:prstDash val="solid"/>
          </a:ln>
        </p:spPr>
      </p:sp>
      <p:sp>
        <p:nvSpPr>
          <p:cNvPr id="15" name="Shape 13"/>
          <p:cNvSpPr/>
          <p:nvPr/>
        </p:nvSpPr>
        <p:spPr>
          <a:xfrm>
            <a:off x="6611112" y="1298448"/>
            <a:ext cx="393192" cy="393192"/>
          </a:xfrm>
          <a:prstGeom prst="ellipse">
            <a:avLst/>
          </a:prstGeom>
          <a:solidFill>
            <a:srgbClr val="D83B01"/>
          </a:solidFill>
          <a:ln w="12700">
            <a:solidFill>
              <a:srgbClr val="D83B01"/>
            </a:solidFill>
            <a:prstDash val="solid"/>
          </a:ln>
        </p:spPr>
      </p:sp>
      <p:sp>
        <p:nvSpPr>
          <p:cNvPr id="16" name="Text 14"/>
          <p:cNvSpPr/>
          <p:nvPr/>
        </p:nvSpPr>
        <p:spPr>
          <a:xfrm>
            <a:off x="6611112" y="135788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403</a:t>
            </a:r>
            <a:endParaRPr lang="en-US" sz="800" dirty="0"/>
          </a:p>
        </p:txBody>
      </p:sp>
      <p:sp>
        <p:nvSpPr>
          <p:cNvPr id="17" name="Text 15"/>
          <p:cNvSpPr/>
          <p:nvPr/>
        </p:nvSpPr>
        <p:spPr>
          <a:xfrm>
            <a:off x="7104888" y="1271016"/>
            <a:ext cx="41148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Jailbreak prompt</a:t>
            </a:r>
            <a:endParaRPr lang="en-US" sz="1250" dirty="0"/>
          </a:p>
        </p:txBody>
      </p:sp>
      <p:sp>
        <p:nvSpPr>
          <p:cNvPr id="18" name="Text 16"/>
          <p:cNvSpPr/>
          <p:nvPr/>
        </p:nvSpPr>
        <p:spPr>
          <a:xfrm>
            <a:off x="7104888" y="1600200"/>
            <a:ext cx="4114800" cy="868680"/>
          </a:xfrm>
          <a:prstGeom prst="rect">
            <a:avLst/>
          </a:prstGeom>
          <a:noFill/>
          <a:ln/>
        </p:spPr>
        <p:txBody>
          <a:bodyPr wrap="square" lIns="635" tIns="635" rIns="635" bIns="635"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Verified HTTP 403 from llm-content-safety before the model call.</a:t>
            </a:r>
            <a:endParaRPr lang="en-US" sz="1050" dirty="0"/>
          </a:p>
        </p:txBody>
      </p:sp>
      <p:sp>
        <p:nvSpPr>
          <p:cNvPr id="19" name="Shape 17"/>
          <p:cNvSpPr/>
          <p:nvPr/>
        </p:nvSpPr>
        <p:spPr>
          <a:xfrm>
            <a:off x="1051560" y="3154680"/>
            <a:ext cx="10012680" cy="1097280"/>
          </a:xfrm>
          <a:prstGeom prst="rect">
            <a:avLst/>
          </a:prstGeom>
          <a:solidFill>
            <a:srgbClr val="06152D"/>
          </a:solidFill>
          <a:ln w="12700">
            <a:solidFill>
              <a:srgbClr val="06152D"/>
            </a:solidFill>
            <a:prstDash val="solid"/>
          </a:ln>
        </p:spPr>
      </p:sp>
      <p:sp>
        <p:nvSpPr>
          <p:cNvPr id="20" name="Text 18"/>
          <p:cNvSpPr/>
          <p:nvPr/>
        </p:nvSpPr>
        <p:spPr>
          <a:xfrm>
            <a:off x="1325880" y="3456432"/>
            <a:ext cx="9464040" cy="320040"/>
          </a:xfrm>
          <a:prstGeom prst="rect">
            <a:avLst/>
          </a:prstGeom>
          <a:noFill/>
          <a:ln/>
        </p:spPr>
        <p:txBody>
          <a:bodyPr wrap="square" lIns="0" tIns="0" rIns="0" bIns="0" rtlCol="0" anchor="ctr">
            <a:normAutofit/>
          </a:bodyPr>
          <a:lstStyle/>
          <a:p>
            <a:pPr marL="0" indent="0">
              <a:buNone/>
            </a:pPr>
            <a:r>
              <a:rPr lang="en-US" sz="1200" dirty="0">
                <a:solidFill>
                  <a:srgbClr val="D7E7F6"/>
                </a:solidFill>
                <a:latin typeface="Consolas" pitchFamily="34" charset="0"/>
                <a:ea typeface="Consolas" pitchFamily="34" charset="-122"/>
                <a:cs typeface="Consolas" pitchFamily="34" charset="-120"/>
              </a:rPr>
              <a:t>HTTP/1.1 403 Forbidden</a:t>
            </a:r>
            <a:endParaRPr lang="en-US" sz="1200" dirty="0"/>
          </a:p>
          <a:p>
            <a:pPr marL="0" indent="0">
              <a:buNone/>
            </a:pPr>
            <a:r>
              <a:rPr lang="en-US" sz="1200" dirty="0">
                <a:solidFill>
                  <a:srgbClr val="D7E7F6"/>
                </a:solidFill>
                <a:latin typeface="Consolas" pitchFamily="34" charset="0"/>
                <a:ea typeface="Consolas" pitchFamily="34" charset="-122"/>
                <a:cs typeface="Consolas" pitchFamily="34" charset="-120"/>
              </a:rPr>
              <a:t>{"statusCode":403,"message":"Request failed content safety check."}</a:t>
            </a:r>
            <a:endParaRPr lang="en-US" sz="1200" dirty="0"/>
          </a:p>
        </p:txBody>
      </p:sp>
      <p:sp>
        <p:nvSpPr>
          <p:cNvPr id="21" name="Text 19"/>
          <p:cNvSpPr/>
          <p:nvPr/>
        </p:nvSpPr>
        <p:spPr>
          <a:xfrm>
            <a:off x="1143000" y="4828032"/>
            <a:ext cx="9784080" cy="228600"/>
          </a:xfrm>
          <a:prstGeom prst="rect">
            <a:avLst/>
          </a:prstGeom>
          <a:noFill/>
          <a:ln/>
        </p:spPr>
        <p:txBody>
          <a:bodyPr wrap="square" lIns="0" tIns="0" rIns="0" bIns="0" rtlCol="0" anchor="ctr"/>
          <a:lstStyle/>
          <a:p>
            <a:pPr marL="0" indent="0" algn="ctr">
              <a:buNone/>
            </a:pPr>
            <a:r>
              <a:rPr lang="en-US" sz="1350" dirty="0">
                <a:solidFill>
                  <a:srgbClr val="0B1E3F"/>
                </a:solidFill>
                <a:latin typeface="Segoe UI Semibold" pitchFamily="34" charset="0"/>
                <a:ea typeface="Segoe UI Semibold" pitchFamily="34" charset="-122"/>
                <a:cs typeface="Segoe UI Semibold" pitchFamily="34" charset="-120"/>
              </a:rPr>
              <a:t>Safety is applied consistently to model prompts, MCP tool calls and A2A agent traffic.</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D5 MCP tools + D6 agent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22</a:t>
            </a:r>
            <a:endParaRPr lang="en-US" sz="800" dirty="0"/>
          </a:p>
        </p:txBody>
      </p:sp>
      <p:sp>
        <p:nvSpPr>
          <p:cNvPr id="7" name="Shape 5"/>
          <p:cNvSpPr/>
          <p:nvPr/>
        </p:nvSpPr>
        <p:spPr>
          <a:xfrm>
            <a:off x="731520" y="1024128"/>
            <a:ext cx="51663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31520" y="1024128"/>
            <a:ext cx="73152" cy="1143000"/>
          </a:xfrm>
          <a:prstGeom prst="rect">
            <a:avLst/>
          </a:prstGeom>
          <a:solidFill>
            <a:srgbClr val="00B7C3"/>
          </a:solidFill>
          <a:ln w="12700">
            <a:solidFill>
              <a:srgbClr val="00B7C3"/>
            </a:solidFill>
            <a:prstDash val="solid"/>
          </a:ln>
        </p:spPr>
      </p:sp>
      <p:sp>
        <p:nvSpPr>
          <p:cNvPr id="9" name="Shape 7"/>
          <p:cNvSpPr/>
          <p:nvPr/>
        </p:nvSpPr>
        <p:spPr>
          <a:xfrm>
            <a:off x="896112" y="1179576"/>
            <a:ext cx="393192" cy="393192"/>
          </a:xfrm>
          <a:prstGeom prst="ellipse">
            <a:avLst/>
          </a:prstGeom>
          <a:solidFill>
            <a:srgbClr val="00B7C3"/>
          </a:solidFill>
          <a:ln w="12700">
            <a:solidFill>
              <a:srgbClr val="00B7C3"/>
            </a:solidFill>
            <a:prstDash val="solid"/>
          </a:ln>
        </p:spPr>
      </p:sp>
      <p:sp>
        <p:nvSpPr>
          <p:cNvPr id="10" name="Text 8"/>
          <p:cNvSpPr/>
          <p:nvPr/>
        </p:nvSpPr>
        <p:spPr>
          <a:xfrm>
            <a:off x="896112" y="123901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D5</a:t>
            </a:r>
            <a:endParaRPr lang="en-US" sz="800" dirty="0"/>
          </a:p>
        </p:txBody>
      </p:sp>
      <p:sp>
        <p:nvSpPr>
          <p:cNvPr id="11" name="Text 9"/>
          <p:cNvSpPr/>
          <p:nvPr/>
        </p:nvSpPr>
        <p:spPr>
          <a:xfrm>
            <a:off x="1389888" y="1152144"/>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D5: tools/list</a:t>
            </a:r>
            <a:endParaRPr lang="en-US" sz="1250" dirty="0"/>
          </a:p>
        </p:txBody>
      </p:sp>
      <p:sp>
        <p:nvSpPr>
          <p:cNvPr id="12" name="Text 10"/>
          <p:cNvSpPr/>
          <p:nvPr/>
        </p:nvSpPr>
        <p:spPr>
          <a:xfrm>
            <a:off x="1389888" y="1481328"/>
            <a:ext cx="43434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Server name: Azure API Management. Tools: search-products and get-order-status.</a:t>
            </a:r>
            <a:endParaRPr lang="en-US" sz="1040" dirty="0"/>
          </a:p>
        </p:txBody>
      </p:sp>
      <p:sp>
        <p:nvSpPr>
          <p:cNvPr id="13" name="Shape 11"/>
          <p:cNvSpPr/>
          <p:nvPr/>
        </p:nvSpPr>
        <p:spPr>
          <a:xfrm>
            <a:off x="6309360" y="1024128"/>
            <a:ext cx="51663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309360" y="1024128"/>
            <a:ext cx="73152" cy="1143000"/>
          </a:xfrm>
          <a:prstGeom prst="rect">
            <a:avLst/>
          </a:prstGeom>
          <a:solidFill>
            <a:srgbClr val="0078D4"/>
          </a:solidFill>
          <a:ln w="12700">
            <a:solidFill>
              <a:srgbClr val="0078D4"/>
            </a:solidFill>
            <a:prstDash val="solid"/>
          </a:ln>
        </p:spPr>
      </p:sp>
      <p:sp>
        <p:nvSpPr>
          <p:cNvPr id="15" name="Shape 13"/>
          <p:cNvSpPr/>
          <p:nvPr/>
        </p:nvSpPr>
        <p:spPr>
          <a:xfrm>
            <a:off x="6473952" y="1179576"/>
            <a:ext cx="393192" cy="393192"/>
          </a:xfrm>
          <a:prstGeom prst="ellipse">
            <a:avLst/>
          </a:prstGeom>
          <a:solidFill>
            <a:srgbClr val="0078D4"/>
          </a:solidFill>
          <a:ln w="12700">
            <a:solidFill>
              <a:srgbClr val="0078D4"/>
            </a:solidFill>
            <a:prstDash val="solid"/>
          </a:ln>
        </p:spPr>
      </p:sp>
      <p:sp>
        <p:nvSpPr>
          <p:cNvPr id="16" name="Text 14"/>
          <p:cNvSpPr/>
          <p:nvPr/>
        </p:nvSpPr>
        <p:spPr>
          <a:xfrm>
            <a:off x="6473952" y="1239012"/>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D6</a:t>
            </a:r>
            <a:endParaRPr lang="en-US" sz="800" dirty="0"/>
          </a:p>
        </p:txBody>
      </p:sp>
      <p:sp>
        <p:nvSpPr>
          <p:cNvPr id="17" name="Text 15"/>
          <p:cNvSpPr/>
          <p:nvPr/>
        </p:nvSpPr>
        <p:spPr>
          <a:xfrm>
            <a:off x="6967728" y="1152144"/>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D6: Responses API</a:t>
            </a:r>
            <a:endParaRPr lang="en-US" sz="1250" dirty="0"/>
          </a:p>
        </p:txBody>
      </p:sp>
      <p:sp>
        <p:nvSpPr>
          <p:cNvPr id="18" name="Text 16"/>
          <p:cNvSpPr/>
          <p:nvPr/>
        </p:nvSpPr>
        <p:spPr>
          <a:xfrm>
            <a:off x="6967728" y="1481328"/>
            <a:ext cx="43434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Agent converted MCP tools into function tools; store=false keeps the turn stateless.</a:t>
            </a:r>
            <a:endParaRPr lang="en-US" sz="1040" dirty="0"/>
          </a:p>
        </p:txBody>
      </p:sp>
      <p:sp>
        <p:nvSpPr>
          <p:cNvPr id="19" name="Shape 17"/>
          <p:cNvSpPr/>
          <p:nvPr/>
        </p:nvSpPr>
        <p:spPr>
          <a:xfrm>
            <a:off x="822960" y="2560320"/>
            <a:ext cx="5029200" cy="1828800"/>
          </a:xfrm>
          <a:prstGeom prst="rect">
            <a:avLst/>
          </a:prstGeom>
          <a:solidFill>
            <a:srgbClr val="06152D"/>
          </a:solidFill>
          <a:ln w="12700">
            <a:solidFill>
              <a:srgbClr val="06152D"/>
            </a:solidFill>
            <a:prstDash val="solid"/>
          </a:ln>
        </p:spPr>
      </p:sp>
      <p:sp>
        <p:nvSpPr>
          <p:cNvPr id="20" name="Text 18"/>
          <p:cNvSpPr/>
          <p:nvPr/>
        </p:nvSpPr>
        <p:spPr>
          <a:xfrm>
            <a:off x="1078992" y="2816352"/>
            <a:ext cx="4572000" cy="1051560"/>
          </a:xfrm>
          <a:prstGeom prst="rect">
            <a:avLst/>
          </a:prstGeom>
          <a:noFill/>
          <a:ln/>
        </p:spPr>
        <p:txBody>
          <a:bodyPr wrap="square" lIns="0" tIns="0" rIns="0" bIns="0" rtlCol="0" anchor="ctr">
            <a:normAutofit/>
          </a:bodyPr>
          <a:lstStyle/>
          <a:p>
            <a:pPr marL="0" indent="0">
              <a:buNone/>
            </a:pPr>
            <a:r>
              <a:rPr lang="en-US" sz="1010" dirty="0">
                <a:solidFill>
                  <a:srgbClr val="D7E7F6"/>
                </a:solidFill>
                <a:latin typeface="Consolas" pitchFamily="34" charset="0"/>
                <a:ea typeface="Consolas" pitchFamily="34" charset="-122"/>
                <a:cs typeface="Consolas" pitchFamily="34" charset="-120"/>
              </a:rPr>
              <a:t>server: "Azure API Management"</a:t>
            </a:r>
            <a:endParaRPr lang="en-US" sz="1010" dirty="0"/>
          </a:p>
          <a:p>
            <a:pPr marL="0" indent="0">
              <a:buNone/>
            </a:pPr>
            <a:r>
              <a:rPr lang="en-US" sz="1010" dirty="0">
                <a:solidFill>
                  <a:srgbClr val="D7E7F6"/>
                </a:solidFill>
                <a:latin typeface="Consolas" pitchFamily="34" charset="0"/>
                <a:ea typeface="Consolas" pitchFamily="34" charset="-122"/>
                <a:cs typeface="Consolas" pitchFamily="34" charset="-120"/>
              </a:rPr>
              <a:t>tools/list → ["search-products", "get-order-status"]</a:t>
            </a:r>
            <a:endParaRPr lang="en-US" sz="1010" dirty="0"/>
          </a:p>
          <a:p>
            <a:pPr marL="0" indent="0">
              <a:buNone/>
            </a:pPr>
            <a:r>
              <a:rPr lang="en-US" sz="1010" dirty="0">
                <a:solidFill>
                  <a:srgbClr val="D7E7F6"/>
                </a:solidFill>
                <a:latin typeface="Consolas" pitchFamily="34" charset="0"/>
                <a:ea typeface="Consolas" pitchFamily="34" charset="-122"/>
                <a:cs typeface="Consolas" pitchFamily="34" charset="-120"/>
              </a:rPr>
              <a:t>tools/call search-products {"category":"outdoor","maxPrice":100}</a:t>
            </a:r>
            <a:endParaRPr lang="en-US" sz="1010" dirty="0"/>
          </a:p>
        </p:txBody>
      </p:sp>
      <p:sp>
        <p:nvSpPr>
          <p:cNvPr id="21" name="Shape 19"/>
          <p:cNvSpPr/>
          <p:nvPr/>
        </p:nvSpPr>
        <p:spPr>
          <a:xfrm>
            <a:off x="6309360" y="2560320"/>
            <a:ext cx="5029200" cy="1828800"/>
          </a:xfrm>
          <a:prstGeom prst="rect">
            <a:avLst/>
          </a:prstGeom>
          <a:solidFill>
            <a:srgbClr val="06152D"/>
          </a:solidFill>
          <a:ln w="12700">
            <a:solidFill>
              <a:srgbClr val="06152D"/>
            </a:solidFill>
            <a:prstDash val="solid"/>
          </a:ln>
        </p:spPr>
      </p:sp>
      <p:sp>
        <p:nvSpPr>
          <p:cNvPr id="22" name="Text 20"/>
          <p:cNvSpPr/>
          <p:nvPr/>
        </p:nvSpPr>
        <p:spPr>
          <a:xfrm>
            <a:off x="6565392" y="2852928"/>
            <a:ext cx="4572000" cy="960120"/>
          </a:xfrm>
          <a:prstGeom prst="rect">
            <a:avLst/>
          </a:prstGeom>
          <a:noFill/>
          <a:ln/>
        </p:spPr>
        <p:txBody>
          <a:bodyPr wrap="square" lIns="0" tIns="0" rIns="0" bIns="0" rtlCol="0" anchor="ctr">
            <a:normAutofit/>
          </a:bodyPr>
          <a:lstStyle/>
          <a:p>
            <a:pPr marL="0" indent="0">
              <a:buNone/>
            </a:pPr>
            <a:r>
              <a:rPr lang="en-US" sz="1020" dirty="0">
                <a:solidFill>
                  <a:srgbClr val="D7E7F6"/>
                </a:solidFill>
                <a:latin typeface="Consolas" pitchFamily="34" charset="0"/>
                <a:ea typeface="Consolas" pitchFamily="34" charset="-122"/>
                <a:cs typeface="Consolas" pitchFamily="34" charset="-120"/>
              </a:rPr>
              <a:t>Agent answer:</a:t>
            </a:r>
            <a:endParaRPr lang="en-US" sz="1020" dirty="0"/>
          </a:p>
          <a:p>
            <a:pPr marL="0" indent="0">
              <a:buNone/>
            </a:pPr>
            <a:r>
              <a:rPr lang="en-US" sz="1020" dirty="0">
                <a:solidFill>
                  <a:srgbClr val="D7E7F6"/>
                </a:solidFill>
                <a:latin typeface="Consolas" pitchFamily="34" charset="0"/>
                <a:ea typeface="Consolas" pitchFamily="34" charset="-122"/>
                <a:cs typeface="Consolas" pitchFamily="34" charset="-120"/>
              </a:rPr>
              <a:t>"Trail backpack 30L (€89.90) and Headlamp 400lm (€34.50) are under 100 EUR.</a:t>
            </a:r>
            <a:endParaRPr lang="en-US" sz="1020" dirty="0"/>
          </a:p>
          <a:p>
            <a:pPr marL="0" indent="0">
              <a:buNone/>
            </a:pPr>
            <a:r>
              <a:rPr lang="en-US" sz="1020" dirty="0">
                <a:solidFill>
                  <a:srgbClr val="D7E7F6"/>
                </a:solidFill>
                <a:latin typeface="Consolas" pitchFamily="34" charset="0"/>
                <a:ea typeface="Consolas" pitchFamily="34" charset="-122"/>
                <a:cs typeface="Consolas" pitchFamily="34" charset="-120"/>
              </a:rPr>
              <a:t>ORD-1042 is out for delivery with Zava Express."</a:t>
            </a:r>
            <a:endParaRPr lang="en-US" sz="1020" dirty="0"/>
          </a:p>
        </p:txBody>
      </p:sp>
      <p:sp>
        <p:nvSpPr>
          <p:cNvPr id="23" name="Text 21"/>
          <p:cNvSpPr/>
          <p:nvPr/>
        </p:nvSpPr>
        <p:spPr>
          <a:xfrm>
            <a:off x="1143000" y="4919472"/>
            <a:ext cx="9875520" cy="228600"/>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The same APIM policies protect tools and model calls, so agent autonomy stays governed.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D7 observability + D8 CI/CD</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23</a:t>
            </a:r>
            <a:endParaRPr lang="en-US" sz="800" dirty="0"/>
          </a:p>
        </p:txBody>
      </p:sp>
      <p:sp>
        <p:nvSpPr>
          <p:cNvPr id="7" name="Shape 5"/>
          <p:cNvSpPr/>
          <p:nvPr/>
        </p:nvSpPr>
        <p:spPr>
          <a:xfrm>
            <a:off x="73152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731520" y="1051560"/>
            <a:ext cx="73152" cy="1143000"/>
          </a:xfrm>
          <a:prstGeom prst="rect">
            <a:avLst/>
          </a:prstGeom>
          <a:solidFill>
            <a:srgbClr val="00B7C3"/>
          </a:solidFill>
          <a:ln w="12700">
            <a:solidFill>
              <a:srgbClr val="00B7C3"/>
            </a:solidFill>
            <a:prstDash val="solid"/>
          </a:ln>
        </p:spPr>
      </p:sp>
      <p:sp>
        <p:nvSpPr>
          <p:cNvPr id="9" name="Shape 7"/>
          <p:cNvSpPr/>
          <p:nvPr/>
        </p:nvSpPr>
        <p:spPr>
          <a:xfrm>
            <a:off x="896112" y="1207008"/>
            <a:ext cx="393192" cy="393192"/>
          </a:xfrm>
          <a:prstGeom prst="ellipse">
            <a:avLst/>
          </a:prstGeom>
          <a:solidFill>
            <a:srgbClr val="00B7C3"/>
          </a:solidFill>
          <a:ln w="12700">
            <a:solidFill>
              <a:srgbClr val="00B7C3"/>
            </a:solidFill>
            <a:prstDash val="solid"/>
          </a:ln>
        </p:spPr>
      </p:sp>
      <p:sp>
        <p:nvSpPr>
          <p:cNvPr id="10" name="Text 8"/>
          <p:cNvSpPr/>
          <p:nvPr/>
        </p:nvSpPr>
        <p:spPr>
          <a:xfrm>
            <a:off x="89611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KQL</a:t>
            </a:r>
            <a:endParaRPr lang="en-US" sz="800" dirty="0"/>
          </a:p>
        </p:txBody>
      </p:sp>
      <p:sp>
        <p:nvSpPr>
          <p:cNvPr id="11" name="Text 9"/>
          <p:cNvSpPr/>
          <p:nvPr/>
        </p:nvSpPr>
        <p:spPr>
          <a:xfrm>
            <a:off x="138988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D7 token metrics</a:t>
            </a:r>
            <a:endParaRPr lang="en-US" sz="1250" dirty="0"/>
          </a:p>
        </p:txBody>
      </p:sp>
      <p:sp>
        <p:nvSpPr>
          <p:cNvPr id="12" name="Text 10"/>
          <p:cNvSpPr/>
          <p:nvPr/>
        </p:nvSpPr>
        <p:spPr>
          <a:xfrm>
            <a:off x="138988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AppMetrics shows token consumption by Product: Gold and Bronze.</a:t>
            </a:r>
            <a:endParaRPr lang="en-US" sz="1040" dirty="0"/>
          </a:p>
        </p:txBody>
      </p:sp>
      <p:sp>
        <p:nvSpPr>
          <p:cNvPr id="13" name="Shape 11"/>
          <p:cNvSpPr/>
          <p:nvPr/>
        </p:nvSpPr>
        <p:spPr>
          <a:xfrm>
            <a:off x="452628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526280" y="1051560"/>
            <a:ext cx="73152" cy="1143000"/>
          </a:xfrm>
          <a:prstGeom prst="rect">
            <a:avLst/>
          </a:prstGeom>
          <a:solidFill>
            <a:srgbClr val="0078D4"/>
          </a:solidFill>
          <a:ln w="12700">
            <a:solidFill>
              <a:srgbClr val="0078D4"/>
            </a:solidFill>
            <a:prstDash val="solid"/>
          </a:ln>
        </p:spPr>
      </p:sp>
      <p:sp>
        <p:nvSpPr>
          <p:cNvPr id="15" name="Shape 13"/>
          <p:cNvSpPr/>
          <p:nvPr/>
        </p:nvSpPr>
        <p:spPr>
          <a:xfrm>
            <a:off x="4690872" y="1207008"/>
            <a:ext cx="393192" cy="393192"/>
          </a:xfrm>
          <a:prstGeom prst="ellipse">
            <a:avLst/>
          </a:prstGeom>
          <a:solidFill>
            <a:srgbClr val="0078D4"/>
          </a:solidFill>
          <a:ln w="12700">
            <a:solidFill>
              <a:srgbClr val="0078D4"/>
            </a:solidFill>
            <a:prstDash val="solid"/>
          </a:ln>
        </p:spPr>
      </p:sp>
      <p:sp>
        <p:nvSpPr>
          <p:cNvPr id="16" name="Text 14"/>
          <p:cNvSpPr/>
          <p:nvPr/>
        </p:nvSpPr>
        <p:spPr>
          <a:xfrm>
            <a:off x="469087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LOG</a:t>
            </a:r>
            <a:endParaRPr lang="en-US" sz="800" dirty="0"/>
          </a:p>
        </p:txBody>
      </p:sp>
      <p:sp>
        <p:nvSpPr>
          <p:cNvPr id="17" name="Text 15"/>
          <p:cNvSpPr/>
          <p:nvPr/>
        </p:nvSpPr>
        <p:spPr>
          <a:xfrm>
            <a:off x="518464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D7 LLM logs</a:t>
            </a:r>
            <a:endParaRPr lang="en-US" sz="1250" dirty="0"/>
          </a:p>
        </p:txBody>
      </p:sp>
      <p:sp>
        <p:nvSpPr>
          <p:cNvPr id="18" name="Text 16"/>
          <p:cNvSpPr/>
          <p:nvPr/>
        </p:nvSpPr>
        <p:spPr>
          <a:xfrm>
            <a:off x="518464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ApiManagementGatewayLlmLog groups calls by DeploymentName: gpt-6.1-sol.</a:t>
            </a:r>
            <a:endParaRPr lang="en-US" sz="1040" dirty="0"/>
          </a:p>
        </p:txBody>
      </p:sp>
      <p:sp>
        <p:nvSpPr>
          <p:cNvPr id="19" name="Shape 17"/>
          <p:cNvSpPr/>
          <p:nvPr/>
        </p:nvSpPr>
        <p:spPr>
          <a:xfrm>
            <a:off x="832104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8321040" y="1051560"/>
            <a:ext cx="73152" cy="1143000"/>
          </a:xfrm>
          <a:prstGeom prst="rect">
            <a:avLst/>
          </a:prstGeom>
          <a:solidFill>
            <a:srgbClr val="FFB900"/>
          </a:solidFill>
          <a:ln w="12700">
            <a:solidFill>
              <a:srgbClr val="FFB900"/>
            </a:solidFill>
            <a:prstDash val="solid"/>
          </a:ln>
        </p:spPr>
      </p:sp>
      <p:sp>
        <p:nvSpPr>
          <p:cNvPr id="21" name="Shape 19"/>
          <p:cNvSpPr/>
          <p:nvPr/>
        </p:nvSpPr>
        <p:spPr>
          <a:xfrm>
            <a:off x="8485632" y="1207008"/>
            <a:ext cx="393192" cy="393192"/>
          </a:xfrm>
          <a:prstGeom prst="ellipse">
            <a:avLst/>
          </a:prstGeom>
          <a:solidFill>
            <a:srgbClr val="FFB900"/>
          </a:solidFill>
          <a:ln w="12700">
            <a:solidFill>
              <a:srgbClr val="FFB900"/>
            </a:solidFill>
            <a:prstDash val="solid"/>
          </a:ln>
        </p:spPr>
      </p:sp>
      <p:sp>
        <p:nvSpPr>
          <p:cNvPr id="22" name="Text 20"/>
          <p:cNvSpPr/>
          <p:nvPr/>
        </p:nvSpPr>
        <p:spPr>
          <a:xfrm>
            <a:off x="8485632" y="126644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CI</a:t>
            </a:r>
            <a:endParaRPr lang="en-US" sz="800" dirty="0"/>
          </a:p>
        </p:txBody>
      </p:sp>
      <p:sp>
        <p:nvSpPr>
          <p:cNvPr id="23" name="Text 21"/>
          <p:cNvSpPr/>
          <p:nvPr/>
        </p:nvSpPr>
        <p:spPr>
          <a:xfrm>
            <a:off x="897940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D8 CI/CD</a:t>
            </a:r>
            <a:endParaRPr lang="en-US" sz="1250" dirty="0"/>
          </a:p>
        </p:txBody>
      </p:sp>
      <p:sp>
        <p:nvSpPr>
          <p:cNvPr id="24" name="Text 22"/>
          <p:cNvSpPr/>
          <p:nvPr/>
        </p:nvSpPr>
        <p:spPr>
          <a:xfrm>
            <a:off x="897940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GitHub Actions deploys Bicep, smoke-tests and runs demo scenarios.</a:t>
            </a:r>
            <a:endParaRPr lang="en-US" sz="1040" dirty="0"/>
          </a:p>
        </p:txBody>
      </p:sp>
      <p:sp>
        <p:nvSpPr>
          <p:cNvPr id="25" name="Shape 23"/>
          <p:cNvSpPr/>
          <p:nvPr/>
        </p:nvSpPr>
        <p:spPr>
          <a:xfrm>
            <a:off x="914400" y="2743200"/>
            <a:ext cx="10287000" cy="1234440"/>
          </a:xfrm>
          <a:prstGeom prst="rect">
            <a:avLst/>
          </a:prstGeom>
          <a:solidFill>
            <a:srgbClr val="06152D"/>
          </a:solidFill>
          <a:ln w="12700">
            <a:solidFill>
              <a:srgbClr val="06152D"/>
            </a:solidFill>
            <a:prstDash val="solid"/>
          </a:ln>
        </p:spPr>
      </p:sp>
      <p:sp>
        <p:nvSpPr>
          <p:cNvPr id="26" name="Text 24"/>
          <p:cNvSpPr/>
          <p:nvPr/>
        </p:nvSpPr>
        <p:spPr>
          <a:xfrm>
            <a:off x="1188720" y="3063240"/>
            <a:ext cx="9784080" cy="475488"/>
          </a:xfrm>
          <a:prstGeom prst="rect">
            <a:avLst/>
          </a:prstGeom>
          <a:noFill/>
          <a:ln/>
        </p:spPr>
        <p:txBody>
          <a:bodyPr wrap="square" lIns="0" tIns="0" rIns="0" bIns="0" rtlCol="0" anchor="ctr">
            <a:normAutofit/>
          </a:bodyPr>
          <a:lstStyle/>
          <a:p>
            <a:pPr marL="0" indent="0">
              <a:buNone/>
            </a:pPr>
            <a:r>
              <a:rPr lang="en-US" sz="1060" dirty="0">
                <a:solidFill>
                  <a:srgbClr val="D7E7F6"/>
                </a:solidFill>
                <a:latin typeface="Consolas" pitchFamily="34" charset="0"/>
                <a:ea typeface="Consolas" pitchFamily="34" charset="-122"/>
                <a:cs typeface="Consolas" pitchFamily="34" charset="-120"/>
              </a:rPr>
              <a:t>AppMetrics | summarize Tokens=sum(Sum) by Product   // Gold, Bronze</a:t>
            </a:r>
            <a:endParaRPr lang="en-US" sz="1060" dirty="0"/>
          </a:p>
          <a:p>
            <a:pPr marL="0" indent="0">
              <a:buNone/>
            </a:pPr>
            <a:r>
              <a:rPr lang="en-US" sz="1060" dirty="0">
                <a:solidFill>
                  <a:srgbClr val="D7E7F6"/>
                </a:solidFill>
                <a:latin typeface="Consolas" pitchFamily="34" charset="0"/>
                <a:ea typeface="Consolas" pitchFamily="34" charset="-122"/>
                <a:cs typeface="Consolas" pitchFamily="34" charset="-120"/>
              </a:rPr>
              <a:t>ApiManagementGatewayLlmLog | summarize Calls=count() by DeploymentName   // gpt-6.1-sol</a:t>
            </a:r>
            <a:endParaRPr lang="en-US" sz="1060" dirty="0"/>
          </a:p>
          <a:p>
            <a:pPr marL="0" indent="0">
              <a:buNone/>
            </a:pPr>
            <a:r>
              <a:rPr lang="en-US" sz="1060" dirty="0">
                <a:solidFill>
                  <a:srgbClr val="D7E7F6"/>
                </a:solidFill>
                <a:latin typeface="Consolas" pitchFamily="34" charset="0"/>
                <a:ea typeface="Consolas" pitchFamily="34" charset="-122"/>
                <a:cs typeface="Consolas" pitchFamily="34" charset="-120"/>
              </a:rPr>
              <a:t>.github/workflows/deploy.yml → deploy → smoke test → run demo</a:t>
            </a:r>
            <a:endParaRPr lang="en-US" sz="1060" dirty="0"/>
          </a:p>
        </p:txBody>
      </p:sp>
      <p:sp>
        <p:nvSpPr>
          <p:cNvPr id="27" name="Text 25"/>
          <p:cNvSpPr/>
          <p:nvPr/>
        </p:nvSpPr>
        <p:spPr>
          <a:xfrm>
            <a:off x="1188720" y="4791456"/>
            <a:ext cx="9692640" cy="219456"/>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Observability and deployment evidence turn the demo into an operational pattern.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06</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6</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Pricing, limits and choosing a tier</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65–75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PRICING, LIMITS &amp; TIERING</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Benefits: controls mapped to outcomes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25</a:t>
            </a:r>
            <a:endParaRPr lang="en-US" sz="800" dirty="0"/>
          </a:p>
        </p:txBody>
      </p:sp>
      <p:sp>
        <p:nvSpPr>
          <p:cNvPr id="7" name="Shape 5"/>
          <p:cNvSpPr/>
          <p:nvPr/>
        </p:nvSpPr>
        <p:spPr>
          <a:xfrm>
            <a:off x="65836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658368" y="1078992"/>
            <a:ext cx="73152" cy="1252728"/>
          </a:xfrm>
          <a:prstGeom prst="rect">
            <a:avLst/>
          </a:prstGeom>
          <a:solidFill>
            <a:srgbClr val="00B7C3"/>
          </a:solidFill>
          <a:ln w="12700">
            <a:solidFill>
              <a:srgbClr val="00B7C3"/>
            </a:solidFill>
            <a:prstDash val="solid"/>
          </a:ln>
        </p:spPr>
      </p:sp>
      <p:sp>
        <p:nvSpPr>
          <p:cNvPr id="9" name="Shape 7"/>
          <p:cNvSpPr/>
          <p:nvPr/>
        </p:nvSpPr>
        <p:spPr>
          <a:xfrm>
            <a:off x="822960" y="1234440"/>
            <a:ext cx="393192" cy="393192"/>
          </a:xfrm>
          <a:prstGeom prst="ellipse">
            <a:avLst/>
          </a:prstGeom>
          <a:solidFill>
            <a:srgbClr val="00B7C3"/>
          </a:solidFill>
          <a:ln w="12700">
            <a:solidFill>
              <a:srgbClr val="00B7C3"/>
            </a:solidFill>
            <a:prstDash val="solid"/>
          </a:ln>
        </p:spPr>
      </p:sp>
      <p:sp>
        <p:nvSpPr>
          <p:cNvPr id="10" name="Text 8"/>
          <p:cNvSpPr/>
          <p:nvPr/>
        </p:nvSpPr>
        <p:spPr>
          <a:xfrm>
            <a:off x="822960" y="129387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31673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Governance</a:t>
            </a:r>
            <a:endParaRPr lang="en-US" sz="1250" dirty="0"/>
          </a:p>
        </p:txBody>
      </p:sp>
      <p:sp>
        <p:nvSpPr>
          <p:cNvPr id="12" name="Text 10"/>
          <p:cNvSpPr/>
          <p:nvPr/>
        </p:nvSpPr>
        <p:spPr>
          <a:xfrm>
            <a:off x="131673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One policy baseline for models, MCP tools and agents.</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Fewer exceptions</a:t>
            </a:r>
            <a:endParaRPr lang="en-US" sz="890" dirty="0"/>
          </a:p>
        </p:txBody>
      </p:sp>
      <p:sp>
        <p:nvSpPr>
          <p:cNvPr id="13" name="Shape 11"/>
          <p:cNvSpPr/>
          <p:nvPr/>
        </p:nvSpPr>
        <p:spPr>
          <a:xfrm>
            <a:off x="440740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4407408" y="1078992"/>
            <a:ext cx="73152" cy="1252728"/>
          </a:xfrm>
          <a:prstGeom prst="rect">
            <a:avLst/>
          </a:prstGeom>
          <a:solidFill>
            <a:srgbClr val="0078D4"/>
          </a:solidFill>
          <a:ln w="12700">
            <a:solidFill>
              <a:srgbClr val="0078D4"/>
            </a:solidFill>
            <a:prstDash val="solid"/>
          </a:ln>
        </p:spPr>
      </p:sp>
      <p:sp>
        <p:nvSpPr>
          <p:cNvPr id="15" name="Shape 13"/>
          <p:cNvSpPr/>
          <p:nvPr/>
        </p:nvSpPr>
        <p:spPr>
          <a:xfrm>
            <a:off x="4572000" y="1234440"/>
            <a:ext cx="393192" cy="393192"/>
          </a:xfrm>
          <a:prstGeom prst="ellipse">
            <a:avLst/>
          </a:prstGeom>
          <a:solidFill>
            <a:srgbClr val="0078D4"/>
          </a:solidFill>
          <a:ln w="12700">
            <a:solidFill>
              <a:srgbClr val="0078D4"/>
            </a:solidFill>
            <a:prstDash val="solid"/>
          </a:ln>
        </p:spPr>
      </p:sp>
      <p:sp>
        <p:nvSpPr>
          <p:cNvPr id="16" name="Text 14"/>
          <p:cNvSpPr/>
          <p:nvPr/>
        </p:nvSpPr>
        <p:spPr>
          <a:xfrm>
            <a:off x="4572000" y="129387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506577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Cost control / chargeback</a:t>
            </a:r>
            <a:endParaRPr lang="en-US" sz="1250" dirty="0"/>
          </a:p>
        </p:txBody>
      </p:sp>
      <p:sp>
        <p:nvSpPr>
          <p:cNvPr id="18" name="Text 16"/>
          <p:cNvSpPr/>
          <p:nvPr/>
        </p:nvSpPr>
        <p:spPr>
          <a:xfrm>
            <a:off x="506577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Token budgets, semantic caching and FinOps dashboards.</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Accountable spend</a:t>
            </a:r>
            <a:endParaRPr lang="en-US" sz="890" dirty="0"/>
          </a:p>
        </p:txBody>
      </p:sp>
      <p:sp>
        <p:nvSpPr>
          <p:cNvPr id="19" name="Shape 17"/>
          <p:cNvSpPr/>
          <p:nvPr/>
        </p:nvSpPr>
        <p:spPr>
          <a:xfrm>
            <a:off x="815644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8156448" y="1078992"/>
            <a:ext cx="73152" cy="1252728"/>
          </a:xfrm>
          <a:prstGeom prst="rect">
            <a:avLst/>
          </a:prstGeom>
          <a:solidFill>
            <a:srgbClr val="FFB900"/>
          </a:solidFill>
          <a:ln w="12700">
            <a:solidFill>
              <a:srgbClr val="FFB900"/>
            </a:solidFill>
            <a:prstDash val="solid"/>
          </a:ln>
        </p:spPr>
      </p:sp>
      <p:sp>
        <p:nvSpPr>
          <p:cNvPr id="21" name="Shape 19"/>
          <p:cNvSpPr/>
          <p:nvPr/>
        </p:nvSpPr>
        <p:spPr>
          <a:xfrm>
            <a:off x="8321040" y="1234440"/>
            <a:ext cx="393192" cy="393192"/>
          </a:xfrm>
          <a:prstGeom prst="ellipse">
            <a:avLst/>
          </a:prstGeom>
          <a:solidFill>
            <a:srgbClr val="FFB900"/>
          </a:solidFill>
          <a:ln w="12700">
            <a:solidFill>
              <a:srgbClr val="FFB900"/>
            </a:solidFill>
            <a:prstDash val="solid"/>
          </a:ln>
        </p:spPr>
      </p:sp>
      <p:sp>
        <p:nvSpPr>
          <p:cNvPr id="22" name="Text 20"/>
          <p:cNvSpPr/>
          <p:nvPr/>
        </p:nvSpPr>
        <p:spPr>
          <a:xfrm>
            <a:off x="8321040" y="129387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881481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Resiliency</a:t>
            </a:r>
            <a:endParaRPr lang="en-US" sz="1250" dirty="0"/>
          </a:p>
        </p:txBody>
      </p:sp>
      <p:sp>
        <p:nvSpPr>
          <p:cNvPr id="24" name="Text 22"/>
          <p:cNvSpPr/>
          <p:nvPr/>
        </p:nvSpPr>
        <p:spPr>
          <a:xfrm>
            <a:off x="881481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Backend pools, circuit breaker and retry absorb 429/5xx.</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Higher availability</a:t>
            </a:r>
            <a:endParaRPr lang="en-US" sz="890" dirty="0"/>
          </a:p>
        </p:txBody>
      </p:sp>
      <p:sp>
        <p:nvSpPr>
          <p:cNvPr id="25" name="Shape 23"/>
          <p:cNvSpPr/>
          <p:nvPr/>
        </p:nvSpPr>
        <p:spPr>
          <a:xfrm>
            <a:off x="65836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4"/>
          <p:cNvSpPr/>
          <p:nvPr/>
        </p:nvSpPr>
        <p:spPr>
          <a:xfrm>
            <a:off x="658368" y="2953512"/>
            <a:ext cx="73152" cy="1252728"/>
          </a:xfrm>
          <a:prstGeom prst="rect">
            <a:avLst/>
          </a:prstGeom>
          <a:solidFill>
            <a:srgbClr val="00B7C3"/>
          </a:solidFill>
          <a:ln w="12700">
            <a:solidFill>
              <a:srgbClr val="00B7C3"/>
            </a:solidFill>
            <a:prstDash val="solid"/>
          </a:ln>
        </p:spPr>
      </p:sp>
      <p:sp>
        <p:nvSpPr>
          <p:cNvPr id="27" name="Shape 25"/>
          <p:cNvSpPr/>
          <p:nvPr/>
        </p:nvSpPr>
        <p:spPr>
          <a:xfrm>
            <a:off x="822960" y="3108960"/>
            <a:ext cx="393192" cy="393192"/>
          </a:xfrm>
          <a:prstGeom prst="ellipse">
            <a:avLst/>
          </a:prstGeom>
          <a:solidFill>
            <a:srgbClr val="00B7C3"/>
          </a:solidFill>
          <a:ln w="12700">
            <a:solidFill>
              <a:srgbClr val="00B7C3"/>
            </a:solidFill>
            <a:prstDash val="solid"/>
          </a:ln>
        </p:spPr>
      </p:sp>
      <p:sp>
        <p:nvSpPr>
          <p:cNvPr id="28" name="Text 26"/>
          <p:cNvSpPr/>
          <p:nvPr/>
        </p:nvSpPr>
        <p:spPr>
          <a:xfrm>
            <a:off x="822960" y="316839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131673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Security</a:t>
            </a:r>
            <a:endParaRPr lang="en-US" sz="1250" dirty="0"/>
          </a:p>
        </p:txBody>
      </p:sp>
      <p:sp>
        <p:nvSpPr>
          <p:cNvPr id="30" name="Text 28"/>
          <p:cNvSpPr/>
          <p:nvPr/>
        </p:nvSpPr>
        <p:spPr>
          <a:xfrm>
            <a:off x="131673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Managed identity, OAuth/JWT and content safety remove sprawl.</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Reduced risk</a:t>
            </a:r>
            <a:endParaRPr lang="en-US" sz="890" dirty="0"/>
          </a:p>
        </p:txBody>
      </p:sp>
      <p:sp>
        <p:nvSpPr>
          <p:cNvPr id="31" name="Shape 29"/>
          <p:cNvSpPr/>
          <p:nvPr/>
        </p:nvSpPr>
        <p:spPr>
          <a:xfrm>
            <a:off x="440740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2" name="Shape 30"/>
          <p:cNvSpPr/>
          <p:nvPr/>
        </p:nvSpPr>
        <p:spPr>
          <a:xfrm>
            <a:off x="4407408" y="2953512"/>
            <a:ext cx="73152" cy="1252728"/>
          </a:xfrm>
          <a:prstGeom prst="rect">
            <a:avLst/>
          </a:prstGeom>
          <a:solidFill>
            <a:srgbClr val="0078D4"/>
          </a:solidFill>
          <a:ln w="12700">
            <a:solidFill>
              <a:srgbClr val="0078D4"/>
            </a:solidFill>
            <a:prstDash val="solid"/>
          </a:ln>
        </p:spPr>
      </p:sp>
      <p:sp>
        <p:nvSpPr>
          <p:cNvPr id="33" name="Shape 31"/>
          <p:cNvSpPr/>
          <p:nvPr/>
        </p:nvSpPr>
        <p:spPr>
          <a:xfrm>
            <a:off x="4572000" y="3108960"/>
            <a:ext cx="393192" cy="393192"/>
          </a:xfrm>
          <a:prstGeom prst="ellipse">
            <a:avLst/>
          </a:prstGeom>
          <a:solidFill>
            <a:srgbClr val="0078D4"/>
          </a:solidFill>
          <a:ln w="12700">
            <a:solidFill>
              <a:srgbClr val="0078D4"/>
            </a:solidFill>
            <a:prstDash val="solid"/>
          </a:ln>
        </p:spPr>
      </p:sp>
      <p:sp>
        <p:nvSpPr>
          <p:cNvPr id="34" name="Text 32"/>
          <p:cNvSpPr/>
          <p:nvPr/>
        </p:nvSpPr>
        <p:spPr>
          <a:xfrm>
            <a:off x="4572000" y="316839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5</a:t>
            </a:r>
            <a:endParaRPr lang="en-US" sz="800" dirty="0"/>
          </a:p>
        </p:txBody>
      </p:sp>
      <p:sp>
        <p:nvSpPr>
          <p:cNvPr id="35" name="Text 33"/>
          <p:cNvSpPr/>
          <p:nvPr/>
        </p:nvSpPr>
        <p:spPr>
          <a:xfrm>
            <a:off x="506577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Observability</a:t>
            </a:r>
            <a:endParaRPr lang="en-US" sz="1250" dirty="0"/>
          </a:p>
        </p:txBody>
      </p:sp>
      <p:sp>
        <p:nvSpPr>
          <p:cNvPr id="36" name="Text 34"/>
          <p:cNvSpPr/>
          <p:nvPr/>
        </p:nvSpPr>
        <p:spPr>
          <a:xfrm>
            <a:off x="506577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Token metrics and LLM logs explain usage and behavior.</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Better decisions</a:t>
            </a:r>
            <a:endParaRPr lang="en-US" sz="890" dirty="0"/>
          </a:p>
        </p:txBody>
      </p:sp>
      <p:sp>
        <p:nvSpPr>
          <p:cNvPr id="37" name="Shape 35"/>
          <p:cNvSpPr/>
          <p:nvPr/>
        </p:nvSpPr>
        <p:spPr>
          <a:xfrm>
            <a:off x="815644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38" name="Shape 36"/>
          <p:cNvSpPr/>
          <p:nvPr/>
        </p:nvSpPr>
        <p:spPr>
          <a:xfrm>
            <a:off x="8156448" y="2953512"/>
            <a:ext cx="73152" cy="1252728"/>
          </a:xfrm>
          <a:prstGeom prst="rect">
            <a:avLst/>
          </a:prstGeom>
          <a:solidFill>
            <a:srgbClr val="FFB900"/>
          </a:solidFill>
          <a:ln w="12700">
            <a:solidFill>
              <a:srgbClr val="FFB900"/>
            </a:solidFill>
            <a:prstDash val="solid"/>
          </a:ln>
        </p:spPr>
      </p:sp>
      <p:sp>
        <p:nvSpPr>
          <p:cNvPr id="39" name="Shape 37"/>
          <p:cNvSpPr/>
          <p:nvPr/>
        </p:nvSpPr>
        <p:spPr>
          <a:xfrm>
            <a:off x="8321040" y="3108960"/>
            <a:ext cx="393192" cy="393192"/>
          </a:xfrm>
          <a:prstGeom prst="ellipse">
            <a:avLst/>
          </a:prstGeom>
          <a:solidFill>
            <a:srgbClr val="FFB900"/>
          </a:solidFill>
          <a:ln w="12700">
            <a:solidFill>
              <a:srgbClr val="FFB900"/>
            </a:solidFill>
            <a:prstDash val="solid"/>
          </a:ln>
        </p:spPr>
      </p:sp>
      <p:sp>
        <p:nvSpPr>
          <p:cNvPr id="40" name="Text 38"/>
          <p:cNvSpPr/>
          <p:nvPr/>
        </p:nvSpPr>
        <p:spPr>
          <a:xfrm>
            <a:off x="8321040" y="3168396"/>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6</a:t>
            </a:r>
            <a:endParaRPr lang="en-US" sz="800" dirty="0"/>
          </a:p>
        </p:txBody>
      </p:sp>
      <p:sp>
        <p:nvSpPr>
          <p:cNvPr id="41" name="Text 39"/>
          <p:cNvSpPr/>
          <p:nvPr/>
        </p:nvSpPr>
        <p:spPr>
          <a:xfrm>
            <a:off x="881481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Developer self-service</a:t>
            </a:r>
            <a:endParaRPr lang="en-US" sz="1250" dirty="0"/>
          </a:p>
        </p:txBody>
      </p:sp>
      <p:sp>
        <p:nvSpPr>
          <p:cNvPr id="42" name="Text 40"/>
          <p:cNvSpPr/>
          <p:nvPr/>
        </p:nvSpPr>
        <p:spPr>
          <a:xfrm>
            <a:off x="881481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Products, subscriptions, portal and API Center.</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Faster delivery</a:t>
            </a:r>
            <a:endParaRPr lang="en-US" sz="890" dirty="0"/>
          </a:p>
        </p:txBody>
      </p:sp>
      <p:sp>
        <p:nvSpPr>
          <p:cNvPr id="43" name="Text 41"/>
          <p:cNvSpPr/>
          <p:nvPr/>
        </p:nvSpPr>
        <p:spPr>
          <a:xfrm>
            <a:off x="2194560" y="5257800"/>
            <a:ext cx="7772400" cy="320040"/>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The gateway is an operating model, not just a network hop.</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VERIFY IN CALCULATOR</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Pricing snapshot: list price, US East, Oct 2026</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26</a:t>
            </a:r>
            <a:endParaRPr lang="en-US" sz="800" dirty="0"/>
          </a:p>
        </p:txBody>
      </p:sp>
      <p:sp>
        <p:nvSpPr>
          <p:cNvPr id="7" name="Shape 5"/>
          <p:cNvSpPr/>
          <p:nvPr/>
        </p:nvSpPr>
        <p:spPr>
          <a:xfrm>
            <a:off x="594360" y="1078992"/>
            <a:ext cx="1508760" cy="566928"/>
          </a:xfrm>
          <a:prstGeom prst="rect">
            <a:avLst/>
          </a:prstGeom>
          <a:solidFill>
            <a:srgbClr val="0B1E3F"/>
          </a:solidFill>
          <a:ln w="7620">
            <a:solidFill>
              <a:srgbClr val="D8E2EC"/>
            </a:solidFill>
            <a:prstDash val="solid"/>
          </a:ln>
        </p:spPr>
      </p:sp>
      <p:sp>
        <p:nvSpPr>
          <p:cNvPr id="8" name="Text 6"/>
          <p:cNvSpPr/>
          <p:nvPr/>
        </p:nvSpPr>
        <p:spPr>
          <a:xfrm>
            <a:off x="667512" y="1188720"/>
            <a:ext cx="136245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Tier</a:t>
            </a:r>
            <a:endParaRPr lang="en-US" sz="850" dirty="0"/>
          </a:p>
        </p:txBody>
      </p:sp>
      <p:sp>
        <p:nvSpPr>
          <p:cNvPr id="9" name="Shape 7"/>
          <p:cNvSpPr/>
          <p:nvPr/>
        </p:nvSpPr>
        <p:spPr>
          <a:xfrm>
            <a:off x="2103120" y="1078992"/>
            <a:ext cx="2468880" cy="566928"/>
          </a:xfrm>
          <a:prstGeom prst="rect">
            <a:avLst/>
          </a:prstGeom>
          <a:solidFill>
            <a:srgbClr val="0B1E3F"/>
          </a:solidFill>
          <a:ln w="7620">
            <a:solidFill>
              <a:srgbClr val="D8E2EC"/>
            </a:solidFill>
            <a:prstDash val="solid"/>
          </a:ln>
        </p:spPr>
      </p:sp>
      <p:sp>
        <p:nvSpPr>
          <p:cNvPr id="10" name="Text 8"/>
          <p:cNvSpPr/>
          <p:nvPr/>
        </p:nvSpPr>
        <p:spPr>
          <a:xfrm>
            <a:off x="2176272" y="1188720"/>
            <a:ext cx="232257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Approx. price</a:t>
            </a:r>
            <a:endParaRPr lang="en-US" sz="850" dirty="0"/>
          </a:p>
        </p:txBody>
      </p:sp>
      <p:sp>
        <p:nvSpPr>
          <p:cNvPr id="11" name="Shape 9"/>
          <p:cNvSpPr/>
          <p:nvPr/>
        </p:nvSpPr>
        <p:spPr>
          <a:xfrm>
            <a:off x="4572000" y="1078992"/>
            <a:ext cx="3794760" cy="566928"/>
          </a:xfrm>
          <a:prstGeom prst="rect">
            <a:avLst/>
          </a:prstGeom>
          <a:solidFill>
            <a:srgbClr val="0B1E3F"/>
          </a:solidFill>
          <a:ln w="7620">
            <a:solidFill>
              <a:srgbClr val="D8E2EC"/>
            </a:solidFill>
            <a:prstDash val="solid"/>
          </a:ln>
        </p:spPr>
      </p:sp>
      <p:sp>
        <p:nvSpPr>
          <p:cNvPr id="12" name="Text 10"/>
          <p:cNvSpPr/>
          <p:nvPr/>
        </p:nvSpPr>
        <p:spPr>
          <a:xfrm>
            <a:off x="4645152" y="1188720"/>
            <a:ext cx="364845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Included calls / notes</a:t>
            </a:r>
            <a:endParaRPr lang="en-US" sz="850" dirty="0"/>
          </a:p>
        </p:txBody>
      </p:sp>
      <p:sp>
        <p:nvSpPr>
          <p:cNvPr id="13" name="Shape 11"/>
          <p:cNvSpPr/>
          <p:nvPr/>
        </p:nvSpPr>
        <p:spPr>
          <a:xfrm>
            <a:off x="8366760" y="1078992"/>
            <a:ext cx="3246120" cy="566928"/>
          </a:xfrm>
          <a:prstGeom prst="rect">
            <a:avLst/>
          </a:prstGeom>
          <a:solidFill>
            <a:srgbClr val="0B1E3F"/>
          </a:solidFill>
          <a:ln w="7620">
            <a:solidFill>
              <a:srgbClr val="D8E2EC"/>
            </a:solidFill>
            <a:prstDash val="solid"/>
          </a:ln>
        </p:spPr>
      </p:sp>
      <p:sp>
        <p:nvSpPr>
          <p:cNvPr id="14" name="Text 12"/>
          <p:cNvSpPr/>
          <p:nvPr/>
        </p:nvSpPr>
        <p:spPr>
          <a:xfrm>
            <a:off x="8439912" y="1188720"/>
            <a:ext cx="3099816" cy="256032"/>
          </a:xfrm>
          <a:prstGeom prst="rect">
            <a:avLst/>
          </a:prstGeom>
          <a:noFill/>
          <a:ln/>
        </p:spPr>
        <p:txBody>
          <a:bodyPr wrap="square" lIns="0" tIns="0" rIns="0" bIns="0" rtlCol="0" anchor="ctr">
            <a:normAutofit/>
          </a:bodyPr>
          <a:lstStyle/>
          <a:p>
            <a:pPr marL="0" indent="0">
              <a:buNone/>
            </a:pPr>
            <a:r>
              <a:rPr lang="en-US" sz="850" b="1" dirty="0">
                <a:solidFill>
                  <a:srgbClr val="FFFFFF"/>
                </a:solidFill>
                <a:latin typeface="Segoe UI Semibold" pitchFamily="34" charset="0"/>
                <a:ea typeface="Segoe UI Semibold" pitchFamily="34" charset="-122"/>
                <a:cs typeface="Segoe UI Semibold" pitchFamily="34" charset="-120"/>
              </a:rPr>
              <a:t>AI gateway fit</a:t>
            </a:r>
            <a:endParaRPr lang="en-US" sz="850" dirty="0"/>
          </a:p>
        </p:txBody>
      </p:sp>
      <p:sp>
        <p:nvSpPr>
          <p:cNvPr id="15" name="Shape 13"/>
          <p:cNvSpPr/>
          <p:nvPr/>
        </p:nvSpPr>
        <p:spPr>
          <a:xfrm>
            <a:off x="594360" y="1645920"/>
            <a:ext cx="1508760" cy="566928"/>
          </a:xfrm>
          <a:prstGeom prst="rect">
            <a:avLst/>
          </a:prstGeom>
          <a:solidFill>
            <a:srgbClr val="FFFFFF"/>
          </a:solidFill>
          <a:ln w="7620">
            <a:solidFill>
              <a:srgbClr val="D8E2EC"/>
            </a:solidFill>
            <a:prstDash val="solid"/>
          </a:ln>
        </p:spPr>
      </p:sp>
      <p:sp>
        <p:nvSpPr>
          <p:cNvPr id="16" name="Text 14"/>
          <p:cNvSpPr/>
          <p:nvPr/>
        </p:nvSpPr>
        <p:spPr>
          <a:xfrm>
            <a:off x="667512" y="1755648"/>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Consumption</a:t>
            </a:r>
            <a:endParaRPr lang="en-US" sz="750" dirty="0"/>
          </a:p>
        </p:txBody>
      </p:sp>
      <p:sp>
        <p:nvSpPr>
          <p:cNvPr id="17" name="Shape 15"/>
          <p:cNvSpPr/>
          <p:nvPr/>
        </p:nvSpPr>
        <p:spPr>
          <a:xfrm>
            <a:off x="2103120" y="1645920"/>
            <a:ext cx="2468880" cy="566928"/>
          </a:xfrm>
          <a:prstGeom prst="rect">
            <a:avLst/>
          </a:prstGeom>
          <a:solidFill>
            <a:srgbClr val="FFFFFF"/>
          </a:solidFill>
          <a:ln w="7620">
            <a:solidFill>
              <a:srgbClr val="D8E2EC"/>
            </a:solidFill>
            <a:prstDash val="solid"/>
          </a:ln>
        </p:spPr>
      </p:sp>
      <p:sp>
        <p:nvSpPr>
          <p:cNvPr id="18" name="Text 16"/>
          <p:cNvSpPr/>
          <p:nvPr/>
        </p:nvSpPr>
        <p:spPr>
          <a:xfrm>
            <a:off x="2176272" y="1755648"/>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$0 base; ~1M free; $3.50/M overage</a:t>
            </a:r>
            <a:endParaRPr lang="en-US" sz="750" dirty="0"/>
          </a:p>
        </p:txBody>
      </p:sp>
      <p:sp>
        <p:nvSpPr>
          <p:cNvPr id="19" name="Shape 17"/>
          <p:cNvSpPr/>
          <p:nvPr/>
        </p:nvSpPr>
        <p:spPr>
          <a:xfrm>
            <a:off x="4572000" y="1645920"/>
            <a:ext cx="3794760" cy="566928"/>
          </a:xfrm>
          <a:prstGeom prst="rect">
            <a:avLst/>
          </a:prstGeom>
          <a:solidFill>
            <a:srgbClr val="FFFFFF"/>
          </a:solidFill>
          <a:ln w="7620">
            <a:solidFill>
              <a:srgbClr val="D8E2EC"/>
            </a:solidFill>
            <a:prstDash val="solid"/>
          </a:ln>
        </p:spPr>
      </p:sp>
      <p:sp>
        <p:nvSpPr>
          <p:cNvPr id="20" name="Text 18"/>
          <p:cNvSpPr/>
          <p:nvPr/>
        </p:nvSpPr>
        <p:spPr>
          <a:xfrm>
            <a:off x="4645152" y="1755648"/>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No MCP, no circuit breaker</a:t>
            </a:r>
            <a:endParaRPr lang="en-US" sz="750" dirty="0"/>
          </a:p>
        </p:txBody>
      </p:sp>
      <p:sp>
        <p:nvSpPr>
          <p:cNvPr id="21" name="Shape 19"/>
          <p:cNvSpPr/>
          <p:nvPr/>
        </p:nvSpPr>
        <p:spPr>
          <a:xfrm>
            <a:off x="8366760" y="1645920"/>
            <a:ext cx="3246120" cy="566928"/>
          </a:xfrm>
          <a:prstGeom prst="rect">
            <a:avLst/>
          </a:prstGeom>
          <a:solidFill>
            <a:srgbClr val="FFFFFF"/>
          </a:solidFill>
          <a:ln w="7620">
            <a:solidFill>
              <a:srgbClr val="D8E2EC"/>
            </a:solidFill>
            <a:prstDash val="solid"/>
          </a:ln>
        </p:spPr>
      </p:sp>
      <p:sp>
        <p:nvSpPr>
          <p:cNvPr id="22" name="Text 20"/>
          <p:cNvSpPr/>
          <p:nvPr/>
        </p:nvSpPr>
        <p:spPr>
          <a:xfrm>
            <a:off x="8439912" y="1755648"/>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Only simple model proxy</a:t>
            </a:r>
            <a:endParaRPr lang="en-US" sz="750" dirty="0"/>
          </a:p>
        </p:txBody>
      </p:sp>
      <p:sp>
        <p:nvSpPr>
          <p:cNvPr id="23" name="Shape 21"/>
          <p:cNvSpPr/>
          <p:nvPr/>
        </p:nvSpPr>
        <p:spPr>
          <a:xfrm>
            <a:off x="594360" y="2212848"/>
            <a:ext cx="1508760" cy="566928"/>
          </a:xfrm>
          <a:prstGeom prst="rect">
            <a:avLst/>
          </a:prstGeom>
          <a:solidFill>
            <a:srgbClr val="FFFFFF"/>
          </a:solidFill>
          <a:ln w="7620">
            <a:solidFill>
              <a:srgbClr val="D8E2EC"/>
            </a:solidFill>
            <a:prstDash val="solid"/>
          </a:ln>
        </p:spPr>
      </p:sp>
      <p:sp>
        <p:nvSpPr>
          <p:cNvPr id="24" name="Text 22"/>
          <p:cNvSpPr/>
          <p:nvPr/>
        </p:nvSpPr>
        <p:spPr>
          <a:xfrm>
            <a:off x="667512" y="2322576"/>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Developer</a:t>
            </a:r>
            <a:endParaRPr lang="en-US" sz="750" dirty="0"/>
          </a:p>
        </p:txBody>
      </p:sp>
      <p:sp>
        <p:nvSpPr>
          <p:cNvPr id="25" name="Shape 23"/>
          <p:cNvSpPr/>
          <p:nvPr/>
        </p:nvSpPr>
        <p:spPr>
          <a:xfrm>
            <a:off x="2103120" y="2212848"/>
            <a:ext cx="2468880" cy="566928"/>
          </a:xfrm>
          <a:prstGeom prst="rect">
            <a:avLst/>
          </a:prstGeom>
          <a:solidFill>
            <a:srgbClr val="FFFFFF"/>
          </a:solidFill>
          <a:ln w="7620">
            <a:solidFill>
              <a:srgbClr val="D8E2EC"/>
            </a:solidFill>
            <a:prstDash val="solid"/>
          </a:ln>
        </p:spPr>
      </p:sp>
      <p:sp>
        <p:nvSpPr>
          <p:cNvPr id="26" name="Text 24"/>
          <p:cNvSpPr/>
          <p:nvPr/>
        </p:nvSpPr>
        <p:spPr>
          <a:xfrm>
            <a:off x="2176272" y="2322576"/>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$48/mo</a:t>
            </a:r>
            <a:endParaRPr lang="en-US" sz="750" dirty="0"/>
          </a:p>
        </p:txBody>
      </p:sp>
      <p:sp>
        <p:nvSpPr>
          <p:cNvPr id="27" name="Shape 25"/>
          <p:cNvSpPr/>
          <p:nvPr/>
        </p:nvSpPr>
        <p:spPr>
          <a:xfrm>
            <a:off x="4572000" y="2212848"/>
            <a:ext cx="3794760" cy="566928"/>
          </a:xfrm>
          <a:prstGeom prst="rect">
            <a:avLst/>
          </a:prstGeom>
          <a:solidFill>
            <a:srgbClr val="FFFFFF"/>
          </a:solidFill>
          <a:ln w="7620">
            <a:solidFill>
              <a:srgbClr val="D8E2EC"/>
            </a:solidFill>
            <a:prstDash val="solid"/>
          </a:ln>
        </p:spPr>
      </p:sp>
      <p:sp>
        <p:nvSpPr>
          <p:cNvPr id="28" name="Text 26"/>
          <p:cNvSpPr/>
          <p:nvPr/>
        </p:nvSpPr>
        <p:spPr>
          <a:xfrm>
            <a:off x="4645152" y="2322576"/>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No SLA; classic slower deploy</a:t>
            </a:r>
            <a:endParaRPr lang="en-US" sz="750" dirty="0"/>
          </a:p>
        </p:txBody>
      </p:sp>
      <p:sp>
        <p:nvSpPr>
          <p:cNvPr id="29" name="Shape 27"/>
          <p:cNvSpPr/>
          <p:nvPr/>
        </p:nvSpPr>
        <p:spPr>
          <a:xfrm>
            <a:off x="8366760" y="2212848"/>
            <a:ext cx="3246120" cy="566928"/>
          </a:xfrm>
          <a:prstGeom prst="rect">
            <a:avLst/>
          </a:prstGeom>
          <a:solidFill>
            <a:srgbClr val="FFFFFF"/>
          </a:solidFill>
          <a:ln w="7620">
            <a:solidFill>
              <a:srgbClr val="D8E2EC"/>
            </a:solidFill>
            <a:prstDash val="solid"/>
          </a:ln>
        </p:spPr>
      </p:sp>
      <p:sp>
        <p:nvSpPr>
          <p:cNvPr id="30" name="Text 28"/>
          <p:cNvSpPr/>
          <p:nvPr/>
        </p:nvSpPr>
        <p:spPr>
          <a:xfrm>
            <a:off x="8439912" y="2322576"/>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Lab fallback</a:t>
            </a:r>
            <a:endParaRPr lang="en-US" sz="750" dirty="0"/>
          </a:p>
        </p:txBody>
      </p:sp>
      <p:sp>
        <p:nvSpPr>
          <p:cNvPr id="31" name="Shape 29"/>
          <p:cNvSpPr/>
          <p:nvPr/>
        </p:nvSpPr>
        <p:spPr>
          <a:xfrm>
            <a:off x="594360" y="2779776"/>
            <a:ext cx="1508760" cy="566928"/>
          </a:xfrm>
          <a:prstGeom prst="rect">
            <a:avLst/>
          </a:prstGeom>
          <a:solidFill>
            <a:srgbClr val="D9F7FA"/>
          </a:solidFill>
          <a:ln w="7620">
            <a:solidFill>
              <a:srgbClr val="D8E2EC"/>
            </a:solidFill>
            <a:prstDash val="solid"/>
          </a:ln>
        </p:spPr>
      </p:sp>
      <p:sp>
        <p:nvSpPr>
          <p:cNvPr id="32" name="Text 30"/>
          <p:cNvSpPr/>
          <p:nvPr/>
        </p:nvSpPr>
        <p:spPr>
          <a:xfrm>
            <a:off x="667512" y="2889504"/>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Basic / Basic v2</a:t>
            </a:r>
            <a:endParaRPr lang="en-US" sz="750" dirty="0"/>
          </a:p>
        </p:txBody>
      </p:sp>
      <p:sp>
        <p:nvSpPr>
          <p:cNvPr id="33" name="Shape 31"/>
          <p:cNvSpPr/>
          <p:nvPr/>
        </p:nvSpPr>
        <p:spPr>
          <a:xfrm>
            <a:off x="2103120" y="2779776"/>
            <a:ext cx="2468880" cy="566928"/>
          </a:xfrm>
          <a:prstGeom prst="rect">
            <a:avLst/>
          </a:prstGeom>
          <a:solidFill>
            <a:srgbClr val="D9F7FA"/>
          </a:solidFill>
          <a:ln w="7620">
            <a:solidFill>
              <a:srgbClr val="D8E2EC"/>
            </a:solidFill>
            <a:prstDash val="solid"/>
          </a:ln>
        </p:spPr>
      </p:sp>
      <p:sp>
        <p:nvSpPr>
          <p:cNvPr id="34" name="Text 32"/>
          <p:cNvSpPr/>
          <p:nvPr/>
        </p:nvSpPr>
        <p:spPr>
          <a:xfrm>
            <a:off x="2176272" y="2889504"/>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$147 / $150/mo</a:t>
            </a:r>
            <a:endParaRPr lang="en-US" sz="750" dirty="0"/>
          </a:p>
        </p:txBody>
      </p:sp>
      <p:sp>
        <p:nvSpPr>
          <p:cNvPr id="35" name="Shape 33"/>
          <p:cNvSpPr/>
          <p:nvPr/>
        </p:nvSpPr>
        <p:spPr>
          <a:xfrm>
            <a:off x="4572000" y="2779776"/>
            <a:ext cx="3794760" cy="566928"/>
          </a:xfrm>
          <a:prstGeom prst="rect">
            <a:avLst/>
          </a:prstGeom>
          <a:solidFill>
            <a:srgbClr val="D9F7FA"/>
          </a:solidFill>
          <a:ln w="7620">
            <a:solidFill>
              <a:srgbClr val="D8E2EC"/>
            </a:solidFill>
            <a:prstDash val="solid"/>
          </a:ln>
        </p:spPr>
      </p:sp>
      <p:sp>
        <p:nvSpPr>
          <p:cNvPr id="36" name="Text 34"/>
          <p:cNvSpPr/>
          <p:nvPr/>
        </p:nvSpPr>
        <p:spPr>
          <a:xfrm>
            <a:off x="4645152" y="2889504"/>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Basic v2 includes 10M calls/unit; $3/M overage</a:t>
            </a:r>
            <a:endParaRPr lang="en-US" sz="750" dirty="0"/>
          </a:p>
        </p:txBody>
      </p:sp>
      <p:sp>
        <p:nvSpPr>
          <p:cNvPr id="37" name="Shape 35"/>
          <p:cNvSpPr/>
          <p:nvPr/>
        </p:nvSpPr>
        <p:spPr>
          <a:xfrm>
            <a:off x="8366760" y="2779776"/>
            <a:ext cx="3246120" cy="566928"/>
          </a:xfrm>
          <a:prstGeom prst="rect">
            <a:avLst/>
          </a:prstGeom>
          <a:solidFill>
            <a:srgbClr val="D9F7FA"/>
          </a:solidFill>
          <a:ln w="7620">
            <a:solidFill>
              <a:srgbClr val="D8E2EC"/>
            </a:solidFill>
            <a:prstDash val="solid"/>
          </a:ln>
        </p:spPr>
      </p:sp>
      <p:sp>
        <p:nvSpPr>
          <p:cNvPr id="38" name="Text 36"/>
          <p:cNvSpPr/>
          <p:nvPr/>
        </p:nvSpPr>
        <p:spPr>
          <a:xfrm>
            <a:off x="8439912" y="2889504"/>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Demo sweet spot</a:t>
            </a:r>
            <a:endParaRPr lang="en-US" sz="750" dirty="0"/>
          </a:p>
        </p:txBody>
      </p:sp>
      <p:sp>
        <p:nvSpPr>
          <p:cNvPr id="39" name="Shape 37"/>
          <p:cNvSpPr/>
          <p:nvPr/>
        </p:nvSpPr>
        <p:spPr>
          <a:xfrm>
            <a:off x="594360" y="3346704"/>
            <a:ext cx="1508760" cy="566928"/>
          </a:xfrm>
          <a:prstGeom prst="rect">
            <a:avLst/>
          </a:prstGeom>
          <a:solidFill>
            <a:srgbClr val="FFFFFF"/>
          </a:solidFill>
          <a:ln w="7620">
            <a:solidFill>
              <a:srgbClr val="D8E2EC"/>
            </a:solidFill>
            <a:prstDash val="solid"/>
          </a:ln>
        </p:spPr>
      </p:sp>
      <p:sp>
        <p:nvSpPr>
          <p:cNvPr id="40" name="Text 38"/>
          <p:cNvSpPr/>
          <p:nvPr/>
        </p:nvSpPr>
        <p:spPr>
          <a:xfrm>
            <a:off x="667512" y="3456432"/>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Standard / Standard v2</a:t>
            </a:r>
            <a:endParaRPr lang="en-US" sz="750" dirty="0"/>
          </a:p>
        </p:txBody>
      </p:sp>
      <p:sp>
        <p:nvSpPr>
          <p:cNvPr id="41" name="Shape 39"/>
          <p:cNvSpPr/>
          <p:nvPr/>
        </p:nvSpPr>
        <p:spPr>
          <a:xfrm>
            <a:off x="2103120" y="3346704"/>
            <a:ext cx="2468880" cy="566928"/>
          </a:xfrm>
          <a:prstGeom prst="rect">
            <a:avLst/>
          </a:prstGeom>
          <a:solidFill>
            <a:srgbClr val="FFFFFF"/>
          </a:solidFill>
          <a:ln w="7620">
            <a:solidFill>
              <a:srgbClr val="D8E2EC"/>
            </a:solidFill>
            <a:prstDash val="solid"/>
          </a:ln>
        </p:spPr>
      </p:sp>
      <p:sp>
        <p:nvSpPr>
          <p:cNvPr id="42" name="Text 40"/>
          <p:cNvSpPr/>
          <p:nvPr/>
        </p:nvSpPr>
        <p:spPr>
          <a:xfrm>
            <a:off x="2176272" y="3456432"/>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$687 / $700/mo</a:t>
            </a:r>
            <a:endParaRPr lang="en-US" sz="750" dirty="0"/>
          </a:p>
        </p:txBody>
      </p:sp>
      <p:sp>
        <p:nvSpPr>
          <p:cNvPr id="43" name="Shape 41"/>
          <p:cNvSpPr/>
          <p:nvPr/>
        </p:nvSpPr>
        <p:spPr>
          <a:xfrm>
            <a:off x="4572000" y="3346704"/>
            <a:ext cx="3794760" cy="566928"/>
          </a:xfrm>
          <a:prstGeom prst="rect">
            <a:avLst/>
          </a:prstGeom>
          <a:solidFill>
            <a:srgbClr val="FFFFFF"/>
          </a:solidFill>
          <a:ln w="7620">
            <a:solidFill>
              <a:srgbClr val="D8E2EC"/>
            </a:solidFill>
            <a:prstDash val="solid"/>
          </a:ln>
        </p:spPr>
      </p:sp>
      <p:sp>
        <p:nvSpPr>
          <p:cNvPr id="44" name="Text 42"/>
          <p:cNvSpPr/>
          <p:nvPr/>
        </p:nvSpPr>
        <p:spPr>
          <a:xfrm>
            <a:off x="4645152" y="3456432"/>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Standard v2 includes 50M calls; VNet integration</a:t>
            </a:r>
            <a:endParaRPr lang="en-US" sz="750" dirty="0"/>
          </a:p>
        </p:txBody>
      </p:sp>
      <p:sp>
        <p:nvSpPr>
          <p:cNvPr id="45" name="Shape 43"/>
          <p:cNvSpPr/>
          <p:nvPr/>
        </p:nvSpPr>
        <p:spPr>
          <a:xfrm>
            <a:off x="8366760" y="3346704"/>
            <a:ext cx="3246120" cy="566928"/>
          </a:xfrm>
          <a:prstGeom prst="rect">
            <a:avLst/>
          </a:prstGeom>
          <a:solidFill>
            <a:srgbClr val="FFFFFF"/>
          </a:solidFill>
          <a:ln w="7620">
            <a:solidFill>
              <a:srgbClr val="D8E2EC"/>
            </a:solidFill>
            <a:prstDash val="solid"/>
          </a:ln>
        </p:spPr>
      </p:sp>
      <p:sp>
        <p:nvSpPr>
          <p:cNvPr id="46" name="Text 44"/>
          <p:cNvSpPr/>
          <p:nvPr/>
        </p:nvSpPr>
        <p:spPr>
          <a:xfrm>
            <a:off x="8439912" y="3456432"/>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Production with isolated backends</a:t>
            </a:r>
            <a:endParaRPr lang="en-US" sz="750" dirty="0"/>
          </a:p>
        </p:txBody>
      </p:sp>
      <p:sp>
        <p:nvSpPr>
          <p:cNvPr id="47" name="Shape 45"/>
          <p:cNvSpPr/>
          <p:nvPr/>
        </p:nvSpPr>
        <p:spPr>
          <a:xfrm>
            <a:off x="594360" y="3913632"/>
            <a:ext cx="1508760" cy="566928"/>
          </a:xfrm>
          <a:prstGeom prst="rect">
            <a:avLst/>
          </a:prstGeom>
          <a:solidFill>
            <a:srgbClr val="FFFFFF"/>
          </a:solidFill>
          <a:ln w="7620">
            <a:solidFill>
              <a:srgbClr val="D8E2EC"/>
            </a:solidFill>
            <a:prstDash val="solid"/>
          </a:ln>
        </p:spPr>
      </p:sp>
      <p:sp>
        <p:nvSpPr>
          <p:cNvPr id="48" name="Text 46"/>
          <p:cNvSpPr/>
          <p:nvPr/>
        </p:nvSpPr>
        <p:spPr>
          <a:xfrm>
            <a:off x="667512" y="4023360"/>
            <a:ext cx="1362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Premium / Premium v2</a:t>
            </a:r>
            <a:endParaRPr lang="en-US" sz="750" dirty="0"/>
          </a:p>
        </p:txBody>
      </p:sp>
      <p:sp>
        <p:nvSpPr>
          <p:cNvPr id="49" name="Shape 47"/>
          <p:cNvSpPr/>
          <p:nvPr/>
        </p:nvSpPr>
        <p:spPr>
          <a:xfrm>
            <a:off x="2103120" y="3913632"/>
            <a:ext cx="2468880" cy="566928"/>
          </a:xfrm>
          <a:prstGeom prst="rect">
            <a:avLst/>
          </a:prstGeom>
          <a:solidFill>
            <a:srgbClr val="FFFFFF"/>
          </a:solidFill>
          <a:ln w="7620">
            <a:solidFill>
              <a:srgbClr val="D8E2EC"/>
            </a:solidFill>
            <a:prstDash val="solid"/>
          </a:ln>
        </p:spPr>
      </p:sp>
      <p:sp>
        <p:nvSpPr>
          <p:cNvPr id="50" name="Text 48"/>
          <p:cNvSpPr/>
          <p:nvPr/>
        </p:nvSpPr>
        <p:spPr>
          <a:xfrm>
            <a:off x="2176272" y="4023360"/>
            <a:ext cx="232257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 $2,795 / $2,800/unit/mo</a:t>
            </a:r>
            <a:endParaRPr lang="en-US" sz="750" dirty="0"/>
          </a:p>
        </p:txBody>
      </p:sp>
      <p:sp>
        <p:nvSpPr>
          <p:cNvPr id="51" name="Shape 49"/>
          <p:cNvSpPr/>
          <p:nvPr/>
        </p:nvSpPr>
        <p:spPr>
          <a:xfrm>
            <a:off x="4572000" y="3913632"/>
            <a:ext cx="3794760" cy="566928"/>
          </a:xfrm>
          <a:prstGeom prst="rect">
            <a:avLst/>
          </a:prstGeom>
          <a:solidFill>
            <a:srgbClr val="FFFFFF"/>
          </a:solidFill>
          <a:ln w="7620">
            <a:solidFill>
              <a:srgbClr val="D8E2EC"/>
            </a:solidFill>
            <a:prstDash val="solid"/>
          </a:ln>
        </p:spPr>
      </p:sp>
      <p:sp>
        <p:nvSpPr>
          <p:cNvPr id="52" name="Text 50"/>
          <p:cNvSpPr/>
          <p:nvPr/>
        </p:nvSpPr>
        <p:spPr>
          <a:xfrm>
            <a:off x="4645152" y="4023360"/>
            <a:ext cx="364845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Premium v2 AZ + VNet injection + 30 units</a:t>
            </a:r>
            <a:endParaRPr lang="en-US" sz="750" dirty="0"/>
          </a:p>
        </p:txBody>
      </p:sp>
      <p:sp>
        <p:nvSpPr>
          <p:cNvPr id="53" name="Shape 51"/>
          <p:cNvSpPr/>
          <p:nvPr/>
        </p:nvSpPr>
        <p:spPr>
          <a:xfrm>
            <a:off x="8366760" y="3913632"/>
            <a:ext cx="3246120" cy="566928"/>
          </a:xfrm>
          <a:prstGeom prst="rect">
            <a:avLst/>
          </a:prstGeom>
          <a:solidFill>
            <a:srgbClr val="FFFFFF"/>
          </a:solidFill>
          <a:ln w="7620">
            <a:solidFill>
              <a:srgbClr val="D8E2EC"/>
            </a:solidFill>
            <a:prstDash val="solid"/>
          </a:ln>
        </p:spPr>
      </p:sp>
      <p:sp>
        <p:nvSpPr>
          <p:cNvPr id="54" name="Text 52"/>
          <p:cNvSpPr/>
          <p:nvPr/>
        </p:nvSpPr>
        <p:spPr>
          <a:xfrm>
            <a:off x="8439912" y="4023360"/>
            <a:ext cx="3099816" cy="256032"/>
          </a:xfrm>
          <a:prstGeom prst="rect">
            <a:avLst/>
          </a:prstGeom>
          <a:noFill/>
          <a:ln/>
        </p:spPr>
        <p:txBody>
          <a:bodyPr wrap="square" lIns="0" tIns="0" rIns="0" bIns="0" rtlCol="0" anchor="ctr">
            <a:normAutofit/>
          </a:bodyPr>
          <a:lstStyle/>
          <a:p>
            <a:pPr marL="0" indent="0">
              <a:buNone/>
            </a:pPr>
            <a:r>
              <a:rPr lang="en-US" sz="750" dirty="0">
                <a:solidFill>
                  <a:srgbClr val="3B4A5E"/>
                </a:solidFill>
                <a:latin typeface="Segoe UI" pitchFamily="34" charset="0"/>
                <a:ea typeface="Segoe UI" pitchFamily="34" charset="-122"/>
                <a:cs typeface="Segoe UI" pitchFamily="34" charset="-120"/>
              </a:rPr>
              <a:t>High scale / isolation</a:t>
            </a:r>
            <a:endParaRPr lang="en-US" sz="750" dirty="0"/>
          </a:p>
        </p:txBody>
      </p:sp>
      <p:sp>
        <p:nvSpPr>
          <p:cNvPr id="55" name="Shape 53"/>
          <p:cNvSpPr/>
          <p:nvPr/>
        </p:nvSpPr>
        <p:spPr>
          <a:xfrm>
            <a:off x="786384" y="5440680"/>
            <a:ext cx="10652760" cy="411480"/>
          </a:xfrm>
          <a:prstGeom prst="roundRect">
            <a:avLst>
              <a:gd name="adj" fmla="val 13333"/>
            </a:avLst>
          </a:prstGeom>
          <a:solidFill>
            <a:srgbClr val="FFF3CF"/>
          </a:solidFill>
          <a:ln w="12700">
            <a:solidFill>
              <a:srgbClr val="FFF3CF"/>
            </a:solidFill>
            <a:prstDash val="solid"/>
          </a:ln>
        </p:spPr>
      </p:sp>
      <p:sp>
        <p:nvSpPr>
          <p:cNvPr id="56" name="Text 54"/>
          <p:cNvSpPr/>
          <p:nvPr/>
        </p:nvSpPr>
        <p:spPr>
          <a:xfrm>
            <a:off x="960120" y="5577840"/>
            <a:ext cx="10287000" cy="118872"/>
          </a:xfrm>
          <a:prstGeom prst="rect">
            <a:avLst/>
          </a:prstGeom>
          <a:noFill/>
          <a:ln/>
        </p:spPr>
        <p:txBody>
          <a:bodyPr wrap="square" lIns="0" tIns="0" rIns="0" bIns="0" rtlCol="0" anchor="ctr">
            <a:normAutofit/>
          </a:bodyPr>
          <a:lstStyle/>
          <a:p>
            <a:pPr marL="0" indent="0" algn="ctr">
              <a:buNone/>
            </a:pPr>
            <a:r>
              <a:rPr lang="en-US" sz="860" dirty="0">
                <a:solidFill>
                  <a:srgbClr val="0B1E3F"/>
                </a:solidFill>
                <a:latin typeface="Segoe UI Semibold" pitchFamily="34" charset="0"/>
                <a:ea typeface="Segoe UI Semibold" pitchFamily="34" charset="-122"/>
                <a:cs typeface="Segoe UI Semibold" pitchFamily="34" charset="-120"/>
              </a:rPr>
              <a:t>List price, US East, Oct 2026 — verify in Azure pricing calculator. Model tokens are billed separately by Microsoft Foundry; APIM gateway does not add token cost.</a:t>
            </a:r>
            <a:endParaRPr lang="en-US" sz="8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PRICING, LIMITS &amp; TIERING</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Limits to design around</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27</a:t>
            </a:r>
            <a:endParaRPr lang="en-US" sz="800" dirty="0"/>
          </a:p>
        </p:txBody>
      </p:sp>
      <p:sp>
        <p:nvSpPr>
          <p:cNvPr id="7" name="Shape 5"/>
          <p:cNvSpPr/>
          <p:nvPr/>
        </p:nvSpPr>
        <p:spPr>
          <a:xfrm>
            <a:off x="658368" y="1097280"/>
            <a:ext cx="2514600" cy="1261872"/>
          </a:xfrm>
          <a:prstGeom prst="rect">
            <a:avLst/>
          </a:prstGeom>
          <a:solidFill>
            <a:srgbClr val="FFFFFF"/>
          </a:solidFill>
          <a:ln w="10160">
            <a:solidFill>
              <a:srgbClr val="D8E2EC"/>
            </a:solidFill>
            <a:prstDash val="solid"/>
          </a:ln>
        </p:spPr>
      </p:sp>
      <p:sp>
        <p:nvSpPr>
          <p:cNvPr id="8" name="Shape 6"/>
          <p:cNvSpPr/>
          <p:nvPr/>
        </p:nvSpPr>
        <p:spPr>
          <a:xfrm>
            <a:off x="658368" y="1097280"/>
            <a:ext cx="73152" cy="1261872"/>
          </a:xfrm>
          <a:prstGeom prst="rect">
            <a:avLst/>
          </a:prstGeom>
          <a:solidFill>
            <a:srgbClr val="00B7C3"/>
          </a:solidFill>
          <a:ln w="12700">
            <a:solidFill>
              <a:srgbClr val="00B7C3"/>
            </a:solidFill>
            <a:prstDash val="solid"/>
          </a:ln>
        </p:spPr>
      </p:sp>
      <p:sp>
        <p:nvSpPr>
          <p:cNvPr id="9" name="Text 7"/>
          <p:cNvSpPr/>
          <p:nvPr/>
        </p:nvSpPr>
        <p:spPr>
          <a:xfrm>
            <a:off x="841248"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Scale units</a:t>
            </a:r>
            <a:endParaRPr lang="en-US" sz="1120" dirty="0"/>
          </a:p>
        </p:txBody>
      </p:sp>
      <p:sp>
        <p:nvSpPr>
          <p:cNvPr id="10" name="Text 8"/>
          <p:cNvSpPr/>
          <p:nvPr/>
        </p:nvSpPr>
        <p:spPr>
          <a:xfrm>
            <a:off x="841248"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Basic v2/Standard v2 up to 10; Premium v2 up to 30.</a:t>
            </a:r>
            <a:endParaRPr lang="en-US" sz="820" dirty="0"/>
          </a:p>
        </p:txBody>
      </p:sp>
      <p:sp>
        <p:nvSpPr>
          <p:cNvPr id="11" name="Shape 9"/>
          <p:cNvSpPr/>
          <p:nvPr/>
        </p:nvSpPr>
        <p:spPr>
          <a:xfrm>
            <a:off x="3520440" y="1097280"/>
            <a:ext cx="2514600" cy="1261872"/>
          </a:xfrm>
          <a:prstGeom prst="rect">
            <a:avLst/>
          </a:prstGeom>
          <a:solidFill>
            <a:srgbClr val="FFFFFF"/>
          </a:solidFill>
          <a:ln w="10160">
            <a:solidFill>
              <a:srgbClr val="D8E2EC"/>
            </a:solidFill>
            <a:prstDash val="solid"/>
          </a:ln>
        </p:spPr>
      </p:sp>
      <p:sp>
        <p:nvSpPr>
          <p:cNvPr id="12" name="Shape 10"/>
          <p:cNvSpPr/>
          <p:nvPr/>
        </p:nvSpPr>
        <p:spPr>
          <a:xfrm>
            <a:off x="3520440" y="1097280"/>
            <a:ext cx="73152" cy="1261872"/>
          </a:xfrm>
          <a:prstGeom prst="rect">
            <a:avLst/>
          </a:prstGeom>
          <a:solidFill>
            <a:srgbClr val="00B7C3"/>
          </a:solidFill>
          <a:ln w="12700">
            <a:solidFill>
              <a:srgbClr val="00B7C3"/>
            </a:solidFill>
            <a:prstDash val="solid"/>
          </a:ln>
        </p:spPr>
      </p:sp>
      <p:sp>
        <p:nvSpPr>
          <p:cNvPr id="13" name="Text 11"/>
          <p:cNvSpPr/>
          <p:nvPr/>
        </p:nvSpPr>
        <p:spPr>
          <a:xfrm>
            <a:off x="3703320"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Policy size</a:t>
            </a:r>
            <a:endParaRPr lang="en-US" sz="1120" dirty="0"/>
          </a:p>
        </p:txBody>
      </p:sp>
      <p:sp>
        <p:nvSpPr>
          <p:cNvPr id="14" name="Text 12"/>
          <p:cNvSpPr/>
          <p:nvPr/>
        </p:nvSpPr>
        <p:spPr>
          <a:xfrm>
            <a:off x="3703320"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512 KiB policy document; Consumption is 16 KiB.</a:t>
            </a:r>
            <a:endParaRPr lang="en-US" sz="820" dirty="0"/>
          </a:p>
        </p:txBody>
      </p:sp>
      <p:sp>
        <p:nvSpPr>
          <p:cNvPr id="15" name="Shape 13"/>
          <p:cNvSpPr/>
          <p:nvPr/>
        </p:nvSpPr>
        <p:spPr>
          <a:xfrm>
            <a:off x="6382512" y="1097280"/>
            <a:ext cx="2514600" cy="1261872"/>
          </a:xfrm>
          <a:prstGeom prst="rect">
            <a:avLst/>
          </a:prstGeom>
          <a:solidFill>
            <a:srgbClr val="FFFFFF"/>
          </a:solidFill>
          <a:ln w="10160">
            <a:solidFill>
              <a:srgbClr val="D8E2EC"/>
            </a:solidFill>
            <a:prstDash val="solid"/>
          </a:ln>
        </p:spPr>
      </p:sp>
      <p:sp>
        <p:nvSpPr>
          <p:cNvPr id="16" name="Shape 14"/>
          <p:cNvSpPr/>
          <p:nvPr/>
        </p:nvSpPr>
        <p:spPr>
          <a:xfrm>
            <a:off x="6382512" y="1097280"/>
            <a:ext cx="73152" cy="1261872"/>
          </a:xfrm>
          <a:prstGeom prst="rect">
            <a:avLst/>
          </a:prstGeom>
          <a:solidFill>
            <a:srgbClr val="00B7C3"/>
          </a:solidFill>
          <a:ln w="12700">
            <a:solidFill>
              <a:srgbClr val="00B7C3"/>
            </a:solidFill>
            <a:prstDash val="solid"/>
          </a:ln>
        </p:spPr>
      </p:sp>
      <p:sp>
        <p:nvSpPr>
          <p:cNvPr id="17" name="Text 15"/>
          <p:cNvSpPr/>
          <p:nvPr/>
        </p:nvSpPr>
        <p:spPr>
          <a:xfrm>
            <a:off x="6565392"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Payload &amp; URL</a:t>
            </a:r>
            <a:endParaRPr lang="en-US" sz="1120" dirty="0"/>
          </a:p>
        </p:txBody>
      </p:sp>
      <p:sp>
        <p:nvSpPr>
          <p:cNvPr id="18" name="Text 16"/>
          <p:cNvSpPr/>
          <p:nvPr/>
        </p:nvSpPr>
        <p:spPr>
          <a:xfrm>
            <a:off x="6565392"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v2 buffered payload 2 MiB; request URL 16 KB.</a:t>
            </a:r>
            <a:endParaRPr lang="en-US" sz="820" dirty="0"/>
          </a:p>
        </p:txBody>
      </p:sp>
      <p:sp>
        <p:nvSpPr>
          <p:cNvPr id="19" name="Shape 17"/>
          <p:cNvSpPr/>
          <p:nvPr/>
        </p:nvSpPr>
        <p:spPr>
          <a:xfrm>
            <a:off x="9244584" y="1097280"/>
            <a:ext cx="2514600" cy="1261872"/>
          </a:xfrm>
          <a:prstGeom prst="rect">
            <a:avLst/>
          </a:prstGeom>
          <a:solidFill>
            <a:srgbClr val="FFFFFF"/>
          </a:solidFill>
          <a:ln w="10160">
            <a:solidFill>
              <a:srgbClr val="D8E2EC"/>
            </a:solidFill>
            <a:prstDash val="solid"/>
          </a:ln>
        </p:spPr>
      </p:sp>
      <p:sp>
        <p:nvSpPr>
          <p:cNvPr id="20" name="Shape 18"/>
          <p:cNvSpPr/>
          <p:nvPr/>
        </p:nvSpPr>
        <p:spPr>
          <a:xfrm>
            <a:off x="9244584" y="1097280"/>
            <a:ext cx="73152" cy="1261872"/>
          </a:xfrm>
          <a:prstGeom prst="rect">
            <a:avLst/>
          </a:prstGeom>
          <a:solidFill>
            <a:srgbClr val="00B7C3"/>
          </a:solidFill>
          <a:ln w="12700">
            <a:solidFill>
              <a:srgbClr val="00B7C3"/>
            </a:solidFill>
            <a:prstDash val="solid"/>
          </a:ln>
        </p:spPr>
      </p:sp>
      <p:sp>
        <p:nvSpPr>
          <p:cNvPr id="21" name="Text 19"/>
          <p:cNvSpPr/>
          <p:nvPr/>
        </p:nvSpPr>
        <p:spPr>
          <a:xfrm>
            <a:off x="9427464" y="123444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Products / subscriptions</a:t>
            </a:r>
            <a:endParaRPr lang="en-US" sz="1120" dirty="0"/>
          </a:p>
        </p:txBody>
      </p:sp>
      <p:sp>
        <p:nvSpPr>
          <p:cNvPr id="22" name="Text 20"/>
          <p:cNvSpPr/>
          <p:nvPr/>
        </p:nvSpPr>
        <p:spPr>
          <a:xfrm>
            <a:off x="9427464" y="155448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Basic 200 products &amp; 15K subscriptions; Standard 500 &amp; 25K; Premium 2,000 &amp; 75K.</a:t>
            </a:r>
            <a:endParaRPr lang="en-US" sz="820" dirty="0"/>
          </a:p>
        </p:txBody>
      </p:sp>
      <p:sp>
        <p:nvSpPr>
          <p:cNvPr id="23" name="Shape 21"/>
          <p:cNvSpPr/>
          <p:nvPr/>
        </p:nvSpPr>
        <p:spPr>
          <a:xfrm>
            <a:off x="658368" y="2971800"/>
            <a:ext cx="2514600" cy="1261872"/>
          </a:xfrm>
          <a:prstGeom prst="rect">
            <a:avLst/>
          </a:prstGeom>
          <a:solidFill>
            <a:srgbClr val="FFFFFF"/>
          </a:solidFill>
          <a:ln w="10160">
            <a:solidFill>
              <a:srgbClr val="D8E2EC"/>
            </a:solidFill>
            <a:prstDash val="solid"/>
          </a:ln>
        </p:spPr>
      </p:sp>
      <p:sp>
        <p:nvSpPr>
          <p:cNvPr id="24" name="Shape 22"/>
          <p:cNvSpPr/>
          <p:nvPr/>
        </p:nvSpPr>
        <p:spPr>
          <a:xfrm>
            <a:off x="658368" y="2971800"/>
            <a:ext cx="73152" cy="1261872"/>
          </a:xfrm>
          <a:prstGeom prst="rect">
            <a:avLst/>
          </a:prstGeom>
          <a:solidFill>
            <a:srgbClr val="FFB900"/>
          </a:solidFill>
          <a:ln w="12700">
            <a:solidFill>
              <a:srgbClr val="FFB900"/>
            </a:solidFill>
            <a:prstDash val="solid"/>
          </a:ln>
        </p:spPr>
      </p:sp>
      <p:sp>
        <p:nvSpPr>
          <p:cNvPr id="25" name="Text 23"/>
          <p:cNvSpPr/>
          <p:nvPr/>
        </p:nvSpPr>
        <p:spPr>
          <a:xfrm>
            <a:off x="841248"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Backend pool</a:t>
            </a:r>
            <a:endParaRPr lang="en-US" sz="1120" dirty="0"/>
          </a:p>
        </p:txBody>
      </p:sp>
      <p:sp>
        <p:nvSpPr>
          <p:cNvPr id="26" name="Text 24"/>
          <p:cNvSpPr/>
          <p:nvPr/>
        </p:nvSpPr>
        <p:spPr>
          <a:xfrm>
            <a:off x="841248"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Up to 30 backends; one circuit-breaker rule per backend; not in Consumption.</a:t>
            </a:r>
            <a:endParaRPr lang="en-US" sz="820" dirty="0"/>
          </a:p>
        </p:txBody>
      </p:sp>
      <p:sp>
        <p:nvSpPr>
          <p:cNvPr id="27" name="Shape 25"/>
          <p:cNvSpPr/>
          <p:nvPr/>
        </p:nvSpPr>
        <p:spPr>
          <a:xfrm>
            <a:off x="3520440" y="2971800"/>
            <a:ext cx="2514600" cy="1261872"/>
          </a:xfrm>
          <a:prstGeom prst="rect">
            <a:avLst/>
          </a:prstGeom>
          <a:solidFill>
            <a:srgbClr val="FFFFFF"/>
          </a:solidFill>
          <a:ln w="10160">
            <a:solidFill>
              <a:srgbClr val="D8E2EC"/>
            </a:solidFill>
            <a:prstDash val="solid"/>
          </a:ln>
        </p:spPr>
      </p:sp>
      <p:sp>
        <p:nvSpPr>
          <p:cNvPr id="28" name="Shape 26"/>
          <p:cNvSpPr/>
          <p:nvPr/>
        </p:nvSpPr>
        <p:spPr>
          <a:xfrm>
            <a:off x="3520440" y="2971800"/>
            <a:ext cx="73152" cy="1261872"/>
          </a:xfrm>
          <a:prstGeom prst="rect">
            <a:avLst/>
          </a:prstGeom>
          <a:solidFill>
            <a:srgbClr val="00B7C3"/>
          </a:solidFill>
          <a:ln w="12700">
            <a:solidFill>
              <a:srgbClr val="00B7C3"/>
            </a:solidFill>
            <a:prstDash val="solid"/>
          </a:ln>
        </p:spPr>
      </p:sp>
      <p:sp>
        <p:nvSpPr>
          <p:cNvPr id="29" name="Text 27"/>
          <p:cNvSpPr/>
          <p:nvPr/>
        </p:nvSpPr>
        <p:spPr>
          <a:xfrm>
            <a:off x="3703320"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MCP specifics</a:t>
            </a:r>
            <a:endParaRPr lang="en-US" sz="1120" dirty="0"/>
          </a:p>
        </p:txBody>
      </p:sp>
      <p:sp>
        <p:nvSpPr>
          <p:cNvPr id="30" name="Text 28"/>
          <p:cNvSpPr/>
          <p:nvPr/>
        </p:nvSpPr>
        <p:spPr>
          <a:xfrm>
            <a:off x="3703320"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Tools only; not in workspaces; not Consumption; do not read context.Response.Body in MCP policies.</a:t>
            </a:r>
            <a:endParaRPr lang="en-US" sz="820" dirty="0"/>
          </a:p>
        </p:txBody>
      </p:sp>
      <p:sp>
        <p:nvSpPr>
          <p:cNvPr id="31" name="Shape 29"/>
          <p:cNvSpPr/>
          <p:nvPr/>
        </p:nvSpPr>
        <p:spPr>
          <a:xfrm>
            <a:off x="6382512" y="2971800"/>
            <a:ext cx="2514600" cy="1261872"/>
          </a:xfrm>
          <a:prstGeom prst="rect">
            <a:avLst/>
          </a:prstGeom>
          <a:solidFill>
            <a:srgbClr val="FFFFFF"/>
          </a:solidFill>
          <a:ln w="10160">
            <a:solidFill>
              <a:srgbClr val="D8E2EC"/>
            </a:solidFill>
            <a:prstDash val="solid"/>
          </a:ln>
        </p:spPr>
      </p:sp>
      <p:sp>
        <p:nvSpPr>
          <p:cNvPr id="32" name="Shape 30"/>
          <p:cNvSpPr/>
          <p:nvPr/>
        </p:nvSpPr>
        <p:spPr>
          <a:xfrm>
            <a:off x="6382512" y="2971800"/>
            <a:ext cx="73152" cy="1261872"/>
          </a:xfrm>
          <a:prstGeom prst="rect">
            <a:avLst/>
          </a:prstGeom>
          <a:solidFill>
            <a:srgbClr val="00B7C3"/>
          </a:solidFill>
          <a:ln w="12700">
            <a:solidFill>
              <a:srgbClr val="00B7C3"/>
            </a:solidFill>
            <a:prstDash val="solid"/>
          </a:ln>
        </p:spPr>
      </p:sp>
      <p:sp>
        <p:nvSpPr>
          <p:cNvPr id="33" name="Text 31"/>
          <p:cNvSpPr/>
          <p:nvPr/>
        </p:nvSpPr>
        <p:spPr>
          <a:xfrm>
            <a:off x="6565392"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Self-hosted gateway</a:t>
            </a:r>
            <a:endParaRPr lang="en-US" sz="1120" dirty="0"/>
          </a:p>
        </p:txBody>
      </p:sp>
      <p:sp>
        <p:nvSpPr>
          <p:cNvPr id="34" name="Text 32"/>
          <p:cNvSpPr/>
          <p:nvPr/>
        </p:nvSpPr>
        <p:spPr>
          <a:xfrm>
            <a:off x="6565392"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Developer and Premium classic only; not v2.</a:t>
            </a:r>
            <a:endParaRPr lang="en-US" sz="820" dirty="0"/>
          </a:p>
        </p:txBody>
      </p:sp>
      <p:sp>
        <p:nvSpPr>
          <p:cNvPr id="35" name="Shape 33"/>
          <p:cNvSpPr/>
          <p:nvPr/>
        </p:nvSpPr>
        <p:spPr>
          <a:xfrm>
            <a:off x="9244584" y="2971800"/>
            <a:ext cx="2514600" cy="1261872"/>
          </a:xfrm>
          <a:prstGeom prst="rect">
            <a:avLst/>
          </a:prstGeom>
          <a:solidFill>
            <a:srgbClr val="FFFFFF"/>
          </a:solidFill>
          <a:ln w="10160">
            <a:solidFill>
              <a:srgbClr val="D8E2EC"/>
            </a:solidFill>
            <a:prstDash val="solid"/>
          </a:ln>
        </p:spPr>
      </p:sp>
      <p:sp>
        <p:nvSpPr>
          <p:cNvPr id="36" name="Shape 34"/>
          <p:cNvSpPr/>
          <p:nvPr/>
        </p:nvSpPr>
        <p:spPr>
          <a:xfrm>
            <a:off x="9244584" y="2971800"/>
            <a:ext cx="73152" cy="1261872"/>
          </a:xfrm>
          <a:prstGeom prst="rect">
            <a:avLst/>
          </a:prstGeom>
          <a:solidFill>
            <a:srgbClr val="00B7C3"/>
          </a:solidFill>
          <a:ln w="12700">
            <a:solidFill>
              <a:srgbClr val="00B7C3"/>
            </a:solidFill>
            <a:prstDash val="solid"/>
          </a:ln>
        </p:spPr>
      </p:sp>
      <p:sp>
        <p:nvSpPr>
          <p:cNvPr id="37" name="Text 35"/>
          <p:cNvSpPr/>
          <p:nvPr/>
        </p:nvSpPr>
        <p:spPr>
          <a:xfrm>
            <a:off x="9427464" y="3108960"/>
            <a:ext cx="2194560" cy="256032"/>
          </a:xfrm>
          <a:prstGeom prst="rect">
            <a:avLst/>
          </a:prstGeom>
          <a:noFill/>
          <a:ln/>
        </p:spPr>
        <p:txBody>
          <a:bodyPr wrap="square" lIns="0" tIns="0" rIns="0" bIns="0" rtlCol="0" anchor="ctr">
            <a:normAutofit/>
          </a:bodyPr>
          <a:lstStyle/>
          <a:p>
            <a:pPr marL="0" indent="0">
              <a:buNone/>
            </a:pPr>
            <a:r>
              <a:rPr lang="en-US" sz="1120" dirty="0">
                <a:solidFill>
                  <a:srgbClr val="0B1E3F"/>
                </a:solidFill>
                <a:latin typeface="Segoe UI Semibold" pitchFamily="34" charset="0"/>
                <a:ea typeface="Segoe UI Semibold" pitchFamily="34" charset="-122"/>
                <a:cs typeface="Segoe UI Semibold" pitchFamily="34" charset="-120"/>
              </a:rPr>
              <a:t>Token limits</a:t>
            </a:r>
            <a:endParaRPr lang="en-US" sz="1120" dirty="0"/>
          </a:p>
        </p:txBody>
      </p:sp>
      <p:sp>
        <p:nvSpPr>
          <p:cNvPr id="38" name="Text 36"/>
          <p:cNvSpPr/>
          <p:nvPr/>
        </p:nvSpPr>
        <p:spPr>
          <a:xfrm>
            <a:off x="9427464" y="3429000"/>
            <a:ext cx="2194560" cy="713232"/>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Per gateway, not aggregated across regions.</a:t>
            </a:r>
            <a:endParaRPr lang="en-US" sz="820" dirty="0"/>
          </a:p>
        </p:txBody>
      </p:sp>
      <p:sp>
        <p:nvSpPr>
          <p:cNvPr id="39" name="Shape 37"/>
          <p:cNvSpPr/>
          <p:nvPr/>
        </p:nvSpPr>
        <p:spPr>
          <a:xfrm>
            <a:off x="1874520" y="5175504"/>
            <a:ext cx="310896" cy="256032"/>
          </a:xfrm>
          <a:prstGeom prst="triangle">
            <a:avLst/>
          </a:prstGeom>
          <a:solidFill>
            <a:srgbClr val="FFB900"/>
          </a:solidFill>
          <a:ln w="12700">
            <a:solidFill>
              <a:srgbClr val="FFB900"/>
            </a:solidFill>
            <a:prstDash val="solid"/>
          </a:ln>
        </p:spPr>
      </p:sp>
      <p:sp>
        <p:nvSpPr>
          <p:cNvPr id="40" name="Text 38"/>
          <p:cNvSpPr/>
          <p:nvPr/>
        </p:nvSpPr>
        <p:spPr>
          <a:xfrm>
            <a:off x="2304288" y="5230368"/>
            <a:ext cx="7955280" cy="201168"/>
          </a:xfrm>
          <a:prstGeom prst="rect">
            <a:avLst/>
          </a:prstGeom>
          <a:noFill/>
          <a:ln/>
        </p:spPr>
        <p:txBody>
          <a:bodyPr wrap="square" lIns="0" tIns="0" rIns="0" bIns="0" rtlCol="0" anchor="ctr"/>
          <a:lstStyle/>
          <a:p>
            <a:pPr marL="0" indent="0" algn="l">
              <a:buNone/>
            </a:pPr>
            <a:r>
              <a:rPr lang="en-US" sz="1220" dirty="0">
                <a:solidFill>
                  <a:srgbClr val="0B1E3F"/>
                </a:solidFill>
                <a:latin typeface="Segoe UI Semibold" pitchFamily="34" charset="0"/>
                <a:ea typeface="Segoe UI Semibold" pitchFamily="34" charset="-122"/>
                <a:cs typeface="Segoe UI Semibold" pitchFamily="34" charset="-120"/>
              </a:rPr>
              <a:t>Design implication: choose the SKU for features and limits first; then optimize cost.</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DECISION GUIDE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Choosing a tier for AI gateway scenarios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28</a:t>
            </a:r>
            <a:endParaRPr lang="en-US" sz="800" dirty="0"/>
          </a:p>
        </p:txBody>
      </p:sp>
      <p:sp>
        <p:nvSpPr>
          <p:cNvPr id="7" name="Shape 5"/>
          <p:cNvSpPr/>
          <p:nvPr/>
        </p:nvSpPr>
        <p:spPr>
          <a:xfrm>
            <a:off x="65836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sp>
      <p:sp>
        <p:nvSpPr>
          <p:cNvPr id="8" name="Text 6"/>
          <p:cNvSpPr/>
          <p:nvPr/>
        </p:nvSpPr>
        <p:spPr>
          <a:xfrm>
            <a:off x="82296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Consumption</a:t>
            </a:r>
            <a:endParaRPr lang="en-US" sz="1500" dirty="0"/>
          </a:p>
        </p:txBody>
      </p:sp>
      <p:sp>
        <p:nvSpPr>
          <p:cNvPr id="9" name="Shape 7"/>
          <p:cNvSpPr/>
          <p:nvPr/>
        </p:nvSpPr>
        <p:spPr>
          <a:xfrm>
            <a:off x="978408" y="1920240"/>
            <a:ext cx="749808" cy="246888"/>
          </a:xfrm>
          <a:prstGeom prst="roundRect">
            <a:avLst>
              <a:gd name="adj" fmla="val 18519"/>
            </a:avLst>
          </a:prstGeom>
          <a:solidFill>
            <a:srgbClr val="E5F1FB"/>
          </a:solidFill>
          <a:ln w="12700">
            <a:solidFill>
              <a:srgbClr val="E5F1FB"/>
            </a:solidFill>
            <a:prstDash val="solid"/>
          </a:ln>
        </p:spPr>
      </p:sp>
      <p:sp>
        <p:nvSpPr>
          <p:cNvPr id="10" name="Text 8"/>
          <p:cNvSpPr/>
          <p:nvPr/>
        </p:nvSpPr>
        <p:spPr>
          <a:xfrm>
            <a:off x="103327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11" name="Text 9"/>
          <p:cNvSpPr/>
          <p:nvPr/>
        </p:nvSpPr>
        <p:spPr>
          <a:xfrm>
            <a:off x="88696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simple serverless proxy; no MCP or circuit breaker</a:t>
            </a:r>
            <a:endParaRPr lang="en-US" sz="930" dirty="0"/>
          </a:p>
        </p:txBody>
      </p:sp>
      <p:sp>
        <p:nvSpPr>
          <p:cNvPr id="12" name="Shape 10"/>
          <p:cNvSpPr/>
          <p:nvPr/>
        </p:nvSpPr>
        <p:spPr>
          <a:xfrm>
            <a:off x="978408" y="3310128"/>
            <a:ext cx="749808" cy="246888"/>
          </a:xfrm>
          <a:prstGeom prst="roundRect">
            <a:avLst>
              <a:gd name="adj" fmla="val 18519"/>
            </a:avLst>
          </a:prstGeom>
          <a:solidFill>
            <a:srgbClr val="FFF3CF"/>
          </a:solidFill>
          <a:ln w="12700">
            <a:solidFill>
              <a:srgbClr val="FFF3CF"/>
            </a:solidFill>
            <a:prstDash val="solid"/>
          </a:ln>
        </p:spPr>
      </p:sp>
      <p:sp>
        <p:nvSpPr>
          <p:cNvPr id="13" name="Text 11"/>
          <p:cNvSpPr/>
          <p:nvPr/>
        </p:nvSpPr>
        <p:spPr>
          <a:xfrm>
            <a:off x="103327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14" name="Text 12"/>
          <p:cNvSpPr/>
          <p:nvPr/>
        </p:nvSpPr>
        <p:spPr>
          <a:xfrm>
            <a:off x="88696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this demo and most agent/tool gateway scenarios</a:t>
            </a:r>
            <a:endParaRPr lang="en-US" sz="880" dirty="0"/>
          </a:p>
        </p:txBody>
      </p:sp>
      <p:sp>
        <p:nvSpPr>
          <p:cNvPr id="15" name="Shape 13"/>
          <p:cNvSpPr/>
          <p:nvPr/>
        </p:nvSpPr>
        <p:spPr>
          <a:xfrm>
            <a:off x="3538728" y="1143000"/>
            <a:ext cx="2514600" cy="3703320"/>
          </a:xfrm>
          <a:prstGeom prst="rect">
            <a:avLst/>
          </a:prstGeom>
          <a:solidFill>
            <a:srgbClr val="D9F7FA"/>
          </a:solidFill>
          <a:ln w="19050">
            <a:solidFill>
              <a:srgbClr val="00B7C3"/>
            </a:solidFill>
            <a:prstDash val="solid"/>
          </a:ln>
          <a:effectLst>
            <a:outerShdw blurRad="38100" dist="12700" dir="2700000" algn="bl" rotWithShape="0">
              <a:srgbClr val="000000">
                <a:alpha val="6000"/>
              </a:srgbClr>
            </a:outerShdw>
          </a:effectLst>
        </p:spPr>
      </p:sp>
      <p:sp>
        <p:nvSpPr>
          <p:cNvPr id="16" name="Text 14"/>
          <p:cNvSpPr/>
          <p:nvPr/>
        </p:nvSpPr>
        <p:spPr>
          <a:xfrm>
            <a:off x="370332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Basic v2</a:t>
            </a:r>
            <a:endParaRPr lang="en-US" sz="1500" dirty="0"/>
          </a:p>
        </p:txBody>
      </p:sp>
      <p:sp>
        <p:nvSpPr>
          <p:cNvPr id="17" name="Shape 15"/>
          <p:cNvSpPr/>
          <p:nvPr/>
        </p:nvSpPr>
        <p:spPr>
          <a:xfrm>
            <a:off x="3858768" y="1920240"/>
            <a:ext cx="749808" cy="246888"/>
          </a:xfrm>
          <a:prstGeom prst="roundRect">
            <a:avLst>
              <a:gd name="adj" fmla="val 18519"/>
            </a:avLst>
          </a:prstGeom>
          <a:solidFill>
            <a:srgbClr val="E5F1FB"/>
          </a:solidFill>
          <a:ln w="12700">
            <a:solidFill>
              <a:srgbClr val="E5F1FB"/>
            </a:solidFill>
            <a:prstDash val="solid"/>
          </a:ln>
        </p:spPr>
      </p:sp>
      <p:sp>
        <p:nvSpPr>
          <p:cNvPr id="18" name="Text 16"/>
          <p:cNvSpPr/>
          <p:nvPr/>
        </p:nvSpPr>
        <p:spPr>
          <a:xfrm>
            <a:off x="391363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19" name="Text 17"/>
          <p:cNvSpPr/>
          <p:nvPr/>
        </p:nvSpPr>
        <p:spPr>
          <a:xfrm>
            <a:off x="376732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fast production-ready demo or entry gateway; supports MCP, policies and circuit breaker</a:t>
            </a:r>
            <a:endParaRPr lang="en-US" sz="930" dirty="0"/>
          </a:p>
        </p:txBody>
      </p:sp>
      <p:sp>
        <p:nvSpPr>
          <p:cNvPr id="20" name="Shape 18"/>
          <p:cNvSpPr/>
          <p:nvPr/>
        </p:nvSpPr>
        <p:spPr>
          <a:xfrm>
            <a:off x="3858768" y="3310128"/>
            <a:ext cx="749808" cy="246888"/>
          </a:xfrm>
          <a:prstGeom prst="roundRect">
            <a:avLst>
              <a:gd name="adj" fmla="val 18519"/>
            </a:avLst>
          </a:prstGeom>
          <a:solidFill>
            <a:srgbClr val="FFF3CF"/>
          </a:solidFill>
          <a:ln w="12700">
            <a:solidFill>
              <a:srgbClr val="FFF3CF"/>
            </a:solidFill>
            <a:prstDash val="solid"/>
          </a:ln>
        </p:spPr>
      </p:sp>
      <p:sp>
        <p:nvSpPr>
          <p:cNvPr id="21" name="Text 19"/>
          <p:cNvSpPr/>
          <p:nvPr/>
        </p:nvSpPr>
        <p:spPr>
          <a:xfrm>
            <a:off x="391363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22" name="Text 20"/>
          <p:cNvSpPr/>
          <p:nvPr/>
        </p:nvSpPr>
        <p:spPr>
          <a:xfrm>
            <a:off x="376732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VNet integration or high isolation</a:t>
            </a:r>
            <a:endParaRPr lang="en-US" sz="880" dirty="0"/>
          </a:p>
        </p:txBody>
      </p:sp>
      <p:sp>
        <p:nvSpPr>
          <p:cNvPr id="23" name="Shape 21"/>
          <p:cNvSpPr/>
          <p:nvPr/>
        </p:nvSpPr>
        <p:spPr>
          <a:xfrm>
            <a:off x="641908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sp>
      <p:sp>
        <p:nvSpPr>
          <p:cNvPr id="24" name="Text 22"/>
          <p:cNvSpPr/>
          <p:nvPr/>
        </p:nvSpPr>
        <p:spPr>
          <a:xfrm>
            <a:off x="658368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Standard v2</a:t>
            </a:r>
            <a:endParaRPr lang="en-US" sz="1500" dirty="0"/>
          </a:p>
        </p:txBody>
      </p:sp>
      <p:sp>
        <p:nvSpPr>
          <p:cNvPr id="25" name="Shape 23"/>
          <p:cNvSpPr/>
          <p:nvPr/>
        </p:nvSpPr>
        <p:spPr>
          <a:xfrm>
            <a:off x="6739128" y="1920240"/>
            <a:ext cx="749808" cy="246888"/>
          </a:xfrm>
          <a:prstGeom prst="roundRect">
            <a:avLst>
              <a:gd name="adj" fmla="val 18519"/>
            </a:avLst>
          </a:prstGeom>
          <a:solidFill>
            <a:srgbClr val="E5F1FB"/>
          </a:solidFill>
          <a:ln w="12700">
            <a:solidFill>
              <a:srgbClr val="E5F1FB"/>
            </a:solidFill>
            <a:prstDash val="solid"/>
          </a:ln>
        </p:spPr>
      </p:sp>
      <p:sp>
        <p:nvSpPr>
          <p:cNvPr id="26" name="Text 24"/>
          <p:cNvSpPr/>
          <p:nvPr/>
        </p:nvSpPr>
        <p:spPr>
          <a:xfrm>
            <a:off x="679399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27" name="Text 25"/>
          <p:cNvSpPr/>
          <p:nvPr/>
        </p:nvSpPr>
        <p:spPr>
          <a:xfrm>
            <a:off x="664768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production gateway with outbound VNet integration and higher included calls</a:t>
            </a:r>
            <a:endParaRPr lang="en-US" sz="930" dirty="0"/>
          </a:p>
        </p:txBody>
      </p:sp>
      <p:sp>
        <p:nvSpPr>
          <p:cNvPr id="28" name="Shape 26"/>
          <p:cNvSpPr/>
          <p:nvPr/>
        </p:nvSpPr>
        <p:spPr>
          <a:xfrm>
            <a:off x="6739128" y="3310128"/>
            <a:ext cx="749808" cy="246888"/>
          </a:xfrm>
          <a:prstGeom prst="roundRect">
            <a:avLst>
              <a:gd name="adj" fmla="val 18519"/>
            </a:avLst>
          </a:prstGeom>
          <a:solidFill>
            <a:srgbClr val="FFF3CF"/>
          </a:solidFill>
          <a:ln w="12700">
            <a:solidFill>
              <a:srgbClr val="FFF3CF"/>
            </a:solidFill>
            <a:prstDash val="solid"/>
          </a:ln>
        </p:spPr>
      </p:sp>
      <p:sp>
        <p:nvSpPr>
          <p:cNvPr id="29" name="Text 27"/>
          <p:cNvSpPr/>
          <p:nvPr/>
        </p:nvSpPr>
        <p:spPr>
          <a:xfrm>
            <a:off x="679399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30" name="Text 28"/>
          <p:cNvSpPr/>
          <p:nvPr/>
        </p:nvSpPr>
        <p:spPr>
          <a:xfrm>
            <a:off x="664768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full VNet injection or 30-unit scale</a:t>
            </a:r>
            <a:endParaRPr lang="en-US" sz="880" dirty="0"/>
          </a:p>
        </p:txBody>
      </p:sp>
      <p:sp>
        <p:nvSpPr>
          <p:cNvPr id="31" name="Shape 29"/>
          <p:cNvSpPr/>
          <p:nvPr/>
        </p:nvSpPr>
        <p:spPr>
          <a:xfrm>
            <a:off x="929944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sp>
      <p:sp>
        <p:nvSpPr>
          <p:cNvPr id="32" name="Text 30"/>
          <p:cNvSpPr/>
          <p:nvPr/>
        </p:nvSpPr>
        <p:spPr>
          <a:xfrm>
            <a:off x="946404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Premium v2</a:t>
            </a:r>
            <a:endParaRPr lang="en-US" sz="1500" dirty="0"/>
          </a:p>
        </p:txBody>
      </p:sp>
      <p:sp>
        <p:nvSpPr>
          <p:cNvPr id="33" name="Shape 31"/>
          <p:cNvSpPr/>
          <p:nvPr/>
        </p:nvSpPr>
        <p:spPr>
          <a:xfrm>
            <a:off x="9619488" y="1920240"/>
            <a:ext cx="749808" cy="246888"/>
          </a:xfrm>
          <a:prstGeom prst="roundRect">
            <a:avLst>
              <a:gd name="adj" fmla="val 18519"/>
            </a:avLst>
          </a:prstGeom>
          <a:solidFill>
            <a:srgbClr val="E5F1FB"/>
          </a:solidFill>
          <a:ln w="12700">
            <a:solidFill>
              <a:srgbClr val="E5F1FB"/>
            </a:solidFill>
            <a:prstDash val="solid"/>
          </a:ln>
        </p:spPr>
      </p:sp>
      <p:sp>
        <p:nvSpPr>
          <p:cNvPr id="34" name="Text 32"/>
          <p:cNvSpPr/>
          <p:nvPr/>
        </p:nvSpPr>
        <p:spPr>
          <a:xfrm>
            <a:off x="967435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35" name="Text 33"/>
          <p:cNvSpPr/>
          <p:nvPr/>
        </p:nvSpPr>
        <p:spPr>
          <a:xfrm>
            <a:off x="952804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availability zones, VNet injection and highest v2 scale are required</a:t>
            </a:r>
            <a:endParaRPr lang="en-US" sz="930" dirty="0"/>
          </a:p>
        </p:txBody>
      </p:sp>
      <p:sp>
        <p:nvSpPr>
          <p:cNvPr id="36" name="Shape 34"/>
          <p:cNvSpPr/>
          <p:nvPr/>
        </p:nvSpPr>
        <p:spPr>
          <a:xfrm>
            <a:off x="9619488" y="3310128"/>
            <a:ext cx="749808" cy="246888"/>
          </a:xfrm>
          <a:prstGeom prst="roundRect">
            <a:avLst>
              <a:gd name="adj" fmla="val 18519"/>
            </a:avLst>
          </a:prstGeom>
          <a:solidFill>
            <a:srgbClr val="FFF3CF"/>
          </a:solidFill>
          <a:ln w="12700">
            <a:solidFill>
              <a:srgbClr val="FFF3CF"/>
            </a:solidFill>
            <a:prstDash val="solid"/>
          </a:ln>
        </p:spPr>
      </p:sp>
      <p:sp>
        <p:nvSpPr>
          <p:cNvPr id="37" name="Text 35"/>
          <p:cNvSpPr/>
          <p:nvPr/>
        </p:nvSpPr>
        <p:spPr>
          <a:xfrm>
            <a:off x="967435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38" name="Text 36"/>
          <p:cNvSpPr/>
          <p:nvPr/>
        </p:nvSpPr>
        <p:spPr>
          <a:xfrm>
            <a:off x="952804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self-hosted gateway, which needs Developer or Premium classic</a:t>
            </a:r>
            <a:endParaRPr lang="en-US" sz="880" dirty="0"/>
          </a:p>
        </p:txBody>
      </p:sp>
      <p:sp>
        <p:nvSpPr>
          <p:cNvPr id="39" name="Text 37"/>
          <p:cNvSpPr/>
          <p:nvPr/>
        </p:nvSpPr>
        <p:spPr>
          <a:xfrm>
            <a:off x="1737360" y="5349240"/>
            <a:ext cx="8778240" cy="228600"/>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For this repo: Basic v2 is the cheapest SKU that supports the full demo feature set.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07</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7</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Patterns, reference architecture and labs</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75–82 · 7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PATTERNS &amp; LABS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Adoption path: crawl, walk, run — backed by 50+ labs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30</a:t>
            </a:r>
            <a:endParaRPr lang="en-US" sz="800" dirty="0"/>
          </a:p>
        </p:txBody>
      </p:sp>
      <p:sp>
        <p:nvSpPr>
          <p:cNvPr id="7" name="Shape 5"/>
          <p:cNvSpPr/>
          <p:nvPr/>
        </p:nvSpPr>
        <p:spPr>
          <a:xfrm>
            <a:off x="749808" y="1143000"/>
            <a:ext cx="3154680" cy="960120"/>
          </a:xfrm>
          <a:prstGeom prst="chevron">
            <a:avLst/>
          </a:prstGeom>
          <a:solidFill>
            <a:srgbClr val="00B7C3"/>
          </a:solidFill>
          <a:ln w="12700">
            <a:solidFill>
              <a:srgbClr val="00B7C3"/>
            </a:solidFill>
            <a:prstDash val="solid"/>
          </a:ln>
        </p:spPr>
      </p:sp>
      <p:sp>
        <p:nvSpPr>
          <p:cNvPr id="8" name="Text 6"/>
          <p:cNvSpPr/>
          <p:nvPr/>
        </p:nvSpPr>
        <p:spPr>
          <a:xfrm>
            <a:off x="1042416" y="1481328"/>
            <a:ext cx="2468880" cy="182880"/>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Crawl</a:t>
            </a:r>
            <a:endParaRPr lang="en-US" sz="1500" dirty="0"/>
          </a:p>
        </p:txBody>
      </p:sp>
      <p:sp>
        <p:nvSpPr>
          <p:cNvPr id="9" name="Text 7"/>
          <p:cNvSpPr/>
          <p:nvPr/>
        </p:nvSpPr>
        <p:spPr>
          <a:xfrm>
            <a:off x="886968" y="2423160"/>
            <a:ext cx="2971800" cy="749808"/>
          </a:xfrm>
          <a:prstGeom prst="rect">
            <a:avLst/>
          </a:prstGeom>
          <a:noFill/>
          <a:ln/>
        </p:spPr>
        <p:txBody>
          <a:bodyPr wrap="square" lIns="508" tIns="508" rIns="508" bIns="508" rtlCol="0" anchor="ctr">
            <a:normAutofit/>
          </a:bodyPr>
          <a:lstStyle/>
          <a:p>
            <a:pPr marL="0" indent="0" algn="ctr">
              <a:buNone/>
            </a:pPr>
            <a:r>
              <a:rPr lang="en-US" sz="950" dirty="0">
                <a:solidFill>
                  <a:srgbClr val="3B4A5E"/>
                </a:solidFill>
                <a:latin typeface="Segoe UI" pitchFamily="34" charset="0"/>
                <a:ea typeface="Segoe UI" pitchFamily="34" charset="-122"/>
                <a:cs typeface="Segoe UI" pitchFamily="34" charset="-120"/>
              </a:rPr>
              <a:t>Put one inference API behind APIM; use managed identity, subscription keys and basic token metrics.</a:t>
            </a:r>
            <a:endParaRPr lang="en-US" sz="950" dirty="0"/>
          </a:p>
        </p:txBody>
      </p:sp>
      <p:sp>
        <p:nvSpPr>
          <p:cNvPr id="10" name="Shape 8"/>
          <p:cNvSpPr/>
          <p:nvPr/>
        </p:nvSpPr>
        <p:spPr>
          <a:xfrm>
            <a:off x="4517136" y="1143000"/>
            <a:ext cx="3154680" cy="960120"/>
          </a:xfrm>
          <a:prstGeom prst="chevron">
            <a:avLst/>
          </a:prstGeom>
          <a:solidFill>
            <a:srgbClr val="0078D4"/>
          </a:solidFill>
          <a:ln w="12700">
            <a:solidFill>
              <a:srgbClr val="0078D4"/>
            </a:solidFill>
            <a:prstDash val="solid"/>
          </a:ln>
        </p:spPr>
      </p:sp>
      <p:sp>
        <p:nvSpPr>
          <p:cNvPr id="11" name="Text 9"/>
          <p:cNvSpPr/>
          <p:nvPr/>
        </p:nvSpPr>
        <p:spPr>
          <a:xfrm>
            <a:off x="4809744" y="1481328"/>
            <a:ext cx="2468880" cy="182880"/>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Walk</a:t>
            </a:r>
            <a:endParaRPr lang="en-US" sz="1500" dirty="0"/>
          </a:p>
        </p:txBody>
      </p:sp>
      <p:sp>
        <p:nvSpPr>
          <p:cNvPr id="12" name="Text 10"/>
          <p:cNvSpPr/>
          <p:nvPr/>
        </p:nvSpPr>
        <p:spPr>
          <a:xfrm>
            <a:off x="4654296" y="2423160"/>
            <a:ext cx="2971800" cy="749808"/>
          </a:xfrm>
          <a:prstGeom prst="rect">
            <a:avLst/>
          </a:prstGeom>
          <a:noFill/>
          <a:ln/>
        </p:spPr>
        <p:txBody>
          <a:bodyPr wrap="square" lIns="508" tIns="508" rIns="508" bIns="508" rtlCol="0" anchor="ctr">
            <a:normAutofit/>
          </a:bodyPr>
          <a:lstStyle/>
          <a:p>
            <a:pPr marL="0" indent="0" algn="ctr">
              <a:buNone/>
            </a:pPr>
            <a:r>
              <a:rPr lang="en-US" sz="950" dirty="0">
                <a:solidFill>
                  <a:srgbClr val="3B4A5E"/>
                </a:solidFill>
                <a:latin typeface="Segoe UI" pitchFamily="34" charset="0"/>
                <a:ea typeface="Segoe UI" pitchFamily="34" charset="-122"/>
                <a:cs typeface="Segoe UI" pitchFamily="34" charset="-120"/>
              </a:rPr>
              <a:t>Add token budgets, content safety, backend pools, circuit breakers and product-level chargeback.</a:t>
            </a:r>
            <a:endParaRPr lang="en-US" sz="950" dirty="0"/>
          </a:p>
        </p:txBody>
      </p:sp>
      <p:sp>
        <p:nvSpPr>
          <p:cNvPr id="13" name="Shape 11"/>
          <p:cNvSpPr/>
          <p:nvPr/>
        </p:nvSpPr>
        <p:spPr>
          <a:xfrm>
            <a:off x="8284464" y="1143000"/>
            <a:ext cx="3154680" cy="960120"/>
          </a:xfrm>
          <a:prstGeom prst="chevron">
            <a:avLst/>
          </a:prstGeom>
          <a:solidFill>
            <a:srgbClr val="FFB900"/>
          </a:solidFill>
          <a:ln w="12700">
            <a:solidFill>
              <a:srgbClr val="FFB900"/>
            </a:solidFill>
            <a:prstDash val="solid"/>
          </a:ln>
        </p:spPr>
      </p:sp>
      <p:sp>
        <p:nvSpPr>
          <p:cNvPr id="14" name="Text 12"/>
          <p:cNvSpPr/>
          <p:nvPr/>
        </p:nvSpPr>
        <p:spPr>
          <a:xfrm>
            <a:off x="8577072" y="1481328"/>
            <a:ext cx="2468880" cy="182880"/>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Run</a:t>
            </a:r>
            <a:endParaRPr lang="en-US" sz="1500" dirty="0"/>
          </a:p>
        </p:txBody>
      </p:sp>
      <p:sp>
        <p:nvSpPr>
          <p:cNvPr id="15" name="Text 13"/>
          <p:cNvSpPr/>
          <p:nvPr/>
        </p:nvSpPr>
        <p:spPr>
          <a:xfrm>
            <a:off x="8421624" y="2423160"/>
            <a:ext cx="2971800" cy="749808"/>
          </a:xfrm>
          <a:prstGeom prst="rect">
            <a:avLst/>
          </a:prstGeom>
          <a:noFill/>
          <a:ln/>
        </p:spPr>
        <p:txBody>
          <a:bodyPr wrap="square" lIns="508" tIns="508" rIns="508" bIns="508" rtlCol="0" anchor="ctr">
            <a:normAutofit/>
          </a:bodyPr>
          <a:lstStyle/>
          <a:p>
            <a:pPr marL="0" indent="0" algn="ctr">
              <a:buNone/>
            </a:pPr>
            <a:r>
              <a:rPr lang="en-US" sz="950" dirty="0">
                <a:solidFill>
                  <a:srgbClr val="3B4A5E"/>
                </a:solidFill>
                <a:latin typeface="Segoe UI" pitchFamily="34" charset="0"/>
                <a:ea typeface="Segoe UI" pitchFamily="34" charset="-122"/>
                <a:cs typeface="Segoe UI" pitchFamily="34" charset="-120"/>
              </a:rPr>
              <a:t>Register MCP servers and agents, API Center discovery, semantic caching and FinOps dashboards.</a:t>
            </a:r>
            <a:endParaRPr lang="en-US" sz="950" dirty="0"/>
          </a:p>
        </p:txBody>
      </p:sp>
      <p:sp>
        <p:nvSpPr>
          <p:cNvPr id="16" name="Shape 14"/>
          <p:cNvSpPr/>
          <p:nvPr/>
        </p:nvSpPr>
        <p:spPr>
          <a:xfrm>
            <a:off x="914400" y="3886200"/>
            <a:ext cx="10378440" cy="1234440"/>
          </a:xfrm>
          <a:prstGeom prst="roundRect">
            <a:avLst>
              <a:gd name="adj" fmla="val 5185"/>
            </a:avLst>
          </a:prstGeom>
          <a:solidFill>
            <a:srgbClr val="FFFFFF"/>
          </a:solidFill>
          <a:ln w="12700">
            <a:solidFill>
              <a:srgbClr val="D8E2EC"/>
            </a:solidFill>
            <a:prstDash val="solid"/>
          </a:ln>
          <a:effectLst>
            <a:outerShdw blurRad="38100" dist="12700" dir="2700000" algn="bl" rotWithShape="0">
              <a:srgbClr val="000000">
                <a:alpha val="6000"/>
              </a:srgbClr>
            </a:outerShdw>
          </a:effectLst>
        </p:spPr>
      </p:sp>
      <p:sp>
        <p:nvSpPr>
          <p:cNvPr id="17" name="Text 15"/>
          <p:cNvSpPr/>
          <p:nvPr/>
        </p:nvSpPr>
        <p:spPr>
          <a:xfrm>
            <a:off x="1188720" y="4160520"/>
            <a:ext cx="2194560" cy="164592"/>
          </a:xfrm>
          <a:prstGeom prst="rect">
            <a:avLst/>
          </a:prstGeom>
          <a:noFill/>
          <a:ln/>
        </p:spPr>
        <p:txBody>
          <a:bodyPr wrap="square" lIns="0" tIns="0" rIns="0" bIns="0" rtlCol="0" anchor="ctr"/>
          <a:lstStyle/>
          <a:p>
            <a:pPr marL="0" indent="0">
              <a:buNone/>
            </a:pPr>
            <a:r>
              <a:rPr lang="en-US" sz="1150" dirty="0">
                <a:solidFill>
                  <a:srgbClr val="0B1E3F"/>
                </a:solidFill>
                <a:latin typeface="Segoe UI Semibold" pitchFamily="34" charset="0"/>
                <a:ea typeface="Segoe UI Semibold" pitchFamily="34" charset="-122"/>
                <a:cs typeface="Segoe UI Semibold" pitchFamily="34" charset="-120"/>
              </a:rPr>
              <a:t>AI-Gateway labs to try next</a:t>
            </a:r>
            <a:endParaRPr lang="en-US" sz="1150" dirty="0"/>
          </a:p>
        </p:txBody>
      </p:sp>
      <p:sp>
        <p:nvSpPr>
          <p:cNvPr id="18" name="Shape 16"/>
          <p:cNvSpPr/>
          <p:nvPr/>
        </p:nvSpPr>
        <p:spPr>
          <a:xfrm>
            <a:off x="3520440" y="4096512"/>
            <a:ext cx="1664208" cy="246888"/>
          </a:xfrm>
          <a:prstGeom prst="roundRect">
            <a:avLst>
              <a:gd name="adj" fmla="val 18519"/>
            </a:avLst>
          </a:prstGeom>
          <a:solidFill>
            <a:srgbClr val="D9F7FA"/>
          </a:solidFill>
          <a:ln w="12700">
            <a:solidFill>
              <a:srgbClr val="D9F7FA"/>
            </a:solidFill>
            <a:prstDash val="solid"/>
          </a:ln>
        </p:spPr>
      </p:sp>
      <p:sp>
        <p:nvSpPr>
          <p:cNvPr id="19" name="Text 17"/>
          <p:cNvSpPr/>
          <p:nvPr/>
        </p:nvSpPr>
        <p:spPr>
          <a:xfrm>
            <a:off x="357530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backend-pool-load-balancing</a:t>
            </a:r>
            <a:endParaRPr lang="en-US" sz="750" dirty="0"/>
          </a:p>
        </p:txBody>
      </p:sp>
      <p:sp>
        <p:nvSpPr>
          <p:cNvPr id="20" name="Shape 18"/>
          <p:cNvSpPr/>
          <p:nvPr/>
        </p:nvSpPr>
        <p:spPr>
          <a:xfrm>
            <a:off x="5394960" y="4096512"/>
            <a:ext cx="1664208" cy="246888"/>
          </a:xfrm>
          <a:prstGeom prst="roundRect">
            <a:avLst>
              <a:gd name="adj" fmla="val 18519"/>
            </a:avLst>
          </a:prstGeom>
          <a:solidFill>
            <a:srgbClr val="E5F1FB"/>
          </a:solidFill>
          <a:ln w="12700">
            <a:solidFill>
              <a:srgbClr val="E5F1FB"/>
            </a:solidFill>
            <a:prstDash val="solid"/>
          </a:ln>
        </p:spPr>
      </p:sp>
      <p:sp>
        <p:nvSpPr>
          <p:cNvPr id="21" name="Text 19"/>
          <p:cNvSpPr/>
          <p:nvPr/>
        </p:nvSpPr>
        <p:spPr>
          <a:xfrm>
            <a:off x="544982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token-rate-limiting</a:t>
            </a:r>
            <a:endParaRPr lang="en-US" sz="750" dirty="0"/>
          </a:p>
        </p:txBody>
      </p:sp>
      <p:sp>
        <p:nvSpPr>
          <p:cNvPr id="22" name="Shape 20"/>
          <p:cNvSpPr/>
          <p:nvPr/>
        </p:nvSpPr>
        <p:spPr>
          <a:xfrm>
            <a:off x="7269480" y="4096512"/>
            <a:ext cx="1664208" cy="246888"/>
          </a:xfrm>
          <a:prstGeom prst="roundRect">
            <a:avLst>
              <a:gd name="adj" fmla="val 18519"/>
            </a:avLst>
          </a:prstGeom>
          <a:solidFill>
            <a:srgbClr val="D9F7FA"/>
          </a:solidFill>
          <a:ln w="12700">
            <a:solidFill>
              <a:srgbClr val="D9F7FA"/>
            </a:solidFill>
            <a:prstDash val="solid"/>
          </a:ln>
        </p:spPr>
      </p:sp>
      <p:sp>
        <p:nvSpPr>
          <p:cNvPr id="23" name="Text 21"/>
          <p:cNvSpPr/>
          <p:nvPr/>
        </p:nvSpPr>
        <p:spPr>
          <a:xfrm>
            <a:off x="732434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content-safety</a:t>
            </a:r>
            <a:endParaRPr lang="en-US" sz="750" dirty="0"/>
          </a:p>
        </p:txBody>
      </p:sp>
      <p:sp>
        <p:nvSpPr>
          <p:cNvPr id="24" name="Shape 22"/>
          <p:cNvSpPr/>
          <p:nvPr/>
        </p:nvSpPr>
        <p:spPr>
          <a:xfrm>
            <a:off x="9144000" y="4096512"/>
            <a:ext cx="1664208" cy="246888"/>
          </a:xfrm>
          <a:prstGeom prst="roundRect">
            <a:avLst>
              <a:gd name="adj" fmla="val 18519"/>
            </a:avLst>
          </a:prstGeom>
          <a:solidFill>
            <a:srgbClr val="E5F1FB"/>
          </a:solidFill>
          <a:ln w="12700">
            <a:solidFill>
              <a:srgbClr val="E5F1FB"/>
            </a:solidFill>
            <a:prstDash val="solid"/>
          </a:ln>
        </p:spPr>
      </p:sp>
      <p:sp>
        <p:nvSpPr>
          <p:cNvPr id="25" name="Text 23"/>
          <p:cNvSpPr/>
          <p:nvPr/>
        </p:nvSpPr>
        <p:spPr>
          <a:xfrm>
            <a:off x="9198864" y="414680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mcp-from-api</a:t>
            </a:r>
            <a:endParaRPr lang="en-US" sz="750" dirty="0"/>
          </a:p>
        </p:txBody>
      </p:sp>
      <p:sp>
        <p:nvSpPr>
          <p:cNvPr id="26" name="Shape 24"/>
          <p:cNvSpPr/>
          <p:nvPr/>
        </p:nvSpPr>
        <p:spPr>
          <a:xfrm>
            <a:off x="3520440" y="4507992"/>
            <a:ext cx="1664208" cy="246888"/>
          </a:xfrm>
          <a:prstGeom prst="roundRect">
            <a:avLst>
              <a:gd name="adj" fmla="val 18519"/>
            </a:avLst>
          </a:prstGeom>
          <a:solidFill>
            <a:srgbClr val="D9F7FA"/>
          </a:solidFill>
          <a:ln w="12700">
            <a:solidFill>
              <a:srgbClr val="D9F7FA"/>
            </a:solidFill>
            <a:prstDash val="solid"/>
          </a:ln>
        </p:spPr>
      </p:sp>
      <p:sp>
        <p:nvSpPr>
          <p:cNvPr id="27" name="Text 25"/>
          <p:cNvSpPr/>
          <p:nvPr/>
        </p:nvSpPr>
        <p:spPr>
          <a:xfrm>
            <a:off x="3575304" y="455828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semantic-caching</a:t>
            </a:r>
            <a:endParaRPr lang="en-US" sz="750" dirty="0"/>
          </a:p>
        </p:txBody>
      </p:sp>
      <p:sp>
        <p:nvSpPr>
          <p:cNvPr id="28" name="Shape 26"/>
          <p:cNvSpPr/>
          <p:nvPr/>
        </p:nvSpPr>
        <p:spPr>
          <a:xfrm>
            <a:off x="5394960" y="4507992"/>
            <a:ext cx="1664208" cy="246888"/>
          </a:xfrm>
          <a:prstGeom prst="roundRect">
            <a:avLst>
              <a:gd name="adj" fmla="val 18519"/>
            </a:avLst>
          </a:prstGeom>
          <a:solidFill>
            <a:srgbClr val="E5F1FB"/>
          </a:solidFill>
          <a:ln w="12700">
            <a:solidFill>
              <a:srgbClr val="E5F1FB"/>
            </a:solidFill>
            <a:prstDash val="solid"/>
          </a:ln>
        </p:spPr>
      </p:sp>
      <p:sp>
        <p:nvSpPr>
          <p:cNvPr id="29" name="Text 27"/>
          <p:cNvSpPr/>
          <p:nvPr/>
        </p:nvSpPr>
        <p:spPr>
          <a:xfrm>
            <a:off x="5449824" y="455828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finops-framework</a:t>
            </a:r>
            <a:endParaRPr lang="en-US" sz="750" dirty="0"/>
          </a:p>
        </p:txBody>
      </p:sp>
      <p:sp>
        <p:nvSpPr>
          <p:cNvPr id="30" name="Shape 28"/>
          <p:cNvSpPr/>
          <p:nvPr/>
        </p:nvSpPr>
        <p:spPr>
          <a:xfrm>
            <a:off x="7269480" y="4507992"/>
            <a:ext cx="1664208" cy="246888"/>
          </a:xfrm>
          <a:prstGeom prst="roundRect">
            <a:avLst>
              <a:gd name="adj" fmla="val 18519"/>
            </a:avLst>
          </a:prstGeom>
          <a:solidFill>
            <a:srgbClr val="D9F7FA"/>
          </a:solidFill>
          <a:ln w="12700">
            <a:solidFill>
              <a:srgbClr val="D9F7FA"/>
            </a:solidFill>
            <a:prstDash val="solid"/>
          </a:ln>
        </p:spPr>
      </p:sp>
      <p:sp>
        <p:nvSpPr>
          <p:cNvPr id="31" name="Text 29"/>
          <p:cNvSpPr/>
          <p:nvPr/>
        </p:nvSpPr>
        <p:spPr>
          <a:xfrm>
            <a:off x="7324344" y="4558284"/>
            <a:ext cx="15544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zero-to-production</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08</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8</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Key takeaways, call to action and Q&amp;A</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82–90 · 8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31</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CLOSE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Key takeaways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32</a:t>
            </a:r>
            <a:endParaRPr lang="en-US" sz="800" dirty="0"/>
          </a:p>
        </p:txBody>
      </p:sp>
      <p:sp>
        <p:nvSpPr>
          <p:cNvPr id="7" name="Shape 5"/>
          <p:cNvSpPr/>
          <p:nvPr/>
        </p:nvSpPr>
        <p:spPr>
          <a:xfrm>
            <a:off x="914400" y="123444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8" name="Shape 6"/>
          <p:cNvSpPr/>
          <p:nvPr/>
        </p:nvSpPr>
        <p:spPr>
          <a:xfrm>
            <a:off x="914400" y="1234440"/>
            <a:ext cx="73152" cy="1097280"/>
          </a:xfrm>
          <a:prstGeom prst="rect">
            <a:avLst/>
          </a:prstGeom>
          <a:solidFill>
            <a:srgbClr val="00B7C3"/>
          </a:solidFill>
          <a:ln w="12700">
            <a:solidFill>
              <a:srgbClr val="00B7C3"/>
            </a:solidFill>
            <a:prstDash val="solid"/>
          </a:ln>
        </p:spPr>
      </p:sp>
      <p:sp>
        <p:nvSpPr>
          <p:cNvPr id="9" name="Shape 7"/>
          <p:cNvSpPr/>
          <p:nvPr/>
        </p:nvSpPr>
        <p:spPr>
          <a:xfrm>
            <a:off x="1078992" y="1389888"/>
            <a:ext cx="393192" cy="393192"/>
          </a:xfrm>
          <a:prstGeom prst="ellipse">
            <a:avLst/>
          </a:prstGeom>
          <a:solidFill>
            <a:srgbClr val="00B7C3"/>
          </a:solidFill>
          <a:ln w="12700">
            <a:solidFill>
              <a:srgbClr val="00B7C3"/>
            </a:solidFill>
            <a:prstDash val="solid"/>
          </a:ln>
        </p:spPr>
      </p:sp>
      <p:sp>
        <p:nvSpPr>
          <p:cNvPr id="10" name="Text 8"/>
          <p:cNvSpPr/>
          <p:nvPr/>
        </p:nvSpPr>
        <p:spPr>
          <a:xfrm>
            <a:off x="107899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1</a:t>
            </a:r>
            <a:endParaRPr lang="en-US" sz="800" dirty="0"/>
          </a:p>
        </p:txBody>
      </p:sp>
      <p:sp>
        <p:nvSpPr>
          <p:cNvPr id="11" name="Text 9"/>
          <p:cNvSpPr/>
          <p:nvPr/>
        </p:nvSpPr>
        <p:spPr>
          <a:xfrm>
            <a:off x="1572768" y="136245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One path</a:t>
            </a:r>
            <a:endParaRPr lang="en-US" sz="1250" dirty="0"/>
          </a:p>
        </p:txBody>
      </p:sp>
      <p:sp>
        <p:nvSpPr>
          <p:cNvPr id="12" name="Text 10"/>
          <p:cNvSpPr/>
          <p:nvPr/>
        </p:nvSpPr>
        <p:spPr>
          <a:xfrm>
            <a:off x="1572768" y="169164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APIM gives every AI app, MCP tool and agent a governed path.</a:t>
            </a:r>
            <a:endParaRPr lang="en-US" sz="1020" dirty="0"/>
          </a:p>
        </p:txBody>
      </p:sp>
      <p:sp>
        <p:nvSpPr>
          <p:cNvPr id="13" name="Shape 11"/>
          <p:cNvSpPr/>
          <p:nvPr/>
        </p:nvSpPr>
        <p:spPr>
          <a:xfrm>
            <a:off x="6080760" y="123444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14" name="Shape 12"/>
          <p:cNvSpPr/>
          <p:nvPr/>
        </p:nvSpPr>
        <p:spPr>
          <a:xfrm>
            <a:off x="6080760" y="1234440"/>
            <a:ext cx="73152" cy="1097280"/>
          </a:xfrm>
          <a:prstGeom prst="rect">
            <a:avLst/>
          </a:prstGeom>
          <a:solidFill>
            <a:srgbClr val="0078D4"/>
          </a:solidFill>
          <a:ln w="12700">
            <a:solidFill>
              <a:srgbClr val="0078D4"/>
            </a:solidFill>
            <a:prstDash val="solid"/>
          </a:ln>
        </p:spPr>
      </p:sp>
      <p:sp>
        <p:nvSpPr>
          <p:cNvPr id="15" name="Shape 13"/>
          <p:cNvSpPr/>
          <p:nvPr/>
        </p:nvSpPr>
        <p:spPr>
          <a:xfrm>
            <a:off x="6245352" y="1389888"/>
            <a:ext cx="393192" cy="393192"/>
          </a:xfrm>
          <a:prstGeom prst="ellipse">
            <a:avLst/>
          </a:prstGeom>
          <a:solidFill>
            <a:srgbClr val="0078D4"/>
          </a:solidFill>
          <a:ln w="12700">
            <a:solidFill>
              <a:srgbClr val="0078D4"/>
            </a:solidFill>
            <a:prstDash val="solid"/>
          </a:ln>
        </p:spPr>
      </p:sp>
      <p:sp>
        <p:nvSpPr>
          <p:cNvPr id="16" name="Text 14"/>
          <p:cNvSpPr/>
          <p:nvPr/>
        </p:nvSpPr>
        <p:spPr>
          <a:xfrm>
            <a:off x="6245352" y="144932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2</a:t>
            </a:r>
            <a:endParaRPr lang="en-US" sz="800" dirty="0"/>
          </a:p>
        </p:txBody>
      </p:sp>
      <p:sp>
        <p:nvSpPr>
          <p:cNvPr id="17" name="Text 15"/>
          <p:cNvSpPr/>
          <p:nvPr/>
        </p:nvSpPr>
        <p:spPr>
          <a:xfrm>
            <a:off x="6739128" y="136245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Policy before spend</a:t>
            </a:r>
            <a:endParaRPr lang="en-US" sz="1250" dirty="0"/>
          </a:p>
        </p:txBody>
      </p:sp>
      <p:sp>
        <p:nvSpPr>
          <p:cNvPr id="18" name="Text 16"/>
          <p:cNvSpPr/>
          <p:nvPr/>
        </p:nvSpPr>
        <p:spPr>
          <a:xfrm>
            <a:off x="6739128" y="169164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Token budgets, safety and resiliency act before the backend call.</a:t>
            </a:r>
            <a:endParaRPr lang="en-US" sz="1020" dirty="0"/>
          </a:p>
        </p:txBody>
      </p:sp>
      <p:sp>
        <p:nvSpPr>
          <p:cNvPr id="19" name="Shape 17"/>
          <p:cNvSpPr/>
          <p:nvPr/>
        </p:nvSpPr>
        <p:spPr>
          <a:xfrm>
            <a:off x="914400" y="292608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0" name="Shape 18"/>
          <p:cNvSpPr/>
          <p:nvPr/>
        </p:nvSpPr>
        <p:spPr>
          <a:xfrm>
            <a:off x="914400" y="2926080"/>
            <a:ext cx="73152" cy="1097280"/>
          </a:xfrm>
          <a:prstGeom prst="rect">
            <a:avLst/>
          </a:prstGeom>
          <a:solidFill>
            <a:srgbClr val="FFB900"/>
          </a:solidFill>
          <a:ln w="12700">
            <a:solidFill>
              <a:srgbClr val="FFB900"/>
            </a:solidFill>
            <a:prstDash val="solid"/>
          </a:ln>
        </p:spPr>
      </p:sp>
      <p:sp>
        <p:nvSpPr>
          <p:cNvPr id="21" name="Shape 19"/>
          <p:cNvSpPr/>
          <p:nvPr/>
        </p:nvSpPr>
        <p:spPr>
          <a:xfrm>
            <a:off x="1078992" y="3081528"/>
            <a:ext cx="393192" cy="393192"/>
          </a:xfrm>
          <a:prstGeom prst="ellipse">
            <a:avLst/>
          </a:prstGeom>
          <a:solidFill>
            <a:srgbClr val="FFB900"/>
          </a:solidFill>
          <a:ln w="12700">
            <a:solidFill>
              <a:srgbClr val="FFB900"/>
            </a:solidFill>
            <a:prstDash val="solid"/>
          </a:ln>
        </p:spPr>
      </p:sp>
      <p:sp>
        <p:nvSpPr>
          <p:cNvPr id="22" name="Text 20"/>
          <p:cNvSpPr/>
          <p:nvPr/>
        </p:nvSpPr>
        <p:spPr>
          <a:xfrm>
            <a:off x="1078992" y="31409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1572768" y="305409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Evidence matters</a:t>
            </a:r>
            <a:endParaRPr lang="en-US" sz="1250" dirty="0"/>
          </a:p>
        </p:txBody>
      </p:sp>
      <p:sp>
        <p:nvSpPr>
          <p:cNvPr id="24" name="Text 22"/>
          <p:cNvSpPr/>
          <p:nvPr/>
        </p:nvSpPr>
        <p:spPr>
          <a:xfrm>
            <a:off x="1572768" y="338328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Token metrics and LLM logs turn AI operations into measurable platform work.</a:t>
            </a:r>
            <a:endParaRPr lang="en-US" sz="1020" dirty="0"/>
          </a:p>
        </p:txBody>
      </p:sp>
      <p:sp>
        <p:nvSpPr>
          <p:cNvPr id="25" name="Shape 23"/>
          <p:cNvSpPr/>
          <p:nvPr/>
        </p:nvSpPr>
        <p:spPr>
          <a:xfrm>
            <a:off x="6080760" y="292608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sp>
      <p:sp>
        <p:nvSpPr>
          <p:cNvPr id="26" name="Shape 24"/>
          <p:cNvSpPr/>
          <p:nvPr/>
        </p:nvSpPr>
        <p:spPr>
          <a:xfrm>
            <a:off x="6080760" y="2926080"/>
            <a:ext cx="73152" cy="1097280"/>
          </a:xfrm>
          <a:prstGeom prst="rect">
            <a:avLst/>
          </a:prstGeom>
          <a:solidFill>
            <a:srgbClr val="00B7C3"/>
          </a:solidFill>
          <a:ln w="12700">
            <a:solidFill>
              <a:srgbClr val="00B7C3"/>
            </a:solidFill>
            <a:prstDash val="solid"/>
          </a:ln>
        </p:spPr>
      </p:sp>
      <p:sp>
        <p:nvSpPr>
          <p:cNvPr id="27" name="Shape 25"/>
          <p:cNvSpPr/>
          <p:nvPr/>
        </p:nvSpPr>
        <p:spPr>
          <a:xfrm>
            <a:off x="6245352" y="3081528"/>
            <a:ext cx="393192" cy="393192"/>
          </a:xfrm>
          <a:prstGeom prst="ellipse">
            <a:avLst/>
          </a:prstGeom>
          <a:solidFill>
            <a:srgbClr val="00B7C3"/>
          </a:solidFill>
          <a:ln w="12700">
            <a:solidFill>
              <a:srgbClr val="00B7C3"/>
            </a:solidFill>
            <a:prstDash val="solid"/>
          </a:ln>
        </p:spPr>
      </p:sp>
      <p:sp>
        <p:nvSpPr>
          <p:cNvPr id="28" name="Text 26"/>
          <p:cNvSpPr/>
          <p:nvPr/>
        </p:nvSpPr>
        <p:spPr>
          <a:xfrm>
            <a:off x="6245352" y="31409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4</a:t>
            </a:r>
            <a:endParaRPr lang="en-US" sz="800" dirty="0"/>
          </a:p>
        </p:txBody>
      </p:sp>
      <p:sp>
        <p:nvSpPr>
          <p:cNvPr id="29" name="Text 27"/>
          <p:cNvSpPr/>
          <p:nvPr/>
        </p:nvSpPr>
        <p:spPr>
          <a:xfrm>
            <a:off x="6739128" y="3054096"/>
            <a:ext cx="37490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Start small</a:t>
            </a:r>
            <a:endParaRPr lang="en-US" sz="1250" dirty="0"/>
          </a:p>
        </p:txBody>
      </p:sp>
      <p:sp>
        <p:nvSpPr>
          <p:cNvPr id="30" name="Text 28"/>
          <p:cNvSpPr/>
          <p:nvPr/>
        </p:nvSpPr>
        <p:spPr>
          <a:xfrm>
            <a:off x="6739128" y="3383280"/>
            <a:ext cx="3749040" cy="54864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Basic v2 is enough for this full demo; scale up when isolation and capacity require it.</a:t>
            </a:r>
            <a:endParaRPr lang="en-US" sz="1020" dirty="0"/>
          </a:p>
        </p:txBody>
      </p:sp>
      <p:sp>
        <p:nvSpPr>
          <p:cNvPr id="31" name="Shape 29"/>
          <p:cNvSpPr/>
          <p:nvPr/>
        </p:nvSpPr>
        <p:spPr>
          <a:xfrm>
            <a:off x="5102352" y="4846320"/>
            <a:ext cx="1920240" cy="914400"/>
          </a:xfrm>
          <a:prstGeom prst="arc">
            <a:avLst/>
          </a:prstGeom>
          <a:solidFill>
            <a:srgbClr val="F5F7FA">
              <a:alpha val="0"/>
            </a:srgbClr>
          </a:solidFill>
          <a:ln w="63500">
            <a:solidFill>
              <a:srgbClr val="00B7C3">
                <a:alpha val="80000"/>
              </a:srgbClr>
            </a:solidFill>
            <a:prstDash val="solid"/>
          </a:ln>
        </p:spPr>
      </p:sp>
      <p:sp>
        <p:nvSpPr>
          <p:cNvPr id="32" name="Text 30"/>
          <p:cNvSpPr/>
          <p:nvPr/>
        </p:nvSpPr>
        <p:spPr>
          <a:xfrm>
            <a:off x="2194560" y="5266944"/>
            <a:ext cx="7863840" cy="320040"/>
          </a:xfrm>
          <a:prstGeom prst="rect">
            <a:avLst/>
          </a:prstGeom>
          <a:noFill/>
          <a:ln/>
        </p:spPr>
        <p:txBody>
          <a:bodyPr wrap="square" lIns="0" tIns="0" rIns="0" bIns="0" rtlCol="0" anchor="ctr"/>
          <a:lstStyle/>
          <a:p>
            <a:pPr marL="0" indent="0" algn="ctr">
              <a:buNone/>
            </a:pPr>
            <a:r>
              <a:rPr lang="en-US" sz="1800" dirty="0">
                <a:solidFill>
                  <a:srgbClr val="0B1E3F"/>
                </a:solidFill>
                <a:latin typeface="Segoe UI Semibold" pitchFamily="34" charset="0"/>
                <a:ea typeface="Segoe UI Semibold" pitchFamily="34" charset="-122"/>
                <a:cs typeface="Segoe UI Semibold" pitchFamily="34" charset="-120"/>
              </a:rPr>
              <a:t>Make the gateway the default way to call AI.</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8321040" y="1307592"/>
            <a:ext cx="164592" cy="4617720"/>
          </a:xfrm>
          <a:prstGeom prst="rect">
            <a:avLst/>
          </a:prstGeom>
          <a:solidFill>
            <a:srgbClr val="00B7C3">
              <a:alpha val="90000"/>
            </a:srgbClr>
          </a:solidFill>
          <a:ln w="12700">
            <a:solidFill>
              <a:srgbClr val="00B7C3">
                <a:alpha val="90000"/>
              </a:srgbClr>
            </a:solidFill>
            <a:prstDash val="solid"/>
          </a:ln>
        </p:spPr>
      </p:sp>
      <p:sp>
        <p:nvSpPr>
          <p:cNvPr id="3" name="Shape 1"/>
          <p:cNvSpPr/>
          <p:nvPr/>
        </p:nvSpPr>
        <p:spPr>
          <a:xfrm>
            <a:off x="10671048" y="1307592"/>
            <a:ext cx="164592" cy="4617720"/>
          </a:xfrm>
          <a:prstGeom prst="rect">
            <a:avLst/>
          </a:prstGeom>
          <a:solidFill>
            <a:srgbClr val="00B7C3">
              <a:alpha val="90000"/>
            </a:srgbClr>
          </a:solidFill>
          <a:ln w="12700">
            <a:solidFill>
              <a:srgbClr val="00B7C3">
                <a:alpha val="90000"/>
              </a:srgbClr>
            </a:solidFill>
            <a:prstDash val="solid"/>
          </a:ln>
        </p:spPr>
      </p:sp>
      <p:sp>
        <p:nvSpPr>
          <p:cNvPr id="4" name="Shape 2"/>
          <p:cNvSpPr/>
          <p:nvPr/>
        </p:nvSpPr>
        <p:spPr>
          <a:xfrm>
            <a:off x="8330184" y="713232"/>
            <a:ext cx="2496312" cy="1234440"/>
          </a:xfrm>
          <a:prstGeom prst="arc">
            <a:avLst/>
          </a:prstGeom>
          <a:solidFill>
            <a:srgbClr val="00B7C3">
              <a:alpha val="0"/>
            </a:srgbClr>
          </a:solidFill>
          <a:ln w="88900">
            <a:solidFill>
              <a:srgbClr val="00B7C3">
                <a:alpha val="90000"/>
              </a:srgbClr>
            </a:solidFill>
            <a:prstDash val="solid"/>
          </a:ln>
        </p:spPr>
      </p:sp>
      <p:sp>
        <p:nvSpPr>
          <p:cNvPr id="5" name="Text 3"/>
          <p:cNvSpPr/>
          <p:nvPr/>
        </p:nvSpPr>
        <p:spPr>
          <a:xfrm>
            <a:off x="685800" y="868680"/>
            <a:ext cx="5303520" cy="457200"/>
          </a:xfrm>
          <a:prstGeom prst="rect">
            <a:avLst/>
          </a:prstGeom>
          <a:noFill/>
          <a:ln/>
        </p:spPr>
        <p:txBody>
          <a:bodyPr wrap="square" lIns="0" tIns="0" rIns="0" bIns="0" rtlCol="0" anchor="ctr"/>
          <a:lstStyle/>
          <a:p>
            <a:pPr marL="0" indent="0">
              <a:buNone/>
            </a:pPr>
            <a:r>
              <a:rPr lang="en-US" sz="3500" dirty="0">
                <a:solidFill>
                  <a:srgbClr val="FFFFFF"/>
                </a:solidFill>
                <a:latin typeface="Segoe UI Semibold" pitchFamily="34" charset="0"/>
                <a:ea typeface="Segoe UI Semibold" pitchFamily="34" charset="-122"/>
                <a:cs typeface="Segoe UI Semibold" pitchFamily="34" charset="-120"/>
              </a:rPr>
              <a:t>Call to action</a:t>
            </a:r>
            <a:endParaRPr lang="en-US" sz="3500" dirty="0"/>
          </a:p>
        </p:txBody>
      </p:sp>
      <p:sp>
        <p:nvSpPr>
          <p:cNvPr id="6" name="Shape 4"/>
          <p:cNvSpPr/>
          <p:nvPr/>
        </p:nvSpPr>
        <p:spPr>
          <a:xfrm>
            <a:off x="749808" y="1783080"/>
            <a:ext cx="6537960" cy="685800"/>
          </a:xfrm>
          <a:prstGeom prst="rect">
            <a:avLst/>
          </a:prstGeom>
          <a:solidFill>
            <a:srgbClr val="102A52"/>
          </a:solidFill>
          <a:ln w="7620">
            <a:solidFill>
              <a:srgbClr val="25466F"/>
            </a:solidFill>
            <a:prstDash val="solid"/>
          </a:ln>
        </p:spPr>
      </p:sp>
      <p:sp>
        <p:nvSpPr>
          <p:cNvPr id="7" name="Shape 5"/>
          <p:cNvSpPr/>
          <p:nvPr/>
        </p:nvSpPr>
        <p:spPr>
          <a:xfrm>
            <a:off x="749808" y="1783080"/>
            <a:ext cx="73152" cy="685800"/>
          </a:xfrm>
          <a:prstGeom prst="rect">
            <a:avLst/>
          </a:prstGeom>
          <a:solidFill>
            <a:srgbClr val="00B7C3"/>
          </a:solidFill>
          <a:ln w="12700">
            <a:solidFill>
              <a:srgbClr val="00B7C3"/>
            </a:solidFill>
            <a:prstDash val="solid"/>
          </a:ln>
        </p:spPr>
      </p:sp>
      <p:sp>
        <p:nvSpPr>
          <p:cNvPr id="8" name="Text 6"/>
          <p:cNvSpPr/>
          <p:nvPr/>
        </p:nvSpPr>
        <p:spPr>
          <a:xfrm>
            <a:off x="978408" y="1938528"/>
            <a:ext cx="822960" cy="137160"/>
          </a:xfrm>
          <a:prstGeom prst="rect">
            <a:avLst/>
          </a:prstGeom>
          <a:noFill/>
          <a:ln/>
        </p:spPr>
        <p:txBody>
          <a:bodyPr wrap="square" lIns="0" tIns="0" rIns="0" bIns="0" rtlCol="0" anchor="ctr"/>
          <a:lstStyle/>
          <a:p>
            <a:pPr marL="0" indent="0">
              <a:buNone/>
            </a:pPr>
            <a:r>
              <a:rPr lang="en-US" sz="1020" dirty="0">
                <a:solidFill>
                  <a:srgbClr val="00B7C3"/>
                </a:solidFill>
                <a:latin typeface="Segoe UI Semibold" pitchFamily="34" charset="0"/>
                <a:ea typeface="Segoe UI Semibold" pitchFamily="34" charset="-122"/>
                <a:cs typeface="Segoe UI Semibold" pitchFamily="34" charset="-120"/>
              </a:rPr>
              <a:t>Build</a:t>
            </a:r>
            <a:endParaRPr lang="en-US" sz="1020" dirty="0"/>
          </a:p>
        </p:txBody>
      </p:sp>
      <p:sp>
        <p:nvSpPr>
          <p:cNvPr id="9" name="Text 7"/>
          <p:cNvSpPr/>
          <p:nvPr/>
        </p:nvSpPr>
        <p:spPr>
          <a:xfrm>
            <a:off x="1892808" y="1938528"/>
            <a:ext cx="5212080" cy="201168"/>
          </a:xfrm>
          <a:prstGeom prst="rect">
            <a:avLst/>
          </a:prstGeom>
          <a:noFill/>
          <a:ln/>
        </p:spPr>
        <p:txBody>
          <a:bodyPr wrap="square" lIns="0" tIns="0" rIns="0" bIns="0" rtlCol="0" anchor="ctr">
            <a:normAutofit/>
          </a:bodyPr>
          <a:lstStyle/>
          <a:p>
            <a:pPr marL="0" indent="0">
              <a:buNone/>
            </a:pPr>
            <a:r>
              <a:rPr lang="en-US" sz="1020" dirty="0">
                <a:solidFill>
                  <a:srgbClr val="FFFFFF"/>
                </a:solidFill>
                <a:latin typeface="Segoe UI" pitchFamily="34" charset="0"/>
                <a:ea typeface="Segoe UI" pitchFamily="34" charset="-122"/>
                <a:cs typeface="Segoe UI" pitchFamily="34" charset="-120"/>
              </a:rPr>
              <a:t>aka.ms/ai-gateway</a:t>
            </a:r>
            <a:endParaRPr lang="en-US" sz="1020" dirty="0"/>
          </a:p>
          <a:p>
            <a:pPr marL="0" indent="0">
              <a:buNone/>
            </a:pPr>
            <a:r>
              <a:rPr lang="en-US" sz="1020" dirty="0">
                <a:solidFill>
                  <a:srgbClr val="FFFFFF"/>
                </a:solidFill>
                <a:latin typeface="Segoe UI" pitchFamily="34" charset="0"/>
                <a:ea typeface="Segoe UI" pitchFamily="34" charset="-122"/>
                <a:cs typeface="Segoe UI" pitchFamily="34" charset="-120"/>
              </a:rPr>
              <a:t>or github.com/Azure-Samples/AI-Gateway</a:t>
            </a:r>
            <a:endParaRPr lang="en-US" sz="1020" dirty="0"/>
          </a:p>
        </p:txBody>
      </p:sp>
      <p:sp>
        <p:nvSpPr>
          <p:cNvPr id="10" name="Shape 8"/>
          <p:cNvSpPr/>
          <p:nvPr/>
        </p:nvSpPr>
        <p:spPr>
          <a:xfrm>
            <a:off x="749808" y="2770632"/>
            <a:ext cx="6537960" cy="685800"/>
          </a:xfrm>
          <a:prstGeom prst="rect">
            <a:avLst/>
          </a:prstGeom>
          <a:solidFill>
            <a:srgbClr val="102A52"/>
          </a:solidFill>
          <a:ln w="7620">
            <a:solidFill>
              <a:srgbClr val="25466F"/>
            </a:solidFill>
            <a:prstDash val="solid"/>
          </a:ln>
        </p:spPr>
      </p:sp>
      <p:sp>
        <p:nvSpPr>
          <p:cNvPr id="11" name="Shape 9"/>
          <p:cNvSpPr/>
          <p:nvPr/>
        </p:nvSpPr>
        <p:spPr>
          <a:xfrm>
            <a:off x="749808" y="2770632"/>
            <a:ext cx="73152" cy="685800"/>
          </a:xfrm>
          <a:prstGeom prst="rect">
            <a:avLst/>
          </a:prstGeom>
          <a:solidFill>
            <a:srgbClr val="0078D4"/>
          </a:solidFill>
          <a:ln w="12700">
            <a:solidFill>
              <a:srgbClr val="0078D4"/>
            </a:solidFill>
            <a:prstDash val="solid"/>
          </a:ln>
        </p:spPr>
      </p:sp>
      <p:sp>
        <p:nvSpPr>
          <p:cNvPr id="12" name="Text 10"/>
          <p:cNvSpPr/>
          <p:nvPr/>
        </p:nvSpPr>
        <p:spPr>
          <a:xfrm>
            <a:off x="978408" y="2926080"/>
            <a:ext cx="822960" cy="137160"/>
          </a:xfrm>
          <a:prstGeom prst="rect">
            <a:avLst/>
          </a:prstGeom>
          <a:noFill/>
          <a:ln/>
        </p:spPr>
        <p:txBody>
          <a:bodyPr wrap="square" lIns="0" tIns="0" rIns="0" bIns="0" rtlCol="0" anchor="ctr"/>
          <a:lstStyle/>
          <a:p>
            <a:pPr marL="0" indent="0">
              <a:buNone/>
            </a:pPr>
            <a:r>
              <a:rPr lang="en-US" sz="1020" dirty="0">
                <a:solidFill>
                  <a:srgbClr val="0078D4"/>
                </a:solidFill>
                <a:latin typeface="Segoe UI Semibold" pitchFamily="34" charset="0"/>
                <a:ea typeface="Segoe UI Semibold" pitchFamily="34" charset="-122"/>
                <a:cs typeface="Segoe UI Semibold" pitchFamily="34" charset="-120"/>
              </a:rPr>
              <a:t>Learn</a:t>
            </a:r>
            <a:endParaRPr lang="en-US" sz="1020" dirty="0"/>
          </a:p>
        </p:txBody>
      </p:sp>
      <p:sp>
        <p:nvSpPr>
          <p:cNvPr id="13" name="Text 11"/>
          <p:cNvSpPr/>
          <p:nvPr/>
        </p:nvSpPr>
        <p:spPr>
          <a:xfrm>
            <a:off x="1892808" y="2926080"/>
            <a:ext cx="5212080" cy="201168"/>
          </a:xfrm>
          <a:prstGeom prst="rect">
            <a:avLst/>
          </a:prstGeom>
          <a:noFill/>
          <a:ln/>
        </p:spPr>
        <p:txBody>
          <a:bodyPr wrap="square" lIns="0" tIns="0" rIns="0" bIns="0" rtlCol="0" anchor="ctr">
            <a:normAutofit/>
          </a:bodyPr>
          <a:lstStyle/>
          <a:p>
            <a:pPr marL="0" indent="0">
              <a:buNone/>
            </a:pPr>
            <a:r>
              <a:rPr lang="en-US" sz="1020" dirty="0">
                <a:solidFill>
                  <a:srgbClr val="FFFFFF"/>
                </a:solidFill>
                <a:latin typeface="Segoe UI" pitchFamily="34" charset="0"/>
                <a:ea typeface="Segoe UI" pitchFamily="34" charset="-122"/>
                <a:cs typeface="Segoe UI" pitchFamily="34" charset="-120"/>
              </a:rPr>
              <a:t>learn.microsoft.com/azure/api-management/genai-gateway-capabilities</a:t>
            </a:r>
            <a:endParaRPr lang="en-US" sz="1020" dirty="0"/>
          </a:p>
        </p:txBody>
      </p:sp>
      <p:sp>
        <p:nvSpPr>
          <p:cNvPr id="14" name="Shape 12"/>
          <p:cNvSpPr/>
          <p:nvPr/>
        </p:nvSpPr>
        <p:spPr>
          <a:xfrm>
            <a:off x="749808" y="3758184"/>
            <a:ext cx="6537960" cy="685800"/>
          </a:xfrm>
          <a:prstGeom prst="rect">
            <a:avLst/>
          </a:prstGeom>
          <a:solidFill>
            <a:srgbClr val="102A52"/>
          </a:solidFill>
          <a:ln w="7620">
            <a:solidFill>
              <a:srgbClr val="25466F"/>
            </a:solidFill>
            <a:prstDash val="solid"/>
          </a:ln>
        </p:spPr>
      </p:sp>
      <p:sp>
        <p:nvSpPr>
          <p:cNvPr id="15" name="Shape 13"/>
          <p:cNvSpPr/>
          <p:nvPr/>
        </p:nvSpPr>
        <p:spPr>
          <a:xfrm>
            <a:off x="749808" y="3758184"/>
            <a:ext cx="73152" cy="685800"/>
          </a:xfrm>
          <a:prstGeom prst="rect">
            <a:avLst/>
          </a:prstGeom>
          <a:solidFill>
            <a:srgbClr val="FFB900"/>
          </a:solidFill>
          <a:ln w="12700">
            <a:solidFill>
              <a:srgbClr val="FFB900"/>
            </a:solidFill>
            <a:prstDash val="solid"/>
          </a:ln>
        </p:spPr>
      </p:sp>
      <p:sp>
        <p:nvSpPr>
          <p:cNvPr id="16" name="Text 14"/>
          <p:cNvSpPr/>
          <p:nvPr/>
        </p:nvSpPr>
        <p:spPr>
          <a:xfrm>
            <a:off x="978408" y="3913632"/>
            <a:ext cx="822960" cy="137160"/>
          </a:xfrm>
          <a:prstGeom prst="rect">
            <a:avLst/>
          </a:prstGeom>
          <a:noFill/>
          <a:ln/>
        </p:spPr>
        <p:txBody>
          <a:bodyPr wrap="square" lIns="0" tIns="0" rIns="0" bIns="0" rtlCol="0" anchor="ctr"/>
          <a:lstStyle/>
          <a:p>
            <a:pPr marL="0" indent="0">
              <a:buNone/>
            </a:pPr>
            <a:r>
              <a:rPr lang="en-US" sz="1020" dirty="0">
                <a:solidFill>
                  <a:srgbClr val="FFB900"/>
                </a:solidFill>
                <a:latin typeface="Segoe UI Semibold" pitchFamily="34" charset="0"/>
                <a:ea typeface="Segoe UI Semibold" pitchFamily="34" charset="-122"/>
                <a:cs typeface="Segoe UI Semibold" pitchFamily="34" charset="-120"/>
              </a:rPr>
              <a:t>Explore</a:t>
            </a:r>
            <a:endParaRPr lang="en-US" sz="1020" dirty="0"/>
          </a:p>
        </p:txBody>
      </p:sp>
      <p:sp>
        <p:nvSpPr>
          <p:cNvPr id="17" name="Text 15"/>
          <p:cNvSpPr/>
          <p:nvPr/>
        </p:nvSpPr>
        <p:spPr>
          <a:xfrm>
            <a:off x="1892808" y="3913632"/>
            <a:ext cx="5212080" cy="201168"/>
          </a:xfrm>
          <a:prstGeom prst="rect">
            <a:avLst/>
          </a:prstGeom>
          <a:noFill/>
          <a:ln/>
        </p:spPr>
        <p:txBody>
          <a:bodyPr wrap="square" lIns="0" tIns="0" rIns="0" bIns="0" rtlCol="0" anchor="ctr">
            <a:normAutofit/>
          </a:bodyPr>
          <a:lstStyle/>
          <a:p>
            <a:pPr marL="0" indent="0">
              <a:buNone/>
            </a:pPr>
            <a:r>
              <a:rPr lang="en-US" sz="1020" dirty="0">
                <a:solidFill>
                  <a:srgbClr val="FFFFFF"/>
                </a:solidFill>
                <a:latin typeface="Segoe UI" pitchFamily="34" charset="0"/>
                <a:ea typeface="Segoe UI" pitchFamily="34" charset="-122"/>
                <a:cs typeface="Segoe UI" pitchFamily="34" charset="-120"/>
              </a:rPr>
              <a:t>azure.github.io/api-management-resources</a:t>
            </a:r>
            <a:endParaRPr lang="en-US" sz="1020" dirty="0"/>
          </a:p>
        </p:txBody>
      </p:sp>
      <p:sp>
        <p:nvSpPr>
          <p:cNvPr id="18" name="Shape 16"/>
          <p:cNvSpPr/>
          <p:nvPr/>
        </p:nvSpPr>
        <p:spPr>
          <a:xfrm>
            <a:off x="7818120" y="1920240"/>
            <a:ext cx="2148840" cy="2148840"/>
          </a:xfrm>
          <a:prstGeom prst="roundRect">
            <a:avLst>
              <a:gd name="adj" fmla="val 5106"/>
            </a:avLst>
          </a:prstGeom>
          <a:solidFill>
            <a:srgbClr val="00B7C3"/>
          </a:solidFill>
          <a:ln w="12700">
            <a:solidFill>
              <a:srgbClr val="00B7C3"/>
            </a:solidFill>
            <a:prstDash val="solid"/>
          </a:ln>
        </p:spPr>
      </p:sp>
      <p:sp>
        <p:nvSpPr>
          <p:cNvPr id="19" name="Text 17"/>
          <p:cNvSpPr/>
          <p:nvPr/>
        </p:nvSpPr>
        <p:spPr>
          <a:xfrm>
            <a:off x="7909560" y="2697480"/>
            <a:ext cx="1965960" cy="329184"/>
          </a:xfrm>
          <a:prstGeom prst="rect">
            <a:avLst/>
          </a:prstGeom>
          <a:noFill/>
          <a:ln/>
        </p:spPr>
        <p:txBody>
          <a:bodyPr wrap="square" lIns="0" tIns="0" rIns="0" bIns="0" rtlCol="0" anchor="ctr"/>
          <a:lstStyle/>
          <a:p>
            <a:pPr marL="0" indent="0" algn="ctr">
              <a:buNone/>
            </a:pPr>
            <a:r>
              <a:rPr lang="en-US" sz="3200" dirty="0">
                <a:solidFill>
                  <a:srgbClr val="0B1E3F"/>
                </a:solidFill>
                <a:latin typeface="Segoe UI Semibold" pitchFamily="34" charset="0"/>
                <a:ea typeface="Segoe UI Semibold" pitchFamily="34" charset="-122"/>
                <a:cs typeface="Segoe UI Semibold" pitchFamily="34" charset="-120"/>
              </a:rPr>
              <a:t>Q&amp;A</a:t>
            </a:r>
            <a:endParaRPr lang="en-US" sz="3200" dirty="0"/>
          </a:p>
        </p:txBody>
      </p:sp>
      <p:sp>
        <p:nvSpPr>
          <p:cNvPr id="20" name="Text 18"/>
          <p:cNvSpPr/>
          <p:nvPr/>
        </p:nvSpPr>
        <p:spPr>
          <a:xfrm>
            <a:off x="7086600" y="4617720"/>
            <a:ext cx="3657600" cy="228600"/>
          </a:xfrm>
          <a:prstGeom prst="rect">
            <a:avLst/>
          </a:prstGeom>
          <a:noFill/>
          <a:ln/>
        </p:spPr>
        <p:txBody>
          <a:bodyPr wrap="square" lIns="0" tIns="0" rIns="0" bIns="0" rtlCol="0" anchor="ctr"/>
          <a:lstStyle/>
          <a:p>
            <a:pPr marL="0" indent="0" algn="ctr">
              <a:buNone/>
            </a:pPr>
            <a:r>
              <a:rPr lang="en-US" sz="1400" dirty="0">
                <a:solidFill>
                  <a:srgbClr val="D7E7F6"/>
                </a:solidFill>
                <a:latin typeface="Segoe UI Semibold" pitchFamily="34" charset="0"/>
                <a:ea typeface="Segoe UI Semibold" pitchFamily="34" charset="-122"/>
                <a:cs typeface="Segoe UI Semibold" pitchFamily="34" charset="-120"/>
              </a:rPr>
              <a:t>What would you centralize first?</a:t>
            </a:r>
            <a:endParaRPr lang="en-US" sz="1400" dirty="0"/>
          </a:p>
        </p:txBody>
      </p:sp>
      <p:sp>
        <p:nvSpPr>
          <p:cNvPr id="21" name="Text 19"/>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CLOSE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Resources &amp; sources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34</a:t>
            </a:r>
            <a:endParaRPr lang="en-US" sz="800" dirty="0"/>
          </a:p>
        </p:txBody>
      </p:sp>
      <p:sp>
        <p:nvSpPr>
          <p:cNvPr id="7" name="Shape 5"/>
          <p:cNvSpPr/>
          <p:nvPr/>
        </p:nvSpPr>
        <p:spPr>
          <a:xfrm>
            <a:off x="658368" y="1005840"/>
            <a:ext cx="5074920" cy="713232"/>
          </a:xfrm>
          <a:prstGeom prst="rect">
            <a:avLst/>
          </a:prstGeom>
          <a:solidFill>
            <a:srgbClr val="FFFFFF"/>
          </a:solidFill>
          <a:ln w="10160">
            <a:solidFill>
              <a:srgbClr val="D8E2EC"/>
            </a:solidFill>
            <a:prstDash val="solid"/>
          </a:ln>
        </p:spPr>
      </p:sp>
      <p:sp>
        <p:nvSpPr>
          <p:cNvPr id="8" name="Shape 6"/>
          <p:cNvSpPr/>
          <p:nvPr/>
        </p:nvSpPr>
        <p:spPr>
          <a:xfrm>
            <a:off x="658368" y="1005840"/>
            <a:ext cx="73152" cy="713232"/>
          </a:xfrm>
          <a:prstGeom prst="rect">
            <a:avLst/>
          </a:prstGeom>
          <a:solidFill>
            <a:srgbClr val="00B7C3"/>
          </a:solidFill>
          <a:ln w="12700">
            <a:solidFill>
              <a:srgbClr val="00B7C3"/>
            </a:solidFill>
            <a:prstDash val="solid"/>
          </a:ln>
        </p:spPr>
      </p:sp>
      <p:sp>
        <p:nvSpPr>
          <p:cNvPr id="9" name="Text 7"/>
          <p:cNvSpPr/>
          <p:nvPr/>
        </p:nvSpPr>
        <p:spPr>
          <a:xfrm>
            <a:off x="841248" y="1143000"/>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APIM AI gateway capabilities</a:t>
            </a:r>
            <a:endParaRPr lang="en-US" sz="1010" dirty="0"/>
          </a:p>
        </p:txBody>
      </p:sp>
      <p:sp>
        <p:nvSpPr>
          <p:cNvPr id="10" name="Text 8"/>
          <p:cNvSpPr/>
          <p:nvPr/>
        </p:nvSpPr>
        <p:spPr>
          <a:xfrm>
            <a:off x="841248" y="1463040"/>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learn.microsoft.com/en-us/azure/api-management/genai-gateway-capabilities</a:t>
            </a:r>
            <a:endParaRPr lang="en-US" sz="790" dirty="0"/>
          </a:p>
        </p:txBody>
      </p:sp>
      <p:sp>
        <p:nvSpPr>
          <p:cNvPr id="11" name="Shape 9"/>
          <p:cNvSpPr/>
          <p:nvPr/>
        </p:nvSpPr>
        <p:spPr>
          <a:xfrm>
            <a:off x="6144768" y="1005840"/>
            <a:ext cx="5074920" cy="713232"/>
          </a:xfrm>
          <a:prstGeom prst="rect">
            <a:avLst/>
          </a:prstGeom>
          <a:solidFill>
            <a:srgbClr val="FFFFFF"/>
          </a:solidFill>
          <a:ln w="10160">
            <a:solidFill>
              <a:srgbClr val="D8E2EC"/>
            </a:solidFill>
            <a:prstDash val="solid"/>
          </a:ln>
        </p:spPr>
      </p:sp>
      <p:sp>
        <p:nvSpPr>
          <p:cNvPr id="12" name="Shape 10"/>
          <p:cNvSpPr/>
          <p:nvPr/>
        </p:nvSpPr>
        <p:spPr>
          <a:xfrm>
            <a:off x="6144768" y="1005840"/>
            <a:ext cx="73152" cy="713232"/>
          </a:xfrm>
          <a:prstGeom prst="rect">
            <a:avLst/>
          </a:prstGeom>
          <a:solidFill>
            <a:srgbClr val="00B7C3"/>
          </a:solidFill>
          <a:ln w="12700">
            <a:solidFill>
              <a:srgbClr val="00B7C3"/>
            </a:solidFill>
            <a:prstDash val="solid"/>
          </a:ln>
        </p:spPr>
      </p:sp>
      <p:sp>
        <p:nvSpPr>
          <p:cNvPr id="13" name="Text 11"/>
          <p:cNvSpPr/>
          <p:nvPr/>
        </p:nvSpPr>
        <p:spPr>
          <a:xfrm>
            <a:off x="6327648" y="1143000"/>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MCP server overview</a:t>
            </a:r>
            <a:endParaRPr lang="en-US" sz="1010" dirty="0"/>
          </a:p>
        </p:txBody>
      </p:sp>
      <p:sp>
        <p:nvSpPr>
          <p:cNvPr id="14" name="Text 12"/>
          <p:cNvSpPr/>
          <p:nvPr/>
        </p:nvSpPr>
        <p:spPr>
          <a:xfrm>
            <a:off x="6327648" y="1463040"/>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learn.microsoft.com/en-us/azure/api-management/mcp-server-overview</a:t>
            </a:r>
            <a:endParaRPr lang="en-US" sz="790" dirty="0"/>
          </a:p>
        </p:txBody>
      </p:sp>
      <p:sp>
        <p:nvSpPr>
          <p:cNvPr id="15" name="Shape 13"/>
          <p:cNvSpPr/>
          <p:nvPr/>
        </p:nvSpPr>
        <p:spPr>
          <a:xfrm>
            <a:off x="658368" y="2121408"/>
            <a:ext cx="5074920" cy="713232"/>
          </a:xfrm>
          <a:prstGeom prst="rect">
            <a:avLst/>
          </a:prstGeom>
          <a:solidFill>
            <a:srgbClr val="FFFFFF"/>
          </a:solidFill>
          <a:ln w="10160">
            <a:solidFill>
              <a:srgbClr val="D8E2EC"/>
            </a:solidFill>
            <a:prstDash val="solid"/>
          </a:ln>
        </p:spPr>
      </p:sp>
      <p:sp>
        <p:nvSpPr>
          <p:cNvPr id="16" name="Shape 14"/>
          <p:cNvSpPr/>
          <p:nvPr/>
        </p:nvSpPr>
        <p:spPr>
          <a:xfrm>
            <a:off x="658368" y="2121408"/>
            <a:ext cx="73152" cy="713232"/>
          </a:xfrm>
          <a:prstGeom prst="rect">
            <a:avLst/>
          </a:prstGeom>
          <a:solidFill>
            <a:srgbClr val="FFB900"/>
          </a:solidFill>
          <a:ln w="12700">
            <a:solidFill>
              <a:srgbClr val="FFB900"/>
            </a:solidFill>
            <a:prstDash val="solid"/>
          </a:ln>
        </p:spPr>
      </p:sp>
      <p:sp>
        <p:nvSpPr>
          <p:cNvPr id="17" name="Text 15"/>
          <p:cNvSpPr/>
          <p:nvPr/>
        </p:nvSpPr>
        <p:spPr>
          <a:xfrm>
            <a:off x="841248" y="2258568"/>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AI-Gateway labs</a:t>
            </a:r>
            <a:endParaRPr lang="en-US" sz="1010" dirty="0"/>
          </a:p>
        </p:txBody>
      </p:sp>
      <p:sp>
        <p:nvSpPr>
          <p:cNvPr id="18" name="Text 16"/>
          <p:cNvSpPr/>
          <p:nvPr/>
        </p:nvSpPr>
        <p:spPr>
          <a:xfrm>
            <a:off x="841248" y="2578608"/>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github.com/Azure-Samples/AI-Gateway</a:t>
            </a:r>
            <a:endParaRPr lang="en-US" sz="790" dirty="0"/>
          </a:p>
        </p:txBody>
      </p:sp>
      <p:sp>
        <p:nvSpPr>
          <p:cNvPr id="19" name="Shape 17"/>
          <p:cNvSpPr/>
          <p:nvPr/>
        </p:nvSpPr>
        <p:spPr>
          <a:xfrm>
            <a:off x="6144768" y="2121408"/>
            <a:ext cx="5074920" cy="713232"/>
          </a:xfrm>
          <a:prstGeom prst="rect">
            <a:avLst/>
          </a:prstGeom>
          <a:solidFill>
            <a:srgbClr val="FFFFFF"/>
          </a:solidFill>
          <a:ln w="10160">
            <a:solidFill>
              <a:srgbClr val="D8E2EC"/>
            </a:solidFill>
            <a:prstDash val="solid"/>
          </a:ln>
        </p:spPr>
      </p:sp>
      <p:sp>
        <p:nvSpPr>
          <p:cNvPr id="20" name="Shape 18"/>
          <p:cNvSpPr/>
          <p:nvPr/>
        </p:nvSpPr>
        <p:spPr>
          <a:xfrm>
            <a:off x="6144768" y="2121408"/>
            <a:ext cx="73152" cy="713232"/>
          </a:xfrm>
          <a:prstGeom prst="rect">
            <a:avLst/>
          </a:prstGeom>
          <a:solidFill>
            <a:srgbClr val="00B7C3"/>
          </a:solidFill>
          <a:ln w="12700">
            <a:solidFill>
              <a:srgbClr val="00B7C3"/>
            </a:solidFill>
            <a:prstDash val="solid"/>
          </a:ln>
        </p:spPr>
      </p:sp>
      <p:sp>
        <p:nvSpPr>
          <p:cNvPr id="21" name="Text 19"/>
          <p:cNvSpPr/>
          <p:nvPr/>
        </p:nvSpPr>
        <p:spPr>
          <a:xfrm>
            <a:off x="6327648" y="2258568"/>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APIM resources hub</a:t>
            </a:r>
            <a:endParaRPr lang="en-US" sz="1010" dirty="0"/>
          </a:p>
        </p:txBody>
      </p:sp>
      <p:sp>
        <p:nvSpPr>
          <p:cNvPr id="22" name="Text 20"/>
          <p:cNvSpPr/>
          <p:nvPr/>
        </p:nvSpPr>
        <p:spPr>
          <a:xfrm>
            <a:off x="6327648" y="2578608"/>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azure.github.io/api-management-resources</a:t>
            </a:r>
            <a:endParaRPr lang="en-US" sz="790" dirty="0"/>
          </a:p>
        </p:txBody>
      </p:sp>
      <p:sp>
        <p:nvSpPr>
          <p:cNvPr id="23" name="Shape 21"/>
          <p:cNvSpPr/>
          <p:nvPr/>
        </p:nvSpPr>
        <p:spPr>
          <a:xfrm>
            <a:off x="658368" y="3236976"/>
            <a:ext cx="5074920" cy="713232"/>
          </a:xfrm>
          <a:prstGeom prst="rect">
            <a:avLst/>
          </a:prstGeom>
          <a:solidFill>
            <a:srgbClr val="FFFFFF"/>
          </a:solidFill>
          <a:ln w="10160">
            <a:solidFill>
              <a:srgbClr val="D8E2EC"/>
            </a:solidFill>
            <a:prstDash val="solid"/>
          </a:ln>
        </p:spPr>
      </p:sp>
      <p:sp>
        <p:nvSpPr>
          <p:cNvPr id="24" name="Shape 22"/>
          <p:cNvSpPr/>
          <p:nvPr/>
        </p:nvSpPr>
        <p:spPr>
          <a:xfrm>
            <a:off x="658368" y="3236976"/>
            <a:ext cx="73152" cy="713232"/>
          </a:xfrm>
          <a:prstGeom prst="rect">
            <a:avLst/>
          </a:prstGeom>
          <a:solidFill>
            <a:srgbClr val="00B7C3"/>
          </a:solidFill>
          <a:ln w="12700">
            <a:solidFill>
              <a:srgbClr val="00B7C3"/>
            </a:solidFill>
            <a:prstDash val="solid"/>
          </a:ln>
        </p:spPr>
      </p:sp>
      <p:sp>
        <p:nvSpPr>
          <p:cNvPr id="25" name="Text 23"/>
          <p:cNvSpPr/>
          <p:nvPr/>
        </p:nvSpPr>
        <p:spPr>
          <a:xfrm>
            <a:off x="841248" y="3374136"/>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Pricing</a:t>
            </a:r>
            <a:endParaRPr lang="en-US" sz="1010" dirty="0"/>
          </a:p>
        </p:txBody>
      </p:sp>
      <p:sp>
        <p:nvSpPr>
          <p:cNvPr id="26" name="Text 24"/>
          <p:cNvSpPr/>
          <p:nvPr/>
        </p:nvSpPr>
        <p:spPr>
          <a:xfrm>
            <a:off x="841248" y="3694176"/>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azure.microsoft.com/pricing/details/api-management + Azure Retail Prices API</a:t>
            </a:r>
            <a:endParaRPr lang="en-US" sz="790" dirty="0"/>
          </a:p>
        </p:txBody>
      </p:sp>
      <p:sp>
        <p:nvSpPr>
          <p:cNvPr id="27" name="Shape 25"/>
          <p:cNvSpPr/>
          <p:nvPr/>
        </p:nvSpPr>
        <p:spPr>
          <a:xfrm>
            <a:off x="6144768" y="3236976"/>
            <a:ext cx="5074920" cy="713232"/>
          </a:xfrm>
          <a:prstGeom prst="rect">
            <a:avLst/>
          </a:prstGeom>
          <a:solidFill>
            <a:srgbClr val="FFFFFF"/>
          </a:solidFill>
          <a:ln w="10160">
            <a:solidFill>
              <a:srgbClr val="D8E2EC"/>
            </a:solidFill>
            <a:prstDash val="solid"/>
          </a:ln>
        </p:spPr>
      </p:sp>
      <p:sp>
        <p:nvSpPr>
          <p:cNvPr id="28" name="Shape 26"/>
          <p:cNvSpPr/>
          <p:nvPr/>
        </p:nvSpPr>
        <p:spPr>
          <a:xfrm>
            <a:off x="6144768" y="3236976"/>
            <a:ext cx="73152" cy="713232"/>
          </a:xfrm>
          <a:prstGeom prst="rect">
            <a:avLst/>
          </a:prstGeom>
          <a:solidFill>
            <a:srgbClr val="FFB900"/>
          </a:solidFill>
          <a:ln w="12700">
            <a:solidFill>
              <a:srgbClr val="FFB900"/>
            </a:solidFill>
            <a:prstDash val="solid"/>
          </a:ln>
        </p:spPr>
      </p:sp>
      <p:sp>
        <p:nvSpPr>
          <p:cNvPr id="29" name="Text 27"/>
          <p:cNvSpPr/>
          <p:nvPr/>
        </p:nvSpPr>
        <p:spPr>
          <a:xfrm>
            <a:off x="6327648" y="3374136"/>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Limits</a:t>
            </a:r>
            <a:endParaRPr lang="en-US" sz="1010" dirty="0"/>
          </a:p>
        </p:txBody>
      </p:sp>
      <p:sp>
        <p:nvSpPr>
          <p:cNvPr id="30" name="Text 28"/>
          <p:cNvSpPr/>
          <p:nvPr/>
        </p:nvSpPr>
        <p:spPr>
          <a:xfrm>
            <a:off x="6327648" y="3694176"/>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learn.microsoft.com/azure/azure-resource-manager/management/azure-subscription-service-limits#azure-api-management-limits</a:t>
            </a:r>
            <a:endParaRPr lang="en-US" sz="790" dirty="0"/>
          </a:p>
        </p:txBody>
      </p:sp>
      <p:sp>
        <p:nvSpPr>
          <p:cNvPr id="31" name="Shape 29"/>
          <p:cNvSpPr/>
          <p:nvPr/>
        </p:nvSpPr>
        <p:spPr>
          <a:xfrm>
            <a:off x="658368" y="4352544"/>
            <a:ext cx="5074920" cy="713232"/>
          </a:xfrm>
          <a:prstGeom prst="rect">
            <a:avLst/>
          </a:prstGeom>
          <a:solidFill>
            <a:srgbClr val="FFFFFF"/>
          </a:solidFill>
          <a:ln w="10160">
            <a:solidFill>
              <a:srgbClr val="D8E2EC"/>
            </a:solidFill>
            <a:prstDash val="solid"/>
          </a:ln>
        </p:spPr>
      </p:sp>
      <p:sp>
        <p:nvSpPr>
          <p:cNvPr id="32" name="Shape 30"/>
          <p:cNvSpPr/>
          <p:nvPr/>
        </p:nvSpPr>
        <p:spPr>
          <a:xfrm>
            <a:off x="658368" y="4352544"/>
            <a:ext cx="73152" cy="713232"/>
          </a:xfrm>
          <a:prstGeom prst="rect">
            <a:avLst/>
          </a:prstGeom>
          <a:solidFill>
            <a:srgbClr val="00B7C3"/>
          </a:solidFill>
          <a:ln w="12700">
            <a:solidFill>
              <a:srgbClr val="00B7C3"/>
            </a:solidFill>
            <a:prstDash val="solid"/>
          </a:ln>
        </p:spPr>
      </p:sp>
      <p:sp>
        <p:nvSpPr>
          <p:cNvPr id="33" name="Text 31"/>
          <p:cNvSpPr/>
          <p:nvPr/>
        </p:nvSpPr>
        <p:spPr>
          <a:xfrm>
            <a:off x="841248" y="4489704"/>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Policies</a:t>
            </a:r>
            <a:endParaRPr lang="en-US" sz="1010" dirty="0"/>
          </a:p>
        </p:txBody>
      </p:sp>
      <p:sp>
        <p:nvSpPr>
          <p:cNvPr id="34" name="Text 32"/>
          <p:cNvSpPr/>
          <p:nvPr/>
        </p:nvSpPr>
        <p:spPr>
          <a:xfrm>
            <a:off x="841248" y="4809744"/>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llm-token-limit, llm-content-safety, llm-emit-token-metric, authentication-managed-identity</a:t>
            </a:r>
            <a:endParaRPr lang="en-US" sz="790" dirty="0"/>
          </a:p>
        </p:txBody>
      </p:sp>
      <p:sp>
        <p:nvSpPr>
          <p:cNvPr id="35" name="Shape 33"/>
          <p:cNvSpPr/>
          <p:nvPr/>
        </p:nvSpPr>
        <p:spPr>
          <a:xfrm>
            <a:off x="6144768" y="4352544"/>
            <a:ext cx="5074920" cy="713232"/>
          </a:xfrm>
          <a:prstGeom prst="rect">
            <a:avLst/>
          </a:prstGeom>
          <a:solidFill>
            <a:srgbClr val="FFFFFF"/>
          </a:solidFill>
          <a:ln w="10160">
            <a:solidFill>
              <a:srgbClr val="D8E2EC"/>
            </a:solidFill>
            <a:prstDash val="solid"/>
          </a:ln>
        </p:spPr>
      </p:sp>
      <p:sp>
        <p:nvSpPr>
          <p:cNvPr id="36" name="Shape 34"/>
          <p:cNvSpPr/>
          <p:nvPr/>
        </p:nvSpPr>
        <p:spPr>
          <a:xfrm>
            <a:off x="6144768" y="4352544"/>
            <a:ext cx="73152" cy="713232"/>
          </a:xfrm>
          <a:prstGeom prst="rect">
            <a:avLst/>
          </a:prstGeom>
          <a:solidFill>
            <a:srgbClr val="00B7C3"/>
          </a:solidFill>
          <a:ln w="12700">
            <a:solidFill>
              <a:srgbClr val="00B7C3"/>
            </a:solidFill>
            <a:prstDash val="solid"/>
          </a:ln>
        </p:spPr>
      </p:sp>
      <p:sp>
        <p:nvSpPr>
          <p:cNvPr id="37" name="Text 35"/>
          <p:cNvSpPr/>
          <p:nvPr/>
        </p:nvSpPr>
        <p:spPr>
          <a:xfrm>
            <a:off x="6327648" y="4489704"/>
            <a:ext cx="4754880" cy="256032"/>
          </a:xfrm>
          <a:prstGeom prst="rect">
            <a:avLst/>
          </a:prstGeom>
          <a:noFill/>
          <a:ln/>
        </p:spPr>
        <p:txBody>
          <a:bodyPr wrap="square" lIns="0" tIns="0" rIns="0" bIns="0" rtlCol="0" anchor="ctr">
            <a:normAutofit/>
          </a:bodyPr>
          <a:lstStyle/>
          <a:p>
            <a:pPr marL="0" indent="0">
              <a:buNone/>
            </a:pPr>
            <a:r>
              <a:rPr lang="en-US" sz="1010" dirty="0">
                <a:solidFill>
                  <a:srgbClr val="0B1E3F"/>
                </a:solidFill>
                <a:latin typeface="Segoe UI Semibold" pitchFamily="34" charset="0"/>
                <a:ea typeface="Segoe UI Semibold" pitchFamily="34" charset="-122"/>
                <a:cs typeface="Segoe UI Semibold" pitchFamily="34" charset="-120"/>
              </a:rPr>
              <a:t>Research brief</a:t>
            </a:r>
            <a:endParaRPr lang="en-US" sz="1010" dirty="0"/>
          </a:p>
        </p:txBody>
      </p:sp>
      <p:sp>
        <p:nvSpPr>
          <p:cNvPr id="38" name="Text 36"/>
          <p:cNvSpPr/>
          <p:nvPr/>
        </p:nvSpPr>
        <p:spPr>
          <a:xfrm>
            <a:off x="6327648" y="4809744"/>
            <a:ext cx="4754880" cy="164592"/>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docs/research/apim-ai-gateway-research.md</a:t>
            </a:r>
            <a:endParaRPr lang="en-US" sz="790" dirty="0"/>
          </a:p>
        </p:txBody>
      </p:sp>
      <p:sp>
        <p:nvSpPr>
          <p:cNvPr id="39" name="Text 37"/>
          <p:cNvSpPr/>
          <p:nvPr/>
        </p:nvSpPr>
        <p:spPr>
          <a:xfrm>
            <a:off x="960120" y="5605272"/>
            <a:ext cx="10332720" cy="164592"/>
          </a:xfrm>
          <a:prstGeom prst="rect">
            <a:avLst/>
          </a:prstGeom>
          <a:noFill/>
          <a:ln/>
        </p:spPr>
        <p:txBody>
          <a:bodyPr wrap="square" lIns="0" tIns="0" rIns="0" bIns="0" rtlCol="0" anchor="ctr">
            <a:normAutofit/>
          </a:bodyPr>
          <a:lstStyle/>
          <a:p>
            <a:pPr marL="0" indent="0" algn="ctr">
              <a:buNone/>
            </a:pPr>
            <a:r>
              <a:rPr lang="en-US" sz="880" dirty="0">
                <a:solidFill>
                  <a:srgbClr val="3B4A5E"/>
                </a:solidFill>
                <a:latin typeface="Segoe UI Semibold" pitchFamily="34" charset="0"/>
                <a:ea typeface="Segoe UI Semibold" pitchFamily="34" charset="-122"/>
                <a:cs typeface="Segoe UI Semibold" pitchFamily="34" charset="-120"/>
              </a:rPr>
              <a:t>Facts in this deck are limited to the shared brief and research document; external pricing should be re-verified before customer use.</a:t>
            </a:r>
            <a:endParaRPr lang="en-US" sz="8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4800</Words>
  <Application>Microsoft Office PowerPoint</Application>
  <PresentationFormat>Widescreen</PresentationFormat>
  <Paragraphs>641</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API Management as your AI Gateway</dc:title>
  <dc:subject>Azure API Management AI Gateway session</dc:subject>
  <dc:creator>GitHub Copilot</dc:creator>
  <cp:lastModifiedBy>François-Xavier Kim</cp:lastModifiedBy>
  <cp:revision>2</cp:revision>
  <dcterms:created xsi:type="dcterms:W3CDTF">2026-10-05T23:15:41Z</dcterms:created>
  <dcterms:modified xsi:type="dcterms:W3CDTF">2026-10-05T23:15:55Z</dcterms:modified>
</cp:coreProperties>
</file>